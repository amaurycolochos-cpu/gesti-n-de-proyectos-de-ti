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31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9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2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lang="es-MX"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BANCO DE EJERCICIO</a:t>
            </a:r>
            <a:endParaRPr b="0" i="0" dirty="0">
              <a:solidFill>
                <a:srgbClr val="212529"/>
              </a:solidFill>
              <a:latin typeface="-apple-system"/>
              <a:ea typeface="-apple-system"/>
              <a:cs typeface="-apple-system"/>
            </a:endParaRP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27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Introducción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4922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Esta actividad reúne el banco de ejercicios y la bitácora del seguimiento realizado en el Tema 2.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El trabajo se centra en lo ocurrido durante la ejecución: avances, bloqueos, correcciones, revisión de entregables y decisiones de control.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La bitácora no se plantea como una lista de mensajes, sino como evidencia de cómo se aplicó la gestión del proyecto mientras los tres trabajos estaban activos.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Justificación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67512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El Tema 2 necesitaba demostrar seguimiento real, no solo una explicación teórica de Scrum, Kanban y PMBOK.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Los proyectos avanzaron con ritmos distintos: uno requería continuidad, otro control de alcance y otro recuperación por atraso.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Por eso fue necesario registrar evidencias, revisar archivos, actualizar estados y dejar decisiones por escrito antes de aprobar entregables.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909560" y="15087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1508760"/>
            <a:ext cx="73152" cy="2011680"/>
          </a:xfrm>
          <a:prstGeom prst="rect">
            <a:avLst/>
          </a:prstGeom>
          <a:solidFill>
            <a:srgbClr val="C97920"/>
          </a:solidFill>
          <a:ln w="12700">
            <a:solidFill>
              <a:srgbClr val="C9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636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Idea central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2440" y="1947672"/>
            <a:ext cx="2926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El banco de ejercicios sale de situaciones reales: revisar avances, detectar errores, pedir correcciones y decidir si un entregable puede avanzar.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909560" y="379476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794760"/>
            <a:ext cx="73152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22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Criterio usado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4233672"/>
            <a:ext cx="2926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Un archivo recibido no se marcó como completado hasta revisar evidencia, coherencia con el alcance y resultados.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Objetivo de la actividad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10424160" cy="822960"/>
          </a:xfrm>
          <a:prstGeom prst="roundRect">
            <a:avLst>
              <a:gd name="adj" fmla="val 7778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1013155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Construir una bitácora y un banco de ejercicios que evidencien el uso de Scrum, Kanban y PMBOK en el seguimiento de Alondra, Ángel y Aarón.</a:t>
            </a:r>
            <a:endParaRPr lang="en-US" sz="1330" dirty="0"/>
          </a:p>
        </p:txBody>
      </p:sp>
      <p:sp>
        <p:nvSpPr>
          <p:cNvPr id="8" name="Shape 6"/>
          <p:cNvSpPr/>
          <p:nvPr/>
        </p:nvSpPr>
        <p:spPr>
          <a:xfrm>
            <a:off x="960120" y="2606040"/>
            <a:ext cx="2768138" cy="448056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70048"/>
            <a:ext cx="267669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</a:rPr>
              <a:t>Elemento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3728258" y="2606040"/>
            <a:ext cx="7381702" cy="448056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3978" y="2670048"/>
            <a:ext cx="729026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</a:rPr>
              <a:t>Qué demuestra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960120" y="3054096"/>
            <a:ext cx="27681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08960"/>
            <a:ext cx="267669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</a:rPr>
              <a:t>Bitácora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3728258" y="3054096"/>
            <a:ext cx="7381702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3978" y="3108960"/>
            <a:ext cx="729026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Secuencia de acciones, decisiones y cambios durante la ejecución.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60120" y="3502152"/>
            <a:ext cx="2768138" cy="448056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57016"/>
            <a:ext cx="267669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</a:rPr>
              <a:t>Banco de ejercicios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3728258" y="3502152"/>
            <a:ext cx="7381702" cy="448056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3978" y="3557016"/>
            <a:ext cx="729026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Aplicación práctica de conceptos: Daily, Kanban, incidencia, revisión y cierre.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960120" y="3950208"/>
            <a:ext cx="27681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05072"/>
            <a:ext cx="267669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</a:rPr>
              <a:t>Evidencias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3728258" y="3950208"/>
            <a:ext cx="7381702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3978" y="4005072"/>
            <a:ext cx="729026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Capturas, documentos, archivos editables, resultados y ZIP de entrega.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60120" y="4398264"/>
            <a:ext cx="2768138" cy="448056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453128"/>
            <a:ext cx="267669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</a:rPr>
              <a:t>Control PM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3728258" y="4398264"/>
            <a:ext cx="7381702" cy="448056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3978" y="4453128"/>
            <a:ext cx="729026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Criterio para aceptar, observar o solicitar corrección.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Bitácora general del Tema 2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307282" cy="5867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35608"/>
            <a:ext cx="1215842" cy="4587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Fecha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01642" y="1371600"/>
            <a:ext cx="4668864" cy="5867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362" y="1435608"/>
            <a:ext cx="4577424" cy="4587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Acción registrada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70506" y="1371600"/>
            <a:ext cx="5042374" cy="5867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6226" y="1435608"/>
            <a:ext cx="4950934" cy="4587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Resultado PM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1958340"/>
            <a:ext cx="1307282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13204"/>
            <a:ext cx="1215842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7"/>
                </a:solidFill>
              </a:rPr>
              <a:t>27 ago.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1901642" y="1958340"/>
            <a:ext cx="466886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362" y="2013204"/>
            <a:ext cx="457742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Seguimiento a Alondra: configuraciones, pruebas y cuellos de botella.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6570506" y="1958340"/>
            <a:ext cx="504237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6226" y="2013204"/>
            <a:ext cx="495093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D6 autorizado para comparar escenarios.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594360" y="2545080"/>
            <a:ext cx="1307282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99944"/>
            <a:ext cx="1215842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7"/>
                </a:solidFill>
              </a:rPr>
              <a:t>27 ago.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1901642" y="2545080"/>
            <a:ext cx="4668864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362" y="2599944"/>
            <a:ext cx="457742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Seguimiento a Ángel: se detectó desviación de alcance.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570506" y="2545080"/>
            <a:ext cx="5042374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6226" y="2599944"/>
            <a:ext cx="495093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Se pidió retirar extracción, transporte y entrega.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594360" y="3131820"/>
            <a:ext cx="1307282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86684"/>
            <a:ext cx="1215842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7"/>
                </a:solidFill>
              </a:rPr>
              <a:t>27 ago.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1901642" y="3131820"/>
            <a:ext cx="466886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362" y="3186684"/>
            <a:ext cx="457742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Seguimiento a Aarón: no tenía diagrama, datos ni modelo.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570506" y="3131820"/>
            <a:ext cx="504237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6226" y="3186684"/>
            <a:ext cx="495093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Se registró INC-003-01 y se creó PLAN-003.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594360" y="3718560"/>
            <a:ext cx="1307282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73424"/>
            <a:ext cx="1215842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7"/>
                </a:solidFill>
              </a:rPr>
              <a:t>29 ago.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1901642" y="3718560"/>
            <a:ext cx="4668864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362" y="3773424"/>
            <a:ext cx="457742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Revisión técnica de Ángel: D4 y D5 con evidencia.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570506" y="3718560"/>
            <a:ext cx="5042374" cy="5867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6226" y="3773424"/>
            <a:ext cx="495093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D5 cerrado y D6 orientado a escenarios.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594360" y="4305300"/>
            <a:ext cx="1307282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60164"/>
            <a:ext cx="1215842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7"/>
                </a:solidFill>
              </a:rPr>
              <a:t>31 ago.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1901642" y="4305300"/>
            <a:ext cx="466886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47362" y="4360164"/>
            <a:ext cx="457742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Revisión de Aarón: D5-D8 entregados.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6570506" y="4305300"/>
            <a:ext cx="5042374" cy="5867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6226" y="4360164"/>
            <a:ext cx="4950934" cy="4770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7"/>
                </a:solidFill>
              </a:rPr>
              <a:t>D6 y D7 quedaron en corrección por inconsistencia de datos.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Banco de ejercicios · Scrum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116199" cy="63246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1024759" cy="5044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Ejercicio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801999" y="1325880"/>
            <a:ext cx="4743844" cy="63246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719" y="1389888"/>
            <a:ext cx="4652404" cy="5044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Actividad práctica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545843" y="1325880"/>
            <a:ext cx="4929877" cy="63246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1563" y="1389888"/>
            <a:ext cx="4838437" cy="5044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Producto esperado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85800" y="1958340"/>
            <a:ext cx="1116199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13204"/>
            <a:ext cx="1024759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F2937"/>
                </a:solidFill>
              </a:rPr>
              <a:t>1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801999" y="1958340"/>
            <a:ext cx="4743844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7719" y="2013204"/>
            <a:ext cx="4652404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Redactar tres preguntas de Daily Scrum.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545843" y="1958340"/>
            <a:ext cx="4929877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1563" y="2013204"/>
            <a:ext cx="4838437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Avance, siguiente actividad y bloqueo identificados.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85800" y="2590800"/>
            <a:ext cx="1116199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645664"/>
            <a:ext cx="1024759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F2937"/>
                </a:solidFill>
              </a:rPr>
              <a:t>2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1801999" y="2590800"/>
            <a:ext cx="4743844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719" y="2645664"/>
            <a:ext cx="4652404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Interpretar la respuesta de un alumno.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545843" y="2590800"/>
            <a:ext cx="4929877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1563" y="2645664"/>
            <a:ext cx="4838437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Clasificación: avance, riesgo, incidencia o bloqueo.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85800" y="3223260"/>
            <a:ext cx="1116199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78124"/>
            <a:ext cx="1024759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F2937"/>
                </a:solidFill>
              </a:rPr>
              <a:t>3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1801999" y="3223260"/>
            <a:ext cx="4743844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719" y="3278124"/>
            <a:ext cx="4652404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Separar D5 de D6.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545843" y="3223260"/>
            <a:ext cx="4929877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1563" y="3278124"/>
            <a:ext cx="4838437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D5 valida funcionamiento; D6 compara escenarios.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85800" y="3855720"/>
            <a:ext cx="1116199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10584"/>
            <a:ext cx="1024759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F2937"/>
                </a:solidFill>
              </a:rPr>
              <a:t>4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801999" y="3855720"/>
            <a:ext cx="4743844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47719" y="3910584"/>
            <a:ext cx="4652404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Autorizar el siguiente paso.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545843" y="3855720"/>
            <a:ext cx="4929877" cy="63246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1563" y="3910584"/>
            <a:ext cx="4838437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Mensaje claro para continuar, corregir o esperar.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85800" y="4488180"/>
            <a:ext cx="1116199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543044"/>
            <a:ext cx="1024759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F2937"/>
                </a:solidFill>
              </a:rPr>
              <a:t>5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1801999" y="4488180"/>
            <a:ext cx="4743844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7719" y="4543044"/>
            <a:ext cx="4652404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Preparar revisión final.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545843" y="4488180"/>
            <a:ext cx="4929877" cy="63246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1563" y="4543044"/>
            <a:ext cx="4838437" cy="5227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Criterios para pasar de D6 a D7-D8.</a:t>
            </a:r>
            <a:endParaRPr lang="en-US" sz="940" dirty="0"/>
          </a:p>
        </p:txBody>
      </p:sp>
      <p:pic>
        <p:nvPicPr>
          <p:cNvPr id="42" name="Image 0" descr="/mnt/data/proyect2_extract/Alondra/05_SEGUIMIENTO_PM/DAILY_SCRUM/Daily_2026-08-27_Alondra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23" y="5175504"/>
            <a:ext cx="2278117" cy="1595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Banco de ejercicios · Kanban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94360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Ejercicio 6: mover D1-D8 según evidencia real.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Ejercicio 7: distinguir “recibido” de “completado”.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Ejercicio 8: crear una tarjeta de corrección cuando un entregable no cumple.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Ejercicio 9: actualizar el tablero después de cada Daily Scrum.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• Ejercicio 10: dejar visible qué alumno está en riesgo o retraso.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040880" y="1325880"/>
            <a:ext cx="1463040" cy="5486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389888"/>
            <a:ext cx="13716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03920" y="1325880"/>
            <a:ext cx="2926080" cy="5486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389888"/>
            <a:ext cx="283464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874520"/>
            <a:ext cx="14630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929384"/>
            <a:ext cx="1371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2937"/>
                </a:solidFill>
              </a:rPr>
              <a:t>Pendiente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503920" y="1874520"/>
            <a:ext cx="292608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929384"/>
            <a:ext cx="2834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No recibido o no iniciado.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040880" y="2423160"/>
            <a:ext cx="146304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478024"/>
            <a:ext cx="1371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2937"/>
                </a:solidFill>
              </a:rPr>
              <a:t>En proceso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503920" y="2423160"/>
            <a:ext cx="292608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478024"/>
            <a:ext cx="2834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El alumno trabaja sobre el entregable.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040880" y="2971800"/>
            <a:ext cx="14630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026664"/>
            <a:ext cx="1371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2937"/>
                </a:solidFill>
              </a:rPr>
              <a:t>En revisión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503920" y="2971800"/>
            <a:ext cx="292608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3026664"/>
            <a:ext cx="2834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Recibido, pero todavía no aprobado.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040880" y="3520440"/>
            <a:ext cx="146304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3575304"/>
            <a:ext cx="1371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2937"/>
                </a:solidFill>
              </a:rPr>
              <a:t>Corrección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503920" y="3520440"/>
            <a:ext cx="292608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3575304"/>
            <a:ext cx="2834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Hay inconsistencia o falta evidencia.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040880" y="4069080"/>
            <a:ext cx="14630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123944"/>
            <a:ext cx="1371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2937"/>
                </a:solidFill>
              </a:rPr>
              <a:t>Completado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503920" y="4069080"/>
            <a:ext cx="292608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4123944"/>
            <a:ext cx="2834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Revisado y aceptado por PM.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Banco de ejercicios · PMBOK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116199" cy="57150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1024759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Ejercicio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801999" y="1325880"/>
            <a:ext cx="2418430" cy="57150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719" y="1389888"/>
            <a:ext cx="232699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Documento / registro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220429" y="1325880"/>
            <a:ext cx="7255291" cy="57150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6149" y="1389888"/>
            <a:ext cx="7163851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Aplicación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85800" y="1897380"/>
            <a:ext cx="1116199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52244"/>
            <a:ext cx="1024759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</a:rPr>
              <a:t>11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1801999" y="1897380"/>
            <a:ext cx="2418430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7719" y="1952244"/>
            <a:ext cx="2326990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ACTA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220429" y="1897380"/>
            <a:ext cx="7255291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6149" y="1952244"/>
            <a:ext cx="7163851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Formalizar objetivo, alcance, entregables y criterios de aceptación.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85800" y="2468880"/>
            <a:ext cx="1116199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523744"/>
            <a:ext cx="1024759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</a:rPr>
              <a:t>12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1801999" y="2468880"/>
            <a:ext cx="2418430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719" y="2523744"/>
            <a:ext cx="2326990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PLAN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220429" y="2468880"/>
            <a:ext cx="7255291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6149" y="2523744"/>
            <a:ext cx="7163851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Organizar fechas, entregables y restricciones del trabajo.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85800" y="3040380"/>
            <a:ext cx="1116199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95244"/>
            <a:ext cx="1024759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</a:rPr>
              <a:t>13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1801999" y="3040380"/>
            <a:ext cx="2418430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719" y="3095244"/>
            <a:ext cx="2326990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SEG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220429" y="3040380"/>
            <a:ext cx="7255291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6149" y="3095244"/>
            <a:ext cx="7163851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Registrar avances, decisiones, revisión y próximos pasos.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85800" y="3611880"/>
            <a:ext cx="1116199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66744"/>
            <a:ext cx="1024759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</a:rPr>
              <a:t>14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801999" y="3611880"/>
            <a:ext cx="2418430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47719" y="3666744"/>
            <a:ext cx="2326990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INC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220429" y="3611880"/>
            <a:ext cx="7255291" cy="57150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6149" y="3666744"/>
            <a:ext cx="7163851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Documentar retrasos o problemas que ya afectaron el proyecto.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85800" y="4183380"/>
            <a:ext cx="1116199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238244"/>
            <a:ext cx="1024759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</a:rPr>
              <a:t>15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1801999" y="4183380"/>
            <a:ext cx="2418430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7719" y="4238244"/>
            <a:ext cx="2326990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REV / VALID / CIERRE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220429" y="4183380"/>
            <a:ext cx="7255291" cy="57150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66149" y="4238244"/>
            <a:ext cx="7163851" cy="4617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Revisar entregables, validar resultado final y cerrar formalmente.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Caso 1 · Alondra: seguimiento constante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34924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</a:rPr>
              <a:t>• El seguimiento mostró que el modelo ya ejecutaba y generaba resultados.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</a:rPr>
              <a:t>• La principal acción fue autorizar D6 para comparar un escenario actual contra uno mejorado.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</a:rPr>
              <a:t>• El trabajo pendiente quedó claro: documentar el cambio aplicado y analizar los cuellos de botella.</a:t>
            </a:r>
            <a:endParaRPr lang="en-US" sz="1570" dirty="0"/>
          </a:p>
        </p:txBody>
      </p:sp>
      <p:pic>
        <p:nvPicPr>
          <p:cNvPr id="7" name="Image 0" descr="/mnt/data/proyect2_extract/Alondra/05_SEGUIMIENTO_PM/DAILY_SCRUM/Daily_2026-08-27_Alondra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61817"/>
            <a:ext cx="4434840" cy="31057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48920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4892040"/>
            <a:ext cx="7315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02005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Decisión PM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5330952"/>
            <a:ext cx="5166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Continuar con D6 sin pedir rehacer D5, porque la dificultad detectada era parte del análisis, no un bloqueo.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Caso 2 · Ángel: control de alcance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57784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El proyecto incluyó elementos fuera del alcance inicial: extracción, transporte y entrega al cliente.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La decisión fue regresar al proceso productivo aprobado y evitar que se siguieran agregando funciones.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Después de validar D4 y D5, D6 quedó orientado a comparar el escenario actual contra una mejora controlada.</a:t>
            </a:r>
            <a:endParaRPr lang="en-US" sz="1550" dirty="0"/>
          </a:p>
        </p:txBody>
      </p:sp>
      <p:pic>
        <p:nvPicPr>
          <p:cNvPr id="7" name="Image 0" descr="/mnt/data/proyect2_extract/Angel/02_FORMALIZACION/Evidencia_Confirmacion_ACTA-001_PLAN-001_Angel_2026-08-27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372" y="749808"/>
            <a:ext cx="3933188" cy="2907792"/>
          </a:xfrm>
          <a:prstGeom prst="rect">
            <a:avLst/>
          </a:prstGeom>
        </p:spPr>
      </p:pic>
      <p:pic>
        <p:nvPicPr>
          <p:cNvPr id="8" name="Image 1" descr="/mnt/data/WhatsApp Image 2026-08-28 at 8.18.43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454" y="3891991"/>
            <a:ext cx="4106888" cy="24630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Caso 3 · Aarón: recuperación por atraso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57784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El proyecto inició con atraso: no había diagrama, datos, código ni modelo.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Se creó una incidencia y un plan de recuperación para evitar que intentara trabajar con demasiadas herramientas.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El avance se recuperó, pero la revisión final detectó que D6 y D7 mezclaban resultados distintos.</a:t>
            </a:r>
            <a:endParaRPr lang="en-US" sz="1550" dirty="0"/>
          </a:p>
        </p:txBody>
      </p:sp>
      <p:pic>
        <p:nvPicPr>
          <p:cNvPr id="7" name="Image 0" descr="/mnt/data/proyect2_extract/Aaron/03_PLAN/EVID_PLAN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609" y="1271015"/>
            <a:ext cx="3166036" cy="2293146"/>
          </a:xfrm>
          <a:prstGeom prst="rect">
            <a:avLst/>
          </a:prstGeom>
        </p:spPr>
      </p:pic>
      <p:pic>
        <p:nvPicPr>
          <p:cNvPr id="8" name="Image 1" descr="/mnt/data/proyect2_extract/Aaron/04_EJECUCION_ENTREGABLES/D1_DIAGRAMA_PROCESO/D1_Evidencia_Diagrama_FastBurger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981693"/>
            <a:ext cx="5065206" cy="2126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Ejercicio de revisión: coherencia D5-D6-D7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377440" cy="64008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22860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Pregunta de control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325880"/>
            <a:ext cx="3383280" cy="64008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389888"/>
            <a:ext cx="32918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Aplicación en Aarón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237744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20824"/>
            <a:ext cx="22860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</a:rPr>
              <a:t>¿D5 valida el modelo?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3063240" y="1965960"/>
            <a:ext cx="338328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020824"/>
            <a:ext cx="329184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Sí: documenta pruebas, errores y correcciones.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2377440" cy="6400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60904"/>
            <a:ext cx="22860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</a:rPr>
              <a:t>¿D6 compara escenarios justos?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063240" y="2606040"/>
            <a:ext cx="3383280" cy="6400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660904"/>
            <a:ext cx="329184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Requiere corrección: mezclaba una prueba sin recursos con una prueba final.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685800" y="3246120"/>
            <a:ext cx="237744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00984"/>
            <a:ext cx="22860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</a:rPr>
              <a:t>¿D7 usa los mismos datos que D6?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3063240" y="3246120"/>
            <a:ext cx="338328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300984"/>
            <a:ext cx="329184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Debe corregirse después de ajustar D6.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2377440" cy="6400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41064"/>
            <a:ext cx="22860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1F2937"/>
                </a:solidFill>
              </a:rPr>
              <a:t>¿D8 se aprueba de inmediato?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3063240" y="3886200"/>
            <a:ext cx="3383280" cy="6400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941064"/>
            <a:ext cx="329184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</a:rPr>
              <a:t>No; se recibe en revisión hasta sustituir D6 y D7.</a:t>
            </a:r>
            <a:endParaRPr lang="en-US" sz="1010" dirty="0"/>
          </a:p>
        </p:txBody>
      </p:sp>
      <p:pic>
        <p:nvPicPr>
          <p:cNvPr id="26" name="Image 0" descr="/mnt/data/proyect2_extract/Aaron/05_PM/EVID/05_PMEVIDEVID_Solicitud_Correccion_D6_D7_D8_2026-08-31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17573"/>
            <a:ext cx="3886200" cy="291993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14400" y="5166360"/>
            <a:ext cx="10195560" cy="6400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5276088"/>
            <a:ext cx="99029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Este ejercicio demuestra que la revisión del PM no consiste en recibir archivos, sino en comprobar que los resultados coincidan.</a:t>
            </a:r>
            <a:endParaRPr lang="en-US" sz="13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Formato de bitácora usado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286000" cy="5486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21945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Campo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971800" y="1325880"/>
            <a:ext cx="8503920" cy="54864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89888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Descripción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2286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938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Fecha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971800" y="1874520"/>
            <a:ext cx="85039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2938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Cuándo ocurrió el seguimiento o la revisión.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85800" y="2423160"/>
            <a:ext cx="22860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7802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Alumno / proyecto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850392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47802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A quién corresponde la acción.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85800" y="2971800"/>
            <a:ext cx="2286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2666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Situación detectada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2971800" y="2971800"/>
            <a:ext cx="85039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02666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Avance, bloqueo, riesgo, incidencia o corrección.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22860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7530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Decisión PM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2971800" y="3520440"/>
            <a:ext cx="850392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57530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Qué se pidió, autorizó o detuvo.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85800" y="4069080"/>
            <a:ext cx="2286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2394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Evidencia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2971800" y="4069080"/>
            <a:ext cx="85039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12394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Captura, archivo, PDF, Excel, código o ZIP.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85800" y="4617720"/>
            <a:ext cx="22860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672584"/>
            <a:ext cx="2194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</a:rPr>
              <a:t>Estado siguiente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2971800" y="4617720"/>
            <a:ext cx="850392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672584"/>
            <a:ext cx="8412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Pendiente, en proceso, revisión, corrección o completado.</a:t>
            </a:r>
            <a:endParaRPr lang="en-US" sz="10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Estado final de la bitácora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743200" cy="75438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81328"/>
            <a:ext cx="2651760" cy="6263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Proyecto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4297680" cy="75438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4206240" cy="6263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Estado al cierre del Tema 2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726680" y="1417320"/>
            <a:ext cx="3749040" cy="754380"/>
          </a:xfrm>
          <a:prstGeom prst="rect">
            <a:avLst/>
          </a:prstGeom>
          <a:solidFill>
            <a:srgbClr val="173B5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481328"/>
            <a:ext cx="3657600" cy="6263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Pendiente inmediato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85800" y="2171700"/>
            <a:ext cx="274320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26564"/>
            <a:ext cx="265176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Alondra · ProcesMuebles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171700"/>
            <a:ext cx="429768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226564"/>
            <a:ext cx="420624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D5 validado y D6 en proceso.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26680" y="2171700"/>
            <a:ext cx="374904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226564"/>
            <a:ext cx="365760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Recibir comparación de escenarios y pasar a D7.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926080"/>
            <a:ext cx="2743200" cy="7543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80944"/>
            <a:ext cx="265176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Ángel · Industria Bloquera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926080"/>
            <a:ext cx="4297680" cy="7543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80944"/>
            <a:ext cx="420624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D4-D5 cerrados; D6 en preparación.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2926080"/>
            <a:ext cx="3749040" cy="754380"/>
          </a:xfrm>
          <a:prstGeom prst="rect">
            <a:avLst/>
          </a:prstGeom>
          <a:solidFill>
            <a:srgbClr val="F8FAFC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980944"/>
            <a:ext cx="365760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Comparar escenario actual contra mejora de recursos.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680460"/>
            <a:ext cx="274320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35324"/>
            <a:ext cx="265176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Aarón · Fast Burger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680460"/>
            <a:ext cx="429768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735324"/>
            <a:ext cx="420624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D5 aprobado; D6-D7 en corrección; D8 en revisión.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3680460"/>
            <a:ext cx="3749040" cy="754380"/>
          </a:xfrm>
          <a:prstGeom prst="rect">
            <a:avLst/>
          </a:prstGeom>
          <a:solidFill>
            <a:srgbClr val="FFFFFF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735324"/>
            <a:ext cx="3657600" cy="6446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Recibir ZIP corregido para validación final.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489204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892040"/>
            <a:ext cx="7315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02005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Lectura PM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5330952"/>
            <a:ext cx="9646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Ningún proyecto se cerró por presión de fecha. El cierre depende de evidencias, coherencia y validación.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Conclusión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• El banco de ejercicios permitió traducir Scrum, Kanban y PMBOK a acciones concretas de seguimiento.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• La bitácora dejó evidencia de decisiones reales: autorizar avances, pedir correcciones, registrar incidencias y revisar entregas.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• El aprendizaje principal fue que el Project Manager debe mantener el orden sin estorbar la ejecución: pedir lo necesario, revisar con criterio y cerrar solo cuando exista evidencia suficiente.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889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B57"/>
                </a:solidFill>
              </a:rPr>
              <a:t>Fuentes de información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24128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• Schwaber, K., &amp; Sutherland, J. (2020). The Scrum Guide.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• Project Management Institute. (2021). PMBOK Guide - Seventh Edition.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• Kanban Guides. (2020). The Kanban Guide.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• Expedientes de Alondra, Ángel y Aarón: ACTA, PLAN, SEG, INC, REV, evidencias y entregables D1-D8.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• Capturas de seguimiento por WhatsApp, archivos de simulación y resultados entregados durante el acompañamiento.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1378</Words>
  <Application>Microsoft Office PowerPoint</Application>
  <PresentationFormat>Panorámica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Actividad 2.3 - Banco de ejercicios y bitácora</dc:subject>
  <dc:creator>Amaury Jahaziel Gordillo Hernández</dc:creator>
  <cp:lastModifiedBy>amaury rokete</cp:lastModifiedBy>
  <cp:revision>4</cp:revision>
  <dcterms:created xsi:type="dcterms:W3CDTF">2026-09-03T03:25:14Z</dcterms:created>
  <dcterms:modified xsi:type="dcterms:W3CDTF">2026-09-03T03:30:56Z</dcterms:modified>
</cp:coreProperties>
</file>