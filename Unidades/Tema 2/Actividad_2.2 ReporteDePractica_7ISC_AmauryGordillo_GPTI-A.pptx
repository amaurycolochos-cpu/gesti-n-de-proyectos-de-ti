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60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0858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1.jpeg"/><Relationship Id="rId4" Type="http://schemas.openxmlformats.org/officeDocument/2006/relationships/image" Target="../media/image10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n 4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280834" y="0"/>
            <a:ext cx="11911166" cy="6858000"/>
          </a:xfrm>
          <a:prstGeom prst="rect">
            <a:avLst/>
          </a:prstGeom>
        </p:spPr>
      </p:pic>
      <p:sp>
        <p:nvSpPr>
          <p:cNvPr id="2" name="institutional-navy-band">
            <a:extLst>
              <a:ext uri="{FF2B5EF4-FFF2-40B4-BE49-F238E27FC236}">
                <a16:creationId xmlns:a16="http://schemas.microsoft.com/office/drawing/2014/main" id="{3AE6E076-F470-4AFA-B05E-BB577D99A602}"/>
              </a:ext>
            </a:extLst>
          </p:cNvPr>
          <p:cNvSpPr>
            <a:spLocks noGrp="1"/>
          </p:cNvSpPr>
          <p:nvPr/>
        </p:nvSpPr>
        <p:spPr>
          <a:xfrm>
            <a:off x="-47626" y="0"/>
            <a:ext cx="328459" cy="6858000"/>
          </a:xfrm>
          <a:prstGeom prst="rect">
            <a:avLst/>
          </a:prstGeom>
          <a:solidFill>
            <a:srgbClr val="082958"/>
          </a:solidFill>
          <a:ln w="0">
            <a:noFill/>
            <a:prstDash val="solid"/>
          </a:ln>
        </p:spPr>
      </p:sp>
      <p:sp>
        <p:nvSpPr>
          <p:cNvPr id="3" name="institutional-gold-accent">
            <a:extLst>
              <a:ext uri="{FF2B5EF4-FFF2-40B4-BE49-F238E27FC236}">
                <a16:creationId xmlns:a16="http://schemas.microsoft.com/office/drawing/2014/main" id="{511065C0-35AD-4DAE-B610-DF6B7F488372}"/>
              </a:ext>
            </a:extLst>
          </p:cNvPr>
          <p:cNvSpPr>
            <a:spLocks noGrp="1"/>
          </p:cNvSpPr>
          <p:nvPr/>
        </p:nvSpPr>
        <p:spPr>
          <a:xfrm>
            <a:off x="280987" y="47625"/>
            <a:ext cx="28575" cy="64389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" name="top-rule">
            <a:extLst>
              <a:ext uri="{FF2B5EF4-FFF2-40B4-BE49-F238E27FC236}">
                <a16:creationId xmlns:a16="http://schemas.microsoft.com/office/drawing/2014/main" id="{A402DA1E-9E80-4154-8892-48887862CA94}"/>
              </a:ext>
            </a:extLst>
          </p:cNvPr>
          <p:cNvSpPr>
            <a:spLocks noGrp="1"/>
          </p:cNvSpPr>
          <p:nvPr/>
        </p:nvSpPr>
        <p:spPr>
          <a:xfrm>
            <a:off x="838200" y="1009650"/>
            <a:ext cx="10515600" cy="0"/>
          </a:xfrm>
          <a:prstGeom prst="line">
            <a:avLst/>
          </a:prstGeom>
          <a:noFill/>
          <a:ln w="11430">
            <a:solidFill>
              <a:srgbClr val="DCEBFA"/>
            </a:solidFill>
            <a:prstDash val="solid"/>
          </a:ln>
        </p:spPr>
      </p:sp>
      <p:sp>
        <p:nvSpPr>
          <p:cNvPr id="6" name="institution-name">
            <a:extLst>
              <a:ext uri="{FF2B5EF4-FFF2-40B4-BE49-F238E27FC236}">
                <a16:creationId xmlns:a16="http://schemas.microsoft.com/office/drawing/2014/main" id="{E0E92947-86F7-4A12-A128-7B0159F83BDC}"/>
              </a:ext>
            </a:extLst>
          </p:cNvPr>
          <p:cNvSpPr>
            <a:spLocks noGrp="1"/>
          </p:cNvSpPr>
          <p:nvPr/>
        </p:nvSpPr>
        <p:spPr>
          <a:xfrm>
            <a:off x="3641008" y="892277"/>
            <a:ext cx="5464892" cy="6667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5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TECNOLÓGICO NACIONAL DE MÉXICO</a:t>
            </a:r>
          </a:p>
        </p:txBody>
      </p:sp>
      <p:sp>
        <p:nvSpPr>
          <p:cNvPr id="9" name="degree-title">
            <a:extLst>
              <a:ext uri="{FF2B5EF4-FFF2-40B4-BE49-F238E27FC236}">
                <a16:creationId xmlns:a16="http://schemas.microsoft.com/office/drawing/2014/main" id="{897E2AE5-15D9-4AB6-9730-7184F55D8F9A}"/>
              </a:ext>
            </a:extLst>
          </p:cNvPr>
          <p:cNvSpPr>
            <a:spLocks noGrp="1"/>
          </p:cNvSpPr>
          <p:nvPr/>
        </p:nvSpPr>
        <p:spPr>
          <a:xfrm>
            <a:off x="3429000" y="1454252"/>
            <a:ext cx="552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INGENIERÍA EN</a:t>
            </a:r>
          </a:p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SISTEMAS COMPUTACIONALES</a:t>
            </a:r>
          </a:p>
        </p:txBody>
      </p:sp>
      <p:sp>
        <p:nvSpPr>
          <p:cNvPr id="10" name="degree-gold-rule-left">
            <a:extLst>
              <a:ext uri="{FF2B5EF4-FFF2-40B4-BE49-F238E27FC236}">
                <a16:creationId xmlns:a16="http://schemas.microsoft.com/office/drawing/2014/main" id="{C8050B62-10E2-4D95-BEEE-6E1978022F99}"/>
              </a:ext>
            </a:extLst>
          </p:cNvPr>
          <p:cNvSpPr>
            <a:spLocks noGrp="1"/>
          </p:cNvSpPr>
          <p:nvPr/>
        </p:nvSpPr>
        <p:spPr>
          <a:xfrm>
            <a:off x="484822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1" name="degree-gold-rule-right">
            <a:extLst>
              <a:ext uri="{FF2B5EF4-FFF2-40B4-BE49-F238E27FC236}">
                <a16:creationId xmlns:a16="http://schemas.microsoft.com/office/drawing/2014/main" id="{12397A49-149B-4ECA-A15E-F885934091D1}"/>
              </a:ext>
            </a:extLst>
          </p:cNvPr>
          <p:cNvSpPr>
            <a:spLocks noGrp="1"/>
          </p:cNvSpPr>
          <p:nvPr/>
        </p:nvSpPr>
        <p:spPr>
          <a:xfrm>
            <a:off x="635317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3" name="course-title-line-1">
            <a:extLst>
              <a:ext uri="{FF2B5EF4-FFF2-40B4-BE49-F238E27FC236}">
                <a16:creationId xmlns:a16="http://schemas.microsoft.com/office/drawing/2014/main" id="{24A5C187-BE41-45B6-8BF3-A2878D2FD52B}"/>
              </a:ext>
            </a:extLst>
          </p:cNvPr>
          <p:cNvSpPr>
            <a:spLocks noGrp="1"/>
          </p:cNvSpPr>
          <p:nvPr/>
        </p:nvSpPr>
        <p:spPr>
          <a:xfrm>
            <a:off x="2362199" y="2633663"/>
            <a:ext cx="7467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833" lnSpcReduction="10000"/>
          </a:bodyPr>
          <a:lstStyle/>
          <a:p>
            <a:pPr algn="ctr">
              <a:buNone/>
              <a:defRPr sz="41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lang="es-MX" sz="4125" b="1" dirty="0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GESTION DE PROYECTOS DE TI</a:t>
            </a:r>
            <a:endParaRPr sz="4125" b="1" dirty="0">
              <a:solidFill>
                <a:srgbClr val="0B347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5" name="activity-left-trace-1">
            <a:extLst>
              <a:ext uri="{FF2B5EF4-FFF2-40B4-BE49-F238E27FC236}">
                <a16:creationId xmlns:a16="http://schemas.microsoft.com/office/drawing/2014/main" id="{7D063C37-CCC4-4D1E-800C-E1EC27DFD060}"/>
              </a:ext>
            </a:extLst>
          </p:cNvPr>
          <p:cNvSpPr>
            <a:spLocks noGrp="1"/>
          </p:cNvSpPr>
          <p:nvPr/>
        </p:nvSpPr>
        <p:spPr>
          <a:xfrm>
            <a:off x="20383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6" name="activity-left-trace-2">
            <a:extLst>
              <a:ext uri="{FF2B5EF4-FFF2-40B4-BE49-F238E27FC236}">
                <a16:creationId xmlns:a16="http://schemas.microsoft.com/office/drawing/2014/main" id="{3CFD8881-ED44-45BD-9DF0-783461E898DA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7" name="activity-left-trace-3">
            <a:extLst>
              <a:ext uri="{FF2B5EF4-FFF2-40B4-BE49-F238E27FC236}">
                <a16:creationId xmlns:a16="http://schemas.microsoft.com/office/drawing/2014/main" id="{40CE4708-D5C7-40D2-BE07-C709D6A81A4E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8" name="activity-left-node">
            <a:extLst>
              <a:ext uri="{FF2B5EF4-FFF2-40B4-BE49-F238E27FC236}">
                <a16:creationId xmlns:a16="http://schemas.microsoft.com/office/drawing/2014/main" id="{61DC4950-E910-4AA5-840B-B61E8D5D8C11}"/>
              </a:ext>
            </a:extLst>
          </p:cNvPr>
          <p:cNvSpPr>
            <a:spLocks noGrp="1"/>
          </p:cNvSpPr>
          <p:nvPr/>
        </p:nvSpPr>
        <p:spPr>
          <a:xfrm>
            <a:off x="3086100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19" name="activity-right-node">
            <a:extLst>
              <a:ext uri="{FF2B5EF4-FFF2-40B4-BE49-F238E27FC236}">
                <a16:creationId xmlns:a16="http://schemas.microsoft.com/office/drawing/2014/main" id="{825A2979-FD3A-4780-A5BF-2B891AF31213}"/>
              </a:ext>
            </a:extLst>
          </p:cNvPr>
          <p:cNvSpPr>
            <a:spLocks noGrp="1"/>
          </p:cNvSpPr>
          <p:nvPr/>
        </p:nvSpPr>
        <p:spPr>
          <a:xfrm>
            <a:off x="9020175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20" name="activity-right-trace-1">
            <a:extLst>
              <a:ext uri="{FF2B5EF4-FFF2-40B4-BE49-F238E27FC236}">
                <a16:creationId xmlns:a16="http://schemas.microsoft.com/office/drawing/2014/main" id="{38B16BE7-5C8D-4EAB-B2EE-18E787DD60AA}"/>
              </a:ext>
            </a:extLst>
          </p:cNvPr>
          <p:cNvSpPr>
            <a:spLocks noGrp="1"/>
          </p:cNvSpPr>
          <p:nvPr/>
        </p:nvSpPr>
        <p:spPr>
          <a:xfrm>
            <a:off x="91059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1" name="activity-right-trace-2">
            <a:extLst>
              <a:ext uri="{FF2B5EF4-FFF2-40B4-BE49-F238E27FC236}">
                <a16:creationId xmlns:a16="http://schemas.microsoft.com/office/drawing/2014/main" id="{B0073C7F-4C58-47DE-BB0A-AFC31EDFE384}"/>
              </a:ext>
            </a:extLst>
          </p:cNvPr>
          <p:cNvSpPr>
            <a:spLocks noGrp="1"/>
          </p:cNvSpPr>
          <p:nvPr/>
        </p:nvSpPr>
        <p:spPr>
          <a:xfrm>
            <a:off x="962025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2" name="activity-right-trace-3">
            <a:extLst>
              <a:ext uri="{FF2B5EF4-FFF2-40B4-BE49-F238E27FC236}">
                <a16:creationId xmlns:a16="http://schemas.microsoft.com/office/drawing/2014/main" id="{0A4D59B6-4962-4FEF-A21B-2AF53EF32F99}"/>
              </a:ext>
            </a:extLst>
          </p:cNvPr>
          <p:cNvSpPr>
            <a:spLocks noGrp="1"/>
          </p:cNvSpPr>
          <p:nvPr/>
        </p:nvSpPr>
        <p:spPr>
          <a:xfrm>
            <a:off x="96202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3" name="activity-title">
            <a:extLst>
              <a:ext uri="{FF2B5EF4-FFF2-40B4-BE49-F238E27FC236}">
                <a16:creationId xmlns:a16="http://schemas.microsoft.com/office/drawing/2014/main" id="{F746EC2E-9743-49CF-891C-11DBE19DF422}"/>
              </a:ext>
            </a:extLst>
          </p:cNvPr>
          <p:cNvSpPr>
            <a:spLocks noGrp="1"/>
          </p:cNvSpPr>
          <p:nvPr/>
        </p:nvSpPr>
        <p:spPr>
          <a:xfrm>
            <a:off x="3238500" y="358140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98"/>
          </a:bodyPr>
          <a:lstStyle/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ACTIVIDAD </a:t>
            </a:r>
            <a:r>
              <a:rPr lang="es-MX"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2</a:t>
            </a: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.2 — </a:t>
            </a:r>
            <a:r>
              <a:rPr b="0" i="0" dirty="0">
                <a:solidFill>
                  <a:srgbClr val="212529"/>
                </a:solidFill>
                <a:latin typeface="-apple-system"/>
                <a:ea typeface="-apple-system"/>
                <a:cs typeface="-apple-system"/>
              </a:rPr>
              <a:t>REPORTE DE PRACTICA</a:t>
            </a:r>
          </a:p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endParaRPr sz="1875" b="1" dirty="0">
              <a:solidFill>
                <a:srgbClr val="2862A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4" name="students-heading">
            <a:extLst>
              <a:ext uri="{FF2B5EF4-FFF2-40B4-BE49-F238E27FC236}">
                <a16:creationId xmlns:a16="http://schemas.microsoft.com/office/drawing/2014/main" id="{B3090DA1-DD45-4D5A-810A-68C80D1D5495}"/>
              </a:ext>
            </a:extLst>
          </p:cNvPr>
          <p:cNvSpPr>
            <a:spLocks noGrp="1"/>
          </p:cNvSpPr>
          <p:nvPr/>
        </p:nvSpPr>
        <p:spPr>
          <a:xfrm>
            <a:off x="2857500" y="4143375"/>
            <a:ext cx="4667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PRESENTA</a:t>
            </a:r>
          </a:p>
        </p:txBody>
      </p:sp>
      <p:sp>
        <p:nvSpPr>
          <p:cNvPr id="25" name="enrollment-heading">
            <a:extLst>
              <a:ext uri="{FF2B5EF4-FFF2-40B4-BE49-F238E27FC236}">
                <a16:creationId xmlns:a16="http://schemas.microsoft.com/office/drawing/2014/main" id="{8497282D-0F32-46CC-9BD6-A908719C1476}"/>
              </a:ext>
            </a:extLst>
          </p:cNvPr>
          <p:cNvSpPr>
            <a:spLocks noGrp="1"/>
          </p:cNvSpPr>
          <p:nvPr/>
        </p:nvSpPr>
        <p:spPr>
          <a:xfrm>
            <a:off x="7715250" y="4143375"/>
            <a:ext cx="1619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MATRÍCULA</a:t>
            </a:r>
          </a:p>
        </p:txBody>
      </p:sp>
      <p:sp>
        <p:nvSpPr>
          <p:cNvPr id="26" name="students-top-rule">
            <a:extLst>
              <a:ext uri="{FF2B5EF4-FFF2-40B4-BE49-F238E27FC236}">
                <a16:creationId xmlns:a16="http://schemas.microsoft.com/office/drawing/2014/main" id="{A7922C15-D34B-4B95-9915-A3A8D77C7F79}"/>
              </a:ext>
            </a:extLst>
          </p:cNvPr>
          <p:cNvSpPr>
            <a:spLocks noGrp="1"/>
          </p:cNvSpPr>
          <p:nvPr/>
        </p:nvSpPr>
        <p:spPr>
          <a:xfrm>
            <a:off x="2857500" y="4381500"/>
            <a:ext cx="6477000" cy="0"/>
          </a:xfrm>
          <a:prstGeom prst="line">
            <a:avLst/>
          </a:prstGeom>
          <a:noFill/>
          <a:ln w="14288">
            <a:solidFill>
              <a:srgbClr val="0B3473"/>
            </a:solidFill>
            <a:prstDash val="solid"/>
          </a:ln>
        </p:spPr>
      </p:sp>
      <p:sp>
        <p:nvSpPr>
          <p:cNvPr id="28" name="students-row-divider">
            <a:extLst>
              <a:ext uri="{FF2B5EF4-FFF2-40B4-BE49-F238E27FC236}">
                <a16:creationId xmlns:a16="http://schemas.microsoft.com/office/drawing/2014/main" id="{0EBB92DB-59C3-4BDC-99A0-F2F4D93B78A4}"/>
              </a:ext>
            </a:extLst>
          </p:cNvPr>
          <p:cNvSpPr>
            <a:spLocks noGrp="1"/>
          </p:cNvSpPr>
          <p:nvPr/>
        </p:nvSpPr>
        <p:spPr>
          <a:xfrm>
            <a:off x="2857500" y="4800600"/>
            <a:ext cx="6477000" cy="0"/>
          </a:xfrm>
          <a:prstGeom prst="line">
            <a:avLst/>
          </a:prstGeom>
          <a:noFill/>
          <a:ln w="9525">
            <a:solidFill>
              <a:srgbClr val="DCEBFA"/>
            </a:solidFill>
            <a:prstDash val="solid"/>
          </a:ln>
        </p:spPr>
      </p:sp>
      <p:sp>
        <p:nvSpPr>
          <p:cNvPr id="29" name="students-column-divider">
            <a:extLst>
              <a:ext uri="{FF2B5EF4-FFF2-40B4-BE49-F238E27FC236}">
                <a16:creationId xmlns:a16="http://schemas.microsoft.com/office/drawing/2014/main" id="{D19BD447-A808-4FDA-A54C-331FE02FEA74}"/>
              </a:ext>
            </a:extLst>
          </p:cNvPr>
          <p:cNvSpPr>
            <a:spLocks noGrp="1"/>
          </p:cNvSpPr>
          <p:nvPr/>
        </p:nvSpPr>
        <p:spPr>
          <a:xfrm>
            <a:off x="7639050" y="4476750"/>
            <a:ext cx="0" cy="647700"/>
          </a:xfrm>
          <a:prstGeom prst="line">
            <a:avLst/>
          </a:prstGeom>
          <a:noFill/>
          <a:ln w="9525">
            <a:solidFill>
              <a:srgbClr val="9DB9DB"/>
            </a:solidFill>
            <a:prstDash val="solid"/>
          </a:ln>
        </p:spPr>
      </p:sp>
      <p:sp>
        <p:nvSpPr>
          <p:cNvPr id="30" name="student-row-one-marker">
            <a:extLst>
              <a:ext uri="{FF2B5EF4-FFF2-40B4-BE49-F238E27FC236}">
                <a16:creationId xmlns:a16="http://schemas.microsoft.com/office/drawing/2014/main" id="{4F497FA1-C313-4F3D-9493-840BF4D89598}"/>
              </a:ext>
            </a:extLst>
          </p:cNvPr>
          <p:cNvSpPr>
            <a:spLocks noGrp="1"/>
          </p:cNvSpPr>
          <p:nvPr/>
        </p:nvSpPr>
        <p:spPr>
          <a:xfrm>
            <a:off x="2876550" y="4486275"/>
            <a:ext cx="38100" cy="20955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34" name="student-two-name">
            <a:extLst>
              <a:ext uri="{FF2B5EF4-FFF2-40B4-BE49-F238E27FC236}">
                <a16:creationId xmlns:a16="http://schemas.microsoft.com/office/drawing/2014/main" id="{3EF7C761-CF7A-4E70-9E2B-16269734FC91}"/>
              </a:ext>
            </a:extLst>
          </p:cNvPr>
          <p:cNvSpPr>
            <a:spLocks noGrp="1"/>
          </p:cNvSpPr>
          <p:nvPr/>
        </p:nvSpPr>
        <p:spPr>
          <a:xfrm>
            <a:off x="3056554" y="44672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Amaury Jahaziel Gordillo Hernández</a:t>
            </a:r>
          </a:p>
        </p:txBody>
      </p:sp>
      <p:sp>
        <p:nvSpPr>
          <p:cNvPr id="35" name="student-two-id">
            <a:extLst>
              <a:ext uri="{FF2B5EF4-FFF2-40B4-BE49-F238E27FC236}">
                <a16:creationId xmlns:a16="http://schemas.microsoft.com/office/drawing/2014/main" id="{05E44B11-B863-4ECE-A2F6-C9964031DF71}"/>
              </a:ext>
            </a:extLst>
          </p:cNvPr>
          <p:cNvSpPr>
            <a:spLocks noGrp="1"/>
          </p:cNvSpPr>
          <p:nvPr/>
        </p:nvSpPr>
        <p:spPr>
          <a:xfrm>
            <a:off x="7791450" y="4438649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425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231260074</a:t>
            </a:r>
          </a:p>
        </p:txBody>
      </p:sp>
      <p:sp>
        <p:nvSpPr>
          <p:cNvPr id="36" name="teacher-heading">
            <a:extLst>
              <a:ext uri="{FF2B5EF4-FFF2-40B4-BE49-F238E27FC236}">
                <a16:creationId xmlns:a16="http://schemas.microsoft.com/office/drawing/2014/main" id="{F388D88D-A3F7-4DA5-9D23-808A58C08C1E}"/>
              </a:ext>
            </a:extLst>
          </p:cNvPr>
          <p:cNvSpPr>
            <a:spLocks noGrp="1"/>
          </p:cNvSpPr>
          <p:nvPr/>
        </p:nvSpPr>
        <p:spPr>
          <a:xfrm>
            <a:off x="4191000" y="5467350"/>
            <a:ext cx="3810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rPr>
              <a:t>DOCENTE</a:t>
            </a:r>
          </a:p>
        </p:txBody>
      </p:sp>
      <p:sp>
        <p:nvSpPr>
          <p:cNvPr id="37" name="teacher-name">
            <a:extLst>
              <a:ext uri="{FF2B5EF4-FFF2-40B4-BE49-F238E27FC236}">
                <a16:creationId xmlns:a16="http://schemas.microsoft.com/office/drawing/2014/main" id="{AA678B21-6A90-4BCE-8092-FF0E0979DE5C}"/>
              </a:ext>
            </a:extLst>
          </p:cNvPr>
          <p:cNvSpPr>
            <a:spLocks noGrp="1"/>
          </p:cNvSpPr>
          <p:nvPr/>
        </p:nvSpPr>
        <p:spPr>
          <a:xfrm>
            <a:off x="2857500" y="5705475"/>
            <a:ext cx="647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800" b="1">
                <a:latin typeface="Aptos Display"/>
                <a:ea typeface="Aptos Display"/>
                <a:cs typeface="Aptos Display"/>
              </a:rPr>
              <a:t>ING. FRANCISCO JAVIER MINGO VELAZQUEZ</a:t>
            </a: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38" name="footer-rule">
            <a:extLst>
              <a:ext uri="{FF2B5EF4-FFF2-40B4-BE49-F238E27FC236}">
                <a16:creationId xmlns:a16="http://schemas.microsoft.com/office/drawing/2014/main" id="{7C40688F-E9E3-4093-9368-ADED90666EB5}"/>
              </a:ext>
            </a:extLst>
          </p:cNvPr>
          <p:cNvSpPr>
            <a:spLocks noGrp="1"/>
          </p:cNvSpPr>
          <p:nvPr/>
        </p:nvSpPr>
        <p:spPr>
          <a:xfrm>
            <a:off x="1943100" y="6191250"/>
            <a:ext cx="8305800" cy="0"/>
          </a:xfrm>
          <a:prstGeom prst="line">
            <a:avLst/>
          </a:prstGeom>
          <a:noFill/>
          <a:ln w="11430">
            <a:solidFill>
              <a:srgbClr val="9DB9DB"/>
            </a:solidFill>
            <a:prstDash val="solid"/>
          </a:ln>
        </p:spPr>
      </p:sp>
      <p:sp>
        <p:nvSpPr>
          <p:cNvPr id="39" name="footer-rule-accent">
            <a:extLst>
              <a:ext uri="{FF2B5EF4-FFF2-40B4-BE49-F238E27FC236}">
                <a16:creationId xmlns:a16="http://schemas.microsoft.com/office/drawing/2014/main" id="{AA9604F1-D818-4EDE-AFC0-507B4EE53347}"/>
              </a:ext>
            </a:extLst>
          </p:cNvPr>
          <p:cNvSpPr>
            <a:spLocks noGrp="1"/>
          </p:cNvSpPr>
          <p:nvPr/>
        </p:nvSpPr>
        <p:spPr>
          <a:xfrm>
            <a:off x="5829300" y="6172200"/>
            <a:ext cx="533400" cy="381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0" name="date-location">
            <a:extLst>
              <a:ext uri="{FF2B5EF4-FFF2-40B4-BE49-F238E27FC236}">
                <a16:creationId xmlns:a16="http://schemas.microsoft.com/office/drawing/2014/main" id="{8EF49A72-4459-4AD1-9919-B580F4EB3D0A}"/>
              </a:ext>
            </a:extLst>
          </p:cNvPr>
          <p:cNvSpPr>
            <a:spLocks noGrp="1"/>
          </p:cNvSpPr>
          <p:nvPr/>
        </p:nvSpPr>
        <p:spPr>
          <a:xfrm>
            <a:off x="2476500" y="637222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0B3473"/>
                </a:solidFill>
                <a:latin typeface="Aptos"/>
                <a:ea typeface="Aptos"/>
                <a:cs typeface="Aptos"/>
              </a:defRPr>
            </a:pPr>
            <a:r>
              <a:rPr lang="es-MX" sz="135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23</a:t>
            </a:r>
            <a:r>
              <a:rPr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 DE </a:t>
            </a:r>
            <a:r>
              <a:rPr sz="135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AGOSTO</a:t>
            </a:r>
            <a:r>
              <a:rPr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 DE 2026  ·  VENUSTIANO CARRANZA, CHIAPAS</a:t>
            </a:r>
          </a:p>
        </p:txBody>
      </p:sp>
      <p:pic>
        <p:nvPicPr>
          <p:cNvPr id="75" name="Imagen 4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1576" y="128441"/>
            <a:ext cx="1834529" cy="809723"/>
          </a:xfrm>
          <a:prstGeom prst="rect">
            <a:avLst/>
          </a:prstGeom>
          <a:ln>
            <a:noFill/>
          </a:ln>
        </p:spPr>
      </p:pic>
      <p:pic>
        <p:nvPicPr>
          <p:cNvPr id="76" name="Imagen 42"/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10619686" y="11882"/>
            <a:ext cx="1289022" cy="926282"/>
          </a:xfrm>
          <a:prstGeom prst="rect">
            <a:avLst/>
          </a:prstGeom>
          <a:ln>
            <a:noFill/>
          </a:ln>
        </p:spPr>
      </p:pic>
      <p:sp>
        <p:nvSpPr>
          <p:cNvPr id="5" name="activity-left-node">
            <a:extLst>
              <a:ext uri="{FF2B5EF4-FFF2-40B4-BE49-F238E27FC236}">
                <a16:creationId xmlns:a16="http://schemas.microsoft.com/office/drawing/2014/main" id="{AB38A2EA-B133-B170-0BFA-9B5674F0137F}"/>
              </a:ext>
            </a:extLst>
          </p:cNvPr>
          <p:cNvSpPr>
            <a:spLocks noGrp="1"/>
          </p:cNvSpPr>
          <p:nvPr/>
        </p:nvSpPr>
        <p:spPr>
          <a:xfrm>
            <a:off x="6053137" y="214850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4056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Introducción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3776" y="8046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67085"/>
                </a:solidFill>
              </a:rPr>
              <a:t>La práctica se centra en revisar avances reales, no solo en describir teoría.</a:t>
            </a:r>
            <a:endParaRPr lang="en-US" sz="930" dirty="0"/>
          </a:p>
        </p:txBody>
      </p:sp>
      <p:sp>
        <p:nvSpPr>
          <p:cNvPr id="6" name="Text 4"/>
          <p:cNvSpPr/>
          <p:nvPr/>
        </p:nvSpPr>
        <p:spPr>
          <a:xfrm>
            <a:off x="621792" y="1234440"/>
            <a:ext cx="52120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A2F35"/>
                </a:solidFill>
              </a:rPr>
              <a:t>El seguimiento de los tres proyectos mostró que cada alumno avanzó a un ritmo distinto. En lugar de esperar hasta la entrega final, se revisaron evidencias, se hicieron preguntas de seguimiento y se tomaron decisiones según la situación de cada caso.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21792" y="2606040"/>
            <a:ext cx="52120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A2F35"/>
                </a:solidFill>
              </a:rPr>
              <a:t>La práctica combina tres enfoques: Scrum para las revisiones breves, Kanban para visualizar el flujo y PMBOK para conservar documentos formales de alcance, planeación, incidencias y validación.</a:t>
            </a:r>
            <a:endParaRPr lang="en-US" sz="1550" dirty="0"/>
          </a:p>
        </p:txBody>
      </p:sp>
      <p:pic>
        <p:nvPicPr>
          <p:cNvPr id="8" name="Image 0" descr="/mnt/data/proyect2_extract/Aaron/03_PLAN/EVID_PLAN003.png"/>
          <p:cNvPicPr>
            <a:picLocks noChangeAspect="1"/>
          </p:cNvPicPr>
          <p:nvPr/>
        </p:nvPicPr>
        <p:blipFill>
          <a:blip r:embed="rId3"/>
          <a:srcRect t="10370" b="10370"/>
          <a:stretch/>
        </p:blipFill>
        <p:spPr>
          <a:xfrm>
            <a:off x="6446520" y="1005840"/>
            <a:ext cx="4937760" cy="2834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46520" y="1005840"/>
            <a:ext cx="4937760" cy="2834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41605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E8F2FA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11112" y="4270248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611112" y="4572000"/>
            <a:ext cx="11338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proyectos acompañados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92440" y="41605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EDF7F1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57032" y="4270248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D1-D8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57032" y="4572000"/>
            <a:ext cx="11338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entregables técnicos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738360" y="41605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FF4DA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902952" y="427024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SEG / INC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902952" y="4572000"/>
            <a:ext cx="131673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control y evidencia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Justificación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3776" y="8046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67085"/>
                </a:solidFill>
              </a:rPr>
              <a:t>El valor de esta práctica está en demostrar control, no en llenar formatos.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E8F2FA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25272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Por qué se hizo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1554480"/>
            <a:ext cx="3145536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Porque los proyectos de simulación necesitaban seguimiento constante: algunos tenían avances claros, otros debían corregir alcance y uno requirió recuperación por atraso.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14300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EDF7F1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25272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Qué permitió controlar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99432" y="1554480"/>
            <a:ext cx="3145536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Fechas, entregables, decisiones, evidencias, incidencias, cambios de prioridad y validación antes de cierre.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143000"/>
            <a:ext cx="3337560" cy="1920240"/>
          </a:xfrm>
          <a:prstGeom prst="roundRect">
            <a:avLst>
              <a:gd name="adj" fmla="val 3810"/>
            </a:avLst>
          </a:prstGeom>
          <a:solidFill>
            <a:srgbClr val="FFF4DA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192" y="1252728"/>
            <a:ext cx="3008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Qué se evitó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94192" y="1554480"/>
            <a:ext cx="3008376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Que los alumnos avanzaran con documentos incompletos, modelos fuera del alcance o resultados sin comprobar.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840480"/>
            <a:ext cx="1014984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2B35"/>
                </a:solidFill>
              </a:rPr>
              <a:t>La práctica muestra que acompañar proyectos no es solamente pedir avances. Implica revisar si lo entregado coincide con el objetivo aprobado, decidir si se acepta o se corrige, y dejar evidencia de cada decisión.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 la práctica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3776" y="8046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67085"/>
                </a:solidFill>
              </a:rPr>
              <a:t>Qué se buscó comprobar con el seguimiento de avances.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822960" y="1161288"/>
            <a:ext cx="164592" cy="164592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175004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97280" y="11430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2F35"/>
                </a:solidFill>
              </a:rPr>
              <a:t>Registrar el avance real de Alondra, Ángel y Aarón.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822960" y="1581912"/>
            <a:ext cx="164592" cy="164592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595628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97280" y="156362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2F35"/>
                </a:solidFill>
              </a:rPr>
              <a:t>Aplicar seguimientos breves tipo Daily Scrum.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822960" y="2002536"/>
            <a:ext cx="164592" cy="164592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2016252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97280" y="198424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2F35"/>
                </a:solidFill>
              </a:rPr>
              <a:t>Visualizar entregables mediante estados Kanban.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822960" y="2423160"/>
            <a:ext cx="164592" cy="164592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2436876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097280" y="240487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2F35"/>
                </a:solidFill>
              </a:rPr>
              <a:t>Utilizar documentos de control alineados con PMBOK.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22960" y="2843784"/>
            <a:ext cx="164592" cy="164592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2857500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097280" y="28254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2F35"/>
                </a:solidFill>
              </a:rPr>
              <a:t>Distinguir entre entregable recibido, en revisión y aprobado.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22960" y="3264408"/>
            <a:ext cx="164592" cy="164592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278124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97280" y="32461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2F35"/>
                </a:solidFill>
              </a:rPr>
              <a:t>Identificar lo que todavía falta para el cierre de cada proyecto.</a:t>
            </a:r>
            <a:endParaRPr lang="en-US" sz="1120" dirty="0"/>
          </a:p>
        </p:txBody>
      </p:sp>
      <p:pic>
        <p:nvPicPr>
          <p:cNvPr id="24" name="Image 0" descr="/mnt/data/proyect2_extract/Angel/02_FORMALIZACION/Evidencia_Confirmacion_ACTA-001_PLAN-001_Angel_2026-08-27.png.png"/>
          <p:cNvPicPr>
            <a:picLocks noChangeAspect="1"/>
          </p:cNvPicPr>
          <p:nvPr/>
        </p:nvPicPr>
        <p:blipFill>
          <a:blip r:embed="rId3"/>
          <a:srcRect t="7651" b="7651"/>
          <a:stretch/>
        </p:blipFill>
        <p:spPr>
          <a:xfrm>
            <a:off x="6492240" y="914400"/>
            <a:ext cx="4892040" cy="306324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492240" y="914400"/>
            <a:ext cx="4892040" cy="3063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92240" y="429768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56832" y="4407408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Evidencia de práctica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656832" y="4709160"/>
            <a:ext cx="45628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La aprobación de actas y planes por WhatsApp funcionó como respaldo operativo de las decisiones tomadas durante el seguimiento.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Procedimiento general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3776" y="8046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67085"/>
                </a:solidFill>
              </a:rPr>
              <a:t>El seguimiento se realizó con una secuencia repetible.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02920" cy="502920"/>
          </a:xfrm>
          <a:prstGeom prst="ellipse">
            <a:avLst/>
          </a:prstGeom>
          <a:solidFill>
            <a:srgbClr val="246B9E"/>
          </a:solidFill>
          <a:ln w="12700">
            <a:solidFill>
              <a:srgbClr val="246B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2646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98448" y="1536192"/>
            <a:ext cx="1581912" cy="0"/>
          </a:xfrm>
          <a:prstGeom prst="line">
            <a:avLst/>
          </a:prstGeom>
          <a:noFill/>
          <a:ln w="19050">
            <a:solidFill>
              <a:srgbClr val="D6DEE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2103120"/>
            <a:ext cx="1737360" cy="1874520"/>
          </a:xfrm>
          <a:prstGeom prst="roundRect">
            <a:avLst>
              <a:gd name="adj" fmla="val 4211"/>
            </a:avLst>
          </a:prstGeom>
          <a:solidFill>
            <a:srgbClr val="E8F2FA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21284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Levantamiento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514600"/>
            <a:ext cx="1408176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Datos iniciales, dudas y alcance probable.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71800" y="1280160"/>
            <a:ext cx="502920" cy="502920"/>
          </a:xfrm>
          <a:prstGeom prst="ellipse">
            <a:avLst/>
          </a:prstGeom>
          <a:solidFill>
            <a:srgbClr val="246B9E"/>
          </a:solidFill>
          <a:ln w="12700">
            <a:solidFill>
              <a:srgbClr val="246B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142646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38728" y="1536192"/>
            <a:ext cx="1581912" cy="0"/>
          </a:xfrm>
          <a:prstGeom prst="line">
            <a:avLst/>
          </a:prstGeom>
          <a:noFill/>
          <a:ln w="19050">
            <a:solidFill>
              <a:srgbClr val="D6DEE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697480" y="2103120"/>
            <a:ext cx="1737360" cy="1874520"/>
          </a:xfrm>
          <a:prstGeom prst="roundRect">
            <a:avLst>
              <a:gd name="adj" fmla="val 4211"/>
            </a:avLst>
          </a:prstGeom>
          <a:solidFill>
            <a:srgbClr val="EDF7F1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62072" y="221284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Formalización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62072" y="2514600"/>
            <a:ext cx="1408176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Acta de inicio, objetivo, alcance y entregables.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12080" y="1280160"/>
            <a:ext cx="502920" cy="502920"/>
          </a:xfrm>
          <a:prstGeom prst="ellipse">
            <a:avLst/>
          </a:prstGeom>
          <a:solidFill>
            <a:srgbClr val="246B9E"/>
          </a:solidFill>
          <a:ln w="12700">
            <a:solidFill>
              <a:srgbClr val="246B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42646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79008" y="1536192"/>
            <a:ext cx="1581912" cy="0"/>
          </a:xfrm>
          <a:prstGeom prst="line">
            <a:avLst/>
          </a:prstGeom>
          <a:noFill/>
          <a:ln w="19050">
            <a:solidFill>
              <a:srgbClr val="D6DEE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937760" y="2103120"/>
            <a:ext cx="1737360" cy="1874520"/>
          </a:xfrm>
          <a:prstGeom prst="roundRect">
            <a:avLst>
              <a:gd name="adj" fmla="val 4211"/>
            </a:avLst>
          </a:prstGeom>
          <a:solidFill>
            <a:srgbClr val="E8F2FA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221284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Planificación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02352" y="2514600"/>
            <a:ext cx="1408176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Cronograma, fechas, prioridades y plan de recuperación cuando fue necesario.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52360" y="1280160"/>
            <a:ext cx="502920" cy="502920"/>
          </a:xfrm>
          <a:prstGeom prst="ellipse">
            <a:avLst/>
          </a:prstGeom>
          <a:solidFill>
            <a:srgbClr val="246B9E"/>
          </a:solidFill>
          <a:ln w="12700">
            <a:solidFill>
              <a:srgbClr val="246B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142646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19288" y="1536192"/>
            <a:ext cx="1581912" cy="0"/>
          </a:xfrm>
          <a:prstGeom prst="line">
            <a:avLst/>
          </a:prstGeom>
          <a:noFill/>
          <a:ln w="19050">
            <a:solidFill>
              <a:srgbClr val="D6DEE8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178040" y="2103120"/>
            <a:ext cx="1737360" cy="1874520"/>
          </a:xfrm>
          <a:prstGeom prst="roundRect">
            <a:avLst>
              <a:gd name="adj" fmla="val 4211"/>
            </a:avLst>
          </a:prstGeom>
          <a:solidFill>
            <a:srgbClr val="EDF7F1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42632" y="221284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Ejecución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42632" y="2514600"/>
            <a:ext cx="1408176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D1-D8, evidencias y revisión técnica.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92640" y="1280160"/>
            <a:ext cx="502920" cy="502920"/>
          </a:xfrm>
          <a:prstGeom prst="ellipse">
            <a:avLst/>
          </a:prstGeom>
          <a:solidFill>
            <a:srgbClr val="246B9E"/>
          </a:solidFill>
          <a:ln w="12700">
            <a:solidFill>
              <a:srgbClr val="246B9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142646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418320" y="2103120"/>
            <a:ext cx="1737360" cy="1874520"/>
          </a:xfrm>
          <a:prstGeom prst="roundRect">
            <a:avLst>
              <a:gd name="adj" fmla="val 4211"/>
            </a:avLst>
          </a:prstGeom>
          <a:solidFill>
            <a:srgbClr val="E8F2FA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82912" y="221284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Control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582912" y="2514600"/>
            <a:ext cx="1408176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SEG, Kanban, incidencias, observaciones y ajustes.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" y="4892040"/>
            <a:ext cx="1005840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22B35"/>
                </a:solidFill>
              </a:rPr>
              <a:t>La misma lógica se aplicó en los tres casos, pero con decisiones distintas según el avance real de cada alumno.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Aplicación de Scrum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3776" y="8046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67085"/>
                </a:solidFill>
              </a:rPr>
              <a:t>Se usaron seguimientos breves para inspeccionar avance y ajustar el siguiente paso.</a:t>
            </a:r>
            <a:endParaRPr lang="en-US" sz="930" dirty="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498348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A2F35"/>
                </a:solidFill>
              </a:rPr>
              <a:t>Las preguntas de seguimiento se mantuvieron simples: qué se hizo, qué se trabajará ahora y qué bloqueo existe. Con esto se evitó perder tiempo en reportes largos cuando lo urgente era saber si el proyecto seguía avanzando.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060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715768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Daily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3017520"/>
            <a:ext cx="11338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Respuestas breves de avance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23160" y="26060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DF7F1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2715768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Review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87752" y="3017520"/>
            <a:ext cx="11338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Revisión de entregables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60520" y="26060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4DA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5112" y="2715768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Adaptación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25112" y="3017520"/>
            <a:ext cx="11338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Correcciones y replanificación</a:t>
            </a:r>
            <a:endParaRPr lang="en-US" sz="1200" dirty="0"/>
          </a:p>
        </p:txBody>
      </p:sp>
      <p:pic>
        <p:nvPicPr>
          <p:cNvPr id="16" name="Image 0" descr="/mnt/data/proyect2_extract/Alondra/05_SEGUIMIENTO_PM/DAILY_SCRUM/Daily_2026-08-27_Alondra.png.png"/>
          <p:cNvPicPr>
            <a:picLocks noChangeAspect="1"/>
          </p:cNvPicPr>
          <p:nvPr/>
        </p:nvPicPr>
        <p:blipFill>
          <a:blip r:embed="rId3"/>
          <a:srcRect l="3313" r="3313"/>
          <a:stretch/>
        </p:blipFill>
        <p:spPr>
          <a:xfrm>
            <a:off x="6263640" y="1005840"/>
            <a:ext cx="4937760" cy="370332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263640" y="1005840"/>
            <a:ext cx="4937760" cy="3703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5080" y="4892040"/>
            <a:ext cx="475488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Evidencia: Daily Scrum de Alondra con avance, trabajo siguiente y ausencia de bloqueo crítico.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Aplicación de Kanban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3776" y="8046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67085"/>
                </a:solidFill>
              </a:rPr>
              <a:t>El tablero sirvió para separar lo recibido de lo realmente aprobado.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2743200" cy="4389120"/>
          </a:xfrm>
          <a:prstGeom prst="roundRect">
            <a:avLst>
              <a:gd name="adj" fmla="val 2667"/>
            </a:avLst>
          </a:prstGeom>
          <a:solidFill>
            <a:srgbClr val="F7FAFC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2743200" cy="384048"/>
          </a:xfrm>
          <a:prstGeom prst="rect">
            <a:avLst/>
          </a:prstGeom>
          <a:solidFill>
            <a:srgbClr val="C85250"/>
          </a:solidFill>
          <a:ln w="12700">
            <a:solidFill>
              <a:srgbClr val="C852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344168"/>
            <a:ext cx="2596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Pendiente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2468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56232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22B35"/>
                </a:solidFill>
              </a:rPr>
              <a:t>D7 Alondra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640080" y="2185416"/>
            <a:ext cx="2468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258568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22B35"/>
                </a:solidFill>
              </a:rPr>
              <a:t>D8 Alondra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640080" y="2587752"/>
            <a:ext cx="2468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6090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22B35"/>
                </a:solidFill>
              </a:rPr>
              <a:t>D7 Ángel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640080" y="2990088"/>
            <a:ext cx="2468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63240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22B35"/>
                </a:solidFill>
              </a:rPr>
              <a:t>D8 Ángel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3410712" y="1234440"/>
            <a:ext cx="2743200" cy="4389120"/>
          </a:xfrm>
          <a:prstGeom prst="roundRect">
            <a:avLst>
              <a:gd name="adj" fmla="val 2667"/>
            </a:avLst>
          </a:prstGeom>
          <a:solidFill>
            <a:srgbClr val="F7FAFC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10712" y="1234440"/>
            <a:ext cx="2743200" cy="384048"/>
          </a:xfrm>
          <a:prstGeom prst="rect">
            <a:avLst/>
          </a:prstGeom>
          <a:solidFill>
            <a:srgbClr val="E7A83B"/>
          </a:solidFill>
          <a:ln w="12700">
            <a:solidFill>
              <a:srgbClr val="E7A8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83864" y="1344168"/>
            <a:ext cx="2596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En proceso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47872" y="1783080"/>
            <a:ext cx="2468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9312" y="1856232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22B35"/>
                </a:solidFill>
              </a:rPr>
              <a:t>D6 Alondra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3547872" y="2185416"/>
            <a:ext cx="2468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9312" y="2258568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22B35"/>
                </a:solidFill>
              </a:rPr>
              <a:t>D6 Ángel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6318504" y="1234440"/>
            <a:ext cx="2743200" cy="4389120"/>
          </a:xfrm>
          <a:prstGeom prst="roundRect">
            <a:avLst>
              <a:gd name="adj" fmla="val 2667"/>
            </a:avLst>
          </a:prstGeom>
          <a:solidFill>
            <a:srgbClr val="F7FAFC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18504" y="1234440"/>
            <a:ext cx="2743200" cy="384048"/>
          </a:xfrm>
          <a:prstGeom prst="rect">
            <a:avLst/>
          </a:prstGeom>
          <a:solidFill>
            <a:srgbClr val="246B9E"/>
          </a:solidFill>
          <a:ln w="12700">
            <a:solidFill>
              <a:srgbClr val="246B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91656" y="1344168"/>
            <a:ext cx="2596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En revisión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55664" y="1783080"/>
            <a:ext cx="2468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1856232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22B35"/>
                </a:solidFill>
              </a:rPr>
              <a:t>D4 Aarón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6455664" y="2185416"/>
            <a:ext cx="2468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47104" y="2258568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22B35"/>
                </a:solidFill>
              </a:rPr>
              <a:t>D6 Aarón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6455664" y="2587752"/>
            <a:ext cx="2468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47104" y="266090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22B35"/>
                </a:solidFill>
              </a:rPr>
              <a:t>D7 Aarón</a:t>
            </a:r>
            <a:endParaRPr lang="en-US" sz="770" dirty="0"/>
          </a:p>
        </p:txBody>
      </p:sp>
      <p:sp>
        <p:nvSpPr>
          <p:cNvPr id="33" name="Shape 31"/>
          <p:cNvSpPr/>
          <p:nvPr/>
        </p:nvSpPr>
        <p:spPr>
          <a:xfrm>
            <a:off x="6455664" y="2990088"/>
            <a:ext cx="2468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47104" y="3063240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22B35"/>
                </a:solidFill>
              </a:rPr>
              <a:t>D8 Aarón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9226296" y="1234440"/>
            <a:ext cx="2743200" cy="4389120"/>
          </a:xfrm>
          <a:prstGeom prst="roundRect">
            <a:avLst>
              <a:gd name="adj" fmla="val 2667"/>
            </a:avLst>
          </a:prstGeom>
          <a:solidFill>
            <a:srgbClr val="F7FAFC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26296" y="1234440"/>
            <a:ext cx="2743200" cy="38404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99448" y="1344168"/>
            <a:ext cx="2596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Completado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363456" y="1783080"/>
            <a:ext cx="2468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54896" y="1856232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22B35"/>
                </a:solidFill>
              </a:rPr>
              <a:t>D1-D5 Alondra</a:t>
            </a:r>
            <a:endParaRPr lang="en-US" sz="770" dirty="0"/>
          </a:p>
        </p:txBody>
      </p:sp>
      <p:sp>
        <p:nvSpPr>
          <p:cNvPr id="40" name="Shape 38"/>
          <p:cNvSpPr/>
          <p:nvPr/>
        </p:nvSpPr>
        <p:spPr>
          <a:xfrm>
            <a:off x="9363456" y="2185416"/>
            <a:ext cx="2468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54896" y="2258568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22B35"/>
                </a:solidFill>
              </a:rPr>
              <a:t>D1-D5 Ángel</a:t>
            </a:r>
            <a:endParaRPr lang="en-US" sz="770" dirty="0"/>
          </a:p>
        </p:txBody>
      </p:sp>
      <p:sp>
        <p:nvSpPr>
          <p:cNvPr id="42" name="Shape 40"/>
          <p:cNvSpPr/>
          <p:nvPr/>
        </p:nvSpPr>
        <p:spPr>
          <a:xfrm>
            <a:off x="9363456" y="2587752"/>
            <a:ext cx="2468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54896" y="266090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222B35"/>
                </a:solidFill>
              </a:rPr>
              <a:t>D1-D5 Aarón</a:t>
            </a:r>
            <a:endParaRPr lang="en-US" sz="770" dirty="0"/>
          </a:p>
        </p:txBody>
      </p:sp>
      <p:sp>
        <p:nvSpPr>
          <p:cNvPr id="44" name="Text 42"/>
          <p:cNvSpPr/>
          <p:nvPr/>
        </p:nvSpPr>
        <p:spPr>
          <a:xfrm>
            <a:off x="1005840" y="5989320"/>
            <a:ext cx="1024128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B35"/>
                </a:solidFill>
              </a:rPr>
              <a:t>El control visual ayudó a no confundir “me lo mandó” con “ya quedó aprobado”.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Aplicación de PMBOK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3776" y="8046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67085"/>
                </a:solidFill>
              </a:rPr>
              <a:t>La parte formal se concentró en alcance, planeación, control y validación.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E8F2FA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34416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ACTA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50392" y="1645920"/>
            <a:ext cx="14996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Definición oficial del proyecto y alcance.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123444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EDF7F1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0672" y="134416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PLAN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90672" y="1645920"/>
            <a:ext cx="14996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Fechas, entregables y ruta de trabajo.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66360" y="123444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E8F2FA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0952" y="134416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SEG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30952" y="1645920"/>
            <a:ext cx="14996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Registro de seguimiento y decisiones del PM.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06640" y="123444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FF4DA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71232" y="134416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INC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71232" y="1645920"/>
            <a:ext cx="14996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Registro de retrasos, desviaciones o problemas.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46920" y="123444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E8F2FA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11512" y="134416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REV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811512" y="1645920"/>
            <a:ext cx="14996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Revisión formal antes de validar cierre.</a:t>
            </a:r>
            <a:endParaRPr lang="en-US" sz="1200" dirty="0"/>
          </a:p>
        </p:txBody>
      </p:sp>
      <p:pic>
        <p:nvPicPr>
          <p:cNvPr id="21" name="Image 0" descr="/mnt/data/proyect2_extract/Aaron/05_PM/EVID/05_PMEVIDEVID_Solicitud_Correccion_D6_D7_D8_2026-08-31.png.png"/>
          <p:cNvPicPr>
            <a:picLocks noChangeAspect="1"/>
          </p:cNvPicPr>
          <p:nvPr/>
        </p:nvPicPr>
        <p:blipFill>
          <a:blip r:embed="rId3"/>
          <a:srcRect t="7577" b="7577"/>
          <a:stretch/>
        </p:blipFill>
        <p:spPr>
          <a:xfrm>
            <a:off x="1097280" y="3246120"/>
            <a:ext cx="3657600" cy="23317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1097280" y="3246120"/>
            <a:ext cx="365760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pic>
        <p:nvPicPr>
          <p:cNvPr id="23" name="Image 1" descr="/mnt/data/proyect2_extract/Aaron/03_PLAN/EVID_PLAN003.png"/>
          <p:cNvPicPr>
            <a:picLocks noChangeAspect="1"/>
          </p:cNvPicPr>
          <p:nvPr/>
        </p:nvPicPr>
        <p:blipFill>
          <a:blip r:embed="rId4"/>
          <a:srcRect l="3134" r="3134"/>
          <a:stretch/>
        </p:blipFill>
        <p:spPr>
          <a:xfrm>
            <a:off x="5074920" y="3246120"/>
            <a:ext cx="3017520" cy="233172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074920" y="3246120"/>
            <a:ext cx="301752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pic>
        <p:nvPicPr>
          <p:cNvPr id="25" name="Image 2" descr="/mnt/data/proyect2_extract/Angel/02_FORMALIZACION/Evidencia_Confirmacion_ACTA-001_PLAN-001_Angel_2026-08-27.png.png"/>
          <p:cNvPicPr>
            <a:picLocks noChangeAspect="1"/>
          </p:cNvPicPr>
          <p:nvPr/>
        </p:nvPicPr>
        <p:blipFill>
          <a:blip r:embed="rId5"/>
          <a:srcRect l="5062" r="5062"/>
          <a:stretch/>
        </p:blipFill>
        <p:spPr>
          <a:xfrm>
            <a:off x="8412480" y="3246120"/>
            <a:ext cx="2834640" cy="233172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8412480" y="3246120"/>
            <a:ext cx="283464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Proyecto 1: Alondra · ProcesMuebles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3776" y="8046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67085"/>
                </a:solidFill>
              </a:rPr>
              <a:t>Avance general y situación actual.</a:t>
            </a:r>
            <a:endParaRPr lang="en-US" sz="93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52"/>
                </a:solidFill>
              </a:rPr>
              <a:t>D1-D5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581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667085"/>
                </a:solidFill>
              </a:rPr>
              <a:t>entregables recibidos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201168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A83B"/>
                </a:solidFill>
              </a:rPr>
              <a:t>D6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920240" y="1581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667085"/>
                </a:solidFill>
              </a:rPr>
              <a:t>actividad actual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329184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5250"/>
                </a:solidFill>
              </a:rPr>
              <a:t>D7-D8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0" y="1581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667085"/>
                </a:solidFill>
              </a:rPr>
              <a:t>pendientes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731520" y="2286000"/>
            <a:ext cx="42976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A2F35"/>
                </a:solidFill>
              </a:rPr>
              <a:t>Alondra reportó configuraciones en Bizagi, ejecución de pruebas y detección de cuellos de botella. El avance ya permite pasar al análisis de escenarios, siempre conservando la evidencia del escenario base.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977640"/>
            <a:ext cx="4297680" cy="1005840"/>
          </a:xfrm>
          <a:prstGeom prst="roundRect">
            <a:avLst>
              <a:gd name="adj" fmla="val 7273"/>
            </a:avLst>
          </a:prstGeom>
          <a:solidFill>
            <a:srgbClr val="FFF4DA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087368"/>
            <a:ext cx="3968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Decisión PM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6112" y="4389120"/>
            <a:ext cx="396849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Autorizar D6: crear un escenario mejorado y comparar resultados contra el escenario actual.</a:t>
            </a:r>
            <a:endParaRPr lang="en-US" sz="1200" dirty="0"/>
          </a:p>
        </p:txBody>
      </p:sp>
      <p:pic>
        <p:nvPicPr>
          <p:cNvPr id="16" name="Image 0" descr="/mnt/data/proyect2_extract/Alondra/05_SEGUIMIENTO_PM/DAILY_SCRUM/Daily_2026-08-27_Alondra.png.png"/>
          <p:cNvPicPr>
            <a:picLocks noChangeAspect="1"/>
          </p:cNvPicPr>
          <p:nvPr/>
        </p:nvPicPr>
        <p:blipFill>
          <a:blip r:embed="rId3"/>
          <a:srcRect l="8759" r="8759"/>
          <a:stretch/>
        </p:blipFill>
        <p:spPr>
          <a:xfrm>
            <a:off x="5532120" y="914400"/>
            <a:ext cx="2423160" cy="20574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550782" y="914400"/>
            <a:ext cx="242316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pic>
        <p:nvPicPr>
          <p:cNvPr id="18" name="Image 1" descr="/mnt/data/act22_pdfimgs/alondra_d5-3.png"/>
          <p:cNvPicPr>
            <a:picLocks noChangeAspect="1"/>
          </p:cNvPicPr>
          <p:nvPr/>
        </p:nvPicPr>
        <p:blipFill>
          <a:blip r:embed="rId4"/>
          <a:srcRect t="24802" b="24802"/>
          <a:stretch/>
        </p:blipFill>
        <p:spPr>
          <a:xfrm>
            <a:off x="8183880" y="914400"/>
            <a:ext cx="3154680" cy="205740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8183880" y="914400"/>
            <a:ext cx="315468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pic>
        <p:nvPicPr>
          <p:cNvPr id="20" name="Image 2" descr="/mnt/data/act22_pdfimgs/alondra_d4-2.png"/>
          <p:cNvPicPr>
            <a:picLocks noChangeAspect="1"/>
          </p:cNvPicPr>
          <p:nvPr/>
        </p:nvPicPr>
        <p:blipFill>
          <a:blip r:embed="rId5"/>
          <a:srcRect t="39048" b="39048"/>
          <a:stretch/>
        </p:blipFill>
        <p:spPr>
          <a:xfrm>
            <a:off x="5532120" y="3337560"/>
            <a:ext cx="5806440" cy="164592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532120" y="3337560"/>
            <a:ext cx="580644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Proyecto 2: Ángel · Industria Bloquera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3776" y="8046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67085"/>
                </a:solidFill>
              </a:rPr>
              <a:t>Corrección de alcance y avance hacia comparación de escenarios.</a:t>
            </a:r>
            <a:endParaRPr lang="en-US" sz="93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4937760" cy="10789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2A2F35"/>
                </a:solidFill>
              </a:rPr>
              <a:t>En el caso de Ángel, el seguimiento detectó que algunos elementos del modelo se salían del alcance. Se pidió retirar extracción, transporte y entrega al cliente para concentrar la simulación en el proceso productivo de la planta.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777240" y="2624328"/>
            <a:ext cx="164592" cy="164592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638044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51560" y="26060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2F35"/>
                </a:solidFill>
              </a:rPr>
              <a:t>Acta y plan confirmados.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777240" y="3044952"/>
            <a:ext cx="164592" cy="164592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058668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51560" y="302666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2F35"/>
                </a:solidFill>
              </a:rPr>
              <a:t>Alcance corregido.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777240" y="3465576"/>
            <a:ext cx="164592" cy="164592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479292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51560" y="34472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2F35"/>
                </a:solidFill>
              </a:rPr>
              <a:t>D4 y D5 cerrados funcionalmente.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77240" y="3886200"/>
            <a:ext cx="164592" cy="164592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899916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51560" y="386791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2F35"/>
                </a:solidFill>
              </a:rPr>
              <a:t>D6 en desarrollo con escenario actual y mejora.</a:t>
            </a:r>
            <a:endParaRPr lang="en-US" sz="1120" dirty="0"/>
          </a:p>
        </p:txBody>
      </p:sp>
      <p:pic>
        <p:nvPicPr>
          <p:cNvPr id="19" name="Image 0" descr="/mnt/data/Screenshot_20260827_204734_WhatsApp.jpg"/>
          <p:cNvPicPr>
            <a:picLocks noChangeAspect="1"/>
          </p:cNvPicPr>
          <p:nvPr/>
        </p:nvPicPr>
        <p:blipFill>
          <a:blip r:embed="rId3"/>
          <a:srcRect t="-1086" b="8367"/>
          <a:stretch/>
        </p:blipFill>
        <p:spPr>
          <a:xfrm>
            <a:off x="6080760" y="436880"/>
            <a:ext cx="2331720" cy="4683760"/>
          </a:xfrm>
          <a:prstGeom prst="rect">
            <a:avLst/>
          </a:prstGeom>
        </p:spPr>
      </p:pic>
      <p:pic>
        <p:nvPicPr>
          <p:cNvPr id="21" name="Image 1" descr="/mnt/data/proyect2_extract/Angel/02_FORMALIZACION/Evidencia_Confirmacion_ACTA-001_PLAN-001_Angel_2026-08-27.png.png"/>
          <p:cNvPicPr>
            <a:picLocks noChangeAspect="1"/>
          </p:cNvPicPr>
          <p:nvPr/>
        </p:nvPicPr>
        <p:blipFill>
          <a:blip r:embed="rId4"/>
          <a:srcRect l="5626" t="-1750" r="4554"/>
          <a:stretch/>
        </p:blipFill>
        <p:spPr>
          <a:xfrm>
            <a:off x="8671804" y="1682496"/>
            <a:ext cx="3316996" cy="2658872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85800" y="498348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E8F2FA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50392" y="5093208"/>
            <a:ext cx="4608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Pendiente inmediato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850392" y="5394960"/>
            <a:ext cx="4608576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D6: comparar una revolvedora contra dos revolvedoras sin mezclar varios cambios al mismo tiempo.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Proyecto 3: Aarón · Fast Burger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3776" y="8046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67085"/>
                </a:solidFill>
              </a:rPr>
              <a:t>Recuperación de atraso y revisión final pendiente.</a:t>
            </a:r>
            <a:endParaRPr lang="en-US" sz="930" dirty="0"/>
          </a:p>
        </p:txBody>
      </p:sp>
      <p:sp>
        <p:nvSpPr>
          <p:cNvPr id="6" name="Text 4"/>
          <p:cNvSpPr/>
          <p:nvPr/>
        </p:nvSpPr>
        <p:spPr>
          <a:xfrm>
            <a:off x="685800" y="1115568"/>
            <a:ext cx="502920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A2F35"/>
                </a:solidFill>
              </a:rPr>
              <a:t>Aarón inició con retraso: sin datos, diagrama ni modelo definido. Se documentó la incidencia, se creó un plan de recuperación y se fijó Bizagi Modeler como herramienta principal para evitar dispersión.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685800" y="26060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FF4DA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715768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INC-003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3017520"/>
            <a:ext cx="11338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Retraso documentado y controlado.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31720" y="26060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715768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PLAN-003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96312" y="3017520"/>
            <a:ext cx="11338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Replanificación de recuperación.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77640" y="260604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FDE8E7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42232" y="2715768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REV-003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42232" y="3017520"/>
            <a:ext cx="11338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D6-D7 requieren corrección.</a:t>
            </a:r>
            <a:endParaRPr lang="en-US" sz="1200" dirty="0"/>
          </a:p>
        </p:txBody>
      </p:sp>
      <p:pic>
        <p:nvPicPr>
          <p:cNvPr id="16" name="Image 0" descr="/mnt/data/proyect2_extract/Aaron/04_EJECUCION_ENTREGABLES/D1_DIAGRAMA_PROCESO/D1_Evidencia_Diagrama_FastBurger.jpeg"/>
          <p:cNvPicPr>
            <a:picLocks noChangeAspect="1"/>
          </p:cNvPicPr>
          <p:nvPr/>
        </p:nvPicPr>
        <p:blipFill>
          <a:blip r:embed="rId3"/>
          <a:srcRect t="1717" b="1717"/>
          <a:stretch/>
        </p:blipFill>
        <p:spPr>
          <a:xfrm>
            <a:off x="6172200" y="914400"/>
            <a:ext cx="5074920" cy="20574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172200" y="914400"/>
            <a:ext cx="507492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pic>
        <p:nvPicPr>
          <p:cNvPr id="18" name="Image 1" descr="/mnt/data/proyect2_extract/Aaron/03_PLAN/EVID_PLAN003.png"/>
          <p:cNvPicPr>
            <a:picLocks noChangeAspect="1"/>
          </p:cNvPicPr>
          <p:nvPr/>
        </p:nvPicPr>
        <p:blipFill>
          <a:blip r:embed="rId4"/>
          <a:srcRect l="2015" r="2015"/>
          <a:stretch/>
        </p:blipFill>
        <p:spPr>
          <a:xfrm>
            <a:off x="6172200" y="3246120"/>
            <a:ext cx="2423160" cy="182880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172200" y="3246120"/>
            <a:ext cx="242316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pic>
        <p:nvPicPr>
          <p:cNvPr id="20" name="Image 2" descr="/mnt/data/proyect2_extract/Aaron/05_PM/EVID/05_PMEVIDEVID_Solicitud_Correccion_D6_D7_D8_2026-08-31.png.png"/>
          <p:cNvPicPr>
            <a:picLocks noChangeAspect="1"/>
          </p:cNvPicPr>
          <p:nvPr/>
        </p:nvPicPr>
        <p:blipFill>
          <a:blip r:embed="rId5"/>
          <a:srcRect l="222" r="222"/>
          <a:stretch/>
        </p:blipFill>
        <p:spPr>
          <a:xfrm>
            <a:off x="8823960" y="3246120"/>
            <a:ext cx="2423160" cy="18288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823960" y="3246120"/>
            <a:ext cx="242316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Avance consolidado de los tres proyectos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3776" y="8046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67085"/>
                </a:solidFill>
              </a:rPr>
              <a:t>Estado al momento de elaborar el reporte.</a:t>
            </a:r>
            <a:endParaRPr lang="en-US" sz="930" dirty="0"/>
          </a:p>
        </p:txBody>
      </p:sp>
      <p:sp>
        <p:nvSpPr>
          <p:cNvPr id="6" name="Text 4"/>
          <p:cNvSpPr/>
          <p:nvPr/>
        </p:nvSpPr>
        <p:spPr>
          <a:xfrm>
            <a:off x="685800" y="14447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3B5D"/>
                </a:solidFill>
              </a:rPr>
              <a:t>Alondra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7190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ProcesMuebles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1490472"/>
            <a:ext cx="502920" cy="301752"/>
          </a:xfrm>
          <a:prstGeom prst="roundRect">
            <a:avLst>
              <a:gd name="adj" fmla="val 18182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56362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D1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3063240" y="1490472"/>
            <a:ext cx="502920" cy="301752"/>
          </a:xfrm>
          <a:prstGeom prst="roundRect">
            <a:avLst>
              <a:gd name="adj" fmla="val 18182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156362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D2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3703320" y="1490472"/>
            <a:ext cx="502920" cy="301752"/>
          </a:xfrm>
          <a:prstGeom prst="roundRect">
            <a:avLst>
              <a:gd name="adj" fmla="val 18182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56362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D3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4343400" y="1490472"/>
            <a:ext cx="502920" cy="301752"/>
          </a:xfrm>
          <a:prstGeom prst="roundRect">
            <a:avLst>
              <a:gd name="adj" fmla="val 18182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56362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D4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4983480" y="1490472"/>
            <a:ext cx="502920" cy="301752"/>
          </a:xfrm>
          <a:prstGeom prst="roundRect">
            <a:avLst>
              <a:gd name="adj" fmla="val 18182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56362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D5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080760" y="1490472"/>
            <a:ext cx="502920" cy="301752"/>
          </a:xfrm>
          <a:prstGeom prst="roundRect">
            <a:avLst>
              <a:gd name="adj" fmla="val 18182"/>
            </a:avLst>
          </a:prstGeom>
          <a:solidFill>
            <a:srgbClr val="E7A83B"/>
          </a:solidFill>
          <a:ln w="12700">
            <a:solidFill>
              <a:srgbClr val="E7A8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56362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D6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8366760" y="1490472"/>
            <a:ext cx="502920" cy="301752"/>
          </a:xfrm>
          <a:prstGeom prst="roundRect">
            <a:avLst>
              <a:gd name="adj" fmla="val 18182"/>
            </a:avLst>
          </a:prstGeom>
          <a:solidFill>
            <a:srgbClr val="C85250"/>
          </a:solidFill>
          <a:ln w="12700">
            <a:solidFill>
              <a:srgbClr val="C852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156362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D7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9006840" y="1490472"/>
            <a:ext cx="502920" cy="301752"/>
          </a:xfrm>
          <a:prstGeom prst="roundRect">
            <a:avLst>
              <a:gd name="adj" fmla="val 18182"/>
            </a:avLst>
          </a:prstGeom>
          <a:solidFill>
            <a:srgbClr val="C85250"/>
          </a:solidFill>
          <a:ln w="12700">
            <a:solidFill>
              <a:srgbClr val="C852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06840" y="156362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D8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685800" y="2404872"/>
            <a:ext cx="1069848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9077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3B5D"/>
                </a:solidFill>
              </a:rPr>
              <a:t>Ángel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" y="31821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Industria Bloquera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23160" y="2953512"/>
            <a:ext cx="502920" cy="301752"/>
          </a:xfrm>
          <a:prstGeom prst="roundRect">
            <a:avLst>
              <a:gd name="adj" fmla="val 18182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3160" y="302666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D1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3063240" y="2953512"/>
            <a:ext cx="502920" cy="301752"/>
          </a:xfrm>
          <a:prstGeom prst="roundRect">
            <a:avLst>
              <a:gd name="adj" fmla="val 18182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63240" y="302666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D2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3703320" y="2953512"/>
            <a:ext cx="502920" cy="301752"/>
          </a:xfrm>
          <a:prstGeom prst="roundRect">
            <a:avLst>
              <a:gd name="adj" fmla="val 18182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03320" y="302666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D3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4343400" y="2953512"/>
            <a:ext cx="502920" cy="301752"/>
          </a:xfrm>
          <a:prstGeom prst="roundRect">
            <a:avLst>
              <a:gd name="adj" fmla="val 18182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3400" y="302666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D4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4983480" y="2953512"/>
            <a:ext cx="502920" cy="301752"/>
          </a:xfrm>
          <a:prstGeom prst="roundRect">
            <a:avLst>
              <a:gd name="adj" fmla="val 18182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02666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D5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6080760" y="2953512"/>
            <a:ext cx="502920" cy="301752"/>
          </a:xfrm>
          <a:prstGeom prst="roundRect">
            <a:avLst>
              <a:gd name="adj" fmla="val 18182"/>
            </a:avLst>
          </a:prstGeom>
          <a:solidFill>
            <a:srgbClr val="E7A83B"/>
          </a:solidFill>
          <a:ln w="12700">
            <a:solidFill>
              <a:srgbClr val="E7A8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302666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D6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8366760" y="2953512"/>
            <a:ext cx="502920" cy="301752"/>
          </a:xfrm>
          <a:prstGeom prst="roundRect">
            <a:avLst>
              <a:gd name="adj" fmla="val 18182"/>
            </a:avLst>
          </a:prstGeom>
          <a:solidFill>
            <a:srgbClr val="C85250"/>
          </a:solidFill>
          <a:ln w="12700">
            <a:solidFill>
              <a:srgbClr val="C852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66760" y="302666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D7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9006840" y="2953512"/>
            <a:ext cx="502920" cy="301752"/>
          </a:xfrm>
          <a:prstGeom prst="roundRect">
            <a:avLst>
              <a:gd name="adj" fmla="val 18182"/>
            </a:avLst>
          </a:prstGeom>
          <a:solidFill>
            <a:srgbClr val="C85250"/>
          </a:solidFill>
          <a:ln w="12700">
            <a:solidFill>
              <a:srgbClr val="C852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06840" y="302666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D8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685800" y="3867912"/>
            <a:ext cx="1069848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43708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3B5D"/>
                </a:solidFill>
              </a:rPr>
              <a:t>Aarón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85800" y="46451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Fast Burger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423160" y="4416552"/>
            <a:ext cx="502920" cy="301752"/>
          </a:xfrm>
          <a:prstGeom prst="roundRect">
            <a:avLst>
              <a:gd name="adj" fmla="val 18182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23160" y="448970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D1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3063240" y="4416552"/>
            <a:ext cx="502920" cy="301752"/>
          </a:xfrm>
          <a:prstGeom prst="roundRect">
            <a:avLst>
              <a:gd name="adj" fmla="val 18182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63240" y="448970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D2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3703320" y="4416552"/>
            <a:ext cx="502920" cy="301752"/>
          </a:xfrm>
          <a:prstGeom prst="roundRect">
            <a:avLst>
              <a:gd name="adj" fmla="val 18182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03320" y="448970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D3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4343400" y="4416552"/>
            <a:ext cx="502920" cy="301752"/>
          </a:xfrm>
          <a:prstGeom prst="roundRect">
            <a:avLst>
              <a:gd name="adj" fmla="val 18182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43400" y="448970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D4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4983480" y="4416552"/>
            <a:ext cx="502920" cy="301752"/>
          </a:xfrm>
          <a:prstGeom prst="roundRect">
            <a:avLst>
              <a:gd name="adj" fmla="val 18182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83480" y="448970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D5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6080760" y="4416552"/>
            <a:ext cx="502920" cy="301752"/>
          </a:xfrm>
          <a:prstGeom prst="roundRect">
            <a:avLst>
              <a:gd name="adj" fmla="val 18182"/>
            </a:avLst>
          </a:prstGeom>
          <a:solidFill>
            <a:srgbClr val="C85250"/>
          </a:solidFill>
          <a:ln w="12700">
            <a:solidFill>
              <a:srgbClr val="C852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80760" y="448970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D6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6720840" y="4416552"/>
            <a:ext cx="502920" cy="301752"/>
          </a:xfrm>
          <a:prstGeom prst="roundRect">
            <a:avLst>
              <a:gd name="adj" fmla="val 18182"/>
            </a:avLst>
          </a:prstGeom>
          <a:solidFill>
            <a:srgbClr val="C85250"/>
          </a:solidFill>
          <a:ln w="12700">
            <a:solidFill>
              <a:srgbClr val="C852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20840" y="448970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D7</a:t>
            </a:r>
            <a:endParaRPr lang="en-US" sz="720" dirty="0"/>
          </a:p>
        </p:txBody>
      </p:sp>
      <p:sp>
        <p:nvSpPr>
          <p:cNvPr id="60" name="Shape 58"/>
          <p:cNvSpPr/>
          <p:nvPr/>
        </p:nvSpPr>
        <p:spPr>
          <a:xfrm>
            <a:off x="7360920" y="4416552"/>
            <a:ext cx="502920" cy="301752"/>
          </a:xfrm>
          <a:prstGeom prst="roundRect">
            <a:avLst>
              <a:gd name="adj" fmla="val 18182"/>
            </a:avLst>
          </a:prstGeom>
          <a:solidFill>
            <a:srgbClr val="C85250"/>
          </a:solidFill>
          <a:ln w="12700">
            <a:solidFill>
              <a:srgbClr val="C8525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60920" y="448970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</a:rPr>
              <a:t>D8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685800" y="5330952"/>
            <a:ext cx="1069848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23160" y="10241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52"/>
                </a:solidFill>
              </a:rPr>
              <a:t>Completado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080760" y="10241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7A83B"/>
                </a:solidFill>
              </a:rPr>
              <a:t>En proceso / corrección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366760" y="10241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85250"/>
                </a:solidFill>
              </a:rPr>
              <a:t>Pendiente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B35"/>
                </a:solidFill>
              </a:rPr>
              <a:t>Lectura del avance: los tres proyectos ya tienen base formal. La diferencia está en el punto de control: Alondra y Ángel avanzan hacia D6; Aarón requiere corregir D6-D7 antes de aprobar D8.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falta por resolver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3776" y="8046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67085"/>
                </a:solidFill>
              </a:rPr>
              <a:t>Pendientes reales antes del cierre de cada proyecto.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E8F2FA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25272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Alondra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6112" y="1554480"/>
            <a:ext cx="3145536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Completar D6 con comparación de escenario actual contra escenario mejorado. Después elaborar D7 y preparar D8.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14300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EDF7F1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25272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Ángel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07992" y="1554480"/>
            <a:ext cx="3145536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Finalizar D6 comparando una revolvedora contra dos revolvedoras. D7 debe explicar resultados y D8 integrar evidencia final.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143000"/>
            <a:ext cx="3474720" cy="3429000"/>
          </a:xfrm>
          <a:prstGeom prst="roundRect">
            <a:avLst>
              <a:gd name="adj" fmla="val 2133"/>
            </a:avLst>
          </a:prstGeom>
          <a:solidFill>
            <a:srgbClr val="FFF4DA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19872" y="125272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Aarón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19872" y="1554480"/>
            <a:ext cx="3145536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Corregir D6 y D7 con datos consistentes: escenario base con recursos contra alta demanda. D8 queda en revisión hasta sustituir versiones.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5303520"/>
            <a:ext cx="103327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3B5D"/>
                </a:solidFill>
              </a:rPr>
              <a:t>El cierre no debe realizarse hasta que exista coherencia entre resultados, conclusiones y archivos finales.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de la práctica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3776" y="8046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67085"/>
                </a:solidFill>
              </a:rPr>
              <a:t>Qué se logró con el acompañamiento como Project Manager.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685800" y="1078992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E8F2FA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188720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Transparencia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50392" y="1490472"/>
            <a:ext cx="17282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Cada proyecto tiene evidencia, estado y siguiente acción.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71800" y="1078992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EDF7F1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36392" y="1188720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Inspección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36392" y="1490472"/>
            <a:ext cx="17282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Los entregables se revisaron antes de marcarse como cerrados.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57800" y="1078992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FF4DA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22392" y="1188720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Adaptación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22392" y="1490472"/>
            <a:ext cx="17282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Hubo ajustes de alcance y recuperación de atrasos.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43800" y="1078992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F6F8FA"/>
          </a:solidFill>
          <a:ln w="12700">
            <a:solidFill>
              <a:srgbClr val="C9D6E2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08392" y="1188720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5D"/>
                </a:solidFill>
              </a:rPr>
              <a:t>Trazabilidad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08392" y="1490472"/>
            <a:ext cx="172821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A2F35"/>
                </a:solidFill>
              </a:rPr>
              <a:t>Las decisiones quedaron respaldadas en documentos y evidencias.</a:t>
            </a:r>
            <a:endParaRPr lang="en-US" sz="1200" dirty="0"/>
          </a:p>
        </p:txBody>
      </p:sp>
      <p:pic>
        <p:nvPicPr>
          <p:cNvPr id="18" name="Image 0" descr="/mnt/data/proyect2_extract/Alondra/05_SEGUIMIENTO_PM/DAILY_SCRUM/Daily_2026-08-27_Alondra.png.png"/>
          <p:cNvPicPr>
            <a:picLocks noChangeAspect="1"/>
          </p:cNvPicPr>
          <p:nvPr/>
        </p:nvPicPr>
        <p:blipFill>
          <a:blip r:embed="rId3"/>
          <a:srcRect t="1969" b="1969"/>
          <a:stretch/>
        </p:blipFill>
        <p:spPr>
          <a:xfrm>
            <a:off x="777240" y="2971800"/>
            <a:ext cx="2514600" cy="169164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77240" y="2971800"/>
            <a:ext cx="2514600" cy="1691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pic>
        <p:nvPicPr>
          <p:cNvPr id="20" name="Image 1" descr="/mnt/data/Screenshot_20260827_204734_WhatsApp.jpg"/>
          <p:cNvPicPr>
            <a:picLocks noChangeAspect="1"/>
          </p:cNvPicPr>
          <p:nvPr/>
        </p:nvPicPr>
        <p:blipFill>
          <a:blip r:embed="rId4"/>
          <a:srcRect t="34474" b="34474"/>
          <a:stretch/>
        </p:blipFill>
        <p:spPr>
          <a:xfrm>
            <a:off x="3520440" y="2971800"/>
            <a:ext cx="2514600" cy="169164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3520440" y="2971800"/>
            <a:ext cx="2514600" cy="1691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pic>
        <p:nvPicPr>
          <p:cNvPr id="22" name="Image 2" descr="/mnt/data/proyect2_extract/Aaron/04_EJECUCION_ENTREGABLES/D1_DIAGRAMA_PROCESO/D1_Evidencia_Diagrama_FastBurger.jpeg"/>
          <p:cNvPicPr>
            <a:picLocks noChangeAspect="1"/>
          </p:cNvPicPr>
          <p:nvPr/>
        </p:nvPicPr>
        <p:blipFill>
          <a:blip r:embed="rId5"/>
          <a:srcRect l="18797" r="18797"/>
          <a:stretch/>
        </p:blipFill>
        <p:spPr>
          <a:xfrm>
            <a:off x="6263640" y="2971800"/>
            <a:ext cx="2514600" cy="169164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263640" y="2971800"/>
            <a:ext cx="2514600" cy="1691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pic>
        <p:nvPicPr>
          <p:cNvPr id="24" name="Image 3" descr="/mnt/data/proyect2_extract/Aaron/05_PM/EVID/05_PMEVIDEVID_Solicitud_Correccion_D6_D7_D8_2026-08-31.png.png"/>
          <p:cNvPicPr>
            <a:picLocks noChangeAspect="1"/>
          </p:cNvPicPr>
          <p:nvPr/>
        </p:nvPicPr>
        <p:blipFill>
          <a:blip r:embed="rId6"/>
          <a:srcRect t="1721" b="1722"/>
          <a:stretch/>
        </p:blipFill>
        <p:spPr>
          <a:xfrm>
            <a:off x="9006840" y="2971800"/>
            <a:ext cx="2331720" cy="169164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006840" y="2971800"/>
            <a:ext cx="2331720" cy="16916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Conclusión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1188720"/>
            <a:ext cx="539496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A2F35"/>
                </a:solidFill>
              </a:rPr>
              <a:t>La práctica permitió comprobar que el seguimiento de proyectos exige más que recibir archivos. Fue necesario revisar evidencia, detectar diferencias entre lo planeado y lo entregado, registrar decisiones y ajustar el trabajo cuando un proyecto se salía del alcance o se atrasaba.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539496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A2F35"/>
                </a:solidFill>
              </a:rPr>
              <a:t>Scrum aportó disciplina para preguntar y revisar de forma breve. Kanban ayudó a visualizar estados. PMBOK dio soporte documental para actas, planes, incidencias, revisiones y cierre. Al combinar estos elementos, el trabajo se mantuvo organizado sin perder capacidad de adaptación.</a:t>
            </a:r>
            <a:endParaRPr lang="en-US" sz="1700" dirty="0"/>
          </a:p>
        </p:txBody>
      </p:sp>
      <p:pic>
        <p:nvPicPr>
          <p:cNvPr id="8" name="Image 0" descr="/mnt/data/proyect2_extract/Aaron/03_PLAN/EVID_PLAN003.png"/>
          <p:cNvPicPr>
            <a:picLocks noChangeAspect="1"/>
          </p:cNvPicPr>
          <p:nvPr/>
        </p:nvPicPr>
        <p:blipFill>
          <a:blip r:embed="rId3"/>
          <a:srcRect t="15863" b="15863"/>
          <a:stretch/>
        </p:blipFill>
        <p:spPr>
          <a:xfrm>
            <a:off x="6720840" y="1143000"/>
            <a:ext cx="4160520" cy="2057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720840" y="1143000"/>
            <a:ext cx="416052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  <p:pic>
        <p:nvPicPr>
          <p:cNvPr id="10" name="Image 1" descr="/mnt/data/proyect2_extract/Angel/02_FORMALIZACION/Evidencia_Confirmacion_ACTA-001_PLAN-001_Angel_2026-08-27.png.png"/>
          <p:cNvPicPr>
            <a:picLocks noChangeAspect="1"/>
          </p:cNvPicPr>
          <p:nvPr/>
        </p:nvPicPr>
        <p:blipFill>
          <a:blip r:embed="rId4"/>
          <a:srcRect t="20272" b="20272"/>
          <a:stretch/>
        </p:blipFill>
        <p:spPr>
          <a:xfrm>
            <a:off x="6720840" y="3566160"/>
            <a:ext cx="4160520" cy="18288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720840" y="3566160"/>
            <a:ext cx="416052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6DEE8">
                <a:alpha val="8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13B5D"/>
          </a:solidFill>
          <a:ln w="12700">
            <a:solidFill>
              <a:srgbClr val="113B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Fuentes de información y evidencias utilizadas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3776" y="8046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67085"/>
                </a:solidFill>
              </a:rPr>
              <a:t>Referencias teóricas y documentación del expediente.</a:t>
            </a:r>
            <a:endParaRPr lang="en-US" sz="93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241280" cy="2103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350" dirty="0">
                <a:solidFill>
                  <a:srgbClr val="2A2F35"/>
                </a:solidFill>
              </a:rPr>
              <a:t>Project Management Institute. (2021). A Guide to the Project Management Body of Knowledge (PMBOK Guide) – Seventh Edition.
</a:t>
            </a:r>
            <a:endParaRPr lang="en-US" sz="1350" dirty="0"/>
          </a:p>
          <a:p>
            <a:r>
              <a:rPr lang="en-US" sz="1350" dirty="0">
                <a:solidFill>
                  <a:srgbClr val="2A2F35"/>
                </a:solidFill>
              </a:rPr>
              <a:t>Schwaber, K., &amp; Sutherland, J. (2020). The Scrum Guide: The Definitive Guide to Scrum.
</a:t>
            </a:r>
            <a:endParaRPr lang="en-US" sz="1350" dirty="0"/>
          </a:p>
          <a:p>
            <a:r>
              <a:rPr lang="en-US" sz="1350" dirty="0">
                <a:solidFill>
                  <a:srgbClr val="2A2F35"/>
                </a:solidFill>
              </a:rPr>
              <a:t>Kanban Guides. (2020). The Kanban Guide.
</a:t>
            </a:r>
            <a:endParaRPr lang="en-US" sz="1350" dirty="0"/>
          </a:p>
          <a:p>
            <a:r>
              <a:rPr lang="en-US" sz="1350" dirty="0">
                <a:solidFill>
                  <a:srgbClr val="2A2F35"/>
                </a:solidFill>
              </a:rPr>
              <a:t>Expedientes de seguimiento de Alondra, Ángel y Aarón: ACTA, PLAN, SEG, INC, REV, evidencias de WhatsApp, archivos de simulación y resultados.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1367</Words>
  <Application>Microsoft Office PowerPoint</Application>
  <PresentationFormat>Panorámica</PresentationFormat>
  <Paragraphs>219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-apple-system</vt:lpstr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Project Manager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2.2 - Reporte de avances PM</dc:title>
  <dc:subject>Actividad 2.2 - Reporte de práctica de avances</dc:subject>
  <dc:creator>Amaury Jahaziel Gordillo Hernández</dc:creator>
  <cp:lastModifiedBy>amaury rokete</cp:lastModifiedBy>
  <cp:revision>3</cp:revision>
  <dcterms:created xsi:type="dcterms:W3CDTF">2026-09-03T03:14:28Z</dcterms:created>
  <dcterms:modified xsi:type="dcterms:W3CDTF">2026-09-03T03:34:50Z</dcterms:modified>
</cp:coreProperties>
</file>