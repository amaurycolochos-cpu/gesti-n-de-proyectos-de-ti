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71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25" d="100"/>
          <a:sy n="25" d="100"/>
        </p:scale>
        <p:origin x="2866" y="12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144486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"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73B5B"/>
          </a:solidFill>
          <a:ln w="12700">
            <a:solidFill>
              <a:srgbClr val="173B5B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0028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agen 4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280834" y="0"/>
            <a:ext cx="11911166" cy="6858000"/>
          </a:xfrm>
          <a:prstGeom prst="rect">
            <a:avLst/>
          </a:prstGeom>
        </p:spPr>
      </p:pic>
      <p:sp>
        <p:nvSpPr>
          <p:cNvPr id="2" name="institutional-navy-band">
            <a:extLst>
              <a:ext uri="{FF2B5EF4-FFF2-40B4-BE49-F238E27FC236}">
                <a16:creationId xmlns:a16="http://schemas.microsoft.com/office/drawing/2014/main" id="{3AE6E076-F470-4AFA-B05E-BB577D99A602}"/>
              </a:ext>
            </a:extLst>
          </p:cNvPr>
          <p:cNvSpPr>
            <a:spLocks noGrp="1"/>
          </p:cNvSpPr>
          <p:nvPr/>
        </p:nvSpPr>
        <p:spPr>
          <a:xfrm>
            <a:off x="-47626" y="0"/>
            <a:ext cx="328459" cy="6858000"/>
          </a:xfrm>
          <a:prstGeom prst="rect">
            <a:avLst/>
          </a:prstGeom>
          <a:solidFill>
            <a:srgbClr val="082958"/>
          </a:solidFill>
          <a:ln w="0">
            <a:noFill/>
            <a:prstDash val="solid"/>
          </a:ln>
        </p:spPr>
      </p:sp>
      <p:sp>
        <p:nvSpPr>
          <p:cNvPr id="3" name="institutional-gold-accent">
            <a:extLst>
              <a:ext uri="{FF2B5EF4-FFF2-40B4-BE49-F238E27FC236}">
                <a16:creationId xmlns:a16="http://schemas.microsoft.com/office/drawing/2014/main" id="{511065C0-35AD-4DAE-B610-DF6B7F488372}"/>
              </a:ext>
            </a:extLst>
          </p:cNvPr>
          <p:cNvSpPr>
            <a:spLocks noGrp="1"/>
          </p:cNvSpPr>
          <p:nvPr/>
        </p:nvSpPr>
        <p:spPr>
          <a:xfrm>
            <a:off x="280987" y="47625"/>
            <a:ext cx="28575" cy="6438900"/>
          </a:xfrm>
          <a:prstGeom prst="rect">
            <a:avLst/>
          </a:prstGeom>
          <a:solidFill>
            <a:srgbClr val="C8972C"/>
          </a:solidFill>
          <a:ln w="0">
            <a:noFill/>
            <a:prstDash val="solid"/>
          </a:ln>
        </p:spPr>
      </p:sp>
      <p:sp>
        <p:nvSpPr>
          <p:cNvPr id="4" name="top-rule">
            <a:extLst>
              <a:ext uri="{FF2B5EF4-FFF2-40B4-BE49-F238E27FC236}">
                <a16:creationId xmlns:a16="http://schemas.microsoft.com/office/drawing/2014/main" id="{A402DA1E-9E80-4154-8892-48887862CA94}"/>
              </a:ext>
            </a:extLst>
          </p:cNvPr>
          <p:cNvSpPr>
            <a:spLocks noGrp="1"/>
          </p:cNvSpPr>
          <p:nvPr/>
        </p:nvSpPr>
        <p:spPr>
          <a:xfrm>
            <a:off x="838200" y="1009650"/>
            <a:ext cx="10515600" cy="0"/>
          </a:xfrm>
          <a:prstGeom prst="line">
            <a:avLst/>
          </a:prstGeom>
          <a:noFill/>
          <a:ln w="11430">
            <a:solidFill>
              <a:srgbClr val="DCEBFA"/>
            </a:solidFill>
            <a:prstDash val="solid"/>
          </a:ln>
        </p:spPr>
      </p:sp>
      <p:sp>
        <p:nvSpPr>
          <p:cNvPr id="6" name="institution-name">
            <a:extLst>
              <a:ext uri="{FF2B5EF4-FFF2-40B4-BE49-F238E27FC236}">
                <a16:creationId xmlns:a16="http://schemas.microsoft.com/office/drawing/2014/main" id="{E0E92947-86F7-4A12-A128-7B0159F83BDC}"/>
              </a:ext>
            </a:extLst>
          </p:cNvPr>
          <p:cNvSpPr>
            <a:spLocks noGrp="1"/>
          </p:cNvSpPr>
          <p:nvPr/>
        </p:nvSpPr>
        <p:spPr>
          <a:xfrm>
            <a:off x="3641008" y="892277"/>
            <a:ext cx="5464892" cy="666749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Autofit/>
          </a:bodyPr>
          <a:lstStyle/>
          <a:p>
            <a:pPr algn="l">
              <a:buNone/>
              <a:defRPr sz="1650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2500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TECNOLÓGICO NACIONAL DE MÉXICO</a:t>
            </a:r>
          </a:p>
        </p:txBody>
      </p:sp>
      <p:sp>
        <p:nvSpPr>
          <p:cNvPr id="9" name="degree-title">
            <a:extLst>
              <a:ext uri="{FF2B5EF4-FFF2-40B4-BE49-F238E27FC236}">
                <a16:creationId xmlns:a16="http://schemas.microsoft.com/office/drawing/2014/main" id="{897E2AE5-15D9-4AB6-9730-7184F55D8F9A}"/>
              </a:ext>
            </a:extLst>
          </p:cNvPr>
          <p:cNvSpPr>
            <a:spLocks noGrp="1"/>
          </p:cNvSpPr>
          <p:nvPr/>
        </p:nvSpPr>
        <p:spPr>
          <a:xfrm>
            <a:off x="3429000" y="1454252"/>
            <a:ext cx="5524500" cy="742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lnSpc>
                <a:spcPct val="92000"/>
              </a:lnSpc>
              <a:buNone/>
              <a:defRPr sz="232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2000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INGENIERÍA EN</a:t>
            </a:r>
          </a:p>
          <a:p>
            <a:pPr algn="ctr">
              <a:lnSpc>
                <a:spcPct val="92000"/>
              </a:lnSpc>
              <a:buNone/>
              <a:defRPr sz="232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2000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SISTEMAS COMPUTACIONALES</a:t>
            </a:r>
          </a:p>
        </p:txBody>
      </p:sp>
      <p:sp>
        <p:nvSpPr>
          <p:cNvPr id="10" name="degree-gold-rule-left">
            <a:extLst>
              <a:ext uri="{FF2B5EF4-FFF2-40B4-BE49-F238E27FC236}">
                <a16:creationId xmlns:a16="http://schemas.microsoft.com/office/drawing/2014/main" id="{C8050B62-10E2-4D95-BEEE-6E1978022F99}"/>
              </a:ext>
            </a:extLst>
          </p:cNvPr>
          <p:cNvSpPr>
            <a:spLocks noGrp="1"/>
          </p:cNvSpPr>
          <p:nvPr/>
        </p:nvSpPr>
        <p:spPr>
          <a:xfrm>
            <a:off x="4848225" y="2209800"/>
            <a:ext cx="990600" cy="0"/>
          </a:xfrm>
          <a:prstGeom prst="line">
            <a:avLst/>
          </a:prstGeom>
          <a:noFill/>
          <a:ln w="15240">
            <a:solidFill>
              <a:srgbClr val="C8972C"/>
            </a:solidFill>
            <a:prstDash val="solid"/>
          </a:ln>
        </p:spPr>
      </p:sp>
      <p:sp>
        <p:nvSpPr>
          <p:cNvPr id="11" name="degree-gold-rule-right">
            <a:extLst>
              <a:ext uri="{FF2B5EF4-FFF2-40B4-BE49-F238E27FC236}">
                <a16:creationId xmlns:a16="http://schemas.microsoft.com/office/drawing/2014/main" id="{12397A49-149B-4ECA-A15E-F885934091D1}"/>
              </a:ext>
            </a:extLst>
          </p:cNvPr>
          <p:cNvSpPr>
            <a:spLocks noGrp="1"/>
          </p:cNvSpPr>
          <p:nvPr/>
        </p:nvSpPr>
        <p:spPr>
          <a:xfrm>
            <a:off x="6353175" y="2209800"/>
            <a:ext cx="990600" cy="0"/>
          </a:xfrm>
          <a:prstGeom prst="line">
            <a:avLst/>
          </a:prstGeom>
          <a:noFill/>
          <a:ln w="15240">
            <a:solidFill>
              <a:srgbClr val="C8972C"/>
            </a:solidFill>
            <a:prstDash val="solid"/>
          </a:ln>
        </p:spPr>
      </p:sp>
      <p:sp>
        <p:nvSpPr>
          <p:cNvPr id="13" name="course-title-line-1">
            <a:extLst>
              <a:ext uri="{FF2B5EF4-FFF2-40B4-BE49-F238E27FC236}">
                <a16:creationId xmlns:a16="http://schemas.microsoft.com/office/drawing/2014/main" id="{24A5C187-BE41-45B6-8BF3-A2878D2FD52B}"/>
              </a:ext>
            </a:extLst>
          </p:cNvPr>
          <p:cNvSpPr>
            <a:spLocks noGrp="1"/>
          </p:cNvSpPr>
          <p:nvPr/>
        </p:nvSpPr>
        <p:spPr>
          <a:xfrm>
            <a:off x="2362199" y="2633663"/>
            <a:ext cx="7467600" cy="5238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0833" lnSpcReduction="10000"/>
          </a:bodyPr>
          <a:lstStyle/>
          <a:p>
            <a:pPr algn="ctr">
              <a:buNone/>
              <a:defRPr sz="412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lang="es-MX" sz="4125" b="1" dirty="0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GESTION DE PROYECTOS DE TI</a:t>
            </a:r>
            <a:endParaRPr sz="4125" b="1" dirty="0">
              <a:solidFill>
                <a:srgbClr val="0B3473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15" name="activity-left-trace-1">
            <a:extLst>
              <a:ext uri="{FF2B5EF4-FFF2-40B4-BE49-F238E27FC236}">
                <a16:creationId xmlns:a16="http://schemas.microsoft.com/office/drawing/2014/main" id="{7D063C37-CCC4-4D1E-800C-E1EC27DFD060}"/>
              </a:ext>
            </a:extLst>
          </p:cNvPr>
          <p:cNvSpPr>
            <a:spLocks noGrp="1"/>
          </p:cNvSpPr>
          <p:nvPr/>
        </p:nvSpPr>
        <p:spPr>
          <a:xfrm>
            <a:off x="2038350" y="3771900"/>
            <a:ext cx="514350" cy="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16" name="activity-left-trace-2">
            <a:extLst>
              <a:ext uri="{FF2B5EF4-FFF2-40B4-BE49-F238E27FC236}">
                <a16:creationId xmlns:a16="http://schemas.microsoft.com/office/drawing/2014/main" id="{3CFD8881-ED44-45BD-9DF0-783461E898DA}"/>
              </a:ext>
            </a:extLst>
          </p:cNvPr>
          <p:cNvSpPr>
            <a:spLocks noGrp="1"/>
          </p:cNvSpPr>
          <p:nvPr/>
        </p:nvSpPr>
        <p:spPr>
          <a:xfrm>
            <a:off x="2552700" y="3676650"/>
            <a:ext cx="0" cy="9525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17" name="activity-left-trace-3">
            <a:extLst>
              <a:ext uri="{FF2B5EF4-FFF2-40B4-BE49-F238E27FC236}">
                <a16:creationId xmlns:a16="http://schemas.microsoft.com/office/drawing/2014/main" id="{40CE4708-D5C7-40D2-BE07-C709D6A81A4E}"/>
              </a:ext>
            </a:extLst>
          </p:cNvPr>
          <p:cNvSpPr>
            <a:spLocks noGrp="1"/>
          </p:cNvSpPr>
          <p:nvPr/>
        </p:nvSpPr>
        <p:spPr>
          <a:xfrm>
            <a:off x="2552700" y="3676650"/>
            <a:ext cx="514350" cy="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18" name="activity-left-node">
            <a:extLst>
              <a:ext uri="{FF2B5EF4-FFF2-40B4-BE49-F238E27FC236}">
                <a16:creationId xmlns:a16="http://schemas.microsoft.com/office/drawing/2014/main" id="{61DC4950-E910-4AA5-840B-B61E8D5D8C11}"/>
              </a:ext>
            </a:extLst>
          </p:cNvPr>
          <p:cNvSpPr>
            <a:spLocks noGrp="1"/>
          </p:cNvSpPr>
          <p:nvPr/>
        </p:nvSpPr>
        <p:spPr>
          <a:xfrm>
            <a:off x="3086100" y="3638550"/>
            <a:ext cx="85725" cy="8572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8972C"/>
            </a:solidFill>
            <a:prstDash val="solid"/>
          </a:ln>
        </p:spPr>
      </p:sp>
      <p:sp>
        <p:nvSpPr>
          <p:cNvPr id="19" name="activity-right-node">
            <a:extLst>
              <a:ext uri="{FF2B5EF4-FFF2-40B4-BE49-F238E27FC236}">
                <a16:creationId xmlns:a16="http://schemas.microsoft.com/office/drawing/2014/main" id="{825A2979-FD3A-4780-A5BF-2B891AF31213}"/>
              </a:ext>
            </a:extLst>
          </p:cNvPr>
          <p:cNvSpPr>
            <a:spLocks noGrp="1"/>
          </p:cNvSpPr>
          <p:nvPr/>
        </p:nvSpPr>
        <p:spPr>
          <a:xfrm>
            <a:off x="9020175" y="3638550"/>
            <a:ext cx="85725" cy="8572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8972C"/>
            </a:solidFill>
            <a:prstDash val="solid"/>
          </a:ln>
        </p:spPr>
      </p:sp>
      <p:sp>
        <p:nvSpPr>
          <p:cNvPr id="20" name="activity-right-trace-1">
            <a:extLst>
              <a:ext uri="{FF2B5EF4-FFF2-40B4-BE49-F238E27FC236}">
                <a16:creationId xmlns:a16="http://schemas.microsoft.com/office/drawing/2014/main" id="{38B16BE7-5C8D-4EAB-B2EE-18E787DD60AA}"/>
              </a:ext>
            </a:extLst>
          </p:cNvPr>
          <p:cNvSpPr>
            <a:spLocks noGrp="1"/>
          </p:cNvSpPr>
          <p:nvPr/>
        </p:nvSpPr>
        <p:spPr>
          <a:xfrm>
            <a:off x="9105900" y="3676650"/>
            <a:ext cx="514350" cy="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21" name="activity-right-trace-2">
            <a:extLst>
              <a:ext uri="{FF2B5EF4-FFF2-40B4-BE49-F238E27FC236}">
                <a16:creationId xmlns:a16="http://schemas.microsoft.com/office/drawing/2014/main" id="{B0073C7F-4C58-47DE-BB0A-AFC31EDFE384}"/>
              </a:ext>
            </a:extLst>
          </p:cNvPr>
          <p:cNvSpPr>
            <a:spLocks noGrp="1"/>
          </p:cNvSpPr>
          <p:nvPr/>
        </p:nvSpPr>
        <p:spPr>
          <a:xfrm>
            <a:off x="9620250" y="3676650"/>
            <a:ext cx="0" cy="9525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22" name="activity-right-trace-3">
            <a:extLst>
              <a:ext uri="{FF2B5EF4-FFF2-40B4-BE49-F238E27FC236}">
                <a16:creationId xmlns:a16="http://schemas.microsoft.com/office/drawing/2014/main" id="{0A4D59B6-4962-4FEF-A21B-2AF53EF32F99}"/>
              </a:ext>
            </a:extLst>
          </p:cNvPr>
          <p:cNvSpPr>
            <a:spLocks noGrp="1"/>
          </p:cNvSpPr>
          <p:nvPr/>
        </p:nvSpPr>
        <p:spPr>
          <a:xfrm>
            <a:off x="9620250" y="3771900"/>
            <a:ext cx="514350" cy="0"/>
          </a:xfrm>
          <a:prstGeom prst="line">
            <a:avLst/>
          </a:prstGeom>
          <a:noFill/>
          <a:ln w="13335">
            <a:solidFill>
              <a:srgbClr val="2862AA"/>
            </a:solidFill>
            <a:prstDash val="solid"/>
          </a:ln>
        </p:spPr>
      </p:sp>
      <p:sp>
        <p:nvSpPr>
          <p:cNvPr id="23" name="activity-title">
            <a:extLst>
              <a:ext uri="{FF2B5EF4-FFF2-40B4-BE49-F238E27FC236}">
                <a16:creationId xmlns:a16="http://schemas.microsoft.com/office/drawing/2014/main" id="{F746EC2E-9743-49CF-891C-11DBE19DF422}"/>
              </a:ext>
            </a:extLst>
          </p:cNvPr>
          <p:cNvSpPr>
            <a:spLocks noGrp="1"/>
          </p:cNvSpPr>
          <p:nvPr/>
        </p:nvSpPr>
        <p:spPr>
          <a:xfrm>
            <a:off x="3238500" y="3581400"/>
            <a:ext cx="571500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 fontScale="99498"/>
          </a:bodyPr>
          <a:lstStyle/>
          <a:p>
            <a:pPr algn="ctr">
              <a:buNone/>
              <a:defRPr sz="1875" b="1">
                <a:solidFill>
                  <a:srgbClr val="2862AA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 dirty="0">
                <a:solidFill>
                  <a:srgbClr val="2862AA"/>
                </a:solidFill>
                <a:latin typeface="Aptos Display"/>
                <a:ea typeface="Aptos Display"/>
                <a:cs typeface="Aptos Display"/>
              </a:rPr>
              <a:t>ACTIVIDAD 1.</a:t>
            </a:r>
            <a:r>
              <a:rPr lang="es-MX" sz="1875" b="1" dirty="0">
                <a:solidFill>
                  <a:srgbClr val="2862AA"/>
                </a:solidFill>
                <a:latin typeface="Aptos Display"/>
                <a:ea typeface="Aptos Display"/>
                <a:cs typeface="Aptos Display"/>
              </a:rPr>
              <a:t>3</a:t>
            </a:r>
            <a:r>
              <a:rPr sz="1875" b="1" dirty="0">
                <a:solidFill>
                  <a:srgbClr val="2862AA"/>
                </a:solidFill>
                <a:latin typeface="Aptos Display"/>
                <a:ea typeface="Aptos Display"/>
                <a:cs typeface="Aptos Display"/>
              </a:rPr>
              <a:t> — </a:t>
            </a:r>
            <a:r>
              <a:rPr lang="es-MX" sz="1875" b="1" dirty="0">
                <a:solidFill>
                  <a:srgbClr val="212529"/>
                </a:solidFill>
                <a:latin typeface="-apple-system"/>
                <a:ea typeface="Aptos Display"/>
                <a:cs typeface="Aptos Display"/>
              </a:rPr>
              <a:t>BANCO DE EJERICIOS</a:t>
            </a:r>
            <a:endParaRPr b="0" i="0" dirty="0">
              <a:solidFill>
                <a:srgbClr val="212529"/>
              </a:solidFill>
              <a:latin typeface="-apple-system"/>
              <a:ea typeface="-apple-system"/>
              <a:cs typeface="-apple-system"/>
            </a:endParaRPr>
          </a:p>
          <a:p>
            <a:pPr algn="ctr">
              <a:buNone/>
              <a:defRPr sz="1875" b="1">
                <a:solidFill>
                  <a:srgbClr val="2862AA"/>
                </a:solidFill>
                <a:latin typeface="Aptos Display"/>
                <a:ea typeface="Aptos Display"/>
                <a:cs typeface="Aptos Display"/>
              </a:defRPr>
            </a:pPr>
            <a:endParaRPr sz="1875" b="1" dirty="0">
              <a:solidFill>
                <a:srgbClr val="2862AA"/>
              </a:solidFill>
              <a:latin typeface="Aptos Display"/>
              <a:ea typeface="Aptos Display"/>
              <a:cs typeface="Aptos Display"/>
            </a:endParaRPr>
          </a:p>
        </p:txBody>
      </p:sp>
      <p:sp>
        <p:nvSpPr>
          <p:cNvPr id="24" name="students-heading">
            <a:extLst>
              <a:ext uri="{FF2B5EF4-FFF2-40B4-BE49-F238E27FC236}">
                <a16:creationId xmlns:a16="http://schemas.microsoft.com/office/drawing/2014/main" id="{B3090DA1-DD45-4D5A-810A-68C80D1D5495}"/>
              </a:ext>
            </a:extLst>
          </p:cNvPr>
          <p:cNvSpPr>
            <a:spLocks noGrp="1"/>
          </p:cNvSpPr>
          <p:nvPr/>
        </p:nvSpPr>
        <p:spPr>
          <a:xfrm>
            <a:off x="2857500" y="4143375"/>
            <a:ext cx="4667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27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PRESENTA</a:t>
            </a:r>
          </a:p>
        </p:txBody>
      </p:sp>
      <p:sp>
        <p:nvSpPr>
          <p:cNvPr id="25" name="enrollment-heading">
            <a:extLst>
              <a:ext uri="{FF2B5EF4-FFF2-40B4-BE49-F238E27FC236}">
                <a16:creationId xmlns:a16="http://schemas.microsoft.com/office/drawing/2014/main" id="{8497282D-0F32-46CC-9BD6-A908719C1476}"/>
              </a:ext>
            </a:extLst>
          </p:cNvPr>
          <p:cNvSpPr>
            <a:spLocks noGrp="1"/>
          </p:cNvSpPr>
          <p:nvPr/>
        </p:nvSpPr>
        <p:spPr>
          <a:xfrm>
            <a:off x="7715250" y="4143375"/>
            <a:ext cx="161925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27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0B3473"/>
                </a:solidFill>
                <a:latin typeface="Aptos Display"/>
                <a:ea typeface="Aptos Display"/>
                <a:cs typeface="Aptos Display"/>
              </a:rPr>
              <a:t>MATRÍCULA</a:t>
            </a:r>
          </a:p>
        </p:txBody>
      </p:sp>
      <p:sp>
        <p:nvSpPr>
          <p:cNvPr id="26" name="students-top-rule">
            <a:extLst>
              <a:ext uri="{FF2B5EF4-FFF2-40B4-BE49-F238E27FC236}">
                <a16:creationId xmlns:a16="http://schemas.microsoft.com/office/drawing/2014/main" id="{A7922C15-D34B-4B95-9915-A3A8D77C7F79}"/>
              </a:ext>
            </a:extLst>
          </p:cNvPr>
          <p:cNvSpPr>
            <a:spLocks noGrp="1"/>
          </p:cNvSpPr>
          <p:nvPr/>
        </p:nvSpPr>
        <p:spPr>
          <a:xfrm>
            <a:off x="2857500" y="4381500"/>
            <a:ext cx="6477000" cy="0"/>
          </a:xfrm>
          <a:prstGeom prst="line">
            <a:avLst/>
          </a:prstGeom>
          <a:noFill/>
          <a:ln w="14288">
            <a:solidFill>
              <a:srgbClr val="0B3473"/>
            </a:solidFill>
            <a:prstDash val="solid"/>
          </a:ln>
        </p:spPr>
      </p:sp>
      <p:sp>
        <p:nvSpPr>
          <p:cNvPr id="28" name="students-row-divider">
            <a:extLst>
              <a:ext uri="{FF2B5EF4-FFF2-40B4-BE49-F238E27FC236}">
                <a16:creationId xmlns:a16="http://schemas.microsoft.com/office/drawing/2014/main" id="{0EBB92DB-59C3-4BDC-99A0-F2F4D93B78A4}"/>
              </a:ext>
            </a:extLst>
          </p:cNvPr>
          <p:cNvSpPr>
            <a:spLocks noGrp="1"/>
          </p:cNvSpPr>
          <p:nvPr/>
        </p:nvSpPr>
        <p:spPr>
          <a:xfrm>
            <a:off x="2857500" y="4800600"/>
            <a:ext cx="6477000" cy="0"/>
          </a:xfrm>
          <a:prstGeom prst="line">
            <a:avLst/>
          </a:prstGeom>
          <a:noFill/>
          <a:ln w="9525">
            <a:solidFill>
              <a:srgbClr val="DCEBFA"/>
            </a:solidFill>
            <a:prstDash val="solid"/>
          </a:ln>
        </p:spPr>
      </p:sp>
      <p:sp>
        <p:nvSpPr>
          <p:cNvPr id="29" name="students-column-divider">
            <a:extLst>
              <a:ext uri="{FF2B5EF4-FFF2-40B4-BE49-F238E27FC236}">
                <a16:creationId xmlns:a16="http://schemas.microsoft.com/office/drawing/2014/main" id="{D19BD447-A808-4FDA-A54C-331FE02FEA74}"/>
              </a:ext>
            </a:extLst>
          </p:cNvPr>
          <p:cNvSpPr>
            <a:spLocks noGrp="1"/>
          </p:cNvSpPr>
          <p:nvPr/>
        </p:nvSpPr>
        <p:spPr>
          <a:xfrm>
            <a:off x="7639050" y="4476750"/>
            <a:ext cx="0" cy="647700"/>
          </a:xfrm>
          <a:prstGeom prst="line">
            <a:avLst/>
          </a:prstGeom>
          <a:noFill/>
          <a:ln w="9525">
            <a:solidFill>
              <a:srgbClr val="9DB9DB"/>
            </a:solidFill>
            <a:prstDash val="solid"/>
          </a:ln>
        </p:spPr>
      </p:sp>
      <p:sp>
        <p:nvSpPr>
          <p:cNvPr id="30" name="student-row-one-marker">
            <a:extLst>
              <a:ext uri="{FF2B5EF4-FFF2-40B4-BE49-F238E27FC236}">
                <a16:creationId xmlns:a16="http://schemas.microsoft.com/office/drawing/2014/main" id="{4F497FA1-C313-4F3D-9493-840BF4D89598}"/>
              </a:ext>
            </a:extLst>
          </p:cNvPr>
          <p:cNvSpPr>
            <a:spLocks noGrp="1"/>
          </p:cNvSpPr>
          <p:nvPr/>
        </p:nvSpPr>
        <p:spPr>
          <a:xfrm>
            <a:off x="2876550" y="4486275"/>
            <a:ext cx="38100" cy="209550"/>
          </a:xfrm>
          <a:prstGeom prst="rect">
            <a:avLst/>
          </a:prstGeom>
          <a:solidFill>
            <a:srgbClr val="C8972C"/>
          </a:solidFill>
          <a:ln w="0">
            <a:noFill/>
            <a:prstDash val="solid"/>
          </a:ln>
        </p:spPr>
      </p:sp>
      <p:sp>
        <p:nvSpPr>
          <p:cNvPr id="34" name="student-two-name">
            <a:extLst>
              <a:ext uri="{FF2B5EF4-FFF2-40B4-BE49-F238E27FC236}">
                <a16:creationId xmlns:a16="http://schemas.microsoft.com/office/drawing/2014/main" id="{3EF7C761-CF7A-4E70-9E2B-16269734FC91}"/>
              </a:ext>
            </a:extLst>
          </p:cNvPr>
          <p:cNvSpPr>
            <a:spLocks noGrp="1"/>
          </p:cNvSpPr>
          <p:nvPr/>
        </p:nvSpPr>
        <p:spPr>
          <a:xfrm>
            <a:off x="3056554" y="4467225"/>
            <a:ext cx="4333875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l">
              <a:buNone/>
              <a:defRPr sz="1500" b="0">
                <a:solidFill>
                  <a:srgbClr val="102B5C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02B5C"/>
                </a:solidFill>
                <a:latin typeface="Aptos"/>
                <a:ea typeface="Aptos"/>
                <a:cs typeface="Aptos"/>
              </a:rPr>
              <a:t>Amaury Jahaziel Gordillo Hernández</a:t>
            </a:r>
          </a:p>
        </p:txBody>
      </p:sp>
      <p:sp>
        <p:nvSpPr>
          <p:cNvPr id="35" name="student-two-id">
            <a:extLst>
              <a:ext uri="{FF2B5EF4-FFF2-40B4-BE49-F238E27FC236}">
                <a16:creationId xmlns:a16="http://schemas.microsoft.com/office/drawing/2014/main" id="{05E44B11-B863-4ECE-A2F6-C9964031DF71}"/>
              </a:ext>
            </a:extLst>
          </p:cNvPr>
          <p:cNvSpPr>
            <a:spLocks noGrp="1"/>
          </p:cNvSpPr>
          <p:nvPr/>
        </p:nvSpPr>
        <p:spPr>
          <a:xfrm>
            <a:off x="7791450" y="4438649"/>
            <a:ext cx="1524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r">
              <a:buNone/>
              <a:defRPr sz="1425" b="0">
                <a:solidFill>
                  <a:srgbClr val="102B5C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02B5C"/>
                </a:solidFill>
                <a:latin typeface="Aptos"/>
                <a:ea typeface="Aptos"/>
                <a:cs typeface="Aptos"/>
              </a:rPr>
              <a:t>231260074</a:t>
            </a:r>
          </a:p>
        </p:txBody>
      </p:sp>
      <p:sp>
        <p:nvSpPr>
          <p:cNvPr id="36" name="teacher-heading">
            <a:extLst>
              <a:ext uri="{FF2B5EF4-FFF2-40B4-BE49-F238E27FC236}">
                <a16:creationId xmlns:a16="http://schemas.microsoft.com/office/drawing/2014/main" id="{F388D88D-A3F7-4DA5-9D23-808A58C08C1E}"/>
              </a:ext>
            </a:extLst>
          </p:cNvPr>
          <p:cNvSpPr>
            <a:spLocks noGrp="1"/>
          </p:cNvSpPr>
          <p:nvPr/>
        </p:nvSpPr>
        <p:spPr>
          <a:xfrm>
            <a:off x="4191000" y="5467350"/>
            <a:ext cx="3810000" cy="219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275" b="1">
                <a:solidFill>
                  <a:srgbClr val="55739E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55739E"/>
                </a:solidFill>
                <a:latin typeface="Aptos Display"/>
                <a:ea typeface="Aptos Display"/>
                <a:cs typeface="Aptos Display"/>
              </a:rPr>
              <a:t>DOCENTE</a:t>
            </a:r>
          </a:p>
        </p:txBody>
      </p:sp>
      <p:sp>
        <p:nvSpPr>
          <p:cNvPr id="37" name="teacher-name">
            <a:extLst>
              <a:ext uri="{FF2B5EF4-FFF2-40B4-BE49-F238E27FC236}">
                <a16:creationId xmlns:a16="http://schemas.microsoft.com/office/drawing/2014/main" id="{AA678B21-6A90-4BCE-8092-FF0E0979DE5C}"/>
              </a:ext>
            </a:extLst>
          </p:cNvPr>
          <p:cNvSpPr>
            <a:spLocks noGrp="1"/>
          </p:cNvSpPr>
          <p:nvPr/>
        </p:nvSpPr>
        <p:spPr>
          <a:xfrm>
            <a:off x="2857500" y="5705475"/>
            <a:ext cx="6477000" cy="2952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</a:pPr>
            <a:r>
              <a:rPr sz="1800" b="1">
                <a:latin typeface="Aptos Display"/>
                <a:ea typeface="Aptos Display"/>
                <a:cs typeface="Aptos Display"/>
              </a:rPr>
              <a:t>ING. FRANCISCO JAVIER MINGO VELAZQUEZ</a:t>
            </a:r>
            <a:endParaRPr sz="1800">
              <a:latin typeface="Arial"/>
              <a:ea typeface="Arial"/>
              <a:cs typeface="Arial"/>
            </a:endParaRPr>
          </a:p>
        </p:txBody>
      </p:sp>
      <p:sp>
        <p:nvSpPr>
          <p:cNvPr id="38" name="footer-rule">
            <a:extLst>
              <a:ext uri="{FF2B5EF4-FFF2-40B4-BE49-F238E27FC236}">
                <a16:creationId xmlns:a16="http://schemas.microsoft.com/office/drawing/2014/main" id="{7C40688F-E9E3-4093-9368-ADED90666EB5}"/>
              </a:ext>
            </a:extLst>
          </p:cNvPr>
          <p:cNvSpPr>
            <a:spLocks noGrp="1"/>
          </p:cNvSpPr>
          <p:nvPr/>
        </p:nvSpPr>
        <p:spPr>
          <a:xfrm>
            <a:off x="1943100" y="6191250"/>
            <a:ext cx="8305800" cy="0"/>
          </a:xfrm>
          <a:prstGeom prst="line">
            <a:avLst/>
          </a:prstGeom>
          <a:noFill/>
          <a:ln w="11430">
            <a:solidFill>
              <a:srgbClr val="9DB9DB"/>
            </a:solidFill>
            <a:prstDash val="solid"/>
          </a:ln>
        </p:spPr>
      </p:sp>
      <p:sp>
        <p:nvSpPr>
          <p:cNvPr id="39" name="footer-rule-accent">
            <a:extLst>
              <a:ext uri="{FF2B5EF4-FFF2-40B4-BE49-F238E27FC236}">
                <a16:creationId xmlns:a16="http://schemas.microsoft.com/office/drawing/2014/main" id="{AA9604F1-D818-4EDE-AFC0-507B4EE53347}"/>
              </a:ext>
            </a:extLst>
          </p:cNvPr>
          <p:cNvSpPr>
            <a:spLocks noGrp="1"/>
          </p:cNvSpPr>
          <p:nvPr/>
        </p:nvSpPr>
        <p:spPr>
          <a:xfrm>
            <a:off x="5829300" y="6172200"/>
            <a:ext cx="533400" cy="38100"/>
          </a:xfrm>
          <a:prstGeom prst="rect">
            <a:avLst/>
          </a:prstGeom>
          <a:solidFill>
            <a:srgbClr val="C8972C"/>
          </a:solidFill>
          <a:ln w="0">
            <a:noFill/>
            <a:prstDash val="solid"/>
          </a:ln>
        </p:spPr>
      </p:sp>
      <p:sp>
        <p:nvSpPr>
          <p:cNvPr id="40" name="date-location">
            <a:extLst>
              <a:ext uri="{FF2B5EF4-FFF2-40B4-BE49-F238E27FC236}">
                <a16:creationId xmlns:a16="http://schemas.microsoft.com/office/drawing/2014/main" id="{8EF49A72-4459-4AD1-9919-B580F4EB3D0A}"/>
              </a:ext>
            </a:extLst>
          </p:cNvPr>
          <p:cNvSpPr>
            <a:spLocks noGrp="1"/>
          </p:cNvSpPr>
          <p:nvPr/>
        </p:nvSpPr>
        <p:spPr>
          <a:xfrm>
            <a:off x="2476500" y="6372225"/>
            <a:ext cx="7239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 wrap="square" lIns="0" tIns="0" rIns="0" bIns="0" anchor="ctr">
            <a:normAutofit/>
          </a:bodyPr>
          <a:lstStyle/>
          <a:p>
            <a:pPr algn="ctr">
              <a:buNone/>
              <a:defRPr sz="1350" b="0">
                <a:solidFill>
                  <a:srgbClr val="0B3473"/>
                </a:solidFill>
                <a:latin typeface="Aptos"/>
                <a:ea typeface="Aptos"/>
                <a:cs typeface="Aptos"/>
              </a:defRPr>
            </a:pPr>
            <a:r>
              <a:rPr sz="1350" b="0" dirty="0">
                <a:solidFill>
                  <a:srgbClr val="0B3473"/>
                </a:solidFill>
                <a:latin typeface="Aptos"/>
                <a:ea typeface="Aptos"/>
                <a:cs typeface="Aptos"/>
              </a:rPr>
              <a:t>1</a:t>
            </a:r>
            <a:r>
              <a:rPr lang="es-MX" sz="1350" dirty="0">
                <a:solidFill>
                  <a:srgbClr val="0B3473"/>
                </a:solidFill>
                <a:latin typeface="Aptos"/>
                <a:ea typeface="Aptos"/>
                <a:cs typeface="Aptos"/>
              </a:rPr>
              <a:t>6</a:t>
            </a:r>
            <a:r>
              <a:rPr sz="1350" b="0" dirty="0">
                <a:solidFill>
                  <a:srgbClr val="0B3473"/>
                </a:solidFill>
                <a:latin typeface="Aptos"/>
                <a:ea typeface="Aptos"/>
                <a:cs typeface="Aptos"/>
              </a:rPr>
              <a:t> DE </a:t>
            </a:r>
            <a:r>
              <a:rPr sz="1350" dirty="0">
                <a:solidFill>
                  <a:srgbClr val="0B3473"/>
                </a:solidFill>
                <a:latin typeface="Aptos"/>
                <a:ea typeface="Aptos"/>
                <a:cs typeface="Aptos"/>
              </a:rPr>
              <a:t>AGOSTO</a:t>
            </a:r>
            <a:r>
              <a:rPr sz="1350" b="0" dirty="0">
                <a:solidFill>
                  <a:srgbClr val="0B3473"/>
                </a:solidFill>
                <a:latin typeface="Aptos"/>
                <a:ea typeface="Aptos"/>
                <a:cs typeface="Aptos"/>
              </a:rPr>
              <a:t> DE 2026  ·  VENUSTIANO CARRANZA, CHIAPAS</a:t>
            </a:r>
          </a:p>
        </p:txBody>
      </p:sp>
      <p:pic>
        <p:nvPicPr>
          <p:cNvPr id="75" name="Imagen 41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01576" y="128441"/>
            <a:ext cx="1834529" cy="809723"/>
          </a:xfrm>
          <a:prstGeom prst="rect">
            <a:avLst/>
          </a:prstGeom>
          <a:ln>
            <a:noFill/>
          </a:ln>
        </p:spPr>
      </p:pic>
      <p:pic>
        <p:nvPicPr>
          <p:cNvPr id="76" name="Imagen 42"/>
          <p:cNvPicPr>
            <a:picLocks noChangeAspect="1"/>
          </p:cNvPicPr>
          <p:nvPr/>
        </p:nvPicPr>
        <p:blipFill rotWithShape="1">
          <a:blip r:embed="rId5"/>
          <a:srcRect/>
          <a:stretch/>
        </p:blipFill>
        <p:spPr>
          <a:xfrm>
            <a:off x="10619686" y="11882"/>
            <a:ext cx="1289022" cy="926282"/>
          </a:xfrm>
          <a:prstGeom prst="rect">
            <a:avLst/>
          </a:prstGeom>
          <a:ln>
            <a:noFill/>
          </a:ln>
        </p:spPr>
      </p:pic>
      <p:sp>
        <p:nvSpPr>
          <p:cNvPr id="5" name="activity-left-node">
            <a:extLst>
              <a:ext uri="{FF2B5EF4-FFF2-40B4-BE49-F238E27FC236}">
                <a16:creationId xmlns:a16="http://schemas.microsoft.com/office/drawing/2014/main" id="{AB38A2EA-B133-B170-0BFA-9B5674F0137F}"/>
              </a:ext>
            </a:extLst>
          </p:cNvPr>
          <p:cNvSpPr>
            <a:spLocks noGrp="1"/>
          </p:cNvSpPr>
          <p:nvPr/>
        </p:nvSpPr>
        <p:spPr>
          <a:xfrm>
            <a:off x="6053137" y="2148500"/>
            <a:ext cx="85725" cy="85725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8972C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524056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1.3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8813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3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Introducción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1064240" cy="0"/>
          </a:xfrm>
          <a:prstGeom prst="line">
            <a:avLst/>
          </a:prstGeom>
          <a:noFill/>
          <a:ln w="12700">
            <a:solidFill>
              <a:srgbClr val="BCD5E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380744"/>
            <a:ext cx="10332720" cy="2560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7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banco no se plantea como preguntas aisladas, sino como ejercicios de práctica para actuar como Project Manager ante situaciones reales de seguimiento.</a:t>
            </a:r>
            <a:endParaRPr lang="en-US" sz="1750" dirty="0"/>
          </a:p>
          <a:p>
            <a:r>
              <a:rPr lang="en-US" sz="17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bitácora permite ordenar qué se solicitó, qué respondió cada alumno, qué evidencia se recibió y qué decisión se tomó después.</a:t>
            </a:r>
            <a:endParaRPr lang="en-US" sz="1750" dirty="0"/>
          </a:p>
          <a:p>
            <a:r>
              <a:rPr lang="en-US" sz="17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enfoque principal </a:t>
            </a:r>
            <a:r>
              <a:rPr lang="en-US" sz="1750" dirty="0" err="1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fue</a:t>
            </a:r>
            <a:r>
              <a:rPr lang="en-US" sz="17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iniciar el acompañamiento: levantar información, entender el alcance, detectar riesgos y preparar documentos base.</a:t>
            </a:r>
            <a:endParaRPr lang="en-US" sz="17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1.3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8813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3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Justificación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1064240" cy="0"/>
          </a:xfrm>
          <a:prstGeom prst="line">
            <a:avLst/>
          </a:prstGeom>
          <a:noFill/>
          <a:ln w="12700">
            <a:solidFill>
              <a:srgbClr val="BCD5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2480" y="1059025"/>
            <a:ext cx="10607040" cy="3291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bitácora es necesaria porque el trabajo del Project Manager no puede depender solo de mensajes sueltos o archivos recibidos sin orden.</a:t>
            </a:r>
            <a:endParaRPr lang="en-US" sz="1800" dirty="0"/>
          </a:p>
          <a:p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 el proceso permite demostrar cómo se pasó de información inicial a decisiones de seguimiento, correcciones y control de entregables.</a:t>
            </a:r>
            <a:endParaRPr lang="en-US" sz="1800" dirty="0"/>
          </a:p>
          <a:p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banco de ejercicios ayuda a practicar situaciones frecuentes: falta de datos, dudas sobre herramientas, desviaciones de alcance, atrasos e integración de evidencias.</a:t>
            </a:r>
            <a:endParaRPr lang="en-US" sz="1800" dirty="0"/>
          </a:p>
          <a:p>
            <a:r>
              <a:rPr lang="en-US" sz="18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También permite distinguir entre recibir un archivo y aceptarlo formalmente, que son dos acciones distintas dentro del control del proyecto.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1.3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8813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3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Cómo se construyó la bitácora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1064240" cy="0"/>
          </a:xfrm>
          <a:prstGeom prst="line">
            <a:avLst/>
          </a:prstGeom>
          <a:noFill/>
          <a:ln w="12700">
            <a:solidFill>
              <a:srgbClr val="BCD5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27048"/>
            <a:ext cx="438912" cy="438912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14400" y="1627632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417320" y="1481328"/>
            <a:ext cx="2377440" cy="530352"/>
          </a:xfrm>
          <a:prstGeom prst="roundRect">
            <a:avLst>
              <a:gd name="adj" fmla="val 13793"/>
            </a:avLst>
          </a:prstGeom>
          <a:solidFill>
            <a:srgbClr val="D7ECFA"/>
          </a:solidFill>
          <a:ln w="12700">
            <a:solidFill>
              <a:srgbClr val="BFD0D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63624" y="1572768"/>
            <a:ext cx="208483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4069080" y="1536192"/>
            <a:ext cx="69494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guardó la información inicial de cada proyecto.</a:t>
            </a:r>
            <a:endParaRPr lang="en-US" sz="1530" dirty="0"/>
          </a:p>
        </p:txBody>
      </p:sp>
      <p:sp>
        <p:nvSpPr>
          <p:cNvPr id="10" name="Shape 8"/>
          <p:cNvSpPr/>
          <p:nvPr/>
        </p:nvSpPr>
        <p:spPr>
          <a:xfrm>
            <a:off x="777240" y="2368296"/>
            <a:ext cx="438912" cy="438912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" y="2468880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417320" y="2322576"/>
            <a:ext cx="2377440" cy="530352"/>
          </a:xfrm>
          <a:prstGeom prst="roundRect">
            <a:avLst>
              <a:gd name="adj" fmla="val 13793"/>
            </a:avLst>
          </a:prstGeom>
          <a:solidFill>
            <a:srgbClr val="DFF4EA"/>
          </a:solidFill>
          <a:ln w="12700">
            <a:solidFill>
              <a:srgbClr val="BFD0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563624" y="2414016"/>
            <a:ext cx="208483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Clasificación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4069080" y="2377440"/>
            <a:ext cx="69494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separó levantamiento, acta, plan, ejecución, seguimiento y riesgos.</a:t>
            </a:r>
            <a:endParaRPr lang="en-US" sz="1530" dirty="0"/>
          </a:p>
        </p:txBody>
      </p:sp>
      <p:sp>
        <p:nvSpPr>
          <p:cNvPr id="15" name="Shape 13"/>
          <p:cNvSpPr/>
          <p:nvPr/>
        </p:nvSpPr>
        <p:spPr>
          <a:xfrm>
            <a:off x="777240" y="3209544"/>
            <a:ext cx="438912" cy="438912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3310128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1417320" y="3163824"/>
            <a:ext cx="2377440" cy="530352"/>
          </a:xfrm>
          <a:prstGeom prst="roundRect">
            <a:avLst>
              <a:gd name="adj" fmla="val 13793"/>
            </a:avLst>
          </a:prstGeom>
          <a:solidFill>
            <a:srgbClr val="D7ECFA"/>
          </a:solidFill>
          <a:ln w="12700">
            <a:solidFill>
              <a:srgbClr val="BFD0D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563624" y="3255264"/>
            <a:ext cx="208483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Revisión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069080" y="3218688"/>
            <a:ext cx="69494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revisó si la evidencia coincidía con el alcance y el estado reportado.</a:t>
            </a:r>
            <a:endParaRPr lang="en-US" sz="1530" dirty="0"/>
          </a:p>
        </p:txBody>
      </p:sp>
      <p:sp>
        <p:nvSpPr>
          <p:cNvPr id="20" name="Shape 18"/>
          <p:cNvSpPr/>
          <p:nvPr/>
        </p:nvSpPr>
        <p:spPr>
          <a:xfrm>
            <a:off x="777240" y="4050792"/>
            <a:ext cx="438912" cy="438912"/>
          </a:xfrm>
          <a:prstGeom prst="ellipse">
            <a:avLst/>
          </a:prstGeom>
          <a:solidFill>
            <a:srgbClr val="2E7D55"/>
          </a:solidFill>
          <a:ln w="12700">
            <a:solidFill>
              <a:srgbClr val="2E7D5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14400" y="4151376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417320" y="4005072"/>
            <a:ext cx="2377440" cy="530352"/>
          </a:xfrm>
          <a:prstGeom prst="roundRect">
            <a:avLst>
              <a:gd name="adj" fmla="val 13793"/>
            </a:avLst>
          </a:prstGeom>
          <a:solidFill>
            <a:srgbClr val="DFF4EA"/>
          </a:solidFill>
          <a:ln w="12700">
            <a:solidFill>
              <a:srgbClr val="BFD0DD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563624" y="4096512"/>
            <a:ext cx="208483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Decisión</a:t>
            </a:r>
            <a:endParaRPr lang="en-US" sz="1550" dirty="0"/>
          </a:p>
        </p:txBody>
      </p:sp>
      <p:sp>
        <p:nvSpPr>
          <p:cNvPr id="24" name="Text 22"/>
          <p:cNvSpPr/>
          <p:nvPr/>
        </p:nvSpPr>
        <p:spPr>
          <a:xfrm>
            <a:off x="4069080" y="4059936"/>
            <a:ext cx="69494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definió qué se aprobaba, qué seguía en revisión y qué requería corrección.</a:t>
            </a:r>
            <a:endParaRPr lang="en-US" sz="1530" dirty="0"/>
          </a:p>
        </p:txBody>
      </p:sp>
      <p:sp>
        <p:nvSpPr>
          <p:cNvPr id="25" name="Shape 23"/>
          <p:cNvSpPr/>
          <p:nvPr/>
        </p:nvSpPr>
        <p:spPr>
          <a:xfrm>
            <a:off x="777240" y="4892040"/>
            <a:ext cx="438912" cy="438912"/>
          </a:xfrm>
          <a:prstGeom prst="ellipse">
            <a:avLst/>
          </a:prstGeom>
          <a:solidFill>
            <a:srgbClr val="2563A8"/>
          </a:solidFill>
          <a:ln w="12700">
            <a:solidFill>
              <a:srgbClr val="2563A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4992624"/>
            <a:ext cx="1828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417320" y="4846320"/>
            <a:ext cx="2377440" cy="530352"/>
          </a:xfrm>
          <a:prstGeom prst="roundRect">
            <a:avLst>
              <a:gd name="adj" fmla="val 13793"/>
            </a:avLst>
          </a:prstGeom>
          <a:solidFill>
            <a:srgbClr val="D7ECFA"/>
          </a:solidFill>
          <a:ln w="12700">
            <a:solidFill>
              <a:srgbClr val="BFD0DD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563624" y="4937760"/>
            <a:ext cx="208483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Seguimiento</a:t>
            </a:r>
            <a:endParaRPr lang="en-US" sz="1550" dirty="0"/>
          </a:p>
        </p:txBody>
      </p:sp>
      <p:sp>
        <p:nvSpPr>
          <p:cNvPr id="29" name="Text 27"/>
          <p:cNvSpPr/>
          <p:nvPr/>
        </p:nvSpPr>
        <p:spPr>
          <a:xfrm>
            <a:off x="4069080" y="4901184"/>
            <a:ext cx="6949440" cy="42062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5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usaron Dailies, Kanban, SEG e incidencias para mantener control.</a:t>
            </a:r>
            <a:endParaRPr lang="en-US" sz="1530" dirty="0"/>
          </a:p>
        </p:txBody>
      </p:sp>
      <p:sp>
        <p:nvSpPr>
          <p:cNvPr id="30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1.3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8813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3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Banco de ejercicios del Tema 1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1064240" cy="0"/>
          </a:xfrm>
          <a:prstGeom prst="line">
            <a:avLst/>
          </a:prstGeom>
          <a:noFill/>
          <a:ln w="12700">
            <a:solidFill>
              <a:srgbClr val="BCD5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17320"/>
            <a:ext cx="1325880" cy="475488"/>
          </a:xfrm>
          <a:prstGeom prst="roundRect">
            <a:avLst>
              <a:gd name="adj" fmla="val 15385"/>
            </a:avLst>
          </a:prstGeom>
          <a:solidFill>
            <a:srgbClr val="173B5B"/>
          </a:solidFill>
          <a:ln w="12700">
            <a:solidFill>
              <a:srgbClr val="173B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508760"/>
            <a:ext cx="103327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Ejercicio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1984248" y="1417320"/>
            <a:ext cx="3657600" cy="475488"/>
          </a:xfrm>
          <a:prstGeom prst="roundRect">
            <a:avLst>
              <a:gd name="adj" fmla="val 15385"/>
            </a:avLst>
          </a:prstGeom>
          <a:solidFill>
            <a:srgbClr val="173B5B"/>
          </a:solidFill>
          <a:ln w="12700">
            <a:solidFill>
              <a:srgbClr val="173B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130552" y="1508760"/>
            <a:ext cx="336499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Nombre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641848" y="1417320"/>
            <a:ext cx="5669280" cy="475488"/>
          </a:xfrm>
          <a:prstGeom prst="roundRect">
            <a:avLst>
              <a:gd name="adj" fmla="val 15385"/>
            </a:avLst>
          </a:prstGeom>
          <a:solidFill>
            <a:srgbClr val="173B5B"/>
          </a:solidFill>
          <a:ln w="12700">
            <a:solidFill>
              <a:srgbClr val="173B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88152" y="1508760"/>
            <a:ext cx="537667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Producto esperado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8368" y="1947672"/>
            <a:ext cx="132588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039112"/>
            <a:ext cx="103327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1984248" y="1947672"/>
            <a:ext cx="365760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130552" y="2039112"/>
            <a:ext cx="336499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Levantamiento inicial</a:t>
            </a:r>
            <a:endParaRPr lang="en-US" sz="1040" dirty="0"/>
          </a:p>
        </p:txBody>
      </p:sp>
      <p:sp>
        <p:nvSpPr>
          <p:cNvPr id="15" name="Shape 13"/>
          <p:cNvSpPr/>
          <p:nvPr/>
        </p:nvSpPr>
        <p:spPr>
          <a:xfrm>
            <a:off x="5641848" y="1947672"/>
            <a:ext cx="566928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788152" y="2039112"/>
            <a:ext cx="537667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Solicitud de información completa por proyecto.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658368" y="2450592"/>
            <a:ext cx="1325880" cy="393192"/>
          </a:xfrm>
          <a:prstGeom prst="roundRect">
            <a:avLst>
              <a:gd name="adj" fmla="val 18605"/>
            </a:avLst>
          </a:prstGeom>
          <a:solidFill>
            <a:srgbClr val="F1F5F9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2542032"/>
            <a:ext cx="103327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40" dirty="0"/>
          </a:p>
        </p:txBody>
      </p:sp>
      <p:sp>
        <p:nvSpPr>
          <p:cNvPr id="19" name="Shape 17"/>
          <p:cNvSpPr/>
          <p:nvPr/>
        </p:nvSpPr>
        <p:spPr>
          <a:xfrm>
            <a:off x="1984248" y="2450592"/>
            <a:ext cx="3657600" cy="393192"/>
          </a:xfrm>
          <a:prstGeom prst="roundRect">
            <a:avLst>
              <a:gd name="adj" fmla="val 18605"/>
            </a:avLst>
          </a:prstGeom>
          <a:solidFill>
            <a:srgbClr val="F1F5F9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130552" y="2542032"/>
            <a:ext cx="336499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Definición de alcance</a:t>
            </a:r>
            <a:endParaRPr lang="en-US" sz="1040" dirty="0"/>
          </a:p>
        </p:txBody>
      </p:sp>
      <p:sp>
        <p:nvSpPr>
          <p:cNvPr id="21" name="Shape 19"/>
          <p:cNvSpPr/>
          <p:nvPr/>
        </p:nvSpPr>
        <p:spPr>
          <a:xfrm>
            <a:off x="5641848" y="2450592"/>
            <a:ext cx="5669280" cy="393192"/>
          </a:xfrm>
          <a:prstGeom prst="roundRect">
            <a:avLst>
              <a:gd name="adj" fmla="val 18605"/>
            </a:avLst>
          </a:prstGeom>
          <a:solidFill>
            <a:srgbClr val="F1F5F9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788152" y="2542032"/>
            <a:ext cx="537667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Lista de procesos incluidos y fuera del alcance.</a:t>
            </a:r>
            <a:endParaRPr lang="en-US" sz="1040" dirty="0"/>
          </a:p>
        </p:txBody>
      </p:sp>
      <p:sp>
        <p:nvSpPr>
          <p:cNvPr id="23" name="Shape 21"/>
          <p:cNvSpPr/>
          <p:nvPr/>
        </p:nvSpPr>
        <p:spPr>
          <a:xfrm>
            <a:off x="658368" y="2953512"/>
            <a:ext cx="132588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3044952"/>
            <a:ext cx="103327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40" dirty="0"/>
          </a:p>
        </p:txBody>
      </p:sp>
      <p:sp>
        <p:nvSpPr>
          <p:cNvPr id="25" name="Shape 23"/>
          <p:cNvSpPr/>
          <p:nvPr/>
        </p:nvSpPr>
        <p:spPr>
          <a:xfrm>
            <a:off x="1984248" y="2953512"/>
            <a:ext cx="365760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130552" y="3044952"/>
            <a:ext cx="336499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Acta de inicio</a:t>
            </a:r>
            <a:endParaRPr lang="en-US" sz="1040" dirty="0"/>
          </a:p>
        </p:txBody>
      </p:sp>
      <p:sp>
        <p:nvSpPr>
          <p:cNvPr id="27" name="Shape 25"/>
          <p:cNvSpPr/>
          <p:nvPr/>
        </p:nvSpPr>
        <p:spPr>
          <a:xfrm>
            <a:off x="5641848" y="2953512"/>
            <a:ext cx="566928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788152" y="3044952"/>
            <a:ext cx="537667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ACTA con objetivo, entregables y criterios.</a:t>
            </a:r>
            <a:endParaRPr lang="en-US" sz="1040" dirty="0"/>
          </a:p>
        </p:txBody>
      </p:sp>
      <p:sp>
        <p:nvSpPr>
          <p:cNvPr id="29" name="Shape 27"/>
          <p:cNvSpPr/>
          <p:nvPr/>
        </p:nvSpPr>
        <p:spPr>
          <a:xfrm>
            <a:off x="658368" y="3456432"/>
            <a:ext cx="1325880" cy="393192"/>
          </a:xfrm>
          <a:prstGeom prst="roundRect">
            <a:avLst>
              <a:gd name="adj" fmla="val 18605"/>
            </a:avLst>
          </a:prstGeom>
          <a:solidFill>
            <a:srgbClr val="F1F5F9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3547872"/>
            <a:ext cx="103327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40" dirty="0"/>
          </a:p>
        </p:txBody>
      </p:sp>
      <p:sp>
        <p:nvSpPr>
          <p:cNvPr id="31" name="Shape 29"/>
          <p:cNvSpPr/>
          <p:nvPr/>
        </p:nvSpPr>
        <p:spPr>
          <a:xfrm>
            <a:off x="1984248" y="3456432"/>
            <a:ext cx="3657600" cy="393192"/>
          </a:xfrm>
          <a:prstGeom prst="roundRect">
            <a:avLst>
              <a:gd name="adj" fmla="val 18605"/>
            </a:avLst>
          </a:prstGeom>
          <a:solidFill>
            <a:srgbClr val="F1F5F9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130552" y="3547872"/>
            <a:ext cx="336499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de trabajo</a:t>
            </a:r>
            <a:endParaRPr lang="en-US" sz="1040" dirty="0"/>
          </a:p>
        </p:txBody>
      </p:sp>
      <p:sp>
        <p:nvSpPr>
          <p:cNvPr id="33" name="Shape 31"/>
          <p:cNvSpPr/>
          <p:nvPr/>
        </p:nvSpPr>
        <p:spPr>
          <a:xfrm>
            <a:off x="5641848" y="3456432"/>
            <a:ext cx="5669280" cy="393192"/>
          </a:xfrm>
          <a:prstGeom prst="roundRect">
            <a:avLst>
              <a:gd name="adj" fmla="val 18605"/>
            </a:avLst>
          </a:prstGeom>
          <a:solidFill>
            <a:srgbClr val="F1F5F9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788152" y="3547872"/>
            <a:ext cx="537667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Cronograma inicial o plan de recuperación.</a:t>
            </a:r>
            <a:endParaRPr lang="en-US" sz="1040" dirty="0"/>
          </a:p>
        </p:txBody>
      </p:sp>
      <p:sp>
        <p:nvSpPr>
          <p:cNvPr id="35" name="Shape 33"/>
          <p:cNvSpPr/>
          <p:nvPr/>
        </p:nvSpPr>
        <p:spPr>
          <a:xfrm>
            <a:off x="658368" y="3959352"/>
            <a:ext cx="132588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4672" y="4050792"/>
            <a:ext cx="103327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40" dirty="0"/>
          </a:p>
        </p:txBody>
      </p:sp>
      <p:sp>
        <p:nvSpPr>
          <p:cNvPr id="37" name="Shape 35"/>
          <p:cNvSpPr/>
          <p:nvPr/>
        </p:nvSpPr>
        <p:spPr>
          <a:xfrm>
            <a:off x="1984248" y="3959352"/>
            <a:ext cx="365760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130552" y="4050792"/>
            <a:ext cx="336499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Scrum</a:t>
            </a:r>
            <a:endParaRPr lang="en-US" sz="1040" dirty="0"/>
          </a:p>
        </p:txBody>
      </p:sp>
      <p:sp>
        <p:nvSpPr>
          <p:cNvPr id="39" name="Shape 37"/>
          <p:cNvSpPr/>
          <p:nvPr/>
        </p:nvSpPr>
        <p:spPr>
          <a:xfrm>
            <a:off x="5641848" y="3959352"/>
            <a:ext cx="566928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788152" y="4050792"/>
            <a:ext cx="537667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Tres respuestas: avance, siguiente paso y bloqueo.</a:t>
            </a:r>
            <a:endParaRPr lang="en-US" sz="1040" dirty="0"/>
          </a:p>
        </p:txBody>
      </p:sp>
      <p:sp>
        <p:nvSpPr>
          <p:cNvPr id="41" name="Shape 39"/>
          <p:cNvSpPr/>
          <p:nvPr/>
        </p:nvSpPr>
        <p:spPr>
          <a:xfrm>
            <a:off x="658368" y="4462272"/>
            <a:ext cx="1325880" cy="393192"/>
          </a:xfrm>
          <a:prstGeom prst="roundRect">
            <a:avLst>
              <a:gd name="adj" fmla="val 18605"/>
            </a:avLst>
          </a:prstGeom>
          <a:solidFill>
            <a:srgbClr val="F1F5F9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04672" y="4553712"/>
            <a:ext cx="103327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040" dirty="0"/>
          </a:p>
        </p:txBody>
      </p:sp>
      <p:sp>
        <p:nvSpPr>
          <p:cNvPr id="43" name="Shape 41"/>
          <p:cNvSpPr/>
          <p:nvPr/>
        </p:nvSpPr>
        <p:spPr>
          <a:xfrm>
            <a:off x="1984248" y="4462272"/>
            <a:ext cx="3657600" cy="393192"/>
          </a:xfrm>
          <a:prstGeom prst="roundRect">
            <a:avLst>
              <a:gd name="adj" fmla="val 18605"/>
            </a:avLst>
          </a:prstGeom>
          <a:solidFill>
            <a:srgbClr val="F1F5F9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2130552" y="4553712"/>
            <a:ext cx="336499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 de seguimiento</a:t>
            </a:r>
            <a:endParaRPr lang="en-US" sz="1040" dirty="0"/>
          </a:p>
        </p:txBody>
      </p:sp>
      <p:sp>
        <p:nvSpPr>
          <p:cNvPr id="45" name="Shape 43"/>
          <p:cNvSpPr/>
          <p:nvPr/>
        </p:nvSpPr>
        <p:spPr>
          <a:xfrm>
            <a:off x="5641848" y="4462272"/>
            <a:ext cx="5669280" cy="393192"/>
          </a:xfrm>
          <a:prstGeom prst="roundRect">
            <a:avLst>
              <a:gd name="adj" fmla="val 18605"/>
            </a:avLst>
          </a:prstGeom>
          <a:solidFill>
            <a:srgbClr val="F1F5F9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788152" y="4553712"/>
            <a:ext cx="537667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 actualizado con decisiones y evidencia.</a:t>
            </a:r>
            <a:endParaRPr lang="en-US" sz="1040" dirty="0"/>
          </a:p>
        </p:txBody>
      </p:sp>
      <p:sp>
        <p:nvSpPr>
          <p:cNvPr id="47" name="Shape 45"/>
          <p:cNvSpPr/>
          <p:nvPr/>
        </p:nvSpPr>
        <p:spPr>
          <a:xfrm>
            <a:off x="658368" y="4965192"/>
            <a:ext cx="132588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04672" y="5056632"/>
            <a:ext cx="103327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1040" dirty="0"/>
          </a:p>
        </p:txBody>
      </p:sp>
      <p:sp>
        <p:nvSpPr>
          <p:cNvPr id="49" name="Shape 47"/>
          <p:cNvSpPr/>
          <p:nvPr/>
        </p:nvSpPr>
        <p:spPr>
          <a:xfrm>
            <a:off x="1984248" y="4965192"/>
            <a:ext cx="365760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2130552" y="5056632"/>
            <a:ext cx="336499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Incidencia o riesgo</a:t>
            </a:r>
            <a:endParaRPr lang="en-US" sz="1040" dirty="0"/>
          </a:p>
        </p:txBody>
      </p:sp>
      <p:sp>
        <p:nvSpPr>
          <p:cNvPr id="51" name="Shape 49"/>
          <p:cNvSpPr/>
          <p:nvPr/>
        </p:nvSpPr>
        <p:spPr>
          <a:xfrm>
            <a:off x="5641848" y="4965192"/>
            <a:ext cx="5669280" cy="393192"/>
          </a:xfrm>
          <a:prstGeom prst="roundRect">
            <a:avLst>
              <a:gd name="adj" fmla="val 18605"/>
            </a:avLst>
          </a:prstGeom>
          <a:solidFill>
            <a:srgbClr val="FFFFFF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788152" y="5056632"/>
            <a:ext cx="537667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Registro cuando el problema ya afecta el avance.</a:t>
            </a:r>
            <a:endParaRPr lang="en-US" sz="1040" dirty="0"/>
          </a:p>
        </p:txBody>
      </p:sp>
      <p:sp>
        <p:nvSpPr>
          <p:cNvPr id="53" name="Shape 51"/>
          <p:cNvSpPr/>
          <p:nvPr/>
        </p:nvSpPr>
        <p:spPr>
          <a:xfrm>
            <a:off x="658368" y="5468112"/>
            <a:ext cx="1325880" cy="393192"/>
          </a:xfrm>
          <a:prstGeom prst="roundRect">
            <a:avLst>
              <a:gd name="adj" fmla="val 18605"/>
            </a:avLst>
          </a:prstGeom>
          <a:solidFill>
            <a:srgbClr val="F1F5F9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804672" y="5559552"/>
            <a:ext cx="103327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040" dirty="0"/>
          </a:p>
        </p:txBody>
      </p:sp>
      <p:sp>
        <p:nvSpPr>
          <p:cNvPr id="55" name="Shape 53"/>
          <p:cNvSpPr/>
          <p:nvPr/>
        </p:nvSpPr>
        <p:spPr>
          <a:xfrm>
            <a:off x="1984248" y="5468112"/>
            <a:ext cx="3657600" cy="393192"/>
          </a:xfrm>
          <a:prstGeom prst="roundRect">
            <a:avLst>
              <a:gd name="adj" fmla="val 18605"/>
            </a:avLst>
          </a:prstGeom>
          <a:solidFill>
            <a:srgbClr val="F1F5F9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130552" y="5559552"/>
            <a:ext cx="336499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Kanban inicial</a:t>
            </a:r>
            <a:endParaRPr lang="en-US" sz="1040" dirty="0"/>
          </a:p>
        </p:txBody>
      </p:sp>
      <p:sp>
        <p:nvSpPr>
          <p:cNvPr id="57" name="Shape 55"/>
          <p:cNvSpPr/>
          <p:nvPr/>
        </p:nvSpPr>
        <p:spPr>
          <a:xfrm>
            <a:off x="5641848" y="5468112"/>
            <a:ext cx="5669280" cy="393192"/>
          </a:xfrm>
          <a:prstGeom prst="roundRect">
            <a:avLst>
              <a:gd name="adj" fmla="val 18605"/>
            </a:avLst>
          </a:prstGeom>
          <a:solidFill>
            <a:srgbClr val="F1F5F9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788152" y="5559552"/>
            <a:ext cx="5376672" cy="2103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4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Estado visible de D1-D8 por alumno.</a:t>
            </a:r>
            <a:endParaRPr lang="en-US" sz="1040" dirty="0"/>
          </a:p>
        </p:txBody>
      </p:sp>
      <p:sp>
        <p:nvSpPr>
          <p:cNvPr id="59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1.3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8813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3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Ejercicio 1 · Levantamiento inicial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1064240" cy="0"/>
          </a:xfrm>
          <a:prstGeom prst="line">
            <a:avLst/>
          </a:prstGeom>
          <a:noFill/>
          <a:ln w="12700">
            <a:solidFill>
              <a:srgbClr val="BCD5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508760"/>
            <a:ext cx="2057400" cy="530352"/>
          </a:xfrm>
          <a:prstGeom prst="roundRect">
            <a:avLst>
              <a:gd name="adj" fmla="val 13793"/>
            </a:avLst>
          </a:prstGeom>
          <a:solidFill>
            <a:srgbClr val="173B5B"/>
          </a:solidFill>
          <a:ln w="12700">
            <a:solidFill>
              <a:srgbClr val="173B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23544" y="1600200"/>
            <a:ext cx="176479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Propósito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063240" y="153619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6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Obtener información mínima para saber qué se va a gestionar y qué tan claro está el proyecto.</a:t>
            </a:r>
            <a:endParaRPr lang="en-US" sz="1630" dirty="0"/>
          </a:p>
        </p:txBody>
      </p:sp>
      <p:sp>
        <p:nvSpPr>
          <p:cNvPr id="8" name="Shape 6"/>
          <p:cNvSpPr/>
          <p:nvPr/>
        </p:nvSpPr>
        <p:spPr>
          <a:xfrm>
            <a:off x="777240" y="2331720"/>
            <a:ext cx="2057400" cy="530352"/>
          </a:xfrm>
          <a:prstGeom prst="roundRect">
            <a:avLst>
              <a:gd name="adj" fmla="val 13793"/>
            </a:avLst>
          </a:prstGeom>
          <a:solidFill>
            <a:srgbClr val="173B5B"/>
          </a:solidFill>
          <a:ln w="12700">
            <a:solidFill>
              <a:srgbClr val="173B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3544" y="2423160"/>
            <a:ext cx="176479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Instrucción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063240" y="2240280"/>
            <a:ext cx="8046720" cy="13258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5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Pedir nombre del proyecto, objetivo, alcance, responsable, herramienta y entregables.</a:t>
            </a:r>
            <a:endParaRPr lang="en-US" sz="1520" dirty="0"/>
          </a:p>
          <a:p>
            <a:r>
              <a:rPr lang="en-US" sz="15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Preguntar qué avance existe realmente y qué evidencia puede mostrar.</a:t>
            </a:r>
            <a:endParaRPr lang="en-US" sz="1520" dirty="0"/>
          </a:p>
          <a:p>
            <a:r>
              <a:rPr lang="en-US" sz="15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Detectar datos faltantes antes de pasar a la formalización.</a:t>
            </a:r>
            <a:endParaRPr lang="en-US" sz="1520" dirty="0"/>
          </a:p>
        </p:txBody>
      </p:sp>
      <p:sp>
        <p:nvSpPr>
          <p:cNvPr id="11" name="Shape 9"/>
          <p:cNvSpPr/>
          <p:nvPr/>
        </p:nvSpPr>
        <p:spPr>
          <a:xfrm>
            <a:off x="777240" y="4160520"/>
            <a:ext cx="2057400" cy="530352"/>
          </a:xfrm>
          <a:prstGeom prst="roundRect">
            <a:avLst>
              <a:gd name="adj" fmla="val 13793"/>
            </a:avLst>
          </a:prstGeom>
          <a:solidFill>
            <a:srgbClr val="173B5B"/>
          </a:solidFill>
          <a:ln w="12700">
            <a:solidFill>
              <a:srgbClr val="173B5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23544" y="4251960"/>
            <a:ext cx="1764792" cy="34747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063240" y="4187952"/>
            <a:ext cx="8046720" cy="43891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Documento de solicitud inicial, respuestas del alumno y captura o archivo recibido.</a:t>
            </a:r>
            <a:endParaRPr lang="en-US" sz="163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1.3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8813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3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Ejercicio 2 · Delimitar alcance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1064240" cy="0"/>
          </a:xfrm>
          <a:prstGeom prst="line">
            <a:avLst/>
          </a:prstGeom>
          <a:noFill/>
          <a:ln w="12700">
            <a:solidFill>
              <a:srgbClr val="BCD5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10515600" cy="658368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alcance evita que el proyecto crezca sin control. Antes de aprobar avances, debe quedar claro qué entra y qué no entra.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658368" y="2514600"/>
            <a:ext cx="2194560" cy="475488"/>
          </a:xfrm>
          <a:prstGeom prst="roundRect">
            <a:avLst>
              <a:gd name="adj" fmla="val 15385"/>
            </a:avLst>
          </a:prstGeom>
          <a:solidFill>
            <a:srgbClr val="173B5B"/>
          </a:solidFill>
          <a:ln w="12700">
            <a:solidFill>
              <a:srgbClr val="173B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2606040"/>
            <a:ext cx="190195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2852928" y="2514600"/>
            <a:ext cx="4572000" cy="475488"/>
          </a:xfrm>
          <a:prstGeom prst="roundRect">
            <a:avLst>
              <a:gd name="adj" fmla="val 15385"/>
            </a:avLst>
          </a:prstGeom>
          <a:solidFill>
            <a:srgbClr val="173B5B"/>
          </a:solidFill>
          <a:ln w="12700">
            <a:solidFill>
              <a:srgbClr val="173B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99232" y="2606040"/>
            <a:ext cx="427939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Decisión esperada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7424928" y="2514600"/>
            <a:ext cx="3657600" cy="475488"/>
          </a:xfrm>
          <a:prstGeom prst="roundRect">
            <a:avLst>
              <a:gd name="adj" fmla="val 15385"/>
            </a:avLst>
          </a:prstGeom>
          <a:solidFill>
            <a:srgbClr val="173B5B"/>
          </a:solidFill>
          <a:ln w="12700">
            <a:solidFill>
              <a:srgbClr val="173B5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571232" y="2606040"/>
            <a:ext cx="336499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58368" y="3063240"/>
            <a:ext cx="21945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3154680"/>
            <a:ext cx="1901952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Alondra</a:t>
            </a:r>
            <a:endParaRPr lang="en-US" sz="1070" dirty="0"/>
          </a:p>
        </p:txBody>
      </p:sp>
      <p:sp>
        <p:nvSpPr>
          <p:cNvPr id="14" name="Shape 12"/>
          <p:cNvSpPr/>
          <p:nvPr/>
        </p:nvSpPr>
        <p:spPr>
          <a:xfrm>
            <a:off x="2852928" y="3063240"/>
            <a:ext cx="457200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999232" y="3154680"/>
            <a:ext cx="4279392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Revisar consistencia entre datos, BPMN y modelo configurado.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7424928" y="3063240"/>
            <a:ext cx="365760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571232" y="3154680"/>
            <a:ext cx="3364992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D1-D5 y SEG-002</a:t>
            </a:r>
            <a:endParaRPr lang="en-US" sz="1070" dirty="0"/>
          </a:p>
        </p:txBody>
      </p:sp>
      <p:sp>
        <p:nvSpPr>
          <p:cNvPr id="18" name="Shape 16"/>
          <p:cNvSpPr/>
          <p:nvPr/>
        </p:nvSpPr>
        <p:spPr>
          <a:xfrm>
            <a:off x="658368" y="3794760"/>
            <a:ext cx="2194560" cy="603504"/>
          </a:xfrm>
          <a:prstGeom prst="roundRect">
            <a:avLst>
              <a:gd name="adj" fmla="val 12121"/>
            </a:avLst>
          </a:prstGeom>
          <a:solidFill>
            <a:srgbClr val="F1F5F9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3886200"/>
            <a:ext cx="1901952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Ángel</a:t>
            </a:r>
            <a:endParaRPr lang="en-US" sz="1070" dirty="0"/>
          </a:p>
        </p:txBody>
      </p:sp>
      <p:sp>
        <p:nvSpPr>
          <p:cNvPr id="20" name="Shape 18"/>
          <p:cNvSpPr/>
          <p:nvPr/>
        </p:nvSpPr>
        <p:spPr>
          <a:xfrm>
            <a:off x="2852928" y="3794760"/>
            <a:ext cx="4572000" cy="603504"/>
          </a:xfrm>
          <a:prstGeom prst="roundRect">
            <a:avLst>
              <a:gd name="adj" fmla="val 12121"/>
            </a:avLst>
          </a:prstGeom>
          <a:solidFill>
            <a:srgbClr val="F1F5F9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999232" y="3886200"/>
            <a:ext cx="4279392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Retirar procesos fuera del alcance y mantener el flujo productivo aprobado.</a:t>
            </a:r>
            <a:endParaRPr lang="en-US" sz="1070" dirty="0"/>
          </a:p>
        </p:txBody>
      </p:sp>
      <p:sp>
        <p:nvSpPr>
          <p:cNvPr id="22" name="Shape 20"/>
          <p:cNvSpPr/>
          <p:nvPr/>
        </p:nvSpPr>
        <p:spPr>
          <a:xfrm>
            <a:off x="7424928" y="3794760"/>
            <a:ext cx="3657600" cy="603504"/>
          </a:xfrm>
          <a:prstGeom prst="roundRect">
            <a:avLst>
              <a:gd name="adj" fmla="val 12121"/>
            </a:avLst>
          </a:prstGeom>
          <a:solidFill>
            <a:srgbClr val="F1F5F9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71232" y="3886200"/>
            <a:ext cx="3364992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Daily + D5</a:t>
            </a:r>
            <a:endParaRPr lang="en-US" sz="1070" dirty="0"/>
          </a:p>
        </p:txBody>
      </p:sp>
      <p:sp>
        <p:nvSpPr>
          <p:cNvPr id="24" name="Shape 22"/>
          <p:cNvSpPr/>
          <p:nvPr/>
        </p:nvSpPr>
        <p:spPr>
          <a:xfrm>
            <a:off x="658368" y="4526280"/>
            <a:ext cx="219456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04672" y="4617720"/>
            <a:ext cx="1901952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Aarón</a:t>
            </a:r>
            <a:endParaRPr lang="en-US" sz="1070" dirty="0"/>
          </a:p>
        </p:txBody>
      </p:sp>
      <p:sp>
        <p:nvSpPr>
          <p:cNvPr id="26" name="Shape 24"/>
          <p:cNvSpPr/>
          <p:nvPr/>
        </p:nvSpPr>
        <p:spPr>
          <a:xfrm>
            <a:off x="2852928" y="4526280"/>
            <a:ext cx="457200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999232" y="4617720"/>
            <a:ext cx="4279392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ampliar funciones; trabajar solo atención de clientes Fast Burger.</a:t>
            </a:r>
            <a:endParaRPr lang="en-US" sz="1070" dirty="0"/>
          </a:p>
        </p:txBody>
      </p:sp>
      <p:sp>
        <p:nvSpPr>
          <p:cNvPr id="28" name="Shape 26"/>
          <p:cNvSpPr/>
          <p:nvPr/>
        </p:nvSpPr>
        <p:spPr>
          <a:xfrm>
            <a:off x="7424928" y="4526280"/>
            <a:ext cx="365760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571232" y="4617720"/>
            <a:ext cx="3364992" cy="42062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7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PLAN-003 + SEG-003</a:t>
            </a:r>
            <a:endParaRPr lang="en-US" sz="1070" dirty="0"/>
          </a:p>
        </p:txBody>
      </p:sp>
      <p:sp>
        <p:nvSpPr>
          <p:cNvPr id="32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1.3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8813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3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Ejercicio 3 · Acta de inicio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1064240" cy="0"/>
          </a:xfrm>
          <a:prstGeom prst="line">
            <a:avLst/>
          </a:prstGeom>
          <a:noFill/>
          <a:ln w="12700">
            <a:solidFill>
              <a:srgbClr val="BCD5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10332720" cy="182880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7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Redactar el acta de inicio con nombre formal del proyecto, objetivo, alcance, entregables, responsable, riesgos iniciales y criterios de aceptación.</a:t>
            </a:r>
            <a:endParaRPr lang="en-US" sz="1730" dirty="0"/>
          </a:p>
          <a:p>
            <a:r>
              <a:rPr lang="en-US" sz="17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Solicitar confirmación o aprobación por mensaje para dejar evidencia de formalización.</a:t>
            </a:r>
            <a:endParaRPr lang="en-US" sz="1730" dirty="0"/>
          </a:p>
          <a:p>
            <a:r>
              <a:rPr lang="en-US" sz="173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Guardar el acta y la captura de aprobación en la carpeta de formalización del expediente.</a:t>
            </a:r>
            <a:endParaRPr lang="en-US" sz="1730" dirty="0"/>
          </a:p>
        </p:txBody>
      </p:sp>
      <p:sp>
        <p:nvSpPr>
          <p:cNvPr id="6" name="Shape 4"/>
          <p:cNvSpPr/>
          <p:nvPr/>
        </p:nvSpPr>
        <p:spPr>
          <a:xfrm>
            <a:off x="658368" y="3840480"/>
            <a:ext cx="2926080" cy="457200"/>
          </a:xfrm>
          <a:prstGeom prst="roundRect">
            <a:avLst>
              <a:gd name="adj" fmla="val 16000"/>
            </a:avLst>
          </a:prstGeom>
          <a:solidFill>
            <a:srgbClr val="173B5B"/>
          </a:solidFill>
          <a:ln w="12700">
            <a:solidFill>
              <a:srgbClr val="173B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3931920"/>
            <a:ext cx="263347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Elemento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584448" y="3840480"/>
            <a:ext cx="7406640" cy="457200"/>
          </a:xfrm>
          <a:prstGeom prst="roundRect">
            <a:avLst>
              <a:gd name="adj" fmla="val 16000"/>
            </a:avLst>
          </a:prstGeom>
          <a:solidFill>
            <a:srgbClr val="173B5B"/>
          </a:solidFill>
          <a:ln w="12700">
            <a:solidFill>
              <a:srgbClr val="173B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730752" y="3931920"/>
            <a:ext cx="7114032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Debe responder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58368" y="4361688"/>
            <a:ext cx="29260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4453128"/>
            <a:ext cx="263347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584448" y="4361688"/>
            <a:ext cx="740664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730752" y="4453128"/>
            <a:ext cx="711403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problema o proceso se va a representar?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58368" y="4800600"/>
            <a:ext cx="2926080" cy="347472"/>
          </a:xfrm>
          <a:prstGeom prst="roundRect">
            <a:avLst>
              <a:gd name="adj" fmla="val 21053"/>
            </a:avLst>
          </a:prstGeom>
          <a:solidFill>
            <a:srgbClr val="F1F5F9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4672" y="4892040"/>
            <a:ext cx="263347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Alcance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584448" y="4800600"/>
            <a:ext cx="7406640" cy="347472"/>
          </a:xfrm>
          <a:prstGeom prst="roundRect">
            <a:avLst>
              <a:gd name="adj" fmla="val 21053"/>
            </a:avLst>
          </a:prstGeom>
          <a:solidFill>
            <a:srgbClr val="F1F5F9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730752" y="4892040"/>
            <a:ext cx="711403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procesos quedan dentro y cuáles fuera?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8368" y="5239512"/>
            <a:ext cx="292608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04672" y="5330952"/>
            <a:ext cx="263347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Entregables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584448" y="5239512"/>
            <a:ext cx="740664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730752" y="5330952"/>
            <a:ext cx="711403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archivos o productos deben recibirse?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58368" y="5678424"/>
            <a:ext cx="2926080" cy="347472"/>
          </a:xfrm>
          <a:prstGeom prst="roundRect">
            <a:avLst>
              <a:gd name="adj" fmla="val 21053"/>
            </a:avLst>
          </a:prstGeom>
          <a:solidFill>
            <a:srgbClr val="F1F5F9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04672" y="5769864"/>
            <a:ext cx="263347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Criterio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584448" y="5678424"/>
            <a:ext cx="7406640" cy="347472"/>
          </a:xfrm>
          <a:prstGeom prst="roundRect">
            <a:avLst>
              <a:gd name="adj" fmla="val 21053"/>
            </a:avLst>
          </a:prstGeom>
          <a:solidFill>
            <a:srgbClr val="F1F5F9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30752" y="5769864"/>
            <a:ext cx="7114032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condición permite aceptar el entregable?</a:t>
            </a:r>
            <a:endParaRPr lang="en-US" sz="1050" dirty="0"/>
          </a:p>
        </p:txBody>
      </p:sp>
      <p:sp>
        <p:nvSpPr>
          <p:cNvPr id="26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1.3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8813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3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Ejercicio 4 · Plan de trabajo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1064240" cy="0"/>
          </a:xfrm>
          <a:prstGeom prst="line">
            <a:avLst/>
          </a:prstGeom>
          <a:noFill/>
          <a:ln w="12700">
            <a:solidFill>
              <a:srgbClr val="BCD5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10607040" cy="7132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9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plan convierte el acta en una ruta de ejecución. No debe ser una tabla decorativa: debe orientar qué hacer, cuándo entregar y qué evidencia revisar.</a:t>
            </a:r>
            <a:endParaRPr lang="en-US" sz="1950" dirty="0"/>
          </a:p>
        </p:txBody>
      </p:sp>
      <p:sp>
        <p:nvSpPr>
          <p:cNvPr id="6" name="Shape 4"/>
          <p:cNvSpPr/>
          <p:nvPr/>
        </p:nvSpPr>
        <p:spPr>
          <a:xfrm>
            <a:off x="822960" y="2743200"/>
            <a:ext cx="3108960" cy="1143000"/>
          </a:xfrm>
          <a:prstGeom prst="roundRect">
            <a:avLst>
              <a:gd name="adj" fmla="val 6400"/>
            </a:avLst>
          </a:prstGeom>
          <a:solidFill>
            <a:srgbClr val="D7ECFA"/>
          </a:solidFill>
          <a:ln w="12700">
            <a:solidFill>
              <a:srgbClr val="9CC9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9264" y="2834640"/>
            <a:ext cx="2816352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normal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87552" y="4114800"/>
            <a:ext cx="2816352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usa cuando el proyecto avanza dentro de lo esperado y solo necesita orden.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4526280" y="2743200"/>
            <a:ext cx="3108960" cy="1143000"/>
          </a:xfrm>
          <a:prstGeom prst="roundRect">
            <a:avLst>
              <a:gd name="adj" fmla="val 6400"/>
            </a:avLst>
          </a:prstGeom>
          <a:solidFill>
            <a:srgbClr val="FFF4D6"/>
          </a:solidFill>
          <a:ln w="12700">
            <a:solidFill>
              <a:srgbClr val="E8D49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72584" y="2834640"/>
            <a:ext cx="2816352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 de recuperación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690872" y="4114800"/>
            <a:ext cx="2816352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usa cuando el atraso obliga a reorganizar prioridades, fechas y alcance.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0" y="2743200"/>
            <a:ext cx="3108960" cy="1143000"/>
          </a:xfrm>
          <a:prstGeom prst="roundRect">
            <a:avLst>
              <a:gd name="adj" fmla="val 6400"/>
            </a:avLst>
          </a:prstGeom>
          <a:solidFill>
            <a:srgbClr val="DFF4EA"/>
          </a:solidFill>
          <a:ln w="12700">
            <a:solidFill>
              <a:srgbClr val="B3DEC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375904" y="2834640"/>
            <a:ext cx="2816352" cy="9601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posterior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394192" y="4114800"/>
            <a:ext cx="2816352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actualiza con SEG, Kanban y evidencias; no se deja como documento aislado.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1.3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8813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3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Ejercicio 5 · Daily Scrum y bitácora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1064240" cy="0"/>
          </a:xfrm>
          <a:prstGeom prst="line">
            <a:avLst/>
          </a:prstGeom>
          <a:noFill/>
          <a:ln w="12700">
            <a:solidFill>
              <a:srgbClr val="BCD5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36192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92500" lnSpcReduction="1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Daily no es una conversación larga. Su valor está en obtener información concreta para registrar avance y tomar una decisión rápida.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868680" y="2514600"/>
            <a:ext cx="3337560" cy="594360"/>
          </a:xfrm>
          <a:prstGeom prst="roundRect">
            <a:avLst>
              <a:gd name="adj" fmla="val 12308"/>
            </a:avLst>
          </a:prstGeom>
          <a:solidFill>
            <a:srgbClr val="D7ECFA"/>
          </a:solidFill>
          <a:ln w="12700">
            <a:solidFill>
              <a:srgbClr val="9CC9E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14984" y="2606040"/>
            <a:ext cx="304495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24128" y="3273552"/>
            <a:ext cx="3035808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realizaste desde el último seguimiento?</a:t>
            </a:r>
            <a:endParaRPr lang="en-US" sz="1420" dirty="0"/>
          </a:p>
        </p:txBody>
      </p:sp>
      <p:sp>
        <p:nvSpPr>
          <p:cNvPr id="9" name="Shape 7"/>
          <p:cNvSpPr/>
          <p:nvPr/>
        </p:nvSpPr>
        <p:spPr>
          <a:xfrm>
            <a:off x="4434840" y="2514600"/>
            <a:ext cx="3337560" cy="594360"/>
          </a:xfrm>
          <a:prstGeom prst="roundRect">
            <a:avLst>
              <a:gd name="adj" fmla="val 12308"/>
            </a:avLst>
          </a:prstGeom>
          <a:solidFill>
            <a:srgbClr val="DFF4EA"/>
          </a:solidFill>
          <a:ln w="12700">
            <a:solidFill>
              <a:srgbClr val="B3DE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81144" y="2606040"/>
            <a:ext cx="304495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90288" y="3273552"/>
            <a:ext cx="3035808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vas a trabajar ahora?</a:t>
            </a:r>
            <a:endParaRPr lang="en-US" sz="1420" dirty="0"/>
          </a:p>
        </p:txBody>
      </p:sp>
      <p:sp>
        <p:nvSpPr>
          <p:cNvPr id="12" name="Shape 10"/>
          <p:cNvSpPr/>
          <p:nvPr/>
        </p:nvSpPr>
        <p:spPr>
          <a:xfrm>
            <a:off x="8001000" y="2514600"/>
            <a:ext cx="3337560" cy="594360"/>
          </a:xfrm>
          <a:prstGeom prst="roundRect">
            <a:avLst>
              <a:gd name="adj" fmla="val 12308"/>
            </a:avLst>
          </a:prstGeom>
          <a:solidFill>
            <a:srgbClr val="FFF4D6"/>
          </a:solidFill>
          <a:ln w="12700">
            <a:solidFill>
              <a:srgbClr val="E8D49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47304" y="2606040"/>
            <a:ext cx="3044952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 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8156448" y="3273552"/>
            <a:ext cx="3035808" cy="6400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4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¿Tienes algún bloqueo, dificultad o dato pendiente?</a:t>
            </a:r>
            <a:endParaRPr lang="en-US" sz="14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1.3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8813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3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Ejercicio 6 · Incidencias y decisiones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1064240" cy="0"/>
          </a:xfrm>
          <a:prstGeom prst="line">
            <a:avLst/>
          </a:prstGeom>
          <a:noFill/>
          <a:ln w="12700">
            <a:solidFill>
              <a:srgbClr val="BCD5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554480"/>
            <a:ext cx="5669280" cy="32918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Identificar cuándo un riesgo dejó de ser posibilidad y se volvió problema real.</a:t>
            </a:r>
            <a:endParaRPr lang="en-US" sz="1700" dirty="0"/>
          </a:p>
          <a:p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Registrar fecha, causa, impacto, acción correctiva y criterio de cierre.</a:t>
            </a:r>
            <a:endParaRPr lang="en-US" sz="1700" dirty="0"/>
          </a:p>
          <a:p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saturar al alumno con documentos internos; la incidencia sirve principalmente para control del PM.</a:t>
            </a:r>
            <a:endParaRPr lang="en-US" sz="1700" dirty="0"/>
          </a:p>
          <a:p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Actualizar el estado cuando el proyecto se recupera, pero no cerrarla antes de validar los entregables críticos.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858000" y="1645920"/>
            <a:ext cx="4114800" cy="658368"/>
          </a:xfrm>
          <a:prstGeom prst="roundRect">
            <a:avLst>
              <a:gd name="adj" fmla="val 11111"/>
            </a:avLst>
          </a:prstGeom>
          <a:solidFill>
            <a:srgbClr val="173B5B"/>
          </a:solidFill>
          <a:ln w="12700">
            <a:solidFill>
              <a:srgbClr val="173B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04304" y="1737360"/>
            <a:ext cx="3822192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 aplicado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022592" y="2578608"/>
            <a:ext cx="3794760" cy="196596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6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Aarón inició con atraso real: no tenía diagrama, datos, código ni modelo. La acción correcta fue registrar la incidencia y crear un plan de recuperación con una herramienta principal.</a:t>
            </a:r>
            <a:endParaRPr lang="en-US" sz="1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11</a:t>
            </a:fld>
            <a:endParaRPr lang="en-US"/>
          </a:p>
        </p:txBody>
      </p:sp>
      <p:pic>
        <p:nvPicPr>
          <p:cNvPr id="12" name="Imagen 11">
            <a:extLst>
              <a:ext uri="{FF2B5EF4-FFF2-40B4-BE49-F238E27FC236}">
                <a16:creationId xmlns:a16="http://schemas.microsoft.com/office/drawing/2014/main" id="{C995805F-F860-D242-237C-45C7F912C6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6995" y="4255319"/>
            <a:ext cx="2924271" cy="205061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1.3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8813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3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Ejercicio 7 · Kanban inicial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1064240" cy="0"/>
          </a:xfrm>
          <a:prstGeom prst="line">
            <a:avLst/>
          </a:prstGeom>
          <a:noFill/>
          <a:ln w="12700">
            <a:solidFill>
              <a:srgbClr val="BCD5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54480"/>
            <a:ext cx="1051560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tablero Kanban permite ver de inmediato qué entregables están pendientes, en proceso, en revisión o completados.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94360" y="2514600"/>
            <a:ext cx="2423160" cy="566928"/>
          </a:xfrm>
          <a:prstGeom prst="roundRect">
            <a:avLst>
              <a:gd name="adj" fmla="val 12903"/>
            </a:avLst>
          </a:prstGeom>
          <a:solidFill>
            <a:srgbClr val="FFF4D6"/>
          </a:solidFill>
          <a:ln w="12700">
            <a:solidFill>
              <a:srgbClr val="BFD0D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0664" y="2606040"/>
            <a:ext cx="213055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PENDIENTE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58952" y="324612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D6 · D7 · D8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3474720" y="2514600"/>
            <a:ext cx="2423160" cy="566928"/>
          </a:xfrm>
          <a:prstGeom prst="roundRect">
            <a:avLst>
              <a:gd name="adj" fmla="val 12903"/>
            </a:avLst>
          </a:prstGeom>
          <a:solidFill>
            <a:srgbClr val="D7ECFA"/>
          </a:solidFill>
          <a:ln w="12700">
            <a:solidFill>
              <a:srgbClr val="BFD0D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21024" y="2606040"/>
            <a:ext cx="213055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PROCESO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39312" y="324612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D6 cuando inicia mejora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355080" y="2514600"/>
            <a:ext cx="2423160" cy="566928"/>
          </a:xfrm>
          <a:prstGeom prst="roundRect">
            <a:avLst>
              <a:gd name="adj" fmla="val 12903"/>
            </a:avLst>
          </a:prstGeom>
          <a:solidFill>
            <a:srgbClr val="EDE7F6"/>
          </a:solidFill>
          <a:ln w="12700">
            <a:solidFill>
              <a:srgbClr val="BFD0D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01384" y="2606040"/>
            <a:ext cx="213055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 REVISIÓN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9672" y="324612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 · D3 · D4 · D5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9235440" y="2514600"/>
            <a:ext cx="2423160" cy="566928"/>
          </a:xfrm>
          <a:prstGeom prst="roundRect">
            <a:avLst>
              <a:gd name="adj" fmla="val 12903"/>
            </a:avLst>
          </a:prstGeom>
          <a:solidFill>
            <a:srgbClr val="DFF4EA"/>
          </a:solidFill>
          <a:ln w="12700">
            <a:solidFill>
              <a:srgbClr val="BFD0D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381744" y="2606040"/>
            <a:ext cx="2130552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COMPLETADO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400032" y="3246120"/>
            <a:ext cx="2103120" cy="1097280"/>
          </a:xfrm>
          <a:prstGeom prst="rect">
            <a:avLst/>
          </a:prstGeom>
          <a:noFill/>
          <a:ln/>
        </p:spPr>
        <p:txBody>
          <a:bodyPr wrap="square" rtlCol="0" anchor="t">
            <a:normAutofit/>
          </a:bodyPr>
          <a:lstStyle/>
          <a:p>
            <a:pPr marL="0" indent="0">
              <a:buNone/>
            </a:pPr>
            <a:r>
              <a:rPr lang="en-US" sz="14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 / entregables aprobados</a:t>
            </a:r>
            <a:endParaRPr lang="en-US" sz="14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1.3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8813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 err="1">
                <a:solidFill>
                  <a:srgbClr val="173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Bitácora</a:t>
            </a:r>
            <a:r>
              <a:rPr lang="en-US" sz="2800" b="1" dirty="0">
                <a:solidFill>
                  <a:srgbClr val="173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 </a:t>
            </a:r>
            <a:r>
              <a:rPr lang="en-US" sz="2800" b="1" dirty="0" err="1">
                <a:solidFill>
                  <a:srgbClr val="173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consolidada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1064240" cy="0"/>
          </a:xfrm>
          <a:prstGeom prst="line">
            <a:avLst/>
          </a:prstGeom>
          <a:noFill/>
          <a:ln w="12700">
            <a:solidFill>
              <a:srgbClr val="BCD5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417320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173B5B"/>
          </a:solidFill>
          <a:ln w="12700">
            <a:solidFill>
              <a:srgbClr val="173B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508760"/>
            <a:ext cx="135331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Fecha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304288" y="1417320"/>
            <a:ext cx="4846320" cy="475488"/>
          </a:xfrm>
          <a:prstGeom prst="roundRect">
            <a:avLst>
              <a:gd name="adj" fmla="val 15385"/>
            </a:avLst>
          </a:prstGeom>
          <a:solidFill>
            <a:srgbClr val="173B5B"/>
          </a:solidFill>
          <a:ln w="12700">
            <a:solidFill>
              <a:srgbClr val="173B5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450592" y="1508760"/>
            <a:ext cx="455371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registrada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150608" y="1417320"/>
            <a:ext cx="4206240" cy="475488"/>
          </a:xfrm>
          <a:prstGeom prst="roundRect">
            <a:avLst>
              <a:gd name="adj" fmla="val 15385"/>
            </a:avLst>
          </a:prstGeom>
          <a:solidFill>
            <a:srgbClr val="173B5B"/>
          </a:solidFill>
          <a:ln w="12700">
            <a:solidFill>
              <a:srgbClr val="173B5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296912" y="1508760"/>
            <a:ext cx="39136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658368" y="1965960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04672" y="2057400"/>
            <a:ext cx="135331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21-22 ago.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2304288" y="1965960"/>
            <a:ext cx="48463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0592" y="2057400"/>
            <a:ext cx="455371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Levantamiento y actas iniciales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150608" y="1965960"/>
            <a:ext cx="42062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296912" y="2057400"/>
            <a:ext cx="39136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identificaron proyectos, objetivos y responsables.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58368" y="2569464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F1F5F9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4672" y="2660904"/>
            <a:ext cx="135331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22-27 ago.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2304288" y="2569464"/>
            <a:ext cx="4846320" cy="475488"/>
          </a:xfrm>
          <a:prstGeom prst="roundRect">
            <a:avLst>
              <a:gd name="adj" fmla="val 15385"/>
            </a:avLst>
          </a:prstGeom>
          <a:solidFill>
            <a:srgbClr val="F1F5F9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450592" y="2660904"/>
            <a:ext cx="455371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Planes de trabajo y carpetas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7150608" y="2569464"/>
            <a:ext cx="4206240" cy="475488"/>
          </a:xfrm>
          <a:prstGeom prst="roundRect">
            <a:avLst>
              <a:gd name="adj" fmla="val 15385"/>
            </a:avLst>
          </a:prstGeom>
          <a:solidFill>
            <a:srgbClr val="F1F5F9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296912" y="2660904"/>
            <a:ext cx="39136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ordenaron expedientes y entregables D1-D8.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58368" y="3172968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04672" y="3264408"/>
            <a:ext cx="135331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 ago.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2304288" y="3172968"/>
            <a:ext cx="48463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450592" y="3264408"/>
            <a:ext cx="455371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Dailies y seguimiento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150608" y="3172968"/>
            <a:ext cx="42062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96912" y="3264408"/>
            <a:ext cx="39136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registraron avances, bloqueos y acciones PM.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58368" y="3776472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F1F5F9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04672" y="3867912"/>
            <a:ext cx="135331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27-29 ago.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2304288" y="3776472"/>
            <a:ext cx="4846320" cy="475488"/>
          </a:xfrm>
          <a:prstGeom prst="roundRect">
            <a:avLst>
              <a:gd name="adj" fmla="val 15385"/>
            </a:avLst>
          </a:prstGeom>
          <a:solidFill>
            <a:srgbClr val="F1F5F9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450592" y="3867912"/>
            <a:ext cx="455371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Correcciones e incidencias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7150608" y="3776472"/>
            <a:ext cx="4206240" cy="475488"/>
          </a:xfrm>
          <a:prstGeom prst="roundRect">
            <a:avLst>
              <a:gd name="adj" fmla="val 15385"/>
            </a:avLst>
          </a:prstGeom>
          <a:solidFill>
            <a:srgbClr val="F1F5F9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296912" y="3867912"/>
            <a:ext cx="39136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controlaron alcance, herramienta y retraso.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58368" y="4379976"/>
            <a:ext cx="16459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04672" y="4471416"/>
            <a:ext cx="135331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b="1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29-31 ago.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2304288" y="4379976"/>
            <a:ext cx="484632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450592" y="4471416"/>
            <a:ext cx="455371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Revisión de evidencias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7150608" y="4379976"/>
            <a:ext cx="4206240" cy="475488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C8D5E1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96912" y="4471416"/>
            <a:ext cx="3913632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5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 diferenciaron archivos recibidos, aprobados y en corrección.</a:t>
            </a:r>
            <a:endParaRPr lang="en-US" sz="1050" dirty="0"/>
          </a:p>
        </p:txBody>
      </p:sp>
      <p:sp>
        <p:nvSpPr>
          <p:cNvPr id="43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1.3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8813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3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Conclusión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1064240" cy="0"/>
          </a:xfrm>
          <a:prstGeom prst="line">
            <a:avLst/>
          </a:prstGeom>
          <a:noFill/>
          <a:ln w="12700">
            <a:solidFill>
              <a:srgbClr val="BCD5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08760"/>
            <a:ext cx="10515600" cy="1234440"/>
          </a:xfrm>
          <a:prstGeom prst="rect">
            <a:avLst/>
          </a:prstGeom>
          <a:noFill/>
          <a:ln/>
        </p:spPr>
        <p:txBody>
          <a:bodyPr wrap="square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9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banco de ejercicios permitió convertir el seguimiento de los tres proyectos en una práctica organizada de gestión. Cada ejercicio respondió a una necesidad concreta: levantar información, delimitar alcance, formalizar, planear, revisar evidencias, registrar incidencias y mantener visible el estado de los entregables.</a:t>
            </a:r>
            <a:endParaRPr lang="en-US" sz="1920" dirty="0"/>
          </a:p>
        </p:txBody>
      </p:sp>
      <p:sp>
        <p:nvSpPr>
          <p:cNvPr id="6" name="Text 4"/>
          <p:cNvSpPr/>
          <p:nvPr/>
        </p:nvSpPr>
        <p:spPr>
          <a:xfrm>
            <a:off x="822960" y="3017520"/>
            <a:ext cx="10515600" cy="11704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marL="0" indent="0">
              <a:buNone/>
            </a:pPr>
            <a:r>
              <a:rPr lang="en-US" sz="192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bitácora funcionó como respaldo del proceso. Gracias a ella fue posible distinguir qué estaba recibido, qué requería corrección y qué podía considerarse completado. Esto evita trabajar por intuición y permite sostener las decisiones del Project Manager con evidencias.</a:t>
            </a:r>
            <a:endParaRPr lang="en-US" sz="192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A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1.3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640080"/>
            <a:ext cx="108813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173B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Fuentes de información y evidencias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261872"/>
            <a:ext cx="11064240" cy="0"/>
          </a:xfrm>
          <a:prstGeom prst="line">
            <a:avLst/>
          </a:prstGeom>
          <a:noFill/>
          <a:ln w="12700">
            <a:solidFill>
              <a:srgbClr val="BCD5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600200"/>
            <a:ext cx="10424160" cy="33832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ctr">
            <a:normAutofit/>
          </a:bodyPr>
          <a:lstStyle/>
          <a:p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Schwaber, K., &amp; Sutherland, J. (2020). The Scrum Guide: The Definitive Guide to Scrum.</a:t>
            </a:r>
            <a:endParaRPr lang="en-US" sz="1700" dirty="0"/>
          </a:p>
          <a:p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Management Institute. (2021). PMBOK Guide, Seventh Edition.</a:t>
            </a:r>
            <a:endParaRPr lang="en-US" sz="1700" dirty="0"/>
          </a:p>
          <a:p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Manifesto for Agile Software Development. (2001). Agile Alliance.</a:t>
            </a:r>
            <a:endParaRPr lang="en-US" sz="1700" dirty="0"/>
          </a:p>
          <a:p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Expedientes internos de los proyectos: actas, planes, registros SEG, incidencias, Kanban y evidencias de comunicación.</a:t>
            </a:r>
            <a:endParaRPr lang="en-US" sz="1700" dirty="0"/>
          </a:p>
          <a:p>
            <a:r>
              <a:rPr lang="en-US" sz="1700" dirty="0">
                <a:solidFill>
                  <a:srgbClr val="1F293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Archivos de trabajo de Alondra, Ángel y Aarón utilizados durante el acompañamiento como Project Manager.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01400" y="662025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=""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FFFFFF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lang="en-US" b="0"/>
              <a:t>15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1283</Words>
  <Application>Microsoft Office PowerPoint</Application>
  <PresentationFormat>Panorámica</PresentationFormat>
  <Paragraphs>205</Paragraphs>
  <Slides>15</Slides>
  <Notes>15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15</vt:i4>
      </vt:variant>
    </vt:vector>
  </HeadingPairs>
  <TitlesOfParts>
    <vt:vector size="20" baseType="lpstr">
      <vt:lpstr>-apple-system</vt:lpstr>
      <vt:lpstr>Aptos</vt:lpstr>
      <vt:lpstr>Aptos Display</vt:lpstr>
      <vt:lpstr>Arial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Project Manager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Actividad 1.3 Banco de ejercicios y bitácora - Tema 1</dc:title>
  <dc:subject>Actividad 1.3 Banco de ejercicios - bitácora</dc:subject>
  <dc:creator>Amaury Jahaziel Gordillo Hernández</dc:creator>
  <cp:lastModifiedBy>amaury rokete</cp:lastModifiedBy>
  <cp:revision>3</cp:revision>
  <dcterms:created xsi:type="dcterms:W3CDTF">2026-09-03T02:38:55Z</dcterms:created>
  <dcterms:modified xsi:type="dcterms:W3CDTF">2026-09-03T02:54:15Z</dcterms:modified>
</cp:coreProperties>
</file>