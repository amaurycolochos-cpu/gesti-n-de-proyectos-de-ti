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75"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ptos"/>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 </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 </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5A38F88B-1FCF-42A4-958D-A2165C8127F0}" type="slidenum">
              <a:rPr lang="en-US" sz="1400" b="0" u="none" strike="noStrike">
                <a:solidFill>
                  <a:srgbClr val="000000"/>
                </a:solidFill>
                <a:effectLst/>
                <a:uFillTx/>
                <a:latin typeface="Times New Roman"/>
              </a:rPr>
              <a:t>‹Nº›</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7" name="PlaceHolder 1"/>
          <p:cNvSpPr>
            <a:spLocks noGrp="1" noRot="1" noChangeAspect="1"/>
          </p:cNvSpPr>
          <p:nvPr>
            <p:ph type="sldImg"/>
          </p:nvPr>
        </p:nvSpPr>
        <p:spPr>
          <a:xfrm>
            <a:off x="685800" y="1143000"/>
            <a:ext cx="5486400" cy="3086100"/>
          </a:xfrm>
          <a:prstGeom prst="rect">
            <a:avLst/>
          </a:prstGeom>
          <a:ln w="0">
            <a:noFill/>
          </a:ln>
        </p:spPr>
      </p:sp>
      <p:sp>
        <p:nvSpPr>
          <p:cNvPr id="8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809"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F2327FA-B4EB-46AE-BB22-FA2A4E80BA99}"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0" name="PlaceHolder 1"/>
          <p:cNvSpPr>
            <a:spLocks noGrp="1" noRot="1" noChangeAspect="1"/>
          </p:cNvSpPr>
          <p:nvPr>
            <p:ph type="sldImg"/>
          </p:nvPr>
        </p:nvSpPr>
        <p:spPr>
          <a:xfrm>
            <a:off x="685800" y="1143000"/>
            <a:ext cx="5486400" cy="3086100"/>
          </a:xfrm>
          <a:prstGeom prst="rect">
            <a:avLst/>
          </a:prstGeom>
          <a:ln w="0">
            <a:noFill/>
          </a:ln>
        </p:spPr>
      </p:sp>
      <p:sp>
        <p:nvSpPr>
          <p:cNvPr id="8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812"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BDE98E6-E053-4464-A677-0D969D601F50}"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 name="PlaceHolder 1"/>
          <p:cNvSpPr>
            <a:spLocks noGrp="1" noRot="1" noChangeAspect="1"/>
          </p:cNvSpPr>
          <p:nvPr>
            <p:ph type="sldImg"/>
          </p:nvPr>
        </p:nvSpPr>
        <p:spPr>
          <a:xfrm>
            <a:off x="685800" y="1143000"/>
            <a:ext cx="5486400" cy="3086100"/>
          </a:xfrm>
          <a:prstGeom prst="rect">
            <a:avLst/>
          </a:prstGeom>
          <a:ln w="0">
            <a:noFill/>
          </a:ln>
        </p:spPr>
      </p:sp>
      <p:sp>
        <p:nvSpPr>
          <p:cNvPr id="8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815"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7D5E19A-6102-43B2-9B18-4AA2330D91F2}"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 name="PlaceHolder 1"/>
          <p:cNvSpPr>
            <a:spLocks noGrp="1" noRot="1" noChangeAspect="1"/>
          </p:cNvSpPr>
          <p:nvPr>
            <p:ph type="sldImg"/>
          </p:nvPr>
        </p:nvSpPr>
        <p:spPr>
          <a:xfrm>
            <a:off x="685800" y="1143000"/>
            <a:ext cx="5486400" cy="3086100"/>
          </a:xfrm>
          <a:prstGeom prst="rect">
            <a:avLst/>
          </a:prstGeom>
          <a:ln w="0">
            <a:noFill/>
          </a:ln>
        </p:spPr>
      </p:sp>
      <p:sp>
        <p:nvSpPr>
          <p:cNvPr id="8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818"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899AFD5-1956-4FA3-A1AE-AD40A9F9702A}"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 name="PlaceHolder 1"/>
          <p:cNvSpPr>
            <a:spLocks noGrp="1" noRot="1" noChangeAspect="1"/>
          </p:cNvSpPr>
          <p:nvPr>
            <p:ph type="sldImg"/>
          </p:nvPr>
        </p:nvSpPr>
        <p:spPr>
          <a:xfrm>
            <a:off x="685800" y="1143000"/>
            <a:ext cx="5486400" cy="3086100"/>
          </a:xfrm>
          <a:prstGeom prst="rect">
            <a:avLst/>
          </a:prstGeom>
          <a:ln w="0">
            <a:noFill/>
          </a:ln>
        </p:spPr>
      </p:sp>
      <p:sp>
        <p:nvSpPr>
          <p:cNvPr id="8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821"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AECCC6A-9B11-42C8-ADCA-060141B4DE8C}"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PlaceHolder 1"/>
          <p:cNvSpPr>
            <a:spLocks noGrp="1" noRot="1" noChangeAspect="1"/>
          </p:cNvSpPr>
          <p:nvPr>
            <p:ph type="sldImg"/>
          </p:nvPr>
        </p:nvSpPr>
        <p:spPr>
          <a:xfrm>
            <a:off x="685800" y="1143000"/>
            <a:ext cx="5486400" cy="3086100"/>
          </a:xfrm>
          <a:prstGeom prst="rect">
            <a:avLst/>
          </a:prstGeom>
          <a:ln w="0">
            <a:noFill/>
          </a:ln>
        </p:spPr>
      </p:sp>
      <p:sp>
        <p:nvSpPr>
          <p:cNvPr id="8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824"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C7DF682-A3C2-4983-ACF7-0717C8F63079}"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 name="PlaceHolder 1"/>
          <p:cNvSpPr>
            <a:spLocks noGrp="1" noRot="1" noChangeAspect="1"/>
          </p:cNvSpPr>
          <p:nvPr>
            <p:ph type="sldImg"/>
          </p:nvPr>
        </p:nvSpPr>
        <p:spPr>
          <a:xfrm>
            <a:off x="685800" y="1143000"/>
            <a:ext cx="5486400" cy="3086100"/>
          </a:xfrm>
          <a:prstGeom prst="rect">
            <a:avLst/>
          </a:prstGeom>
          <a:ln w="0">
            <a:noFill/>
          </a:ln>
        </p:spPr>
      </p:sp>
      <p:sp>
        <p:nvSpPr>
          <p:cNvPr id="8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827"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51BCE8B-F1BA-4396-94DF-A2A4B9240C31}"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 name="PlaceHolder 1"/>
          <p:cNvSpPr>
            <a:spLocks noGrp="1" noRot="1" noChangeAspect="1"/>
          </p:cNvSpPr>
          <p:nvPr>
            <p:ph type="sldImg"/>
          </p:nvPr>
        </p:nvSpPr>
        <p:spPr>
          <a:xfrm>
            <a:off x="685800" y="1143000"/>
            <a:ext cx="5486400" cy="3086100"/>
          </a:xfrm>
          <a:prstGeom prst="rect">
            <a:avLst/>
          </a:prstGeom>
          <a:ln w="0">
            <a:noFill/>
          </a:ln>
        </p:spPr>
      </p:sp>
      <p:sp>
        <p:nvSpPr>
          <p:cNvPr id="8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830"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351D7A5-30EA-438A-B5E4-D3B658413162}"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 name="PlaceHolder 1"/>
          <p:cNvSpPr>
            <a:spLocks noGrp="1" noRot="1" noChangeAspect="1"/>
          </p:cNvSpPr>
          <p:nvPr>
            <p:ph type="sldImg"/>
          </p:nvPr>
        </p:nvSpPr>
        <p:spPr>
          <a:xfrm>
            <a:off x="685800" y="1143000"/>
            <a:ext cx="5486400" cy="3086100"/>
          </a:xfrm>
          <a:prstGeom prst="rect">
            <a:avLst/>
          </a:prstGeom>
          <a:ln w="0">
            <a:noFill/>
          </a:ln>
        </p:spPr>
      </p:sp>
      <p:sp>
        <p:nvSpPr>
          <p:cNvPr id="8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833"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139FE12-CB0D-4811-8BE8-31A232869BB2}"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 name="PlaceHolder 1"/>
          <p:cNvSpPr>
            <a:spLocks noGrp="1" noRot="1" noChangeAspect="1"/>
          </p:cNvSpPr>
          <p:nvPr>
            <p:ph type="sldImg"/>
          </p:nvPr>
        </p:nvSpPr>
        <p:spPr>
          <a:xfrm>
            <a:off x="685800" y="1143000"/>
            <a:ext cx="5486400" cy="3086100"/>
          </a:xfrm>
          <a:prstGeom prst="rect">
            <a:avLst/>
          </a:prstGeom>
          <a:ln w="0">
            <a:noFill/>
          </a:ln>
        </p:spPr>
      </p:sp>
      <p:sp>
        <p:nvSpPr>
          <p:cNvPr id="8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836"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A2024A3-90B1-4930-80E9-9B307E7CE098}"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 name="PlaceHolder 1"/>
          <p:cNvSpPr>
            <a:spLocks noGrp="1" noRot="1" noChangeAspect="1"/>
          </p:cNvSpPr>
          <p:nvPr>
            <p:ph type="sldImg"/>
          </p:nvPr>
        </p:nvSpPr>
        <p:spPr>
          <a:xfrm>
            <a:off x="685800" y="1143000"/>
            <a:ext cx="5486400" cy="3086100"/>
          </a:xfrm>
          <a:prstGeom prst="rect">
            <a:avLst/>
          </a:prstGeom>
          <a:ln w="0">
            <a:noFill/>
          </a:ln>
        </p:spPr>
      </p:sp>
      <p:sp>
        <p:nvSpPr>
          <p:cNvPr id="8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839"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E619303-0CD9-4604-AE84-467CE0BFBE44}" type="slidenum">
              <a:rPr lang="en-US" sz="1200" b="0" u="none" strike="noStrike">
                <a:solidFill>
                  <a:schemeClr val="dk1"/>
                </a:solidFill>
                <a:effectLst/>
                <a:uFillTx/>
                <a:latin typeface="+mn-lt"/>
                <a:ea typeface="+mn-ea"/>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0" name="PlaceHolder 1"/>
          <p:cNvSpPr>
            <a:spLocks noGrp="1" noRot="1" noChangeAspect="1"/>
          </p:cNvSpPr>
          <p:nvPr>
            <p:ph type="sldImg"/>
          </p:nvPr>
        </p:nvSpPr>
        <p:spPr>
          <a:xfrm>
            <a:off x="685800" y="1143000"/>
            <a:ext cx="5486400" cy="3086100"/>
          </a:xfrm>
          <a:prstGeom prst="rect">
            <a:avLst/>
          </a:prstGeom>
          <a:ln w="0">
            <a:noFill/>
          </a:ln>
        </p:spPr>
      </p:sp>
      <p:sp>
        <p:nvSpPr>
          <p:cNvPr id="8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842"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05E5E09-CC0F-463C-837A-4E7E1679B0A9}"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 name="PlaceHolder 1"/>
          <p:cNvSpPr>
            <a:spLocks noGrp="1" noRot="1" noChangeAspect="1"/>
          </p:cNvSpPr>
          <p:nvPr>
            <p:ph type="sldImg"/>
          </p:nvPr>
        </p:nvSpPr>
        <p:spPr>
          <a:xfrm>
            <a:off x="685800" y="1143000"/>
            <a:ext cx="5486400" cy="3086100"/>
          </a:xfrm>
          <a:prstGeom prst="rect">
            <a:avLst/>
          </a:prstGeom>
          <a:ln w="0">
            <a:noFill/>
          </a:ln>
        </p:spPr>
      </p:sp>
      <p:sp>
        <p:nvSpPr>
          <p:cNvPr id="8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845"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1B4A299-B19D-492E-B8E0-E610053CFC58}" type="slidenum">
              <a:rPr lang="en-US" sz="1200" b="0" u="none" strike="noStrike">
                <a:solidFill>
                  <a:schemeClr val="dk1"/>
                </a:solidFill>
                <a:effectLst/>
                <a:uFillTx/>
                <a:latin typeface="+mn-lt"/>
                <a:ea typeface="+mn-ea"/>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 name="PlaceHolder 1"/>
          <p:cNvSpPr>
            <a:spLocks noGrp="1" noRot="1" noChangeAspect="1"/>
          </p:cNvSpPr>
          <p:nvPr>
            <p:ph type="sldImg"/>
          </p:nvPr>
        </p:nvSpPr>
        <p:spPr>
          <a:xfrm>
            <a:off x="685800" y="1143000"/>
            <a:ext cx="5486400" cy="3086100"/>
          </a:xfrm>
          <a:prstGeom prst="rect">
            <a:avLst/>
          </a:prstGeom>
          <a:ln w="0">
            <a:noFill/>
          </a:ln>
        </p:spPr>
      </p:sp>
      <p:sp>
        <p:nvSpPr>
          <p:cNvPr id="8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848"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4F77049-5CDF-4159-9D46-C989167AE2D8}"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 name="PlaceHolder 1"/>
          <p:cNvSpPr>
            <a:spLocks noGrp="1" noRot="1" noChangeAspect="1"/>
          </p:cNvSpPr>
          <p:nvPr>
            <p:ph type="sldImg"/>
          </p:nvPr>
        </p:nvSpPr>
        <p:spPr>
          <a:xfrm>
            <a:off x="685800" y="1143000"/>
            <a:ext cx="5486400" cy="3086100"/>
          </a:xfrm>
          <a:prstGeom prst="rect">
            <a:avLst/>
          </a:prstGeom>
          <a:ln w="0">
            <a:noFill/>
          </a:ln>
        </p:spPr>
      </p:sp>
      <p:sp>
        <p:nvSpPr>
          <p:cNvPr id="8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851"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C3BD572-B3E7-4009-91B7-BBCA82543436}"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 name="PlaceHolder 1"/>
          <p:cNvSpPr>
            <a:spLocks noGrp="1" noRot="1" noChangeAspect="1"/>
          </p:cNvSpPr>
          <p:nvPr>
            <p:ph type="sldImg"/>
          </p:nvPr>
        </p:nvSpPr>
        <p:spPr>
          <a:xfrm>
            <a:off x="685800" y="1143000"/>
            <a:ext cx="5486400" cy="3086100"/>
          </a:xfrm>
          <a:prstGeom prst="rect">
            <a:avLst/>
          </a:prstGeom>
          <a:ln w="0">
            <a:noFill/>
          </a:ln>
        </p:spPr>
      </p:sp>
      <p:sp>
        <p:nvSpPr>
          <p:cNvPr id="8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854"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834DA21-FE1A-4B6E-A362-694CF1B45353}" type="slidenum">
              <a:rPr lang="en-US" sz="1200" b="0" u="none" strike="noStrike">
                <a:solidFill>
                  <a:schemeClr val="dk1"/>
                </a:solidFill>
                <a:effectLst/>
                <a:uFillTx/>
                <a:latin typeface="+mn-lt"/>
                <a:ea typeface="+mn-ea"/>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5" name="PlaceHolder 1"/>
          <p:cNvSpPr>
            <a:spLocks noGrp="1" noRot="1" noChangeAspect="1"/>
          </p:cNvSpPr>
          <p:nvPr>
            <p:ph type="sldImg"/>
          </p:nvPr>
        </p:nvSpPr>
        <p:spPr>
          <a:xfrm>
            <a:off x="685800" y="1143000"/>
            <a:ext cx="5486400" cy="3086100"/>
          </a:xfrm>
          <a:prstGeom prst="rect">
            <a:avLst/>
          </a:prstGeom>
          <a:ln w="0">
            <a:noFill/>
          </a:ln>
        </p:spPr>
      </p:sp>
      <p:sp>
        <p:nvSpPr>
          <p:cNvPr id="8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857"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2CF2A28-5659-49F4-BA50-595ABFE2C9DD}" type="slidenum">
              <a:rPr lang="en-US" sz="1200" b="0" u="none" strike="noStrike">
                <a:solidFill>
                  <a:schemeClr val="dk1"/>
                </a:solidFill>
                <a:effectLst/>
                <a:uFillTx/>
                <a:latin typeface="+mn-lt"/>
                <a:ea typeface="+mn-ea"/>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 name="PlaceHolder 1"/>
          <p:cNvSpPr>
            <a:spLocks noGrp="1" noRot="1" noChangeAspect="1"/>
          </p:cNvSpPr>
          <p:nvPr>
            <p:ph type="sldImg"/>
          </p:nvPr>
        </p:nvSpPr>
        <p:spPr>
          <a:xfrm>
            <a:off x="685800" y="1143000"/>
            <a:ext cx="5486400" cy="3086100"/>
          </a:xfrm>
          <a:prstGeom prst="rect">
            <a:avLst/>
          </a:prstGeom>
          <a:ln w="0">
            <a:noFill/>
          </a:ln>
        </p:spPr>
      </p:sp>
      <p:sp>
        <p:nvSpPr>
          <p:cNvPr id="8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860"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F75CB36-EC60-4437-90D7-7BA8B08CF1E2}" type="slidenum">
              <a:rPr lang="en-US" sz="1200" b="0" u="none" strike="noStrike">
                <a:solidFill>
                  <a:schemeClr val="dk1"/>
                </a:solidFill>
                <a:effectLst/>
                <a:uFillTx/>
                <a:latin typeface="+mn-lt"/>
                <a:ea typeface="+mn-ea"/>
              </a:rPr>
              <a:t>19</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91834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Aptos"/>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Imagen 40"/>
          <p:cNvPicPr>
            <a:picLocks noChangeAspect="1"/>
          </p:cNvPicPr>
          <p:nvPr/>
        </p:nvPicPr>
        <p:blipFill>
          <a:blip r:embed="rId3"/>
          <a:srcRect t="27" b="27"/>
          <a:stretch>
            <a:fillRect/>
          </a:stretch>
        </p:blipFill>
        <p:spPr>
          <a:xfrm>
            <a:off x="280834" y="0"/>
            <a:ext cx="11911166" cy="6858000"/>
          </a:xfrm>
          <a:prstGeom prst="rect">
            <a:avLst/>
          </a:prstGeom>
        </p:spPr>
      </p:pic>
      <p:sp>
        <p:nvSpPr>
          <p:cNvPr id="2" name="institutional-navy-band">
            <a:extLst>
              <a:ext uri="{FF2B5EF4-FFF2-40B4-BE49-F238E27FC236}">
                <a16:creationId xmlns:a16="http://schemas.microsoft.com/office/drawing/2014/main" id="{3AE6E076-F470-4AFA-B05E-BB577D99A602}"/>
              </a:ext>
            </a:extLst>
          </p:cNvPr>
          <p:cNvSpPr>
            <a:spLocks noGrp="1"/>
          </p:cNvSpPr>
          <p:nvPr/>
        </p:nvSpPr>
        <p:spPr>
          <a:xfrm>
            <a:off x="-47626" y="0"/>
            <a:ext cx="328459" cy="6858000"/>
          </a:xfrm>
          <a:prstGeom prst="rect">
            <a:avLst/>
          </a:prstGeom>
          <a:solidFill>
            <a:srgbClr val="082958"/>
          </a:solidFill>
          <a:ln w="0">
            <a:noFill/>
            <a:prstDash val="solid"/>
          </a:ln>
        </p:spPr>
      </p:sp>
      <p:sp>
        <p:nvSpPr>
          <p:cNvPr id="3" name="institutional-gold-accent">
            <a:extLst>
              <a:ext uri="{FF2B5EF4-FFF2-40B4-BE49-F238E27FC236}">
                <a16:creationId xmlns:a16="http://schemas.microsoft.com/office/drawing/2014/main" id="{511065C0-35AD-4DAE-B610-DF6B7F488372}"/>
              </a:ext>
            </a:extLst>
          </p:cNvPr>
          <p:cNvSpPr>
            <a:spLocks noGrp="1"/>
          </p:cNvSpPr>
          <p:nvPr/>
        </p:nvSpPr>
        <p:spPr>
          <a:xfrm>
            <a:off x="280987" y="47625"/>
            <a:ext cx="28575" cy="6438900"/>
          </a:xfrm>
          <a:prstGeom prst="rect">
            <a:avLst/>
          </a:prstGeom>
          <a:solidFill>
            <a:srgbClr val="C8972C"/>
          </a:solidFill>
          <a:ln w="0">
            <a:noFill/>
            <a:prstDash val="solid"/>
          </a:ln>
        </p:spPr>
      </p:sp>
      <p:sp>
        <p:nvSpPr>
          <p:cNvPr id="4" name="top-rule">
            <a:extLst>
              <a:ext uri="{FF2B5EF4-FFF2-40B4-BE49-F238E27FC236}">
                <a16:creationId xmlns:a16="http://schemas.microsoft.com/office/drawing/2014/main" id="{A402DA1E-9E80-4154-8892-48887862CA94}"/>
              </a:ext>
            </a:extLst>
          </p:cNvPr>
          <p:cNvSpPr>
            <a:spLocks noGrp="1"/>
          </p:cNvSpPr>
          <p:nvPr/>
        </p:nvSpPr>
        <p:spPr>
          <a:xfrm>
            <a:off x="838200" y="1009650"/>
            <a:ext cx="10515600" cy="0"/>
          </a:xfrm>
          <a:prstGeom prst="line">
            <a:avLst/>
          </a:prstGeom>
          <a:noFill/>
          <a:ln w="11430">
            <a:solidFill>
              <a:srgbClr val="DCEBFA"/>
            </a:solidFill>
            <a:prstDash val="solid"/>
          </a:ln>
        </p:spPr>
      </p:sp>
      <p:sp>
        <p:nvSpPr>
          <p:cNvPr id="6" name="institution-name">
            <a:extLst>
              <a:ext uri="{FF2B5EF4-FFF2-40B4-BE49-F238E27FC236}">
                <a16:creationId xmlns:a16="http://schemas.microsoft.com/office/drawing/2014/main" id="{E0E92947-86F7-4A12-A128-7B0159F83BDC}"/>
              </a:ext>
            </a:extLst>
          </p:cNvPr>
          <p:cNvSpPr>
            <a:spLocks noGrp="1"/>
          </p:cNvSpPr>
          <p:nvPr/>
        </p:nvSpPr>
        <p:spPr>
          <a:xfrm>
            <a:off x="3641008" y="892277"/>
            <a:ext cx="5464892" cy="666749"/>
          </a:xfrm>
          <a:prstGeom prst="rect">
            <a:avLst/>
          </a:prstGeom>
          <a:noFill/>
          <a:ln w="0">
            <a:noFill/>
            <a:prstDash val="solid"/>
          </a:ln>
        </p:spPr>
        <p:txBody>
          <a:bodyPr wrap="square" lIns="0" tIns="0" rIns="0" bIns="0" anchor="ctr">
            <a:noAutofit/>
          </a:bodyPr>
          <a:lstStyle/>
          <a:p>
            <a:pPr algn="l">
              <a:buNone/>
              <a:defRPr sz="1650" b="1">
                <a:solidFill>
                  <a:srgbClr val="0B3473"/>
                </a:solidFill>
                <a:latin typeface="Aptos Display"/>
                <a:ea typeface="Aptos Display"/>
                <a:cs typeface="Aptos Display"/>
              </a:defRPr>
            </a:pPr>
            <a:r>
              <a:rPr sz="2500" b="1">
                <a:solidFill>
                  <a:srgbClr val="0B3473"/>
                </a:solidFill>
                <a:latin typeface="Aptos Display"/>
                <a:ea typeface="Aptos Display"/>
                <a:cs typeface="Aptos Display"/>
              </a:rPr>
              <a:t>TECNOLÓGICO NACIONAL DE MÉXICO</a:t>
            </a:r>
          </a:p>
        </p:txBody>
      </p:sp>
      <p:sp>
        <p:nvSpPr>
          <p:cNvPr id="9" name="degree-title">
            <a:extLst>
              <a:ext uri="{FF2B5EF4-FFF2-40B4-BE49-F238E27FC236}">
                <a16:creationId xmlns:a16="http://schemas.microsoft.com/office/drawing/2014/main" id="{897E2AE5-15D9-4AB6-9730-7184F55D8F9A}"/>
              </a:ext>
            </a:extLst>
          </p:cNvPr>
          <p:cNvSpPr>
            <a:spLocks noGrp="1"/>
          </p:cNvSpPr>
          <p:nvPr/>
        </p:nvSpPr>
        <p:spPr>
          <a:xfrm>
            <a:off x="3429000" y="1454252"/>
            <a:ext cx="5524500" cy="742950"/>
          </a:xfrm>
          <a:prstGeom prst="rect">
            <a:avLst/>
          </a:prstGeom>
          <a:noFill/>
          <a:ln w="0">
            <a:noFill/>
            <a:prstDash val="solid"/>
          </a:ln>
        </p:spPr>
        <p:txBody>
          <a:bodyPr wrap="square" lIns="0" tIns="0" rIns="0" bIns="0" anchor="ctr">
            <a:normAutofit/>
          </a:bodyPr>
          <a:lstStyle/>
          <a:p>
            <a:pPr algn="ctr">
              <a:lnSpc>
                <a:spcPct val="92000"/>
              </a:lnSpc>
              <a:buNone/>
              <a:defRPr sz="2325" b="1">
                <a:solidFill>
                  <a:srgbClr val="0B3473"/>
                </a:solidFill>
                <a:latin typeface="Aptos Display"/>
                <a:ea typeface="Aptos Display"/>
                <a:cs typeface="Aptos Display"/>
              </a:defRPr>
            </a:pPr>
            <a:r>
              <a:rPr sz="2000" b="1">
                <a:solidFill>
                  <a:srgbClr val="0B3473"/>
                </a:solidFill>
                <a:latin typeface="Aptos Display"/>
                <a:ea typeface="Aptos Display"/>
                <a:cs typeface="Aptos Display"/>
              </a:rPr>
              <a:t>INGENIERÍA EN</a:t>
            </a:r>
          </a:p>
          <a:p>
            <a:pPr algn="ctr">
              <a:lnSpc>
                <a:spcPct val="92000"/>
              </a:lnSpc>
              <a:buNone/>
              <a:defRPr sz="2325" b="1">
                <a:solidFill>
                  <a:srgbClr val="0B3473"/>
                </a:solidFill>
                <a:latin typeface="Aptos Display"/>
                <a:ea typeface="Aptos Display"/>
                <a:cs typeface="Aptos Display"/>
              </a:defRPr>
            </a:pPr>
            <a:r>
              <a:rPr sz="2000" b="1">
                <a:solidFill>
                  <a:srgbClr val="0B3473"/>
                </a:solidFill>
                <a:latin typeface="Aptos Display"/>
                <a:ea typeface="Aptos Display"/>
                <a:cs typeface="Aptos Display"/>
              </a:rPr>
              <a:t>SISTEMAS COMPUTACIONALES</a:t>
            </a:r>
          </a:p>
        </p:txBody>
      </p:sp>
      <p:sp>
        <p:nvSpPr>
          <p:cNvPr id="10" name="degree-gold-rule-left">
            <a:extLst>
              <a:ext uri="{FF2B5EF4-FFF2-40B4-BE49-F238E27FC236}">
                <a16:creationId xmlns:a16="http://schemas.microsoft.com/office/drawing/2014/main" id="{C8050B62-10E2-4D95-BEEE-6E1978022F99}"/>
              </a:ext>
            </a:extLst>
          </p:cNvPr>
          <p:cNvSpPr>
            <a:spLocks noGrp="1"/>
          </p:cNvSpPr>
          <p:nvPr/>
        </p:nvSpPr>
        <p:spPr>
          <a:xfrm>
            <a:off x="4848225" y="2209800"/>
            <a:ext cx="990600" cy="0"/>
          </a:xfrm>
          <a:prstGeom prst="line">
            <a:avLst/>
          </a:prstGeom>
          <a:noFill/>
          <a:ln w="15240">
            <a:solidFill>
              <a:srgbClr val="C8972C"/>
            </a:solidFill>
            <a:prstDash val="solid"/>
          </a:ln>
        </p:spPr>
      </p:sp>
      <p:sp>
        <p:nvSpPr>
          <p:cNvPr id="11" name="degree-gold-rule-right">
            <a:extLst>
              <a:ext uri="{FF2B5EF4-FFF2-40B4-BE49-F238E27FC236}">
                <a16:creationId xmlns:a16="http://schemas.microsoft.com/office/drawing/2014/main" id="{12397A49-149B-4ECA-A15E-F885934091D1}"/>
              </a:ext>
            </a:extLst>
          </p:cNvPr>
          <p:cNvSpPr>
            <a:spLocks noGrp="1"/>
          </p:cNvSpPr>
          <p:nvPr/>
        </p:nvSpPr>
        <p:spPr>
          <a:xfrm>
            <a:off x="6353175" y="2209800"/>
            <a:ext cx="990600" cy="0"/>
          </a:xfrm>
          <a:prstGeom prst="line">
            <a:avLst/>
          </a:prstGeom>
          <a:noFill/>
          <a:ln w="15240">
            <a:solidFill>
              <a:srgbClr val="C8972C"/>
            </a:solidFill>
            <a:prstDash val="solid"/>
          </a:ln>
        </p:spPr>
      </p:sp>
      <p:sp>
        <p:nvSpPr>
          <p:cNvPr id="13" name="course-title-line-1">
            <a:extLst>
              <a:ext uri="{FF2B5EF4-FFF2-40B4-BE49-F238E27FC236}">
                <a16:creationId xmlns:a16="http://schemas.microsoft.com/office/drawing/2014/main" id="{24A5C187-BE41-45B6-8BF3-A2878D2FD52B}"/>
              </a:ext>
            </a:extLst>
          </p:cNvPr>
          <p:cNvSpPr>
            <a:spLocks noGrp="1"/>
          </p:cNvSpPr>
          <p:nvPr/>
        </p:nvSpPr>
        <p:spPr>
          <a:xfrm>
            <a:off x="2362199" y="2633663"/>
            <a:ext cx="7467600" cy="523875"/>
          </a:xfrm>
          <a:prstGeom prst="rect">
            <a:avLst/>
          </a:prstGeom>
          <a:noFill/>
          <a:ln w="0">
            <a:noFill/>
            <a:prstDash val="solid"/>
          </a:ln>
        </p:spPr>
        <p:txBody>
          <a:bodyPr wrap="square" lIns="0" tIns="0" rIns="0" bIns="0" anchor="ctr">
            <a:normAutofit fontScale="90833" lnSpcReduction="10000"/>
          </a:bodyPr>
          <a:lstStyle/>
          <a:p>
            <a:pPr algn="ctr">
              <a:buNone/>
              <a:defRPr sz="4125" b="1">
                <a:solidFill>
                  <a:srgbClr val="0B3473"/>
                </a:solidFill>
                <a:latin typeface="Aptos Display"/>
                <a:ea typeface="Aptos Display"/>
                <a:cs typeface="Aptos Display"/>
              </a:defRPr>
            </a:pPr>
            <a:r>
              <a:rPr lang="es-MX" sz="4125" b="1" dirty="0">
                <a:solidFill>
                  <a:srgbClr val="0B3473"/>
                </a:solidFill>
                <a:latin typeface="Aptos Display"/>
                <a:ea typeface="Aptos Display"/>
                <a:cs typeface="Aptos Display"/>
              </a:rPr>
              <a:t>GESTION DE PROYECTOS DE TI</a:t>
            </a:r>
            <a:endParaRPr sz="4125" b="1" dirty="0">
              <a:solidFill>
                <a:srgbClr val="0B3473"/>
              </a:solidFill>
              <a:latin typeface="Aptos Display"/>
              <a:ea typeface="Aptos Display"/>
              <a:cs typeface="Aptos Display"/>
            </a:endParaRPr>
          </a:p>
        </p:txBody>
      </p:sp>
      <p:sp>
        <p:nvSpPr>
          <p:cNvPr id="15" name="activity-left-trace-1">
            <a:extLst>
              <a:ext uri="{FF2B5EF4-FFF2-40B4-BE49-F238E27FC236}">
                <a16:creationId xmlns:a16="http://schemas.microsoft.com/office/drawing/2014/main" id="{7D063C37-CCC4-4D1E-800C-E1EC27DFD060}"/>
              </a:ext>
            </a:extLst>
          </p:cNvPr>
          <p:cNvSpPr>
            <a:spLocks noGrp="1"/>
          </p:cNvSpPr>
          <p:nvPr/>
        </p:nvSpPr>
        <p:spPr>
          <a:xfrm>
            <a:off x="2038350" y="3771900"/>
            <a:ext cx="514350" cy="0"/>
          </a:xfrm>
          <a:prstGeom prst="line">
            <a:avLst/>
          </a:prstGeom>
          <a:noFill/>
          <a:ln w="13335">
            <a:solidFill>
              <a:srgbClr val="2862AA"/>
            </a:solidFill>
            <a:prstDash val="solid"/>
          </a:ln>
        </p:spPr>
      </p:sp>
      <p:sp>
        <p:nvSpPr>
          <p:cNvPr id="16" name="activity-left-trace-2">
            <a:extLst>
              <a:ext uri="{FF2B5EF4-FFF2-40B4-BE49-F238E27FC236}">
                <a16:creationId xmlns:a16="http://schemas.microsoft.com/office/drawing/2014/main" id="{3CFD8881-ED44-45BD-9DF0-783461E898DA}"/>
              </a:ext>
            </a:extLst>
          </p:cNvPr>
          <p:cNvSpPr>
            <a:spLocks noGrp="1"/>
          </p:cNvSpPr>
          <p:nvPr/>
        </p:nvSpPr>
        <p:spPr>
          <a:xfrm>
            <a:off x="2552700" y="3676650"/>
            <a:ext cx="0" cy="95250"/>
          </a:xfrm>
          <a:prstGeom prst="line">
            <a:avLst/>
          </a:prstGeom>
          <a:noFill/>
          <a:ln w="13335">
            <a:solidFill>
              <a:srgbClr val="2862AA"/>
            </a:solidFill>
            <a:prstDash val="solid"/>
          </a:ln>
        </p:spPr>
      </p:sp>
      <p:sp>
        <p:nvSpPr>
          <p:cNvPr id="17" name="activity-left-trace-3">
            <a:extLst>
              <a:ext uri="{FF2B5EF4-FFF2-40B4-BE49-F238E27FC236}">
                <a16:creationId xmlns:a16="http://schemas.microsoft.com/office/drawing/2014/main" id="{40CE4708-D5C7-40D2-BE07-C709D6A81A4E}"/>
              </a:ext>
            </a:extLst>
          </p:cNvPr>
          <p:cNvSpPr>
            <a:spLocks noGrp="1"/>
          </p:cNvSpPr>
          <p:nvPr/>
        </p:nvSpPr>
        <p:spPr>
          <a:xfrm>
            <a:off x="2552700" y="3676650"/>
            <a:ext cx="514350" cy="0"/>
          </a:xfrm>
          <a:prstGeom prst="line">
            <a:avLst/>
          </a:prstGeom>
          <a:noFill/>
          <a:ln w="13335">
            <a:solidFill>
              <a:srgbClr val="2862AA"/>
            </a:solidFill>
            <a:prstDash val="solid"/>
          </a:ln>
        </p:spPr>
      </p:sp>
      <p:sp>
        <p:nvSpPr>
          <p:cNvPr id="18" name="activity-left-node">
            <a:extLst>
              <a:ext uri="{FF2B5EF4-FFF2-40B4-BE49-F238E27FC236}">
                <a16:creationId xmlns:a16="http://schemas.microsoft.com/office/drawing/2014/main" id="{61DC4950-E910-4AA5-840B-B61E8D5D8C11}"/>
              </a:ext>
            </a:extLst>
          </p:cNvPr>
          <p:cNvSpPr>
            <a:spLocks noGrp="1"/>
          </p:cNvSpPr>
          <p:nvPr/>
        </p:nvSpPr>
        <p:spPr>
          <a:xfrm>
            <a:off x="3086100" y="3638550"/>
            <a:ext cx="85725" cy="85725"/>
          </a:xfrm>
          <a:prstGeom prst="ellipse">
            <a:avLst/>
          </a:prstGeom>
          <a:solidFill>
            <a:srgbClr val="FFFFFF"/>
          </a:solidFill>
          <a:ln w="14288">
            <a:solidFill>
              <a:srgbClr val="C8972C"/>
            </a:solidFill>
            <a:prstDash val="solid"/>
          </a:ln>
        </p:spPr>
      </p:sp>
      <p:sp>
        <p:nvSpPr>
          <p:cNvPr id="19" name="activity-right-node">
            <a:extLst>
              <a:ext uri="{FF2B5EF4-FFF2-40B4-BE49-F238E27FC236}">
                <a16:creationId xmlns:a16="http://schemas.microsoft.com/office/drawing/2014/main" id="{825A2979-FD3A-4780-A5BF-2B891AF31213}"/>
              </a:ext>
            </a:extLst>
          </p:cNvPr>
          <p:cNvSpPr>
            <a:spLocks noGrp="1"/>
          </p:cNvSpPr>
          <p:nvPr/>
        </p:nvSpPr>
        <p:spPr>
          <a:xfrm>
            <a:off x="9020175" y="3638550"/>
            <a:ext cx="85725" cy="85725"/>
          </a:xfrm>
          <a:prstGeom prst="ellipse">
            <a:avLst/>
          </a:prstGeom>
          <a:solidFill>
            <a:srgbClr val="FFFFFF"/>
          </a:solidFill>
          <a:ln w="14288">
            <a:solidFill>
              <a:srgbClr val="C8972C"/>
            </a:solidFill>
            <a:prstDash val="solid"/>
          </a:ln>
        </p:spPr>
      </p:sp>
      <p:sp>
        <p:nvSpPr>
          <p:cNvPr id="20" name="activity-right-trace-1">
            <a:extLst>
              <a:ext uri="{FF2B5EF4-FFF2-40B4-BE49-F238E27FC236}">
                <a16:creationId xmlns:a16="http://schemas.microsoft.com/office/drawing/2014/main" id="{38B16BE7-5C8D-4EAB-B2EE-18E787DD60AA}"/>
              </a:ext>
            </a:extLst>
          </p:cNvPr>
          <p:cNvSpPr>
            <a:spLocks noGrp="1"/>
          </p:cNvSpPr>
          <p:nvPr/>
        </p:nvSpPr>
        <p:spPr>
          <a:xfrm>
            <a:off x="9105900" y="3676650"/>
            <a:ext cx="514350" cy="0"/>
          </a:xfrm>
          <a:prstGeom prst="line">
            <a:avLst/>
          </a:prstGeom>
          <a:noFill/>
          <a:ln w="13335">
            <a:solidFill>
              <a:srgbClr val="2862AA"/>
            </a:solidFill>
            <a:prstDash val="solid"/>
          </a:ln>
        </p:spPr>
      </p:sp>
      <p:sp>
        <p:nvSpPr>
          <p:cNvPr id="21" name="activity-right-trace-2">
            <a:extLst>
              <a:ext uri="{FF2B5EF4-FFF2-40B4-BE49-F238E27FC236}">
                <a16:creationId xmlns:a16="http://schemas.microsoft.com/office/drawing/2014/main" id="{B0073C7F-4C58-47DE-BB0A-AFC31EDFE384}"/>
              </a:ext>
            </a:extLst>
          </p:cNvPr>
          <p:cNvSpPr>
            <a:spLocks noGrp="1"/>
          </p:cNvSpPr>
          <p:nvPr/>
        </p:nvSpPr>
        <p:spPr>
          <a:xfrm>
            <a:off x="9620250" y="3676650"/>
            <a:ext cx="0" cy="95250"/>
          </a:xfrm>
          <a:prstGeom prst="line">
            <a:avLst/>
          </a:prstGeom>
          <a:noFill/>
          <a:ln w="13335">
            <a:solidFill>
              <a:srgbClr val="2862AA"/>
            </a:solidFill>
            <a:prstDash val="solid"/>
          </a:ln>
        </p:spPr>
      </p:sp>
      <p:sp>
        <p:nvSpPr>
          <p:cNvPr id="22" name="activity-right-trace-3">
            <a:extLst>
              <a:ext uri="{FF2B5EF4-FFF2-40B4-BE49-F238E27FC236}">
                <a16:creationId xmlns:a16="http://schemas.microsoft.com/office/drawing/2014/main" id="{0A4D59B6-4962-4FEF-A21B-2AF53EF32F99}"/>
              </a:ext>
            </a:extLst>
          </p:cNvPr>
          <p:cNvSpPr>
            <a:spLocks noGrp="1"/>
          </p:cNvSpPr>
          <p:nvPr/>
        </p:nvSpPr>
        <p:spPr>
          <a:xfrm>
            <a:off x="9620250" y="3771900"/>
            <a:ext cx="514350" cy="0"/>
          </a:xfrm>
          <a:prstGeom prst="line">
            <a:avLst/>
          </a:prstGeom>
          <a:noFill/>
          <a:ln w="13335">
            <a:solidFill>
              <a:srgbClr val="2862AA"/>
            </a:solidFill>
            <a:prstDash val="solid"/>
          </a:ln>
        </p:spPr>
      </p:sp>
      <p:sp>
        <p:nvSpPr>
          <p:cNvPr id="23" name="activity-title">
            <a:extLst>
              <a:ext uri="{FF2B5EF4-FFF2-40B4-BE49-F238E27FC236}">
                <a16:creationId xmlns:a16="http://schemas.microsoft.com/office/drawing/2014/main" id="{F746EC2E-9743-49CF-891C-11DBE19DF422}"/>
              </a:ext>
            </a:extLst>
          </p:cNvPr>
          <p:cNvSpPr>
            <a:spLocks noGrp="1"/>
          </p:cNvSpPr>
          <p:nvPr/>
        </p:nvSpPr>
        <p:spPr>
          <a:xfrm>
            <a:off x="3238500" y="3581400"/>
            <a:ext cx="5715000" cy="381000"/>
          </a:xfrm>
          <a:prstGeom prst="rect">
            <a:avLst/>
          </a:prstGeom>
          <a:noFill/>
          <a:ln w="0">
            <a:noFill/>
            <a:prstDash val="solid"/>
          </a:ln>
        </p:spPr>
        <p:txBody>
          <a:bodyPr wrap="square" lIns="0" tIns="0" rIns="0" bIns="0" anchor="ctr">
            <a:normAutofit fontScale="99498"/>
          </a:bodyPr>
          <a:lstStyle/>
          <a:p>
            <a:pPr algn="ctr">
              <a:buNone/>
              <a:defRPr sz="1875" b="1">
                <a:solidFill>
                  <a:srgbClr val="2862AA"/>
                </a:solidFill>
                <a:latin typeface="Aptos Display"/>
                <a:ea typeface="Aptos Display"/>
                <a:cs typeface="Aptos Display"/>
              </a:defRPr>
            </a:pPr>
            <a:r>
              <a:rPr sz="1875" b="1" dirty="0">
                <a:solidFill>
                  <a:srgbClr val="2862AA"/>
                </a:solidFill>
                <a:latin typeface="Aptos Display"/>
                <a:ea typeface="Aptos Display"/>
                <a:cs typeface="Aptos Display"/>
              </a:rPr>
              <a:t>ACTIVIDAD </a:t>
            </a:r>
            <a:r>
              <a:rPr lang="es-MX" sz="1875" b="1" dirty="0">
                <a:solidFill>
                  <a:srgbClr val="2862AA"/>
                </a:solidFill>
                <a:latin typeface="Aptos Display"/>
                <a:ea typeface="Aptos Display"/>
                <a:cs typeface="Aptos Display"/>
              </a:rPr>
              <a:t>3</a:t>
            </a:r>
            <a:r>
              <a:rPr sz="1875" b="1" dirty="0">
                <a:solidFill>
                  <a:srgbClr val="2862AA"/>
                </a:solidFill>
                <a:latin typeface="Aptos Display"/>
                <a:ea typeface="Aptos Display"/>
                <a:cs typeface="Aptos Display"/>
              </a:rPr>
              <a:t>.</a:t>
            </a:r>
            <a:r>
              <a:rPr lang="es-MX" sz="1875" b="1" dirty="0">
                <a:solidFill>
                  <a:srgbClr val="2862AA"/>
                </a:solidFill>
                <a:latin typeface="Aptos Display"/>
                <a:ea typeface="Aptos Display"/>
                <a:cs typeface="Aptos Display"/>
              </a:rPr>
              <a:t>3</a:t>
            </a:r>
            <a:r>
              <a:rPr sz="1875" b="1" dirty="0">
                <a:solidFill>
                  <a:srgbClr val="2862AA"/>
                </a:solidFill>
                <a:latin typeface="Aptos Display"/>
                <a:ea typeface="Aptos Display"/>
                <a:cs typeface="Aptos Display"/>
              </a:rPr>
              <a:t> — </a:t>
            </a:r>
            <a:r>
              <a:rPr lang="es-MX" b="0" i="0" dirty="0">
                <a:solidFill>
                  <a:srgbClr val="212529"/>
                </a:solidFill>
                <a:latin typeface="-apple-system"/>
                <a:ea typeface="-apple-system"/>
                <a:cs typeface="-apple-system"/>
              </a:rPr>
              <a:t>BANCO DE EJERCICIO</a:t>
            </a:r>
            <a:endParaRPr b="0" i="0" dirty="0">
              <a:solidFill>
                <a:srgbClr val="212529"/>
              </a:solidFill>
              <a:latin typeface="-apple-system"/>
              <a:ea typeface="-apple-system"/>
              <a:cs typeface="-apple-system"/>
            </a:endParaRPr>
          </a:p>
          <a:p>
            <a:pPr algn="ctr">
              <a:buNone/>
              <a:defRPr sz="1875" b="1">
                <a:solidFill>
                  <a:srgbClr val="2862AA"/>
                </a:solidFill>
                <a:latin typeface="Aptos Display"/>
                <a:ea typeface="Aptos Display"/>
                <a:cs typeface="Aptos Display"/>
              </a:defRPr>
            </a:pPr>
            <a:endParaRPr sz="1875" b="1" dirty="0">
              <a:solidFill>
                <a:srgbClr val="2862AA"/>
              </a:solidFill>
              <a:latin typeface="Aptos Display"/>
              <a:ea typeface="Aptos Display"/>
              <a:cs typeface="Aptos Display"/>
            </a:endParaRPr>
          </a:p>
        </p:txBody>
      </p:sp>
      <p:sp>
        <p:nvSpPr>
          <p:cNvPr id="24" name="students-heading">
            <a:extLst>
              <a:ext uri="{FF2B5EF4-FFF2-40B4-BE49-F238E27FC236}">
                <a16:creationId xmlns:a16="http://schemas.microsoft.com/office/drawing/2014/main" id="{B3090DA1-DD45-4D5A-810A-68C80D1D5495}"/>
              </a:ext>
            </a:extLst>
          </p:cNvPr>
          <p:cNvSpPr>
            <a:spLocks noGrp="1"/>
          </p:cNvSpPr>
          <p:nvPr/>
        </p:nvSpPr>
        <p:spPr>
          <a:xfrm>
            <a:off x="2857500" y="4143375"/>
            <a:ext cx="4667250" cy="219075"/>
          </a:xfrm>
          <a:prstGeom prst="rect">
            <a:avLst/>
          </a:prstGeom>
          <a:noFill/>
          <a:ln w="0">
            <a:noFill/>
            <a:prstDash val="solid"/>
          </a:ln>
        </p:spPr>
        <p:txBody>
          <a:bodyPr wrap="square" lIns="0" tIns="0" rIns="0" bIns="0" anchor="ctr">
            <a:normAutofit/>
          </a:bodyPr>
          <a:lstStyle/>
          <a:p>
            <a:pPr algn="l">
              <a:buNone/>
              <a:defRPr sz="1275" b="1">
                <a:solidFill>
                  <a:srgbClr val="0B3473"/>
                </a:solidFill>
                <a:latin typeface="Aptos Display"/>
                <a:ea typeface="Aptos Display"/>
                <a:cs typeface="Aptos Display"/>
              </a:defRPr>
            </a:pPr>
            <a:r>
              <a:rPr sz="1275" b="1">
                <a:solidFill>
                  <a:srgbClr val="0B3473"/>
                </a:solidFill>
                <a:latin typeface="Aptos Display"/>
                <a:ea typeface="Aptos Display"/>
                <a:cs typeface="Aptos Display"/>
              </a:rPr>
              <a:t>PRESENTA</a:t>
            </a:r>
          </a:p>
        </p:txBody>
      </p:sp>
      <p:sp>
        <p:nvSpPr>
          <p:cNvPr id="25" name="enrollment-heading">
            <a:extLst>
              <a:ext uri="{FF2B5EF4-FFF2-40B4-BE49-F238E27FC236}">
                <a16:creationId xmlns:a16="http://schemas.microsoft.com/office/drawing/2014/main" id="{8497282D-0F32-46CC-9BD6-A908719C1476}"/>
              </a:ext>
            </a:extLst>
          </p:cNvPr>
          <p:cNvSpPr>
            <a:spLocks noGrp="1"/>
          </p:cNvSpPr>
          <p:nvPr/>
        </p:nvSpPr>
        <p:spPr>
          <a:xfrm>
            <a:off x="7715250" y="4143375"/>
            <a:ext cx="1619250" cy="219075"/>
          </a:xfrm>
          <a:prstGeom prst="rect">
            <a:avLst/>
          </a:prstGeom>
          <a:noFill/>
          <a:ln w="0">
            <a:noFill/>
            <a:prstDash val="solid"/>
          </a:ln>
        </p:spPr>
        <p:txBody>
          <a:bodyPr wrap="square" lIns="0" tIns="0" rIns="0" bIns="0" anchor="ctr">
            <a:normAutofit/>
          </a:bodyPr>
          <a:lstStyle/>
          <a:p>
            <a:pPr algn="r">
              <a:buNone/>
              <a:defRPr sz="1275" b="1">
                <a:solidFill>
                  <a:srgbClr val="0B3473"/>
                </a:solidFill>
                <a:latin typeface="Aptos Display"/>
                <a:ea typeface="Aptos Display"/>
                <a:cs typeface="Aptos Display"/>
              </a:defRPr>
            </a:pPr>
            <a:r>
              <a:rPr sz="1275" b="1">
                <a:solidFill>
                  <a:srgbClr val="0B3473"/>
                </a:solidFill>
                <a:latin typeface="Aptos Display"/>
                <a:ea typeface="Aptos Display"/>
                <a:cs typeface="Aptos Display"/>
              </a:rPr>
              <a:t>MATRÍCULA</a:t>
            </a:r>
          </a:p>
        </p:txBody>
      </p:sp>
      <p:sp>
        <p:nvSpPr>
          <p:cNvPr id="26" name="students-top-rule">
            <a:extLst>
              <a:ext uri="{FF2B5EF4-FFF2-40B4-BE49-F238E27FC236}">
                <a16:creationId xmlns:a16="http://schemas.microsoft.com/office/drawing/2014/main" id="{A7922C15-D34B-4B95-9915-A3A8D77C7F79}"/>
              </a:ext>
            </a:extLst>
          </p:cNvPr>
          <p:cNvSpPr>
            <a:spLocks noGrp="1"/>
          </p:cNvSpPr>
          <p:nvPr/>
        </p:nvSpPr>
        <p:spPr>
          <a:xfrm>
            <a:off x="2857500" y="4381500"/>
            <a:ext cx="6477000" cy="0"/>
          </a:xfrm>
          <a:prstGeom prst="line">
            <a:avLst/>
          </a:prstGeom>
          <a:noFill/>
          <a:ln w="14288">
            <a:solidFill>
              <a:srgbClr val="0B3473"/>
            </a:solidFill>
            <a:prstDash val="solid"/>
          </a:ln>
        </p:spPr>
      </p:sp>
      <p:sp>
        <p:nvSpPr>
          <p:cNvPr id="28" name="students-row-divider">
            <a:extLst>
              <a:ext uri="{FF2B5EF4-FFF2-40B4-BE49-F238E27FC236}">
                <a16:creationId xmlns:a16="http://schemas.microsoft.com/office/drawing/2014/main" id="{0EBB92DB-59C3-4BDC-99A0-F2F4D93B78A4}"/>
              </a:ext>
            </a:extLst>
          </p:cNvPr>
          <p:cNvSpPr>
            <a:spLocks noGrp="1"/>
          </p:cNvSpPr>
          <p:nvPr/>
        </p:nvSpPr>
        <p:spPr>
          <a:xfrm>
            <a:off x="2857500" y="4800600"/>
            <a:ext cx="6477000" cy="0"/>
          </a:xfrm>
          <a:prstGeom prst="line">
            <a:avLst/>
          </a:prstGeom>
          <a:noFill/>
          <a:ln w="9525">
            <a:solidFill>
              <a:srgbClr val="DCEBFA"/>
            </a:solidFill>
            <a:prstDash val="solid"/>
          </a:ln>
        </p:spPr>
      </p:sp>
      <p:sp>
        <p:nvSpPr>
          <p:cNvPr id="29" name="students-column-divider">
            <a:extLst>
              <a:ext uri="{FF2B5EF4-FFF2-40B4-BE49-F238E27FC236}">
                <a16:creationId xmlns:a16="http://schemas.microsoft.com/office/drawing/2014/main" id="{D19BD447-A808-4FDA-A54C-331FE02FEA74}"/>
              </a:ext>
            </a:extLst>
          </p:cNvPr>
          <p:cNvSpPr>
            <a:spLocks noGrp="1"/>
          </p:cNvSpPr>
          <p:nvPr/>
        </p:nvSpPr>
        <p:spPr>
          <a:xfrm>
            <a:off x="7639050" y="4476750"/>
            <a:ext cx="0" cy="647700"/>
          </a:xfrm>
          <a:prstGeom prst="line">
            <a:avLst/>
          </a:prstGeom>
          <a:noFill/>
          <a:ln w="9525">
            <a:solidFill>
              <a:srgbClr val="9DB9DB"/>
            </a:solidFill>
            <a:prstDash val="solid"/>
          </a:ln>
        </p:spPr>
      </p:sp>
      <p:sp>
        <p:nvSpPr>
          <p:cNvPr id="30" name="student-row-one-marker">
            <a:extLst>
              <a:ext uri="{FF2B5EF4-FFF2-40B4-BE49-F238E27FC236}">
                <a16:creationId xmlns:a16="http://schemas.microsoft.com/office/drawing/2014/main" id="{4F497FA1-C313-4F3D-9493-840BF4D89598}"/>
              </a:ext>
            </a:extLst>
          </p:cNvPr>
          <p:cNvSpPr>
            <a:spLocks noGrp="1"/>
          </p:cNvSpPr>
          <p:nvPr/>
        </p:nvSpPr>
        <p:spPr>
          <a:xfrm>
            <a:off x="2876550" y="4486275"/>
            <a:ext cx="38100" cy="209550"/>
          </a:xfrm>
          <a:prstGeom prst="rect">
            <a:avLst/>
          </a:prstGeom>
          <a:solidFill>
            <a:srgbClr val="C8972C"/>
          </a:solidFill>
          <a:ln w="0">
            <a:noFill/>
            <a:prstDash val="solid"/>
          </a:ln>
        </p:spPr>
      </p:sp>
      <p:sp>
        <p:nvSpPr>
          <p:cNvPr id="34" name="student-two-name">
            <a:extLst>
              <a:ext uri="{FF2B5EF4-FFF2-40B4-BE49-F238E27FC236}">
                <a16:creationId xmlns:a16="http://schemas.microsoft.com/office/drawing/2014/main" id="{3EF7C761-CF7A-4E70-9E2B-16269734FC91}"/>
              </a:ext>
            </a:extLst>
          </p:cNvPr>
          <p:cNvSpPr>
            <a:spLocks noGrp="1"/>
          </p:cNvSpPr>
          <p:nvPr/>
        </p:nvSpPr>
        <p:spPr>
          <a:xfrm>
            <a:off x="3056554" y="4467225"/>
            <a:ext cx="4333875" cy="266700"/>
          </a:xfrm>
          <a:prstGeom prst="rect">
            <a:avLst/>
          </a:prstGeom>
          <a:noFill/>
          <a:ln w="0">
            <a:noFill/>
            <a:prstDash val="solid"/>
          </a:ln>
        </p:spPr>
        <p:txBody>
          <a:bodyPr wrap="square" lIns="0" tIns="0" rIns="0" bIns="0" anchor="ctr">
            <a:normAutofit/>
          </a:bodyPr>
          <a:lstStyle/>
          <a:p>
            <a:pPr algn="l">
              <a:buNone/>
              <a:defRPr sz="1500" b="0">
                <a:solidFill>
                  <a:srgbClr val="102B5C"/>
                </a:solidFill>
                <a:latin typeface="Aptos"/>
                <a:ea typeface="Aptos"/>
                <a:cs typeface="Aptos"/>
              </a:defRPr>
            </a:pPr>
            <a:r>
              <a:rPr sz="1500" b="0">
                <a:solidFill>
                  <a:srgbClr val="102B5C"/>
                </a:solidFill>
                <a:latin typeface="Aptos"/>
                <a:ea typeface="Aptos"/>
                <a:cs typeface="Aptos"/>
              </a:rPr>
              <a:t>Amaury Jahaziel Gordillo Hernández</a:t>
            </a:r>
          </a:p>
        </p:txBody>
      </p:sp>
      <p:sp>
        <p:nvSpPr>
          <p:cNvPr id="35" name="student-two-id">
            <a:extLst>
              <a:ext uri="{FF2B5EF4-FFF2-40B4-BE49-F238E27FC236}">
                <a16:creationId xmlns:a16="http://schemas.microsoft.com/office/drawing/2014/main" id="{05E44B11-B863-4ECE-A2F6-C9964031DF71}"/>
              </a:ext>
            </a:extLst>
          </p:cNvPr>
          <p:cNvSpPr>
            <a:spLocks noGrp="1"/>
          </p:cNvSpPr>
          <p:nvPr/>
        </p:nvSpPr>
        <p:spPr>
          <a:xfrm>
            <a:off x="7791450" y="4438649"/>
            <a:ext cx="1524000" cy="266700"/>
          </a:xfrm>
          <a:prstGeom prst="rect">
            <a:avLst/>
          </a:prstGeom>
          <a:noFill/>
          <a:ln w="0">
            <a:noFill/>
            <a:prstDash val="solid"/>
          </a:ln>
        </p:spPr>
        <p:txBody>
          <a:bodyPr wrap="square" lIns="0" tIns="0" rIns="0" bIns="0" anchor="ctr">
            <a:normAutofit/>
          </a:bodyPr>
          <a:lstStyle/>
          <a:p>
            <a:pPr algn="r">
              <a:buNone/>
              <a:defRPr sz="1425" b="0">
                <a:solidFill>
                  <a:srgbClr val="102B5C"/>
                </a:solidFill>
                <a:latin typeface="Aptos"/>
                <a:ea typeface="Aptos"/>
                <a:cs typeface="Aptos"/>
              </a:defRPr>
            </a:pPr>
            <a:r>
              <a:rPr sz="1425" b="0">
                <a:solidFill>
                  <a:srgbClr val="102B5C"/>
                </a:solidFill>
                <a:latin typeface="Aptos"/>
                <a:ea typeface="Aptos"/>
                <a:cs typeface="Aptos"/>
              </a:rPr>
              <a:t>231260074</a:t>
            </a:r>
          </a:p>
        </p:txBody>
      </p:sp>
      <p:sp>
        <p:nvSpPr>
          <p:cNvPr id="36" name="teacher-heading">
            <a:extLst>
              <a:ext uri="{FF2B5EF4-FFF2-40B4-BE49-F238E27FC236}">
                <a16:creationId xmlns:a16="http://schemas.microsoft.com/office/drawing/2014/main" id="{F388D88D-A3F7-4DA5-9D23-808A58C08C1E}"/>
              </a:ext>
            </a:extLst>
          </p:cNvPr>
          <p:cNvSpPr>
            <a:spLocks noGrp="1"/>
          </p:cNvSpPr>
          <p:nvPr/>
        </p:nvSpPr>
        <p:spPr>
          <a:xfrm>
            <a:off x="4191000" y="5467350"/>
            <a:ext cx="3810000" cy="219075"/>
          </a:xfrm>
          <a:prstGeom prst="rect">
            <a:avLst/>
          </a:prstGeom>
          <a:noFill/>
          <a:ln w="0">
            <a:noFill/>
            <a:prstDash val="solid"/>
          </a:ln>
        </p:spPr>
        <p:txBody>
          <a:bodyPr wrap="square" lIns="0" tIns="0" rIns="0" bIns="0" anchor="ctr">
            <a:normAutofit/>
          </a:bodyPr>
          <a:lstStyle/>
          <a:p>
            <a:pPr algn="ctr">
              <a:buNone/>
              <a:defRPr sz="1275" b="1">
                <a:solidFill>
                  <a:srgbClr val="55739E"/>
                </a:solidFill>
                <a:latin typeface="Aptos Display"/>
                <a:ea typeface="Aptos Display"/>
                <a:cs typeface="Aptos Display"/>
              </a:defRPr>
            </a:pPr>
            <a:r>
              <a:rPr sz="1275" b="1">
                <a:solidFill>
                  <a:srgbClr val="55739E"/>
                </a:solidFill>
                <a:latin typeface="Aptos Display"/>
                <a:ea typeface="Aptos Display"/>
                <a:cs typeface="Aptos Display"/>
              </a:rPr>
              <a:t>DOCENTE</a:t>
            </a:r>
          </a:p>
        </p:txBody>
      </p:sp>
      <p:sp>
        <p:nvSpPr>
          <p:cNvPr id="37" name="teacher-name">
            <a:extLst>
              <a:ext uri="{FF2B5EF4-FFF2-40B4-BE49-F238E27FC236}">
                <a16:creationId xmlns:a16="http://schemas.microsoft.com/office/drawing/2014/main" id="{AA678B21-6A90-4BCE-8092-FF0E0979DE5C}"/>
              </a:ext>
            </a:extLst>
          </p:cNvPr>
          <p:cNvSpPr>
            <a:spLocks noGrp="1"/>
          </p:cNvSpPr>
          <p:nvPr/>
        </p:nvSpPr>
        <p:spPr>
          <a:xfrm>
            <a:off x="2857500" y="5705475"/>
            <a:ext cx="6477000" cy="295275"/>
          </a:xfrm>
          <a:prstGeom prst="rect">
            <a:avLst/>
          </a:prstGeom>
          <a:noFill/>
          <a:ln w="0">
            <a:noFill/>
            <a:prstDash val="solid"/>
          </a:ln>
        </p:spPr>
        <p:txBody>
          <a:bodyPr wrap="square" lIns="0" tIns="0" rIns="0" bIns="0" anchor="ctr">
            <a:normAutofit/>
          </a:bodyPr>
          <a:lstStyle/>
          <a:p>
            <a:pPr algn="ctr">
              <a:buNone/>
            </a:pPr>
            <a:r>
              <a:rPr sz="1800" b="1">
                <a:latin typeface="Aptos Display"/>
                <a:ea typeface="Aptos Display"/>
                <a:cs typeface="Aptos Display"/>
              </a:rPr>
              <a:t>ING. FRANCISCO JAVIER MINGO VELAZQUEZ</a:t>
            </a:r>
            <a:endParaRPr sz="1800">
              <a:latin typeface="Arial"/>
              <a:ea typeface="Arial"/>
              <a:cs typeface="Arial"/>
            </a:endParaRPr>
          </a:p>
        </p:txBody>
      </p:sp>
      <p:sp>
        <p:nvSpPr>
          <p:cNvPr id="38" name="footer-rule">
            <a:extLst>
              <a:ext uri="{FF2B5EF4-FFF2-40B4-BE49-F238E27FC236}">
                <a16:creationId xmlns:a16="http://schemas.microsoft.com/office/drawing/2014/main" id="{7C40688F-E9E3-4093-9368-ADED90666EB5}"/>
              </a:ext>
            </a:extLst>
          </p:cNvPr>
          <p:cNvSpPr>
            <a:spLocks noGrp="1"/>
          </p:cNvSpPr>
          <p:nvPr/>
        </p:nvSpPr>
        <p:spPr>
          <a:xfrm>
            <a:off x="1943100" y="6191250"/>
            <a:ext cx="8305800" cy="0"/>
          </a:xfrm>
          <a:prstGeom prst="line">
            <a:avLst/>
          </a:prstGeom>
          <a:noFill/>
          <a:ln w="11430">
            <a:solidFill>
              <a:srgbClr val="9DB9DB"/>
            </a:solidFill>
            <a:prstDash val="solid"/>
          </a:ln>
        </p:spPr>
      </p:sp>
      <p:sp>
        <p:nvSpPr>
          <p:cNvPr id="39" name="footer-rule-accent">
            <a:extLst>
              <a:ext uri="{FF2B5EF4-FFF2-40B4-BE49-F238E27FC236}">
                <a16:creationId xmlns:a16="http://schemas.microsoft.com/office/drawing/2014/main" id="{AA9604F1-D818-4EDE-AFC0-507B4EE53347}"/>
              </a:ext>
            </a:extLst>
          </p:cNvPr>
          <p:cNvSpPr>
            <a:spLocks noGrp="1"/>
          </p:cNvSpPr>
          <p:nvPr/>
        </p:nvSpPr>
        <p:spPr>
          <a:xfrm>
            <a:off x="5829300" y="6172200"/>
            <a:ext cx="533400" cy="38100"/>
          </a:xfrm>
          <a:prstGeom prst="rect">
            <a:avLst/>
          </a:prstGeom>
          <a:solidFill>
            <a:srgbClr val="C8972C"/>
          </a:solidFill>
          <a:ln w="0">
            <a:noFill/>
            <a:prstDash val="solid"/>
          </a:ln>
        </p:spPr>
      </p:sp>
      <p:sp>
        <p:nvSpPr>
          <p:cNvPr id="40" name="date-location">
            <a:extLst>
              <a:ext uri="{FF2B5EF4-FFF2-40B4-BE49-F238E27FC236}">
                <a16:creationId xmlns:a16="http://schemas.microsoft.com/office/drawing/2014/main" id="{8EF49A72-4459-4AD1-9919-B580F4EB3D0A}"/>
              </a:ext>
            </a:extLst>
          </p:cNvPr>
          <p:cNvSpPr>
            <a:spLocks noGrp="1"/>
          </p:cNvSpPr>
          <p:nvPr/>
        </p:nvSpPr>
        <p:spPr>
          <a:xfrm>
            <a:off x="2476500" y="6372225"/>
            <a:ext cx="7239000" cy="228600"/>
          </a:xfrm>
          <a:prstGeom prst="rect">
            <a:avLst/>
          </a:prstGeom>
          <a:noFill/>
          <a:ln w="0">
            <a:noFill/>
            <a:prstDash val="solid"/>
          </a:ln>
        </p:spPr>
        <p:txBody>
          <a:bodyPr wrap="square" lIns="0" tIns="0" rIns="0" bIns="0" anchor="ctr">
            <a:normAutofit/>
          </a:bodyPr>
          <a:lstStyle/>
          <a:p>
            <a:pPr algn="ctr">
              <a:buNone/>
              <a:defRPr sz="1350" b="0">
                <a:solidFill>
                  <a:srgbClr val="0B3473"/>
                </a:solidFill>
                <a:latin typeface="Aptos"/>
                <a:ea typeface="Aptos"/>
                <a:cs typeface="Aptos"/>
              </a:defRPr>
            </a:pPr>
            <a:r>
              <a:rPr lang="es-MX" sz="1350" dirty="0">
                <a:solidFill>
                  <a:srgbClr val="0B3473"/>
                </a:solidFill>
                <a:latin typeface="Aptos"/>
                <a:ea typeface="Aptos"/>
                <a:cs typeface="Aptos"/>
              </a:rPr>
              <a:t>06 DE SEPTIEMBRE </a:t>
            </a:r>
            <a:r>
              <a:rPr sz="1350" b="0" dirty="0">
                <a:solidFill>
                  <a:srgbClr val="0B3473"/>
                </a:solidFill>
                <a:latin typeface="Aptos"/>
                <a:ea typeface="Aptos"/>
                <a:cs typeface="Aptos"/>
              </a:rPr>
              <a:t>DE 2026  ·  VENUSTIANO CARRANZA, CHIAPAS</a:t>
            </a:r>
          </a:p>
        </p:txBody>
      </p:sp>
      <p:pic>
        <p:nvPicPr>
          <p:cNvPr id="75" name="Imagen 41"/>
          <p:cNvPicPr>
            <a:picLocks noChangeAspect="1"/>
          </p:cNvPicPr>
          <p:nvPr/>
        </p:nvPicPr>
        <p:blipFill>
          <a:blip r:embed="rId4"/>
          <a:srcRect/>
          <a:stretch>
            <a:fillRect/>
          </a:stretch>
        </p:blipFill>
        <p:spPr>
          <a:xfrm>
            <a:off x="501576" y="128441"/>
            <a:ext cx="1834529" cy="809723"/>
          </a:xfrm>
          <a:prstGeom prst="rect">
            <a:avLst/>
          </a:prstGeom>
          <a:ln>
            <a:noFill/>
          </a:ln>
        </p:spPr>
      </p:pic>
      <p:pic>
        <p:nvPicPr>
          <p:cNvPr id="76" name="Imagen 42"/>
          <p:cNvPicPr>
            <a:picLocks noChangeAspect="1"/>
          </p:cNvPicPr>
          <p:nvPr/>
        </p:nvPicPr>
        <p:blipFill rotWithShape="1">
          <a:blip r:embed="rId5"/>
          <a:srcRect/>
          <a:stretch/>
        </p:blipFill>
        <p:spPr>
          <a:xfrm>
            <a:off x="10619686" y="11882"/>
            <a:ext cx="1289022" cy="926282"/>
          </a:xfrm>
          <a:prstGeom prst="rect">
            <a:avLst/>
          </a:prstGeom>
          <a:ln>
            <a:noFill/>
          </a:ln>
        </p:spPr>
      </p:pic>
      <p:sp>
        <p:nvSpPr>
          <p:cNvPr id="5" name="activity-left-node">
            <a:extLst>
              <a:ext uri="{FF2B5EF4-FFF2-40B4-BE49-F238E27FC236}">
                <a16:creationId xmlns:a16="http://schemas.microsoft.com/office/drawing/2014/main" id="{AB38A2EA-B133-B170-0BFA-9B5674F0137F}"/>
              </a:ext>
            </a:extLst>
          </p:cNvPr>
          <p:cNvSpPr>
            <a:spLocks noGrp="1"/>
          </p:cNvSpPr>
          <p:nvPr/>
        </p:nvSpPr>
        <p:spPr>
          <a:xfrm>
            <a:off x="6053137" y="2148500"/>
            <a:ext cx="85725" cy="85725"/>
          </a:xfrm>
          <a:prstGeom prst="ellipse">
            <a:avLst/>
          </a:prstGeom>
          <a:solidFill>
            <a:srgbClr val="FFFFFF"/>
          </a:solidFill>
          <a:ln w="14288">
            <a:solidFill>
              <a:srgbClr val="C8972C"/>
            </a:solidFill>
            <a:prstDash val="solid"/>
          </a:ln>
        </p:spPr>
      </p:sp>
    </p:spTree>
    <p:extLst>
      <p:ext uri="{BB962C8B-B14F-4D97-AF65-F5344CB8AC3E}">
        <p14:creationId xmlns:p14="http://schemas.microsoft.com/office/powerpoint/2010/main" val="1524056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2" name="Text 1"/>
          <p:cNvSpPr/>
          <p:nvPr/>
        </p:nvSpPr>
        <p:spPr>
          <a:xfrm>
            <a:off x="502920" y="329040"/>
            <a:ext cx="94179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50" b="1" u="none" strike="noStrike">
                <a:solidFill>
                  <a:srgbClr val="172033"/>
                </a:solidFill>
                <a:effectLst/>
                <a:uFillTx/>
                <a:latin typeface="Aptos Display"/>
                <a:ea typeface="Aptos Display"/>
              </a:rPr>
              <a:t>Justificación y objetivo</a:t>
            </a:r>
            <a:endParaRPr lang="en-US" sz="2450" b="0" u="none" strike="noStrike">
              <a:solidFill>
                <a:srgbClr val="000000"/>
              </a:solidFill>
              <a:effectLst/>
              <a:uFillTx/>
              <a:latin typeface="Arial"/>
            </a:endParaRPr>
          </a:p>
        </p:txBody>
      </p:sp>
      <p:sp>
        <p:nvSpPr>
          <p:cNvPr id="25" name="Shape 4"/>
          <p:cNvSpPr/>
          <p:nvPr/>
        </p:nvSpPr>
        <p:spPr>
          <a:xfrm>
            <a:off x="685800" y="1298520"/>
            <a:ext cx="5348880" cy="2605680"/>
          </a:xfrm>
          <a:prstGeom prst="roundRect">
            <a:avLst>
              <a:gd name="adj" fmla="val 2807"/>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 name="Shape 5"/>
          <p:cNvSpPr/>
          <p:nvPr/>
        </p:nvSpPr>
        <p:spPr>
          <a:xfrm>
            <a:off x="685800" y="1298520"/>
            <a:ext cx="72720" cy="2605680"/>
          </a:xfrm>
          <a:prstGeom prst="rect">
            <a:avLst/>
          </a:prstGeom>
          <a:solidFill>
            <a:srgbClr val="2477C8"/>
          </a:solidFill>
          <a:ln w="12700">
            <a:solidFill>
              <a:srgbClr val="2477C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7" name="Text 6"/>
          <p:cNvSpPr/>
          <p:nvPr/>
        </p:nvSpPr>
        <p:spPr>
          <a:xfrm>
            <a:off x="887040" y="1444680"/>
            <a:ext cx="5019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60" b="1" u="none" strike="noStrike">
                <a:solidFill>
                  <a:srgbClr val="172033"/>
                </a:solidFill>
                <a:effectLst/>
                <a:uFillTx/>
                <a:latin typeface="Aptos"/>
              </a:rPr>
              <a:t>Justificación</a:t>
            </a:r>
            <a:endParaRPr lang="en-US" sz="1260" b="0" u="none" strike="noStrike">
              <a:solidFill>
                <a:srgbClr val="000000"/>
              </a:solidFill>
              <a:effectLst/>
              <a:uFillTx/>
              <a:latin typeface="Arial"/>
            </a:endParaRPr>
          </a:p>
        </p:txBody>
      </p:sp>
      <p:sp>
        <p:nvSpPr>
          <p:cNvPr id="28" name="Text 7"/>
          <p:cNvSpPr/>
          <p:nvPr/>
        </p:nvSpPr>
        <p:spPr>
          <a:xfrm>
            <a:off x="887040" y="1755720"/>
            <a:ext cx="5019840" cy="203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010" b="0" u="none" strike="noStrike">
                <a:solidFill>
                  <a:srgbClr val="2E3440"/>
                </a:solidFill>
                <a:effectLst/>
                <a:uFillTx/>
                <a:latin typeface="Aptos"/>
              </a:rPr>
              <a:t>La actividad se plantea como un banco de ejercicios porque permite demostrar que la planificación no se queda en conceptos aislados. Cada respuesta parte de un expediente real: documentos PLAN, WBS/EDT, Gantt, registros de recursos, estados de avance y decisiones tomadas durante el seguimiento. Así, los ejercicios muestran cómo se transforma una necesidad inicial en trabajo organizado y controlable.</a:t>
            </a:r>
            <a:endParaRPr lang="en-US" sz="1010" b="0" u="none" strike="noStrike">
              <a:solidFill>
                <a:srgbClr val="000000"/>
              </a:solidFill>
              <a:effectLst/>
              <a:uFillTx/>
              <a:latin typeface="Arial"/>
            </a:endParaRPr>
          </a:p>
        </p:txBody>
      </p:sp>
      <p:sp>
        <p:nvSpPr>
          <p:cNvPr id="29" name="Shape 8"/>
          <p:cNvSpPr/>
          <p:nvPr/>
        </p:nvSpPr>
        <p:spPr>
          <a:xfrm>
            <a:off x="6291000" y="1298520"/>
            <a:ext cx="5166000" cy="2605680"/>
          </a:xfrm>
          <a:prstGeom prst="roundRect">
            <a:avLst>
              <a:gd name="adj" fmla="val 2807"/>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 name="Shape 9"/>
          <p:cNvSpPr/>
          <p:nvPr/>
        </p:nvSpPr>
        <p:spPr>
          <a:xfrm>
            <a:off x="6291000" y="1298520"/>
            <a:ext cx="72720" cy="2605680"/>
          </a:xfrm>
          <a:prstGeom prst="rect">
            <a:avLst/>
          </a:prstGeom>
          <a:solidFill>
            <a:srgbClr val="00A86B"/>
          </a:solidFill>
          <a:ln w="12700">
            <a:solidFill>
              <a:srgbClr val="00A86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 name="Text 10"/>
          <p:cNvSpPr/>
          <p:nvPr/>
        </p:nvSpPr>
        <p:spPr>
          <a:xfrm>
            <a:off x="6492240" y="1444680"/>
            <a:ext cx="48369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60" b="1" u="none" strike="noStrike">
                <a:solidFill>
                  <a:srgbClr val="172033"/>
                </a:solidFill>
                <a:effectLst/>
                <a:uFillTx/>
                <a:latin typeface="Aptos"/>
              </a:rPr>
              <a:t>Objetivo</a:t>
            </a:r>
            <a:endParaRPr lang="en-US" sz="1260" b="0" u="none" strike="noStrike">
              <a:solidFill>
                <a:srgbClr val="000000"/>
              </a:solidFill>
              <a:effectLst/>
              <a:uFillTx/>
              <a:latin typeface="Arial"/>
            </a:endParaRPr>
          </a:p>
        </p:txBody>
      </p:sp>
      <p:sp>
        <p:nvSpPr>
          <p:cNvPr id="32" name="Text 11"/>
          <p:cNvSpPr/>
          <p:nvPr/>
        </p:nvSpPr>
        <p:spPr>
          <a:xfrm>
            <a:off x="6492240" y="1755720"/>
            <a:ext cx="4836960" cy="203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010" b="0" u="none" strike="noStrike">
                <a:solidFill>
                  <a:srgbClr val="2E3440"/>
                </a:solidFill>
                <a:effectLst/>
                <a:uFillTx/>
                <a:latin typeface="Aptos"/>
              </a:rPr>
              <a:t>Resolver situaciones concretas de planificación aplicando objetivos SMART, alcance, WBS/EDT, cronogramas, dependencias, asignación de recursos, costos y control de desviaciones. Las respuestas se conectan con los proyectos de Aarón, Ángel y Alondra para conservar una base práctica y verificable.</a:t>
            </a:r>
            <a:endParaRPr lang="en-US" sz="1010" b="0" u="none" strike="noStrike">
              <a:solidFill>
                <a:srgbClr val="000000"/>
              </a:solidFill>
              <a:effectLst/>
              <a:uFillTx/>
              <a:latin typeface="Arial"/>
            </a:endParaRPr>
          </a:p>
        </p:txBody>
      </p:sp>
      <p:sp>
        <p:nvSpPr>
          <p:cNvPr id="35" name="Shape 14"/>
          <p:cNvSpPr/>
          <p:nvPr/>
        </p:nvSpPr>
        <p:spPr>
          <a:xfrm>
            <a:off x="960120" y="5358240"/>
            <a:ext cx="3062880" cy="731160"/>
          </a:xfrm>
          <a:prstGeom prst="roundRect">
            <a:avLst>
              <a:gd name="adj" fmla="val 12500"/>
            </a:avLst>
          </a:prstGeom>
          <a:solidFill>
            <a:srgbClr val="FFFFFF"/>
          </a:solidFill>
          <a:ln w="952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 name="Shape 15"/>
          <p:cNvSpPr/>
          <p:nvPr/>
        </p:nvSpPr>
        <p:spPr>
          <a:xfrm>
            <a:off x="960120" y="5358240"/>
            <a:ext cx="91080" cy="731160"/>
          </a:xfrm>
          <a:prstGeom prst="rect">
            <a:avLst/>
          </a:prstGeom>
          <a:solidFill>
            <a:srgbClr val="6C4BD2"/>
          </a:solidFill>
          <a:ln w="12700">
            <a:solidFill>
              <a:srgbClr val="6C4BD2">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 name="Text 16"/>
          <p:cNvSpPr/>
          <p:nvPr/>
        </p:nvSpPr>
        <p:spPr>
          <a:xfrm>
            <a:off x="1161360" y="5504760"/>
            <a:ext cx="27338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a:solidFill>
                  <a:srgbClr val="172033"/>
                </a:solidFill>
                <a:effectLst/>
                <a:uFillTx/>
                <a:latin typeface="Aptos"/>
              </a:rPr>
              <a:t>Formato usado</a:t>
            </a:r>
            <a:endParaRPr lang="en-US" sz="1200" b="0" u="none" strike="noStrike">
              <a:solidFill>
                <a:srgbClr val="000000"/>
              </a:solidFill>
              <a:effectLst/>
              <a:uFillTx/>
              <a:latin typeface="Arial"/>
            </a:endParaRPr>
          </a:p>
        </p:txBody>
      </p:sp>
      <p:sp>
        <p:nvSpPr>
          <p:cNvPr id="38" name="Text 17"/>
          <p:cNvSpPr/>
          <p:nvPr/>
        </p:nvSpPr>
        <p:spPr>
          <a:xfrm>
            <a:off x="1161360" y="5824800"/>
            <a:ext cx="27338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defTabSz="914400">
              <a:lnSpc>
                <a:spcPct val="100000"/>
              </a:lnSpc>
              <a:tabLst>
                <a:tab pos="0" algn="l"/>
              </a:tabLst>
            </a:pPr>
            <a:r>
              <a:rPr lang="en-US" sz="920" b="0" u="none" strike="noStrike">
                <a:solidFill>
                  <a:srgbClr val="2E3440"/>
                </a:solidFill>
                <a:effectLst/>
                <a:uFillTx/>
                <a:latin typeface="Aptos"/>
              </a:rPr>
              <a:t>Planteamiento, procedimiento y respuesta.</a:t>
            </a:r>
            <a:endParaRPr lang="en-US" sz="920" b="0" u="none" strike="noStrike">
              <a:solidFill>
                <a:srgbClr val="000000"/>
              </a:solidFill>
              <a:effectLst/>
              <a:uFillTx/>
              <a:latin typeface="Arial"/>
            </a:endParaRPr>
          </a:p>
        </p:txBody>
      </p:sp>
      <p:sp>
        <p:nvSpPr>
          <p:cNvPr id="39" name="Shape 18"/>
          <p:cNvSpPr/>
          <p:nvPr/>
        </p:nvSpPr>
        <p:spPr>
          <a:xfrm>
            <a:off x="4553640" y="5358240"/>
            <a:ext cx="3062880" cy="731160"/>
          </a:xfrm>
          <a:prstGeom prst="roundRect">
            <a:avLst>
              <a:gd name="adj" fmla="val 12500"/>
            </a:avLst>
          </a:prstGeom>
          <a:solidFill>
            <a:srgbClr val="FFFFFF"/>
          </a:solidFill>
          <a:ln w="952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 name="Shape 19"/>
          <p:cNvSpPr/>
          <p:nvPr/>
        </p:nvSpPr>
        <p:spPr>
          <a:xfrm>
            <a:off x="4553640" y="5358240"/>
            <a:ext cx="91080" cy="731160"/>
          </a:xfrm>
          <a:prstGeom prst="rect">
            <a:avLst/>
          </a:prstGeom>
          <a:solidFill>
            <a:srgbClr val="2477C8"/>
          </a:solidFill>
          <a:ln w="12700">
            <a:solidFill>
              <a:srgbClr val="2477C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 name="Text 20"/>
          <p:cNvSpPr/>
          <p:nvPr/>
        </p:nvSpPr>
        <p:spPr>
          <a:xfrm>
            <a:off x="4754880" y="5504760"/>
            <a:ext cx="27338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a:solidFill>
                  <a:srgbClr val="172033"/>
                </a:solidFill>
                <a:effectLst/>
                <a:uFillTx/>
                <a:latin typeface="Aptos"/>
              </a:rPr>
              <a:t>Base real</a:t>
            </a:r>
            <a:endParaRPr lang="en-US" sz="1200" b="0" u="none" strike="noStrike">
              <a:solidFill>
                <a:srgbClr val="000000"/>
              </a:solidFill>
              <a:effectLst/>
              <a:uFillTx/>
              <a:latin typeface="Arial"/>
            </a:endParaRPr>
          </a:p>
        </p:txBody>
      </p:sp>
      <p:sp>
        <p:nvSpPr>
          <p:cNvPr id="42" name="Text 21"/>
          <p:cNvSpPr/>
          <p:nvPr/>
        </p:nvSpPr>
        <p:spPr>
          <a:xfrm>
            <a:off x="4754880" y="5824800"/>
            <a:ext cx="27338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defTabSz="914400">
              <a:lnSpc>
                <a:spcPct val="100000"/>
              </a:lnSpc>
              <a:tabLst>
                <a:tab pos="0" algn="l"/>
              </a:tabLst>
            </a:pPr>
            <a:r>
              <a:rPr lang="en-US" sz="920" b="0" u="none" strike="noStrike">
                <a:solidFill>
                  <a:srgbClr val="2E3440"/>
                </a:solidFill>
                <a:effectLst/>
                <a:uFillTx/>
                <a:latin typeface="Aptos"/>
              </a:rPr>
              <a:t>Fast Burger, Industria Bloquera y ProcesMuebles.</a:t>
            </a:r>
            <a:endParaRPr lang="en-US" sz="920" b="0" u="none" strike="noStrike">
              <a:solidFill>
                <a:srgbClr val="000000"/>
              </a:solidFill>
              <a:effectLst/>
              <a:uFillTx/>
              <a:latin typeface="Arial"/>
            </a:endParaRPr>
          </a:p>
        </p:txBody>
      </p:sp>
      <p:sp>
        <p:nvSpPr>
          <p:cNvPr id="43" name="Shape 22"/>
          <p:cNvSpPr/>
          <p:nvPr/>
        </p:nvSpPr>
        <p:spPr>
          <a:xfrm>
            <a:off x="8156520" y="5358240"/>
            <a:ext cx="3062880" cy="731160"/>
          </a:xfrm>
          <a:prstGeom prst="roundRect">
            <a:avLst>
              <a:gd name="adj" fmla="val 12500"/>
            </a:avLst>
          </a:prstGeom>
          <a:solidFill>
            <a:srgbClr val="FFFFFF"/>
          </a:solidFill>
          <a:ln w="952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 name="Shape 23"/>
          <p:cNvSpPr/>
          <p:nvPr/>
        </p:nvSpPr>
        <p:spPr>
          <a:xfrm>
            <a:off x="8156520" y="5358240"/>
            <a:ext cx="91080" cy="731160"/>
          </a:xfrm>
          <a:prstGeom prst="rect">
            <a:avLst/>
          </a:prstGeom>
          <a:solidFill>
            <a:srgbClr val="00A86B"/>
          </a:solidFill>
          <a:ln w="12700">
            <a:solidFill>
              <a:srgbClr val="00A86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5" name="Text 24"/>
          <p:cNvSpPr/>
          <p:nvPr/>
        </p:nvSpPr>
        <p:spPr>
          <a:xfrm>
            <a:off x="8357760" y="5504760"/>
            <a:ext cx="27338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a:solidFill>
                  <a:srgbClr val="172033"/>
                </a:solidFill>
                <a:effectLst/>
                <a:uFillTx/>
                <a:latin typeface="Aptos"/>
              </a:rPr>
              <a:t>Corte</a:t>
            </a:r>
            <a:endParaRPr lang="en-US" sz="1200" b="0" u="none" strike="noStrike">
              <a:solidFill>
                <a:srgbClr val="000000"/>
              </a:solidFill>
              <a:effectLst/>
              <a:uFillTx/>
              <a:latin typeface="Arial"/>
            </a:endParaRPr>
          </a:p>
        </p:txBody>
      </p:sp>
      <p:sp>
        <p:nvSpPr>
          <p:cNvPr id="46" name="Text 25"/>
          <p:cNvSpPr/>
          <p:nvPr/>
        </p:nvSpPr>
        <p:spPr>
          <a:xfrm>
            <a:off x="8357760" y="5824800"/>
            <a:ext cx="27338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2500" lnSpcReduction="9999"/>
          </a:bodyPr>
          <a:lstStyle/>
          <a:p>
            <a:pPr defTabSz="914400">
              <a:lnSpc>
                <a:spcPct val="100000"/>
              </a:lnSpc>
              <a:tabLst>
                <a:tab pos="0" algn="l"/>
              </a:tabLst>
            </a:pPr>
            <a:r>
              <a:rPr lang="en-US" sz="920" b="0" u="none" strike="noStrike">
                <a:solidFill>
                  <a:srgbClr val="2E3440"/>
                </a:solidFill>
                <a:effectLst/>
                <a:uFillTx/>
                <a:latin typeface="Aptos"/>
              </a:rPr>
              <a:t>16/09/2026 para interpretar avances y desviaciones.</a:t>
            </a:r>
            <a:endParaRPr lang="en-US" sz="920" b="0" u="none" strike="noStrike">
              <a:solidFill>
                <a:srgbClr val="000000"/>
              </a:solidFill>
              <a:effectLst/>
              <a:uFillTx/>
              <a:latin typeface="Arial"/>
            </a:endParaRPr>
          </a:p>
        </p:txBody>
      </p:sp>
      <p:sp>
        <p:nvSpPr>
          <p:cNvPr id="49" name="Text 28"/>
          <p:cNvSpPr/>
          <p:nvPr/>
        </p:nvSpPr>
        <p:spPr>
          <a:xfrm>
            <a:off x="11292840" y="658368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1" u="none" strike="noStrike">
                <a:solidFill>
                  <a:srgbClr val="6B7280"/>
                </a:solidFill>
                <a:effectLst/>
                <a:uFillTx/>
                <a:latin typeface="Aptos"/>
              </a:rPr>
              <a:t>02</a:t>
            </a:r>
            <a:endParaRPr lang="en-US" sz="85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50" name="Shape 0"/>
          <p:cNvSpPr/>
          <p:nvPr/>
        </p:nvSpPr>
        <p:spPr>
          <a:xfrm>
            <a:off x="0" y="0"/>
            <a:ext cx="12191400" cy="6857640"/>
          </a:xfrm>
          <a:prstGeom prst="rect">
            <a:avLst/>
          </a:prstGeom>
          <a:solidFill>
            <a:srgbClr val="F6F8FC"/>
          </a:solidFill>
          <a:ln w="12700">
            <a:solidFill>
              <a:srgbClr val="F6F8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1" name="Text 1"/>
          <p:cNvSpPr/>
          <p:nvPr/>
        </p:nvSpPr>
        <p:spPr>
          <a:xfrm>
            <a:off x="502920" y="329040"/>
            <a:ext cx="94179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50" b="1" u="none" strike="noStrike">
                <a:solidFill>
                  <a:srgbClr val="172033"/>
                </a:solidFill>
                <a:effectLst/>
                <a:uFillTx/>
                <a:latin typeface="Aptos Display"/>
                <a:ea typeface="Aptos Display"/>
              </a:rPr>
              <a:t>Evidencia utilizada</a:t>
            </a:r>
            <a:endParaRPr lang="en-US" sz="2450" b="0" u="none" strike="noStrike">
              <a:solidFill>
                <a:srgbClr val="000000"/>
              </a:solidFill>
              <a:effectLst/>
              <a:uFillTx/>
              <a:latin typeface="Arial"/>
            </a:endParaRPr>
          </a:p>
        </p:txBody>
      </p:sp>
      <p:sp>
        <p:nvSpPr>
          <p:cNvPr id="52" name="Text 2"/>
          <p:cNvSpPr/>
          <p:nvPr/>
        </p:nvSpPr>
        <p:spPr>
          <a:xfrm>
            <a:off x="521280" y="749880"/>
            <a:ext cx="9692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20" b="0" u="none" strike="noStrike">
                <a:solidFill>
                  <a:srgbClr val="6B7280"/>
                </a:solidFill>
                <a:effectLst/>
                <a:uFillTx/>
                <a:latin typeface="Aptos"/>
                <a:ea typeface="Aptos"/>
              </a:rPr>
              <a:t>Material de apoyo para resolver los ejercicios</a:t>
            </a:r>
            <a:endParaRPr lang="en-US" sz="1020" b="0" u="none" strike="noStrike">
              <a:solidFill>
                <a:srgbClr val="000000"/>
              </a:solidFill>
              <a:effectLst/>
              <a:uFillTx/>
              <a:latin typeface="Arial"/>
            </a:endParaRPr>
          </a:p>
        </p:txBody>
      </p:sp>
      <p:sp>
        <p:nvSpPr>
          <p:cNvPr id="53" name="Shape 3"/>
          <p:cNvSpPr/>
          <p:nvPr/>
        </p:nvSpPr>
        <p:spPr>
          <a:xfrm>
            <a:off x="502920" y="1042200"/>
            <a:ext cx="11201400" cy="360"/>
          </a:xfrm>
          <a:prstGeom prst="line">
            <a:avLst/>
          </a:prstGeom>
          <a:ln w="10160">
            <a:solidFill>
              <a:srgbClr val="D7DEE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4" name="Shape 4"/>
          <p:cNvSpPr/>
          <p:nvPr/>
        </p:nvSpPr>
        <p:spPr>
          <a:xfrm>
            <a:off x="567000" y="1188720"/>
            <a:ext cx="2742840" cy="2057040"/>
          </a:xfrm>
          <a:prstGeom prst="roundRect">
            <a:avLst>
              <a:gd name="adj" fmla="val 3556"/>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55" name="Image 0" descr="/mnt/data/32f4eca4-0a42-4529-914a-551fe7e3141d.png"/>
          <p:cNvPicPr/>
          <p:nvPr/>
        </p:nvPicPr>
        <p:blipFill>
          <a:blip r:embed="rId3"/>
          <a:srcRect l="655" r="655"/>
          <a:stretch/>
        </p:blipFill>
        <p:spPr>
          <a:xfrm>
            <a:off x="631080" y="1252800"/>
            <a:ext cx="2614680" cy="1618200"/>
          </a:xfrm>
          <a:prstGeom prst="rect">
            <a:avLst/>
          </a:prstGeom>
          <a:noFill/>
          <a:ln w="0">
            <a:noFill/>
          </a:ln>
        </p:spPr>
      </p:pic>
      <p:sp>
        <p:nvSpPr>
          <p:cNvPr id="56" name="Text 5"/>
          <p:cNvSpPr/>
          <p:nvPr/>
        </p:nvSpPr>
        <p:spPr>
          <a:xfrm>
            <a:off x="685800" y="2980800"/>
            <a:ext cx="25052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10" b="0" u="none" strike="noStrike">
                <a:solidFill>
                  <a:srgbClr val="6B7280"/>
                </a:solidFill>
                <a:effectLst/>
                <a:uFillTx/>
                <a:latin typeface="Aptos"/>
              </a:rPr>
              <a:t>Trello: tablero público con tarjetas del seguimiento PM.</a:t>
            </a:r>
            <a:endParaRPr lang="en-US" sz="710" b="0" u="none" strike="noStrike">
              <a:solidFill>
                <a:srgbClr val="000000"/>
              </a:solidFill>
              <a:effectLst/>
              <a:uFillTx/>
              <a:latin typeface="Arial"/>
            </a:endParaRPr>
          </a:p>
        </p:txBody>
      </p:sp>
      <p:sp>
        <p:nvSpPr>
          <p:cNvPr id="57" name="Shape 6"/>
          <p:cNvSpPr/>
          <p:nvPr/>
        </p:nvSpPr>
        <p:spPr>
          <a:xfrm>
            <a:off x="3520440" y="1188720"/>
            <a:ext cx="2742840" cy="2057040"/>
          </a:xfrm>
          <a:prstGeom prst="roundRect">
            <a:avLst>
              <a:gd name="adj" fmla="val 3556"/>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58" name="Image 1" descr="/mnt/data/94b1df48-a063-406b-b2e3-402832acf9a6.png"/>
          <p:cNvPicPr/>
          <p:nvPr/>
        </p:nvPicPr>
        <p:blipFill>
          <a:blip r:embed="rId4"/>
          <a:srcRect l="6550" r="6550"/>
          <a:stretch/>
        </p:blipFill>
        <p:spPr>
          <a:xfrm>
            <a:off x="3584520" y="1252800"/>
            <a:ext cx="2614680" cy="1618200"/>
          </a:xfrm>
          <a:prstGeom prst="rect">
            <a:avLst/>
          </a:prstGeom>
          <a:noFill/>
          <a:ln w="0">
            <a:noFill/>
          </a:ln>
        </p:spPr>
      </p:pic>
      <p:sp>
        <p:nvSpPr>
          <p:cNvPr id="59" name="Text 7"/>
          <p:cNvSpPr/>
          <p:nvPr/>
        </p:nvSpPr>
        <p:spPr>
          <a:xfrm>
            <a:off x="3639240" y="2980800"/>
            <a:ext cx="25052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10" b="0" u="none" strike="noStrike">
                <a:solidFill>
                  <a:srgbClr val="6B7280"/>
                </a:solidFill>
                <a:effectLst/>
                <a:uFillTx/>
                <a:latin typeface="Aptos"/>
              </a:rPr>
              <a:t>ClickUp: lista de tareas de Alondra y control de pendientes.</a:t>
            </a:r>
            <a:endParaRPr lang="en-US" sz="710" b="0" u="none" strike="noStrike">
              <a:solidFill>
                <a:srgbClr val="000000"/>
              </a:solidFill>
              <a:effectLst/>
              <a:uFillTx/>
              <a:latin typeface="Arial"/>
            </a:endParaRPr>
          </a:p>
        </p:txBody>
      </p:sp>
      <p:sp>
        <p:nvSpPr>
          <p:cNvPr id="60" name="Shape 8"/>
          <p:cNvSpPr/>
          <p:nvPr/>
        </p:nvSpPr>
        <p:spPr>
          <a:xfrm>
            <a:off x="6473880" y="1188720"/>
            <a:ext cx="2422800" cy="2057040"/>
          </a:xfrm>
          <a:prstGeom prst="roundRect">
            <a:avLst>
              <a:gd name="adj" fmla="val 3556"/>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61" name="Image 2" descr="/mnt/data/rec_render/rec003-1.png"/>
          <p:cNvPicPr/>
          <p:nvPr/>
        </p:nvPicPr>
        <p:blipFill>
          <a:blip r:embed="rId5"/>
          <a:stretch/>
        </p:blipFill>
        <p:spPr>
          <a:xfrm>
            <a:off x="7060320" y="1252800"/>
            <a:ext cx="1250280" cy="1618200"/>
          </a:xfrm>
          <a:prstGeom prst="rect">
            <a:avLst/>
          </a:prstGeom>
          <a:noFill/>
          <a:ln w="0">
            <a:noFill/>
          </a:ln>
        </p:spPr>
      </p:pic>
      <p:sp>
        <p:nvSpPr>
          <p:cNvPr id="62" name="Text 9"/>
          <p:cNvSpPr/>
          <p:nvPr/>
        </p:nvSpPr>
        <p:spPr>
          <a:xfrm>
            <a:off x="6592680" y="2980800"/>
            <a:ext cx="21852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10" b="0" u="none" strike="noStrike">
                <a:solidFill>
                  <a:srgbClr val="6B7280"/>
                </a:solidFill>
                <a:effectLst/>
                <a:uFillTx/>
                <a:latin typeface="Aptos"/>
              </a:rPr>
              <a:t>REC-003: recursos y costos de Fast Burger.</a:t>
            </a:r>
            <a:endParaRPr lang="en-US" sz="710" b="0" u="none" strike="noStrike">
              <a:solidFill>
                <a:srgbClr val="000000"/>
              </a:solidFill>
              <a:effectLst/>
              <a:uFillTx/>
              <a:latin typeface="Arial"/>
            </a:endParaRPr>
          </a:p>
        </p:txBody>
      </p:sp>
      <p:sp>
        <p:nvSpPr>
          <p:cNvPr id="63" name="Shape 10"/>
          <p:cNvSpPr/>
          <p:nvPr/>
        </p:nvSpPr>
        <p:spPr>
          <a:xfrm>
            <a:off x="9125640" y="1188720"/>
            <a:ext cx="2422800" cy="2057040"/>
          </a:xfrm>
          <a:prstGeom prst="roundRect">
            <a:avLst>
              <a:gd name="adj" fmla="val 3556"/>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64" name="Image 3" descr="/mnt/data/rec_render/rec002-1.png"/>
          <p:cNvPicPr/>
          <p:nvPr/>
        </p:nvPicPr>
        <p:blipFill>
          <a:blip r:embed="rId6"/>
          <a:stretch/>
        </p:blipFill>
        <p:spPr>
          <a:xfrm>
            <a:off x="9712080" y="1252800"/>
            <a:ext cx="1250280" cy="1618200"/>
          </a:xfrm>
          <a:prstGeom prst="rect">
            <a:avLst/>
          </a:prstGeom>
          <a:noFill/>
          <a:ln w="0">
            <a:noFill/>
          </a:ln>
        </p:spPr>
      </p:pic>
      <p:sp>
        <p:nvSpPr>
          <p:cNvPr id="65" name="Text 11"/>
          <p:cNvSpPr/>
          <p:nvPr/>
        </p:nvSpPr>
        <p:spPr>
          <a:xfrm>
            <a:off x="9244440" y="2980800"/>
            <a:ext cx="21852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10" b="0" u="none" strike="noStrike">
                <a:solidFill>
                  <a:srgbClr val="6B7280"/>
                </a:solidFill>
                <a:effectLst/>
                <a:uFillTx/>
                <a:latin typeface="Aptos"/>
              </a:rPr>
              <a:t>REC-002: recursos y costos de ProcesMuebles.</a:t>
            </a:r>
            <a:endParaRPr lang="en-US" sz="710" b="0" u="none" strike="noStrike">
              <a:solidFill>
                <a:srgbClr val="000000"/>
              </a:solidFill>
              <a:effectLst/>
              <a:uFillTx/>
              <a:latin typeface="Arial"/>
            </a:endParaRPr>
          </a:p>
        </p:txBody>
      </p:sp>
      <p:sp>
        <p:nvSpPr>
          <p:cNvPr id="66" name="Shape 12"/>
          <p:cNvSpPr/>
          <p:nvPr/>
        </p:nvSpPr>
        <p:spPr>
          <a:xfrm>
            <a:off x="713160" y="3657600"/>
            <a:ext cx="5348880" cy="1599840"/>
          </a:xfrm>
          <a:prstGeom prst="roundRect">
            <a:avLst>
              <a:gd name="adj" fmla="val 4571"/>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7" name="Shape 13"/>
          <p:cNvSpPr/>
          <p:nvPr/>
        </p:nvSpPr>
        <p:spPr>
          <a:xfrm>
            <a:off x="713160" y="3657600"/>
            <a:ext cx="72720" cy="1599840"/>
          </a:xfrm>
          <a:prstGeom prst="rect">
            <a:avLst/>
          </a:prstGeom>
          <a:solidFill>
            <a:srgbClr val="2477C8"/>
          </a:solidFill>
          <a:ln w="12700">
            <a:solidFill>
              <a:srgbClr val="2477C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8" name="Text 14"/>
          <p:cNvSpPr/>
          <p:nvPr/>
        </p:nvSpPr>
        <p:spPr>
          <a:xfrm>
            <a:off x="914400" y="3803760"/>
            <a:ext cx="5019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60" b="1" u="none" strike="noStrike">
                <a:solidFill>
                  <a:srgbClr val="172033"/>
                </a:solidFill>
                <a:effectLst/>
                <a:uFillTx/>
                <a:latin typeface="Aptos"/>
              </a:rPr>
              <a:t>Cómo se usó la evidencia</a:t>
            </a:r>
            <a:endParaRPr lang="en-US" sz="1260" b="0" u="none" strike="noStrike">
              <a:solidFill>
                <a:srgbClr val="000000"/>
              </a:solidFill>
              <a:effectLst/>
              <a:uFillTx/>
              <a:latin typeface="Arial"/>
            </a:endParaRPr>
          </a:p>
        </p:txBody>
      </p:sp>
      <p:sp>
        <p:nvSpPr>
          <p:cNvPr id="69" name="Text 15"/>
          <p:cNvSpPr/>
          <p:nvPr/>
        </p:nvSpPr>
        <p:spPr>
          <a:xfrm>
            <a:off x="914400" y="4114800"/>
            <a:ext cx="5019840" cy="103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010" b="0" u="none" strike="noStrike">
                <a:solidFill>
                  <a:srgbClr val="2E3440"/>
                </a:solidFill>
                <a:effectLst/>
                <a:uFillTx/>
                <a:latin typeface="Aptos"/>
              </a:rPr>
              <a:t>Las capturas sirven para comprobar el avance de los expedientes y para resolver los ejercicios sin llenar espacios con datos inventados. Los documentos de recursos indican que no hubo presupuesto formal ni costos comprobables, por lo que los ejercicios de costos se tratan como estimación académica y registro de recursos reales.</a:t>
            </a:r>
            <a:endParaRPr lang="en-US" sz="1010" b="0" u="none" strike="noStrike">
              <a:solidFill>
                <a:srgbClr val="000000"/>
              </a:solidFill>
              <a:effectLst/>
              <a:uFillTx/>
              <a:latin typeface="Arial"/>
            </a:endParaRPr>
          </a:p>
        </p:txBody>
      </p:sp>
      <p:sp>
        <p:nvSpPr>
          <p:cNvPr id="70" name="Shape 16"/>
          <p:cNvSpPr/>
          <p:nvPr/>
        </p:nvSpPr>
        <p:spPr>
          <a:xfrm>
            <a:off x="6291000" y="3657600"/>
            <a:ext cx="4891680" cy="1599840"/>
          </a:xfrm>
          <a:prstGeom prst="roundRect">
            <a:avLst>
              <a:gd name="adj" fmla="val 4571"/>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1" name="Shape 17"/>
          <p:cNvSpPr/>
          <p:nvPr/>
        </p:nvSpPr>
        <p:spPr>
          <a:xfrm>
            <a:off x="6291000" y="3657600"/>
            <a:ext cx="72720" cy="1599840"/>
          </a:xfrm>
          <a:prstGeom prst="rect">
            <a:avLst/>
          </a:prstGeom>
          <a:solidFill>
            <a:srgbClr val="00A86B"/>
          </a:solidFill>
          <a:ln w="12700">
            <a:solidFill>
              <a:srgbClr val="00A86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2" name="Text 18"/>
          <p:cNvSpPr/>
          <p:nvPr/>
        </p:nvSpPr>
        <p:spPr>
          <a:xfrm>
            <a:off x="6492240" y="3803760"/>
            <a:ext cx="4562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60" b="1" u="none" strike="noStrike">
                <a:solidFill>
                  <a:srgbClr val="172033"/>
                </a:solidFill>
                <a:effectLst/>
                <a:uFillTx/>
                <a:latin typeface="Aptos"/>
              </a:rPr>
              <a:t>Proyectos base</a:t>
            </a:r>
            <a:endParaRPr lang="en-US" sz="1260" b="0" u="none" strike="noStrike">
              <a:solidFill>
                <a:srgbClr val="000000"/>
              </a:solidFill>
              <a:effectLst/>
              <a:uFillTx/>
              <a:latin typeface="Arial"/>
            </a:endParaRPr>
          </a:p>
        </p:txBody>
      </p:sp>
      <p:sp>
        <p:nvSpPr>
          <p:cNvPr id="73" name="Text 19"/>
          <p:cNvSpPr/>
          <p:nvPr/>
        </p:nvSpPr>
        <p:spPr>
          <a:xfrm>
            <a:off x="6492240" y="4114800"/>
            <a:ext cx="4562640" cy="103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010" b="0" u="none" strike="noStrike">
                <a:solidFill>
                  <a:srgbClr val="2E3440"/>
                </a:solidFill>
                <a:effectLst/>
                <a:uFillTx/>
                <a:latin typeface="Aptos"/>
              </a:rPr>
              <a:t>• Aarón: expediente completo de Fast Burger.</a:t>
            </a:r>
            <a:endParaRPr lang="en-US" sz="1010" b="0" u="none" strike="noStrike">
              <a:solidFill>
                <a:srgbClr val="000000"/>
              </a:solidFill>
              <a:effectLst/>
              <a:uFillTx/>
              <a:latin typeface="Arial"/>
            </a:endParaRPr>
          </a:p>
          <a:p>
            <a:pPr defTabSz="914400">
              <a:lnSpc>
                <a:spcPct val="100000"/>
              </a:lnSpc>
              <a:tabLst>
                <a:tab pos="0" algn="l"/>
              </a:tabLst>
            </a:pPr>
            <a:r>
              <a:rPr lang="en-US" sz="1010" b="0" u="none" strike="noStrike">
                <a:solidFill>
                  <a:srgbClr val="2E3440"/>
                </a:solidFill>
                <a:effectLst/>
                <a:uFillTx/>
                <a:latin typeface="Aptos"/>
              </a:rPr>
              <a:t>• Ángel: PLAN-001, alcance y aprobación por WhatsApp.</a:t>
            </a:r>
            <a:endParaRPr lang="en-US" sz="1010" b="0" u="none" strike="noStrike">
              <a:solidFill>
                <a:srgbClr val="000000"/>
              </a:solidFill>
              <a:effectLst/>
              <a:uFillTx/>
              <a:latin typeface="Arial"/>
            </a:endParaRPr>
          </a:p>
          <a:p>
            <a:pPr defTabSz="914400">
              <a:lnSpc>
                <a:spcPct val="100000"/>
              </a:lnSpc>
              <a:tabLst>
                <a:tab pos="0" algn="l"/>
              </a:tabLst>
            </a:pPr>
            <a:r>
              <a:rPr lang="en-US" sz="1010" b="0" u="none" strike="noStrike">
                <a:solidFill>
                  <a:srgbClr val="2E3440"/>
                </a:solidFill>
                <a:effectLst/>
                <a:uFillTx/>
                <a:latin typeface="Aptos"/>
              </a:rPr>
              <a:t>• Alondra: PLAN-002, WBS-002, GANTT-002, REC-002 y seguimiento en ClickUp.</a:t>
            </a:r>
            <a:endParaRPr lang="en-US" sz="1010" b="0" u="none" strike="noStrike">
              <a:solidFill>
                <a:srgbClr val="000000"/>
              </a:solidFill>
              <a:effectLst/>
              <a:uFillTx/>
              <a:latin typeface="Arial"/>
            </a:endParaRPr>
          </a:p>
        </p:txBody>
      </p:sp>
      <p:sp>
        <p:nvSpPr>
          <p:cNvPr id="76" name="Text 22"/>
          <p:cNvSpPr/>
          <p:nvPr/>
        </p:nvSpPr>
        <p:spPr>
          <a:xfrm>
            <a:off x="11292840" y="658368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1" u="none" strike="noStrike">
                <a:solidFill>
                  <a:srgbClr val="6B7280"/>
                </a:solidFill>
                <a:effectLst/>
                <a:uFillTx/>
                <a:latin typeface="Aptos"/>
              </a:rPr>
              <a:t>03</a:t>
            </a:r>
            <a:endParaRPr lang="en-US" sz="85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78" name="Text 1"/>
          <p:cNvSpPr/>
          <p:nvPr/>
        </p:nvSpPr>
        <p:spPr>
          <a:xfrm>
            <a:off x="502920" y="329040"/>
            <a:ext cx="94179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50" b="1" u="none" strike="noStrike">
                <a:solidFill>
                  <a:srgbClr val="172033"/>
                </a:solidFill>
                <a:effectLst/>
                <a:uFillTx/>
                <a:latin typeface="Aptos Display"/>
                <a:ea typeface="Aptos Display"/>
              </a:rPr>
              <a:t>Método de resolución</a:t>
            </a:r>
            <a:endParaRPr lang="en-US" sz="2450" b="0" u="none" strike="noStrike">
              <a:solidFill>
                <a:srgbClr val="000000"/>
              </a:solidFill>
              <a:effectLst/>
              <a:uFillTx/>
              <a:latin typeface="Arial"/>
            </a:endParaRPr>
          </a:p>
        </p:txBody>
      </p:sp>
      <p:sp>
        <p:nvSpPr>
          <p:cNvPr id="81" name="Shape 4"/>
          <p:cNvSpPr/>
          <p:nvPr/>
        </p:nvSpPr>
        <p:spPr>
          <a:xfrm>
            <a:off x="594360" y="1828800"/>
            <a:ext cx="1608840" cy="1078560"/>
          </a:xfrm>
          <a:prstGeom prst="roundRect">
            <a:avLst>
              <a:gd name="adj" fmla="val 10169"/>
            </a:avLst>
          </a:prstGeom>
          <a:solidFill>
            <a:srgbClr val="FFFFFF"/>
          </a:solidFill>
          <a:ln w="889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2" name="Shape 5"/>
          <p:cNvSpPr/>
          <p:nvPr/>
        </p:nvSpPr>
        <p:spPr>
          <a:xfrm>
            <a:off x="704160" y="1974960"/>
            <a:ext cx="328680" cy="328680"/>
          </a:xfrm>
          <a:prstGeom prst="ellipse">
            <a:avLst/>
          </a:prstGeom>
          <a:solidFill>
            <a:srgbClr val="2477C8"/>
          </a:solidFill>
          <a:ln w="12700">
            <a:solidFill>
              <a:srgbClr val="2477C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3" name="Text 6"/>
          <p:cNvSpPr/>
          <p:nvPr/>
        </p:nvSpPr>
        <p:spPr>
          <a:xfrm>
            <a:off x="704160" y="2062080"/>
            <a:ext cx="328680" cy="72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u="none" strike="noStrike">
                <a:solidFill>
                  <a:srgbClr val="FFFFFF"/>
                </a:solidFill>
                <a:effectLst/>
                <a:uFillTx/>
                <a:latin typeface="Aptos"/>
              </a:rPr>
              <a:t>1</a:t>
            </a:r>
            <a:endParaRPr lang="en-US" sz="800" b="0" u="none" strike="noStrike">
              <a:solidFill>
                <a:srgbClr val="000000"/>
              </a:solidFill>
              <a:effectLst/>
              <a:uFillTx/>
              <a:latin typeface="Arial"/>
            </a:endParaRPr>
          </a:p>
        </p:txBody>
      </p:sp>
      <p:sp>
        <p:nvSpPr>
          <p:cNvPr id="84" name="Text 7"/>
          <p:cNvSpPr/>
          <p:nvPr/>
        </p:nvSpPr>
        <p:spPr>
          <a:xfrm>
            <a:off x="1106280" y="1974960"/>
            <a:ext cx="10144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50" b="1" u="none" strike="noStrike">
                <a:solidFill>
                  <a:srgbClr val="172033"/>
                </a:solidFill>
                <a:effectLst/>
                <a:uFillTx/>
                <a:latin typeface="Aptos"/>
              </a:rPr>
              <a:t>Necesidad</a:t>
            </a:r>
            <a:endParaRPr lang="en-US" sz="1150" b="0" u="none" strike="noStrike">
              <a:solidFill>
                <a:srgbClr val="000000"/>
              </a:solidFill>
              <a:effectLst/>
              <a:uFillTx/>
              <a:latin typeface="Arial"/>
            </a:endParaRPr>
          </a:p>
        </p:txBody>
      </p:sp>
      <p:sp>
        <p:nvSpPr>
          <p:cNvPr id="85" name="Text 8"/>
          <p:cNvSpPr/>
          <p:nvPr/>
        </p:nvSpPr>
        <p:spPr>
          <a:xfrm>
            <a:off x="758880" y="2340720"/>
            <a:ext cx="129816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30" b="0" u="none" strike="noStrike">
                <a:solidFill>
                  <a:srgbClr val="2E3440"/>
                </a:solidFill>
                <a:effectLst/>
                <a:uFillTx/>
                <a:latin typeface="Aptos"/>
              </a:rPr>
              <a:t>Problema o situación inicial</a:t>
            </a:r>
            <a:endParaRPr lang="en-US" sz="830" b="0" u="none" strike="noStrike">
              <a:solidFill>
                <a:srgbClr val="000000"/>
              </a:solidFill>
              <a:effectLst/>
              <a:uFillTx/>
              <a:latin typeface="Arial"/>
            </a:endParaRPr>
          </a:p>
        </p:txBody>
      </p:sp>
      <p:sp>
        <p:nvSpPr>
          <p:cNvPr id="86" name="Shape 9"/>
          <p:cNvSpPr/>
          <p:nvPr/>
        </p:nvSpPr>
        <p:spPr>
          <a:xfrm>
            <a:off x="2230920" y="2359080"/>
            <a:ext cx="338400" cy="360"/>
          </a:xfrm>
          <a:prstGeom prst="line">
            <a:avLst/>
          </a:prstGeom>
          <a:ln w="19050">
            <a:solidFill>
              <a:srgbClr val="D7DEE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87" name="Shape 10"/>
          <p:cNvSpPr/>
          <p:nvPr/>
        </p:nvSpPr>
        <p:spPr>
          <a:xfrm>
            <a:off x="2468880" y="1828800"/>
            <a:ext cx="1608840" cy="1078560"/>
          </a:xfrm>
          <a:prstGeom prst="roundRect">
            <a:avLst>
              <a:gd name="adj" fmla="val 10169"/>
            </a:avLst>
          </a:prstGeom>
          <a:solidFill>
            <a:srgbClr val="FFFFFF"/>
          </a:solidFill>
          <a:ln w="889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8" name="Shape 11"/>
          <p:cNvSpPr/>
          <p:nvPr/>
        </p:nvSpPr>
        <p:spPr>
          <a:xfrm>
            <a:off x="2578680" y="1974960"/>
            <a:ext cx="328680" cy="328680"/>
          </a:xfrm>
          <a:prstGeom prst="ellipse">
            <a:avLst/>
          </a:prstGeom>
          <a:solidFill>
            <a:srgbClr val="00A86B"/>
          </a:solidFill>
          <a:ln w="12700">
            <a:solidFill>
              <a:srgbClr val="00A86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9" name="Text 12"/>
          <p:cNvSpPr/>
          <p:nvPr/>
        </p:nvSpPr>
        <p:spPr>
          <a:xfrm>
            <a:off x="2578680" y="2062080"/>
            <a:ext cx="328680" cy="72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u="none" strike="noStrike">
                <a:solidFill>
                  <a:srgbClr val="FFFFFF"/>
                </a:solidFill>
                <a:effectLst/>
                <a:uFillTx/>
                <a:latin typeface="Aptos"/>
              </a:rPr>
              <a:t>2</a:t>
            </a:r>
            <a:endParaRPr lang="en-US" sz="800" b="0" u="none" strike="noStrike">
              <a:solidFill>
                <a:srgbClr val="000000"/>
              </a:solidFill>
              <a:effectLst/>
              <a:uFillTx/>
              <a:latin typeface="Arial"/>
            </a:endParaRPr>
          </a:p>
        </p:txBody>
      </p:sp>
      <p:sp>
        <p:nvSpPr>
          <p:cNvPr id="90" name="Text 13"/>
          <p:cNvSpPr/>
          <p:nvPr/>
        </p:nvSpPr>
        <p:spPr>
          <a:xfrm>
            <a:off x="2980800" y="1974960"/>
            <a:ext cx="10144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50" b="1" u="none" strike="noStrike">
                <a:solidFill>
                  <a:srgbClr val="172033"/>
                </a:solidFill>
                <a:effectLst/>
                <a:uFillTx/>
                <a:latin typeface="Aptos"/>
              </a:rPr>
              <a:t>Objetivo</a:t>
            </a:r>
            <a:endParaRPr lang="en-US" sz="1150" b="0" u="none" strike="noStrike">
              <a:solidFill>
                <a:srgbClr val="000000"/>
              </a:solidFill>
              <a:effectLst/>
              <a:uFillTx/>
              <a:latin typeface="Arial"/>
            </a:endParaRPr>
          </a:p>
        </p:txBody>
      </p:sp>
      <p:sp>
        <p:nvSpPr>
          <p:cNvPr id="91" name="Text 14"/>
          <p:cNvSpPr/>
          <p:nvPr/>
        </p:nvSpPr>
        <p:spPr>
          <a:xfrm>
            <a:off x="2633400" y="2340720"/>
            <a:ext cx="129816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30" b="0" u="none" strike="noStrike">
                <a:solidFill>
                  <a:srgbClr val="2E3440"/>
                </a:solidFill>
                <a:effectLst/>
                <a:uFillTx/>
                <a:latin typeface="Aptos"/>
              </a:rPr>
              <a:t>Resultado claro y medible</a:t>
            </a:r>
            <a:endParaRPr lang="en-US" sz="830" b="0" u="none" strike="noStrike">
              <a:solidFill>
                <a:srgbClr val="000000"/>
              </a:solidFill>
              <a:effectLst/>
              <a:uFillTx/>
              <a:latin typeface="Arial"/>
            </a:endParaRPr>
          </a:p>
        </p:txBody>
      </p:sp>
      <p:sp>
        <p:nvSpPr>
          <p:cNvPr id="92" name="Shape 15"/>
          <p:cNvSpPr/>
          <p:nvPr/>
        </p:nvSpPr>
        <p:spPr>
          <a:xfrm>
            <a:off x="4105440" y="2359080"/>
            <a:ext cx="338400" cy="360"/>
          </a:xfrm>
          <a:prstGeom prst="line">
            <a:avLst/>
          </a:prstGeom>
          <a:ln w="19050">
            <a:solidFill>
              <a:srgbClr val="D7DEE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3" name="Shape 16"/>
          <p:cNvSpPr/>
          <p:nvPr/>
        </p:nvSpPr>
        <p:spPr>
          <a:xfrm>
            <a:off x="4343400" y="1828800"/>
            <a:ext cx="1608840" cy="1078560"/>
          </a:xfrm>
          <a:prstGeom prst="roundRect">
            <a:avLst>
              <a:gd name="adj" fmla="val 10169"/>
            </a:avLst>
          </a:prstGeom>
          <a:solidFill>
            <a:srgbClr val="FFFFFF"/>
          </a:solidFill>
          <a:ln w="889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4" name="Shape 17"/>
          <p:cNvSpPr/>
          <p:nvPr/>
        </p:nvSpPr>
        <p:spPr>
          <a:xfrm>
            <a:off x="4453200" y="1974960"/>
            <a:ext cx="328680" cy="32868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5" name="Text 18"/>
          <p:cNvSpPr/>
          <p:nvPr/>
        </p:nvSpPr>
        <p:spPr>
          <a:xfrm>
            <a:off x="4453200" y="2062080"/>
            <a:ext cx="328680" cy="72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u="none" strike="noStrike">
                <a:solidFill>
                  <a:srgbClr val="FFFFFF"/>
                </a:solidFill>
                <a:effectLst/>
                <a:uFillTx/>
                <a:latin typeface="Aptos"/>
              </a:rPr>
              <a:t>3</a:t>
            </a:r>
            <a:endParaRPr lang="en-US" sz="800" b="0" u="none" strike="noStrike">
              <a:solidFill>
                <a:srgbClr val="000000"/>
              </a:solidFill>
              <a:effectLst/>
              <a:uFillTx/>
              <a:latin typeface="Arial"/>
            </a:endParaRPr>
          </a:p>
        </p:txBody>
      </p:sp>
      <p:sp>
        <p:nvSpPr>
          <p:cNvPr id="96" name="Text 19"/>
          <p:cNvSpPr/>
          <p:nvPr/>
        </p:nvSpPr>
        <p:spPr>
          <a:xfrm>
            <a:off x="4855320" y="1974960"/>
            <a:ext cx="10144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50" b="1" u="none" strike="noStrike">
                <a:solidFill>
                  <a:srgbClr val="172033"/>
                </a:solidFill>
                <a:effectLst/>
                <a:uFillTx/>
                <a:latin typeface="Aptos"/>
              </a:rPr>
              <a:t>Alcance</a:t>
            </a:r>
            <a:endParaRPr lang="en-US" sz="1150" b="0" u="none" strike="noStrike">
              <a:solidFill>
                <a:srgbClr val="000000"/>
              </a:solidFill>
              <a:effectLst/>
              <a:uFillTx/>
              <a:latin typeface="Arial"/>
            </a:endParaRPr>
          </a:p>
        </p:txBody>
      </p:sp>
      <p:sp>
        <p:nvSpPr>
          <p:cNvPr id="97" name="Text 20"/>
          <p:cNvSpPr/>
          <p:nvPr/>
        </p:nvSpPr>
        <p:spPr>
          <a:xfrm>
            <a:off x="4507920" y="2340720"/>
            <a:ext cx="129816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30" b="0" u="none" strike="noStrike">
                <a:solidFill>
                  <a:srgbClr val="2E3440"/>
                </a:solidFill>
                <a:effectLst/>
                <a:uFillTx/>
                <a:latin typeface="Aptos"/>
              </a:rPr>
              <a:t>Qué entra y qué queda fuera</a:t>
            </a:r>
            <a:endParaRPr lang="en-US" sz="830" b="0" u="none" strike="noStrike">
              <a:solidFill>
                <a:srgbClr val="000000"/>
              </a:solidFill>
              <a:effectLst/>
              <a:uFillTx/>
              <a:latin typeface="Arial"/>
            </a:endParaRPr>
          </a:p>
        </p:txBody>
      </p:sp>
      <p:sp>
        <p:nvSpPr>
          <p:cNvPr id="98" name="Shape 21"/>
          <p:cNvSpPr/>
          <p:nvPr/>
        </p:nvSpPr>
        <p:spPr>
          <a:xfrm>
            <a:off x="5979960" y="2359080"/>
            <a:ext cx="338400" cy="360"/>
          </a:xfrm>
          <a:prstGeom prst="line">
            <a:avLst/>
          </a:prstGeom>
          <a:ln w="19050">
            <a:solidFill>
              <a:srgbClr val="D7DEE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9" name="Shape 22"/>
          <p:cNvSpPr/>
          <p:nvPr/>
        </p:nvSpPr>
        <p:spPr>
          <a:xfrm>
            <a:off x="6217920" y="1828800"/>
            <a:ext cx="1608840" cy="1078560"/>
          </a:xfrm>
          <a:prstGeom prst="roundRect">
            <a:avLst>
              <a:gd name="adj" fmla="val 10169"/>
            </a:avLst>
          </a:prstGeom>
          <a:solidFill>
            <a:srgbClr val="FFFFFF"/>
          </a:solidFill>
          <a:ln w="889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0" name="Shape 23"/>
          <p:cNvSpPr/>
          <p:nvPr/>
        </p:nvSpPr>
        <p:spPr>
          <a:xfrm>
            <a:off x="6327720" y="1974960"/>
            <a:ext cx="328680" cy="328680"/>
          </a:xfrm>
          <a:prstGeom prst="ellipse">
            <a:avLst/>
          </a:prstGeom>
          <a:solidFill>
            <a:srgbClr val="6C4BD2"/>
          </a:solidFill>
          <a:ln w="12700">
            <a:solidFill>
              <a:srgbClr val="6C4BD2">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1" name="Text 24"/>
          <p:cNvSpPr/>
          <p:nvPr/>
        </p:nvSpPr>
        <p:spPr>
          <a:xfrm>
            <a:off x="6327720" y="2062080"/>
            <a:ext cx="328680" cy="72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u="none" strike="noStrike">
                <a:solidFill>
                  <a:srgbClr val="FFFFFF"/>
                </a:solidFill>
                <a:effectLst/>
                <a:uFillTx/>
                <a:latin typeface="Aptos"/>
              </a:rPr>
              <a:t>4</a:t>
            </a:r>
            <a:endParaRPr lang="en-US" sz="800" b="0" u="none" strike="noStrike">
              <a:solidFill>
                <a:srgbClr val="000000"/>
              </a:solidFill>
              <a:effectLst/>
              <a:uFillTx/>
              <a:latin typeface="Arial"/>
            </a:endParaRPr>
          </a:p>
        </p:txBody>
      </p:sp>
      <p:sp>
        <p:nvSpPr>
          <p:cNvPr id="102" name="Text 25"/>
          <p:cNvSpPr/>
          <p:nvPr/>
        </p:nvSpPr>
        <p:spPr>
          <a:xfrm>
            <a:off x="6729840" y="1974960"/>
            <a:ext cx="10144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50" b="1" u="none" strike="noStrike">
                <a:solidFill>
                  <a:srgbClr val="172033"/>
                </a:solidFill>
                <a:effectLst/>
                <a:uFillTx/>
                <a:latin typeface="Aptos"/>
              </a:rPr>
              <a:t>WBS/EDT</a:t>
            </a:r>
            <a:endParaRPr lang="en-US" sz="1150" b="0" u="none" strike="noStrike">
              <a:solidFill>
                <a:srgbClr val="000000"/>
              </a:solidFill>
              <a:effectLst/>
              <a:uFillTx/>
              <a:latin typeface="Arial"/>
            </a:endParaRPr>
          </a:p>
        </p:txBody>
      </p:sp>
      <p:sp>
        <p:nvSpPr>
          <p:cNvPr id="103" name="Text 26"/>
          <p:cNvSpPr/>
          <p:nvPr/>
        </p:nvSpPr>
        <p:spPr>
          <a:xfrm>
            <a:off x="6382440" y="2340720"/>
            <a:ext cx="129816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30" b="0" u="none" strike="noStrike">
                <a:solidFill>
                  <a:srgbClr val="2E3440"/>
                </a:solidFill>
                <a:effectLst/>
                <a:uFillTx/>
                <a:latin typeface="Aptos"/>
              </a:rPr>
              <a:t>Entregables y paquetes</a:t>
            </a:r>
            <a:endParaRPr lang="en-US" sz="830" b="0" u="none" strike="noStrike">
              <a:solidFill>
                <a:srgbClr val="000000"/>
              </a:solidFill>
              <a:effectLst/>
              <a:uFillTx/>
              <a:latin typeface="Arial"/>
            </a:endParaRPr>
          </a:p>
        </p:txBody>
      </p:sp>
      <p:sp>
        <p:nvSpPr>
          <p:cNvPr id="104" name="Shape 27"/>
          <p:cNvSpPr/>
          <p:nvPr/>
        </p:nvSpPr>
        <p:spPr>
          <a:xfrm>
            <a:off x="7854480" y="2359080"/>
            <a:ext cx="338400" cy="360"/>
          </a:xfrm>
          <a:prstGeom prst="line">
            <a:avLst/>
          </a:prstGeom>
          <a:ln w="19050">
            <a:solidFill>
              <a:srgbClr val="D7DEE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05" name="Shape 28"/>
          <p:cNvSpPr/>
          <p:nvPr/>
        </p:nvSpPr>
        <p:spPr>
          <a:xfrm>
            <a:off x="8092440" y="1828800"/>
            <a:ext cx="1608840" cy="1078560"/>
          </a:xfrm>
          <a:prstGeom prst="roundRect">
            <a:avLst>
              <a:gd name="adj" fmla="val 10169"/>
            </a:avLst>
          </a:prstGeom>
          <a:solidFill>
            <a:srgbClr val="FFFFFF"/>
          </a:solidFill>
          <a:ln w="889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6" name="Shape 29"/>
          <p:cNvSpPr/>
          <p:nvPr/>
        </p:nvSpPr>
        <p:spPr>
          <a:xfrm>
            <a:off x="8202240" y="1974960"/>
            <a:ext cx="328680" cy="328680"/>
          </a:xfrm>
          <a:prstGeom prst="ellipse">
            <a:avLst/>
          </a:prstGeom>
          <a:solidFill>
            <a:srgbClr val="0B4F71"/>
          </a:solidFill>
          <a:ln w="12700">
            <a:solidFill>
              <a:srgbClr val="0B4F71">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7" name="Text 30"/>
          <p:cNvSpPr/>
          <p:nvPr/>
        </p:nvSpPr>
        <p:spPr>
          <a:xfrm>
            <a:off x="8202240" y="2062080"/>
            <a:ext cx="328680" cy="72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u="none" strike="noStrike">
                <a:solidFill>
                  <a:srgbClr val="FFFFFF"/>
                </a:solidFill>
                <a:effectLst/>
                <a:uFillTx/>
                <a:latin typeface="Aptos"/>
              </a:rPr>
              <a:t>5</a:t>
            </a:r>
            <a:endParaRPr lang="en-US" sz="800" b="0" u="none" strike="noStrike">
              <a:solidFill>
                <a:srgbClr val="000000"/>
              </a:solidFill>
              <a:effectLst/>
              <a:uFillTx/>
              <a:latin typeface="Arial"/>
            </a:endParaRPr>
          </a:p>
        </p:txBody>
      </p:sp>
      <p:sp>
        <p:nvSpPr>
          <p:cNvPr id="108" name="Text 31"/>
          <p:cNvSpPr/>
          <p:nvPr/>
        </p:nvSpPr>
        <p:spPr>
          <a:xfrm>
            <a:off x="8604360" y="1974960"/>
            <a:ext cx="10144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50" b="1" u="none" strike="noStrike">
                <a:solidFill>
                  <a:srgbClr val="172033"/>
                </a:solidFill>
                <a:effectLst/>
                <a:uFillTx/>
                <a:latin typeface="Aptos"/>
              </a:rPr>
              <a:t>Cronograma</a:t>
            </a:r>
            <a:endParaRPr lang="en-US" sz="1150" b="0" u="none" strike="noStrike">
              <a:solidFill>
                <a:srgbClr val="000000"/>
              </a:solidFill>
              <a:effectLst/>
              <a:uFillTx/>
              <a:latin typeface="Arial"/>
            </a:endParaRPr>
          </a:p>
        </p:txBody>
      </p:sp>
      <p:sp>
        <p:nvSpPr>
          <p:cNvPr id="109" name="Text 32"/>
          <p:cNvSpPr/>
          <p:nvPr/>
        </p:nvSpPr>
        <p:spPr>
          <a:xfrm>
            <a:off x="8256960" y="2340720"/>
            <a:ext cx="129816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30" b="0" u="none" strike="noStrike">
                <a:solidFill>
                  <a:srgbClr val="2E3440"/>
                </a:solidFill>
                <a:effectLst/>
                <a:uFillTx/>
                <a:latin typeface="Aptos"/>
              </a:rPr>
              <a:t>Secuencia, duración y fechas</a:t>
            </a:r>
            <a:endParaRPr lang="en-US" sz="830" b="0" u="none" strike="noStrike">
              <a:solidFill>
                <a:srgbClr val="000000"/>
              </a:solidFill>
              <a:effectLst/>
              <a:uFillTx/>
              <a:latin typeface="Arial"/>
            </a:endParaRPr>
          </a:p>
        </p:txBody>
      </p:sp>
      <p:sp>
        <p:nvSpPr>
          <p:cNvPr id="110" name="Shape 33"/>
          <p:cNvSpPr/>
          <p:nvPr/>
        </p:nvSpPr>
        <p:spPr>
          <a:xfrm>
            <a:off x="9729000" y="2359080"/>
            <a:ext cx="338400" cy="360"/>
          </a:xfrm>
          <a:prstGeom prst="line">
            <a:avLst/>
          </a:prstGeom>
          <a:ln w="19050">
            <a:solidFill>
              <a:srgbClr val="D7DEE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11" name="Shape 34"/>
          <p:cNvSpPr/>
          <p:nvPr/>
        </p:nvSpPr>
        <p:spPr>
          <a:xfrm>
            <a:off x="9966960" y="1828800"/>
            <a:ext cx="1608840" cy="1078560"/>
          </a:xfrm>
          <a:prstGeom prst="roundRect">
            <a:avLst>
              <a:gd name="adj" fmla="val 10169"/>
            </a:avLst>
          </a:prstGeom>
          <a:solidFill>
            <a:srgbClr val="FFFFFF"/>
          </a:solidFill>
          <a:ln w="889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2" name="Shape 35"/>
          <p:cNvSpPr/>
          <p:nvPr/>
        </p:nvSpPr>
        <p:spPr>
          <a:xfrm>
            <a:off x="10076760" y="1974960"/>
            <a:ext cx="328680" cy="328680"/>
          </a:xfrm>
          <a:prstGeom prst="ellipse">
            <a:avLst/>
          </a:prstGeom>
          <a:solidFill>
            <a:srgbClr val="D64545"/>
          </a:solidFill>
          <a:ln w="12700">
            <a:solidFill>
              <a:srgbClr val="D6454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3" name="Text 36"/>
          <p:cNvSpPr/>
          <p:nvPr/>
        </p:nvSpPr>
        <p:spPr>
          <a:xfrm>
            <a:off x="10076760" y="2062080"/>
            <a:ext cx="328680" cy="72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u="none" strike="noStrike">
                <a:solidFill>
                  <a:srgbClr val="FFFFFF"/>
                </a:solidFill>
                <a:effectLst/>
                <a:uFillTx/>
                <a:latin typeface="Aptos"/>
              </a:rPr>
              <a:t>6</a:t>
            </a:r>
            <a:endParaRPr lang="en-US" sz="800" b="0" u="none" strike="noStrike">
              <a:solidFill>
                <a:srgbClr val="000000"/>
              </a:solidFill>
              <a:effectLst/>
              <a:uFillTx/>
              <a:latin typeface="Arial"/>
            </a:endParaRPr>
          </a:p>
        </p:txBody>
      </p:sp>
      <p:sp>
        <p:nvSpPr>
          <p:cNvPr id="114" name="Text 37"/>
          <p:cNvSpPr/>
          <p:nvPr/>
        </p:nvSpPr>
        <p:spPr>
          <a:xfrm>
            <a:off x="10478880" y="1974960"/>
            <a:ext cx="10144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50" b="1" u="none" strike="noStrike">
                <a:solidFill>
                  <a:srgbClr val="172033"/>
                </a:solidFill>
                <a:effectLst/>
                <a:uFillTx/>
                <a:latin typeface="Aptos"/>
              </a:rPr>
              <a:t>Control</a:t>
            </a:r>
            <a:endParaRPr lang="en-US" sz="1150" b="0" u="none" strike="noStrike">
              <a:solidFill>
                <a:srgbClr val="000000"/>
              </a:solidFill>
              <a:effectLst/>
              <a:uFillTx/>
              <a:latin typeface="Arial"/>
            </a:endParaRPr>
          </a:p>
        </p:txBody>
      </p:sp>
      <p:sp>
        <p:nvSpPr>
          <p:cNvPr id="115" name="Text 38"/>
          <p:cNvSpPr/>
          <p:nvPr/>
        </p:nvSpPr>
        <p:spPr>
          <a:xfrm>
            <a:off x="10131480" y="2340720"/>
            <a:ext cx="129816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30" b="0" u="none" strike="noStrike">
                <a:solidFill>
                  <a:srgbClr val="2E3440"/>
                </a:solidFill>
                <a:effectLst/>
                <a:uFillTx/>
                <a:latin typeface="Aptos"/>
              </a:rPr>
              <a:t>Estado, desviación y decisión PM</a:t>
            </a:r>
            <a:endParaRPr lang="en-US" sz="830" b="0" u="none" strike="noStrike">
              <a:solidFill>
                <a:srgbClr val="000000"/>
              </a:solidFill>
              <a:effectLst/>
              <a:uFillTx/>
              <a:latin typeface="Arial"/>
            </a:endParaRPr>
          </a:p>
        </p:txBody>
      </p:sp>
      <p:sp>
        <p:nvSpPr>
          <p:cNvPr id="118" name="Shape 41"/>
          <p:cNvSpPr/>
          <p:nvPr/>
        </p:nvSpPr>
        <p:spPr>
          <a:xfrm>
            <a:off x="2788920" y="4983480"/>
            <a:ext cx="6629040" cy="785880"/>
          </a:xfrm>
          <a:prstGeom prst="roundRect">
            <a:avLst>
              <a:gd name="adj" fmla="val 11628"/>
            </a:avLst>
          </a:prstGeom>
          <a:solidFill>
            <a:srgbClr val="FFFFFF"/>
          </a:solidFill>
          <a:ln w="952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9" name="Shape 42"/>
          <p:cNvSpPr/>
          <p:nvPr/>
        </p:nvSpPr>
        <p:spPr>
          <a:xfrm>
            <a:off x="2788920" y="4983480"/>
            <a:ext cx="91080" cy="785880"/>
          </a:xfrm>
          <a:prstGeom prst="rect">
            <a:avLst/>
          </a:prstGeom>
          <a:solidFill>
            <a:srgbClr val="2477C8"/>
          </a:solidFill>
          <a:ln w="12700">
            <a:solidFill>
              <a:srgbClr val="2477C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0" name="Text 43"/>
          <p:cNvSpPr/>
          <p:nvPr/>
        </p:nvSpPr>
        <p:spPr>
          <a:xfrm>
            <a:off x="2990160" y="5129640"/>
            <a:ext cx="63000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a:solidFill>
                  <a:srgbClr val="172033"/>
                </a:solidFill>
                <a:effectLst/>
                <a:uFillTx/>
                <a:latin typeface="Aptos"/>
              </a:rPr>
              <a:t>Regla de consistencia</a:t>
            </a:r>
            <a:endParaRPr lang="en-US" sz="1200" b="0" u="none" strike="noStrike">
              <a:solidFill>
                <a:srgbClr val="000000"/>
              </a:solidFill>
              <a:effectLst/>
              <a:uFillTx/>
              <a:latin typeface="Arial"/>
            </a:endParaRPr>
          </a:p>
        </p:txBody>
      </p:sp>
      <p:sp>
        <p:nvSpPr>
          <p:cNvPr id="121" name="Text 44"/>
          <p:cNvSpPr/>
          <p:nvPr/>
        </p:nvSpPr>
        <p:spPr>
          <a:xfrm>
            <a:off x="2990160" y="5449680"/>
            <a:ext cx="6300000" cy="191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2500" lnSpcReduction="9999"/>
          </a:bodyPr>
          <a:lstStyle/>
          <a:p>
            <a:pPr defTabSz="914400">
              <a:lnSpc>
                <a:spcPct val="100000"/>
              </a:lnSpc>
              <a:tabLst>
                <a:tab pos="0" algn="l"/>
              </a:tabLst>
            </a:pPr>
            <a:r>
              <a:rPr lang="en-US" sz="920" b="0" u="none" strike="noStrike">
                <a:solidFill>
                  <a:srgbClr val="2E3440"/>
                </a:solidFill>
                <a:effectLst/>
                <a:uFillTx/>
                <a:latin typeface="Aptos"/>
              </a:rPr>
              <a:t>Una actividad pendiente no se reporta como terminada. Una desviación documentada se explica junto con la decisión tomada.</a:t>
            </a:r>
            <a:endParaRPr lang="en-US" sz="920" b="0" u="none" strike="noStrike">
              <a:solidFill>
                <a:srgbClr val="000000"/>
              </a:solidFill>
              <a:effectLst/>
              <a:uFillTx/>
              <a:latin typeface="Arial"/>
            </a:endParaRPr>
          </a:p>
        </p:txBody>
      </p:sp>
      <p:sp>
        <p:nvSpPr>
          <p:cNvPr id="124" name="Text 47"/>
          <p:cNvSpPr/>
          <p:nvPr/>
        </p:nvSpPr>
        <p:spPr>
          <a:xfrm>
            <a:off x="11292840" y="658368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1" u="none" strike="noStrike">
                <a:solidFill>
                  <a:srgbClr val="6B7280"/>
                </a:solidFill>
                <a:effectLst/>
                <a:uFillTx/>
                <a:latin typeface="Aptos"/>
              </a:rPr>
              <a:t>04</a:t>
            </a:r>
            <a:endParaRPr lang="en-US" sz="85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125" name="Shape 0"/>
          <p:cNvSpPr/>
          <p:nvPr/>
        </p:nvSpPr>
        <p:spPr>
          <a:xfrm>
            <a:off x="0" y="0"/>
            <a:ext cx="12191400" cy="6857640"/>
          </a:xfrm>
          <a:prstGeom prst="rect">
            <a:avLst/>
          </a:prstGeom>
          <a:solidFill>
            <a:srgbClr val="F6F8FC"/>
          </a:solidFill>
          <a:ln w="12700">
            <a:solidFill>
              <a:srgbClr val="F6F8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 name="Text 1"/>
          <p:cNvSpPr/>
          <p:nvPr/>
        </p:nvSpPr>
        <p:spPr>
          <a:xfrm>
            <a:off x="502920" y="329040"/>
            <a:ext cx="94179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50" b="1" u="none" strike="noStrike">
                <a:solidFill>
                  <a:srgbClr val="172033"/>
                </a:solidFill>
                <a:effectLst/>
                <a:uFillTx/>
                <a:latin typeface="Aptos Display"/>
                <a:ea typeface="Aptos Display"/>
              </a:rPr>
              <a:t>Convertir una necesidad en objetivo SMART</a:t>
            </a:r>
            <a:endParaRPr lang="en-US" sz="2450" b="0" u="none" strike="noStrike">
              <a:solidFill>
                <a:srgbClr val="000000"/>
              </a:solidFill>
              <a:effectLst/>
              <a:uFillTx/>
              <a:latin typeface="Arial"/>
            </a:endParaRPr>
          </a:p>
        </p:txBody>
      </p:sp>
      <p:sp>
        <p:nvSpPr>
          <p:cNvPr id="127" name="Text 2"/>
          <p:cNvSpPr/>
          <p:nvPr/>
        </p:nvSpPr>
        <p:spPr>
          <a:xfrm>
            <a:off x="521280" y="749880"/>
            <a:ext cx="9692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20" b="0" u="none" strike="noStrike">
                <a:solidFill>
                  <a:srgbClr val="6B7280"/>
                </a:solidFill>
                <a:effectLst/>
                <a:uFillTx/>
                <a:latin typeface="Aptos"/>
                <a:ea typeface="Aptos"/>
              </a:rPr>
              <a:t>Caso base: Fast Burger</a:t>
            </a:r>
            <a:endParaRPr lang="en-US" sz="1020" b="0" u="none" strike="noStrike">
              <a:solidFill>
                <a:srgbClr val="000000"/>
              </a:solidFill>
              <a:effectLst/>
              <a:uFillTx/>
              <a:latin typeface="Arial"/>
            </a:endParaRPr>
          </a:p>
        </p:txBody>
      </p:sp>
      <p:sp>
        <p:nvSpPr>
          <p:cNvPr id="128" name="Shape 3"/>
          <p:cNvSpPr/>
          <p:nvPr/>
        </p:nvSpPr>
        <p:spPr>
          <a:xfrm>
            <a:off x="502920" y="1042200"/>
            <a:ext cx="11201400" cy="360"/>
          </a:xfrm>
          <a:prstGeom prst="line">
            <a:avLst/>
          </a:prstGeom>
          <a:ln w="10160">
            <a:solidFill>
              <a:srgbClr val="D7DEE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29" name="Shape 4"/>
          <p:cNvSpPr/>
          <p:nvPr/>
        </p:nvSpPr>
        <p:spPr>
          <a:xfrm>
            <a:off x="10104120" y="347400"/>
            <a:ext cx="1535760" cy="383760"/>
          </a:xfrm>
          <a:prstGeom prst="roundRect">
            <a:avLst>
              <a:gd name="adj" fmla="val 23810"/>
            </a:avLst>
          </a:prstGeom>
          <a:solidFill>
            <a:srgbClr val="172033"/>
          </a:solidFill>
          <a:ln w="12700">
            <a:solidFill>
              <a:srgbClr val="172033">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0" name="Text 5"/>
          <p:cNvSpPr/>
          <p:nvPr/>
        </p:nvSpPr>
        <p:spPr>
          <a:xfrm>
            <a:off x="10168200" y="448200"/>
            <a:ext cx="140796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39" b="1" u="none" strike="noStrike">
                <a:solidFill>
                  <a:srgbClr val="FFFFFF"/>
                </a:solidFill>
                <a:effectLst/>
                <a:uFillTx/>
                <a:latin typeface="Aptos"/>
              </a:rPr>
              <a:t>Ejercicio 1</a:t>
            </a:r>
            <a:endParaRPr lang="en-US" sz="839" b="0" u="none" strike="noStrike">
              <a:solidFill>
                <a:srgbClr val="000000"/>
              </a:solidFill>
              <a:effectLst/>
              <a:uFillTx/>
              <a:latin typeface="Arial"/>
            </a:endParaRPr>
          </a:p>
        </p:txBody>
      </p:sp>
      <p:sp>
        <p:nvSpPr>
          <p:cNvPr id="131" name="Shape 6"/>
          <p:cNvSpPr/>
          <p:nvPr/>
        </p:nvSpPr>
        <p:spPr>
          <a:xfrm>
            <a:off x="567000" y="1207080"/>
            <a:ext cx="3977280" cy="4160160"/>
          </a:xfrm>
          <a:prstGeom prst="roundRect">
            <a:avLst>
              <a:gd name="adj" fmla="val 1839"/>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132" name="Image 0" descr="/mnt/data/793c87dc-c351-4b4f-8c46-555cf3cdae57.png"/>
          <p:cNvPicPr/>
          <p:nvPr/>
        </p:nvPicPr>
        <p:blipFill>
          <a:blip r:embed="rId3"/>
          <a:stretch/>
        </p:blipFill>
        <p:spPr>
          <a:xfrm>
            <a:off x="631080" y="1585800"/>
            <a:ext cx="3849120" cy="3091320"/>
          </a:xfrm>
          <a:prstGeom prst="rect">
            <a:avLst/>
          </a:prstGeom>
          <a:noFill/>
          <a:ln w="0">
            <a:noFill/>
          </a:ln>
        </p:spPr>
      </p:pic>
      <p:sp>
        <p:nvSpPr>
          <p:cNvPr id="133" name="Text 7"/>
          <p:cNvSpPr/>
          <p:nvPr/>
        </p:nvSpPr>
        <p:spPr>
          <a:xfrm>
            <a:off x="685800" y="5102280"/>
            <a:ext cx="3739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10" b="0" u="none" strike="noStrike">
                <a:solidFill>
                  <a:srgbClr val="6B7280"/>
                </a:solidFill>
                <a:effectLst/>
                <a:uFillTx/>
                <a:latin typeface="Aptos"/>
              </a:rPr>
              <a:t>PLAN-003: plan de recuperación de Fast Burger.</a:t>
            </a:r>
            <a:endParaRPr lang="en-US" sz="710" b="0" u="none" strike="noStrike">
              <a:solidFill>
                <a:srgbClr val="000000"/>
              </a:solidFill>
              <a:effectLst/>
              <a:uFillTx/>
              <a:latin typeface="Arial"/>
            </a:endParaRPr>
          </a:p>
        </p:txBody>
      </p:sp>
      <p:sp>
        <p:nvSpPr>
          <p:cNvPr id="134" name="Shape 8"/>
          <p:cNvSpPr/>
          <p:nvPr/>
        </p:nvSpPr>
        <p:spPr>
          <a:xfrm>
            <a:off x="4773240" y="1225440"/>
            <a:ext cx="3154320" cy="1298160"/>
          </a:xfrm>
          <a:prstGeom prst="roundRect">
            <a:avLst>
              <a:gd name="adj" fmla="val 5634"/>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5" name="Shape 9"/>
          <p:cNvSpPr/>
          <p:nvPr/>
        </p:nvSpPr>
        <p:spPr>
          <a:xfrm>
            <a:off x="4773240" y="1225440"/>
            <a:ext cx="72720" cy="1298160"/>
          </a:xfrm>
          <a:prstGeom prst="rect">
            <a:avLst/>
          </a:prstGeom>
          <a:solidFill>
            <a:srgbClr val="2477C8"/>
          </a:solidFill>
          <a:ln w="12700">
            <a:solidFill>
              <a:srgbClr val="2477C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6" name="Text 10"/>
          <p:cNvSpPr/>
          <p:nvPr/>
        </p:nvSpPr>
        <p:spPr>
          <a:xfrm>
            <a:off x="4974480" y="1371600"/>
            <a:ext cx="2825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60" b="1" u="none" strike="noStrike">
                <a:solidFill>
                  <a:srgbClr val="172033"/>
                </a:solidFill>
                <a:effectLst/>
                <a:uFillTx/>
                <a:latin typeface="Aptos"/>
              </a:rPr>
              <a:t>Planteamiento</a:t>
            </a:r>
            <a:endParaRPr lang="en-US" sz="1260" b="0" u="none" strike="noStrike">
              <a:solidFill>
                <a:srgbClr val="000000"/>
              </a:solidFill>
              <a:effectLst/>
              <a:uFillTx/>
              <a:latin typeface="Arial"/>
            </a:endParaRPr>
          </a:p>
        </p:txBody>
      </p:sp>
      <p:sp>
        <p:nvSpPr>
          <p:cNvPr id="137" name="Text 11"/>
          <p:cNvSpPr/>
          <p:nvPr/>
        </p:nvSpPr>
        <p:spPr>
          <a:xfrm>
            <a:off x="4974480" y="1682640"/>
            <a:ext cx="28252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2500" lnSpcReduction="9999"/>
          </a:bodyPr>
          <a:lstStyle/>
          <a:p>
            <a:pPr defTabSz="914400">
              <a:lnSpc>
                <a:spcPct val="100000"/>
              </a:lnSpc>
              <a:tabLst>
                <a:tab pos="0" algn="l"/>
              </a:tabLst>
            </a:pPr>
            <a:r>
              <a:rPr lang="en-US" sz="1010" b="0" u="none" strike="noStrike">
                <a:solidFill>
                  <a:srgbClr val="2E3440"/>
                </a:solidFill>
                <a:effectLst/>
                <a:uFillTx/>
                <a:latin typeface="Aptos"/>
              </a:rPr>
              <a:t>Fast Burger tenía una necesidad concreta: terminar la simulación del proceso de atención de clientes después de un retraso registrado al inicio de la ejecución. La necesidad debía convertirse en un objetivo que pudiera revisarse al cierre.</a:t>
            </a:r>
            <a:endParaRPr lang="en-US" sz="1010" b="0" u="none" strike="noStrike">
              <a:solidFill>
                <a:srgbClr val="000000"/>
              </a:solidFill>
              <a:effectLst/>
              <a:uFillTx/>
              <a:latin typeface="Arial"/>
            </a:endParaRPr>
          </a:p>
        </p:txBody>
      </p:sp>
      <p:sp>
        <p:nvSpPr>
          <p:cNvPr id="138" name="Shape 12"/>
          <p:cNvSpPr/>
          <p:nvPr/>
        </p:nvSpPr>
        <p:spPr>
          <a:xfrm>
            <a:off x="4773240" y="2788920"/>
            <a:ext cx="1234080" cy="35640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9" name="Text 13"/>
          <p:cNvSpPr/>
          <p:nvPr/>
        </p:nvSpPr>
        <p:spPr>
          <a:xfrm>
            <a:off x="4827960" y="2857680"/>
            <a:ext cx="112428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10" b="1" u="none" strike="noStrike">
                <a:solidFill>
                  <a:srgbClr val="FFFFFF"/>
                </a:solidFill>
                <a:effectLst/>
                <a:uFillTx/>
                <a:latin typeface="Aptos"/>
              </a:rPr>
              <a:t>Criterio</a:t>
            </a:r>
            <a:endParaRPr lang="en-US" sz="810" b="0" u="none" strike="noStrike">
              <a:solidFill>
                <a:srgbClr val="000000"/>
              </a:solidFill>
              <a:effectLst/>
              <a:uFillTx/>
              <a:latin typeface="Arial"/>
            </a:endParaRPr>
          </a:p>
        </p:txBody>
      </p:sp>
      <p:sp>
        <p:nvSpPr>
          <p:cNvPr id="140" name="Shape 14"/>
          <p:cNvSpPr/>
          <p:nvPr/>
        </p:nvSpPr>
        <p:spPr>
          <a:xfrm>
            <a:off x="6007680" y="2788920"/>
            <a:ext cx="4343040" cy="35640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1" name="Text 15"/>
          <p:cNvSpPr/>
          <p:nvPr/>
        </p:nvSpPr>
        <p:spPr>
          <a:xfrm>
            <a:off x="6062400" y="2857680"/>
            <a:ext cx="42332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10" b="1" u="none" strike="noStrike">
                <a:solidFill>
                  <a:srgbClr val="FFFFFF"/>
                </a:solidFill>
                <a:effectLst/>
                <a:uFillTx/>
                <a:latin typeface="Aptos"/>
              </a:rPr>
              <a:t>Aplicación</a:t>
            </a:r>
            <a:endParaRPr lang="en-US" sz="810" b="0" u="none" strike="noStrike">
              <a:solidFill>
                <a:srgbClr val="000000"/>
              </a:solidFill>
              <a:effectLst/>
              <a:uFillTx/>
              <a:latin typeface="Arial"/>
            </a:endParaRPr>
          </a:p>
        </p:txBody>
      </p:sp>
      <p:sp>
        <p:nvSpPr>
          <p:cNvPr id="142" name="Shape 16"/>
          <p:cNvSpPr/>
          <p:nvPr/>
        </p:nvSpPr>
        <p:spPr>
          <a:xfrm>
            <a:off x="4773240" y="3145680"/>
            <a:ext cx="1234080" cy="3564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3" name="Text 17"/>
          <p:cNvSpPr/>
          <p:nvPr/>
        </p:nvSpPr>
        <p:spPr>
          <a:xfrm>
            <a:off x="4827960" y="3214080"/>
            <a:ext cx="112428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80" b="0" u="none" strike="noStrike">
                <a:solidFill>
                  <a:srgbClr val="2E3440"/>
                </a:solidFill>
                <a:effectLst/>
                <a:uFillTx/>
                <a:latin typeface="Aptos"/>
              </a:rPr>
              <a:t>Específico</a:t>
            </a:r>
            <a:endParaRPr lang="en-US" sz="780" b="0" u="none" strike="noStrike">
              <a:solidFill>
                <a:srgbClr val="000000"/>
              </a:solidFill>
              <a:effectLst/>
              <a:uFillTx/>
              <a:latin typeface="Arial"/>
            </a:endParaRPr>
          </a:p>
        </p:txBody>
      </p:sp>
      <p:sp>
        <p:nvSpPr>
          <p:cNvPr id="144" name="Shape 18"/>
          <p:cNvSpPr/>
          <p:nvPr/>
        </p:nvSpPr>
        <p:spPr>
          <a:xfrm>
            <a:off x="6007680" y="3145680"/>
            <a:ext cx="4343040" cy="3564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5" name="Text 19"/>
          <p:cNvSpPr/>
          <p:nvPr/>
        </p:nvSpPr>
        <p:spPr>
          <a:xfrm>
            <a:off x="6062400" y="3214080"/>
            <a:ext cx="42332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80" b="0" u="none" strike="noStrike">
                <a:solidFill>
                  <a:srgbClr val="2E3440"/>
                </a:solidFill>
                <a:effectLst/>
                <a:uFillTx/>
                <a:latin typeface="Aptos"/>
              </a:rPr>
              <a:t>Terminar D1–D8 de la simulación Fast Burger.</a:t>
            </a:r>
            <a:endParaRPr lang="en-US" sz="780" b="0" u="none" strike="noStrike">
              <a:solidFill>
                <a:srgbClr val="000000"/>
              </a:solidFill>
              <a:effectLst/>
              <a:uFillTx/>
              <a:latin typeface="Arial"/>
            </a:endParaRPr>
          </a:p>
        </p:txBody>
      </p:sp>
      <p:sp>
        <p:nvSpPr>
          <p:cNvPr id="146" name="Shape 20"/>
          <p:cNvSpPr/>
          <p:nvPr/>
        </p:nvSpPr>
        <p:spPr>
          <a:xfrm>
            <a:off x="4773240" y="3502080"/>
            <a:ext cx="1234080" cy="3564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7" name="Text 21"/>
          <p:cNvSpPr/>
          <p:nvPr/>
        </p:nvSpPr>
        <p:spPr>
          <a:xfrm>
            <a:off x="4827960" y="3570840"/>
            <a:ext cx="112428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80" b="0" u="none" strike="noStrike">
                <a:solidFill>
                  <a:srgbClr val="2E3440"/>
                </a:solidFill>
                <a:effectLst/>
                <a:uFillTx/>
                <a:latin typeface="Aptos"/>
              </a:rPr>
              <a:t>Medible</a:t>
            </a:r>
            <a:endParaRPr lang="en-US" sz="780" b="0" u="none" strike="noStrike">
              <a:solidFill>
                <a:srgbClr val="000000"/>
              </a:solidFill>
              <a:effectLst/>
              <a:uFillTx/>
              <a:latin typeface="Arial"/>
            </a:endParaRPr>
          </a:p>
        </p:txBody>
      </p:sp>
      <p:sp>
        <p:nvSpPr>
          <p:cNvPr id="148" name="Shape 22"/>
          <p:cNvSpPr/>
          <p:nvPr/>
        </p:nvSpPr>
        <p:spPr>
          <a:xfrm>
            <a:off x="6007680" y="3502080"/>
            <a:ext cx="4343040" cy="3564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9" name="Text 23"/>
          <p:cNvSpPr/>
          <p:nvPr/>
        </p:nvSpPr>
        <p:spPr>
          <a:xfrm>
            <a:off x="6062400" y="3570840"/>
            <a:ext cx="42332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80" b="0" u="none" strike="noStrike">
                <a:solidFill>
                  <a:srgbClr val="2E3440"/>
                </a:solidFill>
                <a:effectLst/>
                <a:uFillTx/>
                <a:latin typeface="Aptos"/>
              </a:rPr>
              <a:t>8 entregables completos y revisados.</a:t>
            </a:r>
            <a:endParaRPr lang="en-US" sz="780" b="0" u="none" strike="noStrike">
              <a:solidFill>
                <a:srgbClr val="000000"/>
              </a:solidFill>
              <a:effectLst/>
              <a:uFillTx/>
              <a:latin typeface="Arial"/>
            </a:endParaRPr>
          </a:p>
        </p:txBody>
      </p:sp>
      <p:sp>
        <p:nvSpPr>
          <p:cNvPr id="150" name="Shape 24"/>
          <p:cNvSpPr/>
          <p:nvPr/>
        </p:nvSpPr>
        <p:spPr>
          <a:xfrm>
            <a:off x="4773240" y="3858840"/>
            <a:ext cx="1234080" cy="3564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1" name="Text 25"/>
          <p:cNvSpPr/>
          <p:nvPr/>
        </p:nvSpPr>
        <p:spPr>
          <a:xfrm>
            <a:off x="4827960" y="3927240"/>
            <a:ext cx="112428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80" b="0" u="none" strike="noStrike">
                <a:solidFill>
                  <a:srgbClr val="2E3440"/>
                </a:solidFill>
                <a:effectLst/>
                <a:uFillTx/>
                <a:latin typeface="Aptos"/>
              </a:rPr>
              <a:t>Alcanzable</a:t>
            </a:r>
            <a:endParaRPr lang="en-US" sz="780" b="0" u="none" strike="noStrike">
              <a:solidFill>
                <a:srgbClr val="000000"/>
              </a:solidFill>
              <a:effectLst/>
              <a:uFillTx/>
              <a:latin typeface="Arial"/>
            </a:endParaRPr>
          </a:p>
        </p:txBody>
      </p:sp>
      <p:sp>
        <p:nvSpPr>
          <p:cNvPr id="152" name="Shape 26"/>
          <p:cNvSpPr/>
          <p:nvPr/>
        </p:nvSpPr>
        <p:spPr>
          <a:xfrm>
            <a:off x="6007680" y="3858840"/>
            <a:ext cx="4343040" cy="3564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3" name="Text 27"/>
          <p:cNvSpPr/>
          <p:nvPr/>
        </p:nvSpPr>
        <p:spPr>
          <a:xfrm>
            <a:off x="6062400" y="3927240"/>
            <a:ext cx="42332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80" b="0" u="none" strike="noStrike">
                <a:solidFill>
                  <a:srgbClr val="2E3440"/>
                </a:solidFill>
                <a:effectLst/>
                <a:uFillTx/>
                <a:latin typeface="Aptos"/>
              </a:rPr>
              <a:t>Uso de Bizagi, Word, Excel y seguimiento PM.</a:t>
            </a:r>
            <a:endParaRPr lang="en-US" sz="780" b="0" u="none" strike="noStrike">
              <a:solidFill>
                <a:srgbClr val="000000"/>
              </a:solidFill>
              <a:effectLst/>
              <a:uFillTx/>
              <a:latin typeface="Arial"/>
            </a:endParaRPr>
          </a:p>
        </p:txBody>
      </p:sp>
      <p:sp>
        <p:nvSpPr>
          <p:cNvPr id="154" name="Shape 28"/>
          <p:cNvSpPr/>
          <p:nvPr/>
        </p:nvSpPr>
        <p:spPr>
          <a:xfrm>
            <a:off x="4773240" y="4215240"/>
            <a:ext cx="1234080" cy="3564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5" name="Text 29"/>
          <p:cNvSpPr/>
          <p:nvPr/>
        </p:nvSpPr>
        <p:spPr>
          <a:xfrm>
            <a:off x="4827960" y="4284000"/>
            <a:ext cx="112428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80" b="0" u="none" strike="noStrike">
                <a:solidFill>
                  <a:srgbClr val="2E3440"/>
                </a:solidFill>
                <a:effectLst/>
                <a:uFillTx/>
                <a:latin typeface="Aptos"/>
              </a:rPr>
              <a:t>Relevante</a:t>
            </a:r>
            <a:endParaRPr lang="en-US" sz="780" b="0" u="none" strike="noStrike">
              <a:solidFill>
                <a:srgbClr val="000000"/>
              </a:solidFill>
              <a:effectLst/>
              <a:uFillTx/>
              <a:latin typeface="Arial"/>
            </a:endParaRPr>
          </a:p>
        </p:txBody>
      </p:sp>
      <p:sp>
        <p:nvSpPr>
          <p:cNvPr id="156" name="Shape 30"/>
          <p:cNvSpPr/>
          <p:nvPr/>
        </p:nvSpPr>
        <p:spPr>
          <a:xfrm>
            <a:off x="6007680" y="4215240"/>
            <a:ext cx="4343040" cy="3564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7" name="Text 31"/>
          <p:cNvSpPr/>
          <p:nvPr/>
        </p:nvSpPr>
        <p:spPr>
          <a:xfrm>
            <a:off x="6062400" y="4284000"/>
            <a:ext cx="42332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80" b="0" u="none" strike="noStrike">
                <a:solidFill>
                  <a:srgbClr val="2E3440"/>
                </a:solidFill>
                <a:effectLst/>
                <a:uFillTx/>
                <a:latin typeface="Aptos"/>
              </a:rPr>
              <a:t>Permite cerrar el expediente académico.</a:t>
            </a:r>
            <a:endParaRPr lang="en-US" sz="780" b="0" u="none" strike="noStrike">
              <a:solidFill>
                <a:srgbClr val="000000"/>
              </a:solidFill>
              <a:effectLst/>
              <a:uFillTx/>
              <a:latin typeface="Arial"/>
            </a:endParaRPr>
          </a:p>
        </p:txBody>
      </p:sp>
      <p:sp>
        <p:nvSpPr>
          <p:cNvPr id="158" name="Shape 32"/>
          <p:cNvSpPr/>
          <p:nvPr/>
        </p:nvSpPr>
        <p:spPr>
          <a:xfrm>
            <a:off x="4773240" y="4572000"/>
            <a:ext cx="1234080" cy="3564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9" name="Text 33"/>
          <p:cNvSpPr/>
          <p:nvPr/>
        </p:nvSpPr>
        <p:spPr>
          <a:xfrm>
            <a:off x="4827960" y="4640760"/>
            <a:ext cx="112428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80" b="0" u="none" strike="noStrike">
                <a:solidFill>
                  <a:srgbClr val="2E3440"/>
                </a:solidFill>
                <a:effectLst/>
                <a:uFillTx/>
                <a:latin typeface="Aptos"/>
              </a:rPr>
              <a:t>Tiempo</a:t>
            </a:r>
            <a:endParaRPr lang="en-US" sz="780" b="0" u="none" strike="noStrike">
              <a:solidFill>
                <a:srgbClr val="000000"/>
              </a:solidFill>
              <a:effectLst/>
              <a:uFillTx/>
              <a:latin typeface="Arial"/>
            </a:endParaRPr>
          </a:p>
        </p:txBody>
      </p:sp>
      <p:sp>
        <p:nvSpPr>
          <p:cNvPr id="160" name="Shape 34"/>
          <p:cNvSpPr/>
          <p:nvPr/>
        </p:nvSpPr>
        <p:spPr>
          <a:xfrm>
            <a:off x="6007680" y="4572000"/>
            <a:ext cx="4343040" cy="3564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1" name="Text 35"/>
          <p:cNvSpPr/>
          <p:nvPr/>
        </p:nvSpPr>
        <p:spPr>
          <a:xfrm>
            <a:off x="6062400" y="4640760"/>
            <a:ext cx="42332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80" b="0" u="none" strike="noStrike">
                <a:solidFill>
                  <a:srgbClr val="2E3440"/>
                </a:solidFill>
                <a:effectLst/>
                <a:uFillTx/>
                <a:latin typeface="Aptos"/>
              </a:rPr>
              <a:t>Fecha límite: 30/08/2026; cierre técnico posterior documentado.</a:t>
            </a:r>
            <a:endParaRPr lang="en-US" sz="780" b="0" u="none" strike="noStrike">
              <a:solidFill>
                <a:srgbClr val="000000"/>
              </a:solidFill>
              <a:effectLst/>
              <a:uFillTx/>
              <a:latin typeface="Arial"/>
            </a:endParaRPr>
          </a:p>
        </p:txBody>
      </p:sp>
      <p:sp>
        <p:nvSpPr>
          <p:cNvPr id="162" name="Shape 36"/>
          <p:cNvSpPr/>
          <p:nvPr/>
        </p:nvSpPr>
        <p:spPr>
          <a:xfrm>
            <a:off x="4773240" y="5193720"/>
            <a:ext cx="6720480" cy="749520"/>
          </a:xfrm>
          <a:prstGeom prst="roundRect">
            <a:avLst>
              <a:gd name="adj" fmla="val 9756"/>
            </a:avLst>
          </a:prstGeom>
          <a:solidFill>
            <a:srgbClr val="DDF7EA"/>
          </a:solidFill>
          <a:ln w="635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3" name="Text 37"/>
          <p:cNvSpPr/>
          <p:nvPr/>
        </p:nvSpPr>
        <p:spPr>
          <a:xfrm>
            <a:off x="4919400" y="5303520"/>
            <a:ext cx="64278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10" b="0" u="none" strike="noStrike">
                <a:solidFill>
                  <a:srgbClr val="2E3440"/>
                </a:solidFill>
                <a:effectLst/>
                <a:uFillTx/>
                <a:latin typeface="Aptos"/>
              </a:rPr>
              <a:t>Respuesta: Completar los 8 entregables del proyecto Fast Burger, usando Bizagi Modeler y herramientas de documentación, con revisión del Project Manager y evidencia verificable, para cerrar el expediente dentro del periodo de recuperación definido y registrar las correcciones posteriores.</a:t>
            </a:r>
            <a:endParaRPr lang="en-US" sz="1010" b="0" u="none" strike="noStrike">
              <a:solidFill>
                <a:srgbClr val="000000"/>
              </a:solidFill>
              <a:effectLst/>
              <a:uFillTx/>
              <a:latin typeface="Arial"/>
            </a:endParaRPr>
          </a:p>
        </p:txBody>
      </p:sp>
      <p:sp>
        <p:nvSpPr>
          <p:cNvPr id="166" name="Text 40"/>
          <p:cNvSpPr/>
          <p:nvPr/>
        </p:nvSpPr>
        <p:spPr>
          <a:xfrm>
            <a:off x="11292840" y="658368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1" u="none" strike="noStrike">
                <a:solidFill>
                  <a:srgbClr val="6B7280"/>
                </a:solidFill>
                <a:effectLst/>
                <a:uFillTx/>
                <a:latin typeface="Aptos"/>
              </a:rPr>
              <a:t>05</a:t>
            </a:r>
            <a:endParaRPr lang="en-US" sz="85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167" name="Shape 0"/>
          <p:cNvSpPr/>
          <p:nvPr/>
        </p:nvSpPr>
        <p:spPr>
          <a:xfrm>
            <a:off x="0" y="0"/>
            <a:ext cx="12191400" cy="6857640"/>
          </a:xfrm>
          <a:prstGeom prst="rect">
            <a:avLst/>
          </a:prstGeom>
          <a:solidFill>
            <a:srgbClr val="F6F8FC"/>
          </a:solidFill>
          <a:ln w="12700">
            <a:solidFill>
              <a:srgbClr val="F6F8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8" name="Text 1"/>
          <p:cNvSpPr/>
          <p:nvPr/>
        </p:nvSpPr>
        <p:spPr>
          <a:xfrm>
            <a:off x="502920" y="329040"/>
            <a:ext cx="94179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50" b="1" u="none" strike="noStrike">
                <a:solidFill>
                  <a:srgbClr val="172033"/>
                </a:solidFill>
                <a:effectLst/>
                <a:uFillTx/>
                <a:latin typeface="Aptos Display"/>
                <a:ea typeface="Aptos Display"/>
              </a:rPr>
              <a:t>Determinar alcance incluido y excluido</a:t>
            </a:r>
            <a:endParaRPr lang="en-US" sz="2450" b="0" u="none" strike="noStrike">
              <a:solidFill>
                <a:srgbClr val="000000"/>
              </a:solidFill>
              <a:effectLst/>
              <a:uFillTx/>
              <a:latin typeface="Arial"/>
            </a:endParaRPr>
          </a:p>
        </p:txBody>
      </p:sp>
      <p:sp>
        <p:nvSpPr>
          <p:cNvPr id="169" name="Text 2"/>
          <p:cNvSpPr/>
          <p:nvPr/>
        </p:nvSpPr>
        <p:spPr>
          <a:xfrm>
            <a:off x="521280" y="749880"/>
            <a:ext cx="9692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20" b="0" u="none" strike="noStrike">
                <a:solidFill>
                  <a:srgbClr val="6B7280"/>
                </a:solidFill>
                <a:effectLst/>
                <a:uFillTx/>
                <a:latin typeface="Aptos"/>
                <a:ea typeface="Aptos"/>
              </a:rPr>
              <a:t>Caso base: Industria Bloquera</a:t>
            </a:r>
            <a:endParaRPr lang="en-US" sz="1020" b="0" u="none" strike="noStrike">
              <a:solidFill>
                <a:srgbClr val="000000"/>
              </a:solidFill>
              <a:effectLst/>
              <a:uFillTx/>
              <a:latin typeface="Arial"/>
            </a:endParaRPr>
          </a:p>
        </p:txBody>
      </p:sp>
      <p:sp>
        <p:nvSpPr>
          <p:cNvPr id="170" name="Shape 3"/>
          <p:cNvSpPr/>
          <p:nvPr/>
        </p:nvSpPr>
        <p:spPr>
          <a:xfrm>
            <a:off x="502920" y="1042200"/>
            <a:ext cx="11201400" cy="360"/>
          </a:xfrm>
          <a:prstGeom prst="line">
            <a:avLst/>
          </a:prstGeom>
          <a:ln w="10160">
            <a:solidFill>
              <a:srgbClr val="D7DEE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71" name="Shape 4"/>
          <p:cNvSpPr/>
          <p:nvPr/>
        </p:nvSpPr>
        <p:spPr>
          <a:xfrm>
            <a:off x="10104120" y="347400"/>
            <a:ext cx="1535760" cy="383760"/>
          </a:xfrm>
          <a:prstGeom prst="roundRect">
            <a:avLst>
              <a:gd name="adj" fmla="val 23810"/>
            </a:avLst>
          </a:prstGeom>
          <a:solidFill>
            <a:srgbClr val="172033"/>
          </a:solidFill>
          <a:ln w="12700">
            <a:solidFill>
              <a:srgbClr val="172033">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2" name="Text 5"/>
          <p:cNvSpPr/>
          <p:nvPr/>
        </p:nvSpPr>
        <p:spPr>
          <a:xfrm>
            <a:off x="10168200" y="448200"/>
            <a:ext cx="140796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39" b="1" u="none" strike="noStrike">
                <a:solidFill>
                  <a:srgbClr val="FFFFFF"/>
                </a:solidFill>
                <a:effectLst/>
                <a:uFillTx/>
                <a:latin typeface="Aptos"/>
              </a:rPr>
              <a:t>Ejercicio 2</a:t>
            </a:r>
            <a:endParaRPr lang="en-US" sz="839" b="0" u="none" strike="noStrike">
              <a:solidFill>
                <a:srgbClr val="000000"/>
              </a:solidFill>
              <a:effectLst/>
              <a:uFillTx/>
              <a:latin typeface="Arial"/>
            </a:endParaRPr>
          </a:p>
        </p:txBody>
      </p:sp>
      <p:sp>
        <p:nvSpPr>
          <p:cNvPr id="173" name="Shape 6"/>
          <p:cNvSpPr/>
          <p:nvPr/>
        </p:nvSpPr>
        <p:spPr>
          <a:xfrm>
            <a:off x="567000" y="1207080"/>
            <a:ext cx="4023000" cy="2742840"/>
          </a:xfrm>
          <a:prstGeom prst="roundRect">
            <a:avLst>
              <a:gd name="adj" fmla="val 2667"/>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174" name="Image 0" descr="/mnt/data/fa3728dc-abc5-4404-9b70-8f8b4c64bb7e.png"/>
          <p:cNvPicPr/>
          <p:nvPr/>
        </p:nvPicPr>
        <p:blipFill>
          <a:blip r:embed="rId3"/>
          <a:stretch/>
        </p:blipFill>
        <p:spPr>
          <a:xfrm>
            <a:off x="802440" y="1271160"/>
            <a:ext cx="3552120" cy="2304000"/>
          </a:xfrm>
          <a:prstGeom prst="rect">
            <a:avLst/>
          </a:prstGeom>
          <a:noFill/>
          <a:ln w="0">
            <a:noFill/>
          </a:ln>
        </p:spPr>
      </p:pic>
      <p:sp>
        <p:nvSpPr>
          <p:cNvPr id="175" name="Text 7"/>
          <p:cNvSpPr/>
          <p:nvPr/>
        </p:nvSpPr>
        <p:spPr>
          <a:xfrm>
            <a:off x="685800" y="3684960"/>
            <a:ext cx="37854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10" b="0" u="none" strike="noStrike">
                <a:solidFill>
                  <a:srgbClr val="6B7280"/>
                </a:solidFill>
                <a:effectLst/>
                <a:uFillTx/>
                <a:latin typeface="Aptos"/>
              </a:rPr>
              <a:t>PLAN-001: cronograma y plan de trabajo de Industria Bloquera.</a:t>
            </a:r>
            <a:endParaRPr lang="en-US" sz="710" b="0" u="none" strike="noStrike">
              <a:solidFill>
                <a:srgbClr val="000000"/>
              </a:solidFill>
              <a:effectLst/>
              <a:uFillTx/>
              <a:latin typeface="Arial"/>
            </a:endParaRPr>
          </a:p>
        </p:txBody>
      </p:sp>
      <p:sp>
        <p:nvSpPr>
          <p:cNvPr id="176" name="Shape 8"/>
          <p:cNvSpPr/>
          <p:nvPr/>
        </p:nvSpPr>
        <p:spPr>
          <a:xfrm>
            <a:off x="567000" y="4133160"/>
            <a:ext cx="4023000" cy="1599840"/>
          </a:xfrm>
          <a:prstGeom prst="roundRect">
            <a:avLst>
              <a:gd name="adj" fmla="val 4571"/>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177" name="Image 1" descr="/mnt/data/c3a4d717-9c44-4d6e-a2c0-e99c7e42430c.png"/>
          <p:cNvPicPr/>
          <p:nvPr/>
        </p:nvPicPr>
        <p:blipFill>
          <a:blip r:embed="rId4"/>
          <a:srcRect t="26957" b="10297"/>
          <a:stretch/>
        </p:blipFill>
        <p:spPr>
          <a:xfrm>
            <a:off x="1036680" y="4151520"/>
            <a:ext cx="2727600" cy="1307520"/>
          </a:xfrm>
          <a:prstGeom prst="rect">
            <a:avLst/>
          </a:prstGeom>
          <a:noFill/>
          <a:ln w="0">
            <a:noFill/>
          </a:ln>
        </p:spPr>
      </p:pic>
      <p:sp>
        <p:nvSpPr>
          <p:cNvPr id="178" name="Text 9"/>
          <p:cNvSpPr/>
          <p:nvPr/>
        </p:nvSpPr>
        <p:spPr>
          <a:xfrm>
            <a:off x="685800" y="5468040"/>
            <a:ext cx="37854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10" b="0" u="none" strike="noStrike">
                <a:solidFill>
                  <a:srgbClr val="6B7280"/>
                </a:solidFill>
                <a:effectLst/>
                <a:uFillTx/>
                <a:latin typeface="Aptos"/>
              </a:rPr>
              <a:t>Validación por WhatsApp: recepción y aprobación del ACTA-001 y PLAN-001.</a:t>
            </a:r>
            <a:endParaRPr lang="en-US" sz="710" b="0" u="none" strike="noStrike">
              <a:solidFill>
                <a:srgbClr val="000000"/>
              </a:solidFill>
              <a:effectLst/>
              <a:uFillTx/>
              <a:latin typeface="Arial"/>
            </a:endParaRPr>
          </a:p>
        </p:txBody>
      </p:sp>
      <p:sp>
        <p:nvSpPr>
          <p:cNvPr id="179" name="Shape 10"/>
          <p:cNvSpPr/>
          <p:nvPr/>
        </p:nvSpPr>
        <p:spPr>
          <a:xfrm>
            <a:off x="4892040" y="1325880"/>
            <a:ext cx="2971440" cy="47520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0" name="Text 11"/>
          <p:cNvSpPr/>
          <p:nvPr/>
        </p:nvSpPr>
        <p:spPr>
          <a:xfrm>
            <a:off x="4946760" y="1394640"/>
            <a:ext cx="2861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39" b="1" u="none" strike="noStrike">
                <a:solidFill>
                  <a:srgbClr val="FFFFFF"/>
                </a:solidFill>
                <a:effectLst/>
                <a:uFillTx/>
                <a:latin typeface="Aptos"/>
              </a:rPr>
              <a:t>Incluido</a:t>
            </a:r>
            <a:endParaRPr lang="en-US" sz="839" b="0" u="none" strike="noStrike">
              <a:solidFill>
                <a:srgbClr val="000000"/>
              </a:solidFill>
              <a:effectLst/>
              <a:uFillTx/>
              <a:latin typeface="Arial"/>
            </a:endParaRPr>
          </a:p>
        </p:txBody>
      </p:sp>
      <p:sp>
        <p:nvSpPr>
          <p:cNvPr id="181" name="Shape 12"/>
          <p:cNvSpPr/>
          <p:nvPr/>
        </p:nvSpPr>
        <p:spPr>
          <a:xfrm>
            <a:off x="7863840" y="1325880"/>
            <a:ext cx="3245760" cy="47520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2" name="Text 13"/>
          <p:cNvSpPr/>
          <p:nvPr/>
        </p:nvSpPr>
        <p:spPr>
          <a:xfrm>
            <a:off x="7918560" y="1394640"/>
            <a:ext cx="3135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39" b="1" u="none" strike="noStrike">
                <a:solidFill>
                  <a:srgbClr val="FFFFFF"/>
                </a:solidFill>
                <a:effectLst/>
                <a:uFillTx/>
                <a:latin typeface="Aptos"/>
              </a:rPr>
              <a:t>Excluido</a:t>
            </a:r>
            <a:endParaRPr lang="en-US" sz="839" b="0" u="none" strike="noStrike">
              <a:solidFill>
                <a:srgbClr val="000000"/>
              </a:solidFill>
              <a:effectLst/>
              <a:uFillTx/>
              <a:latin typeface="Arial"/>
            </a:endParaRPr>
          </a:p>
        </p:txBody>
      </p:sp>
      <p:sp>
        <p:nvSpPr>
          <p:cNvPr id="183" name="Shape 14"/>
          <p:cNvSpPr/>
          <p:nvPr/>
        </p:nvSpPr>
        <p:spPr>
          <a:xfrm>
            <a:off x="4892040" y="1801440"/>
            <a:ext cx="2971440" cy="4752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4" name="Text 15"/>
          <p:cNvSpPr/>
          <p:nvPr/>
        </p:nvSpPr>
        <p:spPr>
          <a:xfrm>
            <a:off x="4946760" y="1869840"/>
            <a:ext cx="2861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10" b="0" u="none" strike="noStrike">
                <a:solidFill>
                  <a:srgbClr val="2E3440"/>
                </a:solidFill>
                <a:effectLst/>
                <a:uFillTx/>
                <a:latin typeface="Aptos"/>
              </a:rPr>
              <a:t>Simulación del proceso de producción de block.</a:t>
            </a:r>
            <a:endParaRPr lang="en-US" sz="810" b="0" u="none" strike="noStrike">
              <a:solidFill>
                <a:srgbClr val="000000"/>
              </a:solidFill>
              <a:effectLst/>
              <a:uFillTx/>
              <a:latin typeface="Arial"/>
            </a:endParaRPr>
          </a:p>
        </p:txBody>
      </p:sp>
      <p:sp>
        <p:nvSpPr>
          <p:cNvPr id="185" name="Shape 16"/>
          <p:cNvSpPr/>
          <p:nvPr/>
        </p:nvSpPr>
        <p:spPr>
          <a:xfrm>
            <a:off x="7863840" y="1801440"/>
            <a:ext cx="3245760" cy="4752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6" name="Text 17"/>
          <p:cNvSpPr/>
          <p:nvPr/>
        </p:nvSpPr>
        <p:spPr>
          <a:xfrm>
            <a:off x="7918560" y="1869840"/>
            <a:ext cx="3135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10" b="0" u="none" strike="noStrike">
                <a:solidFill>
                  <a:srgbClr val="2E3440"/>
                </a:solidFill>
                <a:effectLst/>
                <a:uFillTx/>
                <a:latin typeface="Aptos"/>
              </a:rPr>
              <a:t>Compra real de maquinaria o materiales.</a:t>
            </a:r>
            <a:endParaRPr lang="en-US" sz="810" b="0" u="none" strike="noStrike">
              <a:solidFill>
                <a:srgbClr val="000000"/>
              </a:solidFill>
              <a:effectLst/>
              <a:uFillTx/>
              <a:latin typeface="Arial"/>
            </a:endParaRPr>
          </a:p>
        </p:txBody>
      </p:sp>
      <p:sp>
        <p:nvSpPr>
          <p:cNvPr id="187" name="Shape 18"/>
          <p:cNvSpPr/>
          <p:nvPr/>
        </p:nvSpPr>
        <p:spPr>
          <a:xfrm>
            <a:off x="4892040" y="2277000"/>
            <a:ext cx="2971440" cy="4752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8" name="Text 19"/>
          <p:cNvSpPr/>
          <p:nvPr/>
        </p:nvSpPr>
        <p:spPr>
          <a:xfrm>
            <a:off x="4946760" y="2345400"/>
            <a:ext cx="2861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10" b="0" u="none" strike="noStrike">
                <a:solidFill>
                  <a:srgbClr val="2E3440"/>
                </a:solidFill>
                <a:effectLst/>
                <a:uFillTx/>
                <a:latin typeface="Aptos"/>
              </a:rPr>
              <a:t>Definición de entregables, fechas y responsables.</a:t>
            </a:r>
            <a:endParaRPr lang="en-US" sz="810" b="0" u="none" strike="noStrike">
              <a:solidFill>
                <a:srgbClr val="000000"/>
              </a:solidFill>
              <a:effectLst/>
              <a:uFillTx/>
              <a:latin typeface="Arial"/>
            </a:endParaRPr>
          </a:p>
        </p:txBody>
      </p:sp>
      <p:sp>
        <p:nvSpPr>
          <p:cNvPr id="189" name="Shape 20"/>
          <p:cNvSpPr/>
          <p:nvPr/>
        </p:nvSpPr>
        <p:spPr>
          <a:xfrm>
            <a:off x="7863840" y="2277000"/>
            <a:ext cx="3245760" cy="4752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0" name="Text 21"/>
          <p:cNvSpPr/>
          <p:nvPr/>
        </p:nvSpPr>
        <p:spPr>
          <a:xfrm>
            <a:off x="7918560" y="2345400"/>
            <a:ext cx="3135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10" b="0" u="none" strike="noStrike">
                <a:solidFill>
                  <a:srgbClr val="2E3440"/>
                </a:solidFill>
                <a:effectLst/>
                <a:uFillTx/>
                <a:latin typeface="Aptos"/>
              </a:rPr>
              <a:t>Ejecución física dentro de la bloquera.</a:t>
            </a:r>
            <a:endParaRPr lang="en-US" sz="810" b="0" u="none" strike="noStrike">
              <a:solidFill>
                <a:srgbClr val="000000"/>
              </a:solidFill>
              <a:effectLst/>
              <a:uFillTx/>
              <a:latin typeface="Arial"/>
            </a:endParaRPr>
          </a:p>
        </p:txBody>
      </p:sp>
      <p:sp>
        <p:nvSpPr>
          <p:cNvPr id="191" name="Shape 22"/>
          <p:cNvSpPr/>
          <p:nvPr/>
        </p:nvSpPr>
        <p:spPr>
          <a:xfrm>
            <a:off x="4892040" y="2752200"/>
            <a:ext cx="2971440" cy="4752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2" name="Text 23"/>
          <p:cNvSpPr/>
          <p:nvPr/>
        </p:nvSpPr>
        <p:spPr>
          <a:xfrm>
            <a:off x="4946760" y="2820960"/>
            <a:ext cx="2861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10" b="0" u="none" strike="noStrike">
                <a:solidFill>
                  <a:srgbClr val="2E3440"/>
                </a:solidFill>
                <a:effectLst/>
                <a:uFillTx/>
                <a:latin typeface="Aptos"/>
              </a:rPr>
              <a:t>Análisis de escenario con revolvedora.</a:t>
            </a:r>
            <a:endParaRPr lang="en-US" sz="810" b="0" u="none" strike="noStrike">
              <a:solidFill>
                <a:srgbClr val="000000"/>
              </a:solidFill>
              <a:effectLst/>
              <a:uFillTx/>
              <a:latin typeface="Arial"/>
            </a:endParaRPr>
          </a:p>
        </p:txBody>
      </p:sp>
      <p:sp>
        <p:nvSpPr>
          <p:cNvPr id="193" name="Shape 24"/>
          <p:cNvSpPr/>
          <p:nvPr/>
        </p:nvSpPr>
        <p:spPr>
          <a:xfrm>
            <a:off x="7863840" y="2752200"/>
            <a:ext cx="3245760" cy="4752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4" name="Text 25"/>
          <p:cNvSpPr/>
          <p:nvPr/>
        </p:nvSpPr>
        <p:spPr>
          <a:xfrm>
            <a:off x="7918560" y="2820960"/>
            <a:ext cx="3135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10" b="0" u="none" strike="noStrike">
                <a:solidFill>
                  <a:srgbClr val="2E3440"/>
                </a:solidFill>
                <a:effectLst/>
                <a:uFillTx/>
                <a:latin typeface="Aptos"/>
              </a:rPr>
              <a:t>Contratación de personal o cambios reales de operación.</a:t>
            </a:r>
            <a:endParaRPr lang="en-US" sz="810" b="0" u="none" strike="noStrike">
              <a:solidFill>
                <a:srgbClr val="000000"/>
              </a:solidFill>
              <a:effectLst/>
              <a:uFillTx/>
              <a:latin typeface="Arial"/>
            </a:endParaRPr>
          </a:p>
        </p:txBody>
      </p:sp>
      <p:sp>
        <p:nvSpPr>
          <p:cNvPr id="195" name="Shape 26"/>
          <p:cNvSpPr/>
          <p:nvPr/>
        </p:nvSpPr>
        <p:spPr>
          <a:xfrm>
            <a:off x="4892040" y="3227760"/>
            <a:ext cx="2971440" cy="4752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6" name="Text 27"/>
          <p:cNvSpPr/>
          <p:nvPr/>
        </p:nvSpPr>
        <p:spPr>
          <a:xfrm>
            <a:off x="4946760" y="3296520"/>
            <a:ext cx="2861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10" b="0" u="none" strike="noStrike">
                <a:solidFill>
                  <a:srgbClr val="2E3440"/>
                </a:solidFill>
                <a:effectLst/>
                <a:uFillTx/>
                <a:latin typeface="Aptos"/>
              </a:rPr>
              <a:t>Cronograma, seguimiento y evidencia del proyecto.</a:t>
            </a:r>
            <a:endParaRPr lang="en-US" sz="810" b="0" u="none" strike="noStrike">
              <a:solidFill>
                <a:srgbClr val="000000"/>
              </a:solidFill>
              <a:effectLst/>
              <a:uFillTx/>
              <a:latin typeface="Arial"/>
            </a:endParaRPr>
          </a:p>
        </p:txBody>
      </p:sp>
      <p:sp>
        <p:nvSpPr>
          <p:cNvPr id="197" name="Shape 28"/>
          <p:cNvSpPr/>
          <p:nvPr/>
        </p:nvSpPr>
        <p:spPr>
          <a:xfrm>
            <a:off x="7863840" y="3227760"/>
            <a:ext cx="3245760" cy="4752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8" name="Text 29"/>
          <p:cNvSpPr/>
          <p:nvPr/>
        </p:nvSpPr>
        <p:spPr>
          <a:xfrm>
            <a:off x="7918560" y="3296520"/>
            <a:ext cx="3135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10" b="0" u="none" strike="noStrike">
                <a:solidFill>
                  <a:srgbClr val="2E3440"/>
                </a:solidFill>
                <a:effectLst/>
                <a:uFillTx/>
                <a:latin typeface="Aptos"/>
              </a:rPr>
              <a:t>Presupuesto real no comprobado en expediente.</a:t>
            </a:r>
            <a:endParaRPr lang="en-US" sz="810" b="0" u="none" strike="noStrike">
              <a:solidFill>
                <a:srgbClr val="000000"/>
              </a:solidFill>
              <a:effectLst/>
              <a:uFillTx/>
              <a:latin typeface="Arial"/>
            </a:endParaRPr>
          </a:p>
        </p:txBody>
      </p:sp>
      <p:sp>
        <p:nvSpPr>
          <p:cNvPr id="199" name="Shape 30"/>
          <p:cNvSpPr/>
          <p:nvPr/>
        </p:nvSpPr>
        <p:spPr>
          <a:xfrm>
            <a:off x="4892040" y="4041720"/>
            <a:ext cx="6263280" cy="776880"/>
          </a:xfrm>
          <a:prstGeom prst="roundRect">
            <a:avLst>
              <a:gd name="adj" fmla="val 9412"/>
            </a:avLst>
          </a:prstGeom>
          <a:solidFill>
            <a:srgbClr val="FFF1D6"/>
          </a:solidFill>
          <a:ln w="635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0" name="Text 31"/>
          <p:cNvSpPr/>
          <p:nvPr/>
        </p:nvSpPr>
        <p:spPr>
          <a:xfrm>
            <a:off x="5038200" y="4151520"/>
            <a:ext cx="597060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10" b="0" u="none" strike="noStrike" dirty="0">
                <a:solidFill>
                  <a:srgbClr val="2E3440"/>
                </a:solidFill>
                <a:effectLst/>
                <a:uFillTx/>
                <a:latin typeface="Aptos"/>
              </a:rPr>
              <a:t>Respuesta: El </a:t>
            </a:r>
            <a:r>
              <a:rPr lang="en-US" sz="1010" b="0" u="none" strike="noStrike" dirty="0" err="1">
                <a:solidFill>
                  <a:srgbClr val="2E3440"/>
                </a:solidFill>
                <a:effectLst/>
                <a:uFillTx/>
                <a:latin typeface="Aptos"/>
              </a:rPr>
              <a:t>alcance</a:t>
            </a:r>
            <a:r>
              <a:rPr lang="en-US" sz="1010" b="0" u="none" strike="noStrike" dirty="0">
                <a:solidFill>
                  <a:srgbClr val="2E3440"/>
                </a:solidFill>
                <a:effectLst/>
                <a:uFillTx/>
                <a:latin typeface="Aptos"/>
              </a:rPr>
              <a:t> se </a:t>
            </a:r>
            <a:r>
              <a:rPr lang="en-US" sz="1010" b="0" u="none" strike="noStrike" dirty="0" err="1">
                <a:solidFill>
                  <a:srgbClr val="2E3440"/>
                </a:solidFill>
                <a:effectLst/>
                <a:uFillTx/>
                <a:latin typeface="Aptos"/>
              </a:rPr>
              <a:t>limita</a:t>
            </a:r>
            <a:r>
              <a:rPr lang="en-US" sz="1010" b="0" u="none" strike="noStrike" dirty="0">
                <a:solidFill>
                  <a:srgbClr val="2E3440"/>
                </a:solidFill>
                <a:effectLst/>
                <a:uFillTx/>
                <a:latin typeface="Aptos"/>
              </a:rPr>
              <a:t> a </a:t>
            </a:r>
            <a:r>
              <a:rPr lang="en-US" sz="1010" b="0" u="none" strike="noStrike" dirty="0" err="1">
                <a:solidFill>
                  <a:srgbClr val="2E3440"/>
                </a:solidFill>
                <a:effectLst/>
                <a:uFillTx/>
                <a:latin typeface="Aptos"/>
              </a:rPr>
              <a:t>planificar</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modelar</a:t>
            </a:r>
            <a:r>
              <a:rPr lang="en-US" sz="1010" b="0" u="none" strike="noStrike" dirty="0">
                <a:solidFill>
                  <a:srgbClr val="2E3440"/>
                </a:solidFill>
                <a:effectLst/>
                <a:uFillTx/>
                <a:latin typeface="Aptos"/>
              </a:rPr>
              <a:t> y </a:t>
            </a:r>
            <a:r>
              <a:rPr lang="en-US" sz="1010" b="0" u="none" strike="noStrike" dirty="0" err="1">
                <a:solidFill>
                  <a:srgbClr val="2E3440"/>
                </a:solidFill>
                <a:effectLst/>
                <a:uFillTx/>
                <a:latin typeface="Aptos"/>
              </a:rPr>
              <a:t>analizar</a:t>
            </a:r>
            <a:r>
              <a:rPr lang="en-US" sz="1010" b="0" u="none" strike="noStrike" dirty="0">
                <a:solidFill>
                  <a:srgbClr val="2E3440"/>
                </a:solidFill>
                <a:effectLst/>
                <a:uFillTx/>
                <a:latin typeface="Aptos"/>
              </a:rPr>
              <a:t> la </a:t>
            </a:r>
            <a:r>
              <a:rPr lang="en-US" sz="1010" b="0" u="none" strike="noStrike" dirty="0" err="1">
                <a:solidFill>
                  <a:srgbClr val="2E3440"/>
                </a:solidFill>
                <a:effectLst/>
                <a:uFillTx/>
                <a:latin typeface="Aptos"/>
              </a:rPr>
              <a:t>simulación</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queda</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fuera</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cualquier</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implementación</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física</a:t>
            </a:r>
            <a:r>
              <a:rPr lang="en-US" sz="1010" b="0" u="none" strike="noStrike" dirty="0">
                <a:solidFill>
                  <a:srgbClr val="2E3440"/>
                </a:solidFill>
                <a:effectLst/>
                <a:uFillTx/>
                <a:latin typeface="Aptos"/>
              </a:rPr>
              <a:t> o </a:t>
            </a:r>
            <a:r>
              <a:rPr lang="en-US" sz="1010" b="0" u="none" strike="noStrike" dirty="0" err="1">
                <a:solidFill>
                  <a:srgbClr val="2E3440"/>
                </a:solidFill>
                <a:effectLst/>
                <a:uFillTx/>
                <a:latin typeface="Aptos"/>
              </a:rPr>
              <a:t>gasto</a:t>
            </a:r>
            <a:r>
              <a:rPr lang="en-US" sz="1010" b="0" u="none" strike="noStrike" dirty="0">
                <a:solidFill>
                  <a:srgbClr val="2E3440"/>
                </a:solidFill>
                <a:effectLst/>
                <a:uFillTx/>
                <a:latin typeface="Aptos"/>
              </a:rPr>
              <a:t> no </a:t>
            </a:r>
            <a:r>
              <a:rPr lang="en-US" sz="1010" b="0" u="none" strike="noStrike" dirty="0" err="1">
                <a:solidFill>
                  <a:srgbClr val="2E3440"/>
                </a:solidFill>
                <a:effectLst/>
                <a:uFillTx/>
                <a:latin typeface="Aptos"/>
              </a:rPr>
              <a:t>comprobado</a:t>
            </a:r>
            <a:r>
              <a:rPr lang="en-US" sz="1010" b="0" u="none" strike="noStrike" dirty="0">
                <a:solidFill>
                  <a:srgbClr val="2E3440"/>
                </a:solidFill>
                <a:effectLst/>
                <a:uFillTx/>
                <a:latin typeface="Aptos"/>
              </a:rPr>
              <a:t>. Esta </a:t>
            </a:r>
            <a:r>
              <a:rPr lang="en-US" sz="1010" b="0" u="none" strike="noStrike" dirty="0" err="1">
                <a:solidFill>
                  <a:srgbClr val="2E3440"/>
                </a:solidFill>
                <a:effectLst/>
                <a:uFillTx/>
                <a:latin typeface="Aptos"/>
              </a:rPr>
              <a:t>separación</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evita</a:t>
            </a:r>
            <a:r>
              <a:rPr lang="en-US" sz="1010" b="0" u="none" strike="noStrike" dirty="0">
                <a:solidFill>
                  <a:srgbClr val="2E3440"/>
                </a:solidFill>
                <a:effectLst/>
                <a:uFillTx/>
                <a:latin typeface="Aptos"/>
              </a:rPr>
              <a:t> que </a:t>
            </a:r>
            <a:r>
              <a:rPr lang="en-US" sz="1010" b="0" u="none" strike="noStrike" dirty="0" err="1">
                <a:solidFill>
                  <a:srgbClr val="2E3440"/>
                </a:solidFill>
                <a:effectLst/>
                <a:uFillTx/>
                <a:latin typeface="Aptos"/>
              </a:rPr>
              <a:t>el</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proyecto</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académico</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prometa</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resultados</a:t>
            </a:r>
            <a:r>
              <a:rPr lang="en-US" sz="1010" b="0" u="none" strike="noStrike" dirty="0">
                <a:solidFill>
                  <a:srgbClr val="2E3440"/>
                </a:solidFill>
                <a:effectLst/>
                <a:uFillTx/>
                <a:latin typeface="Aptos"/>
              </a:rPr>
              <a:t> que no </a:t>
            </a:r>
            <a:r>
              <a:rPr lang="en-US" sz="1010" b="0" u="none" strike="noStrike" dirty="0" err="1">
                <a:solidFill>
                  <a:srgbClr val="2E3440"/>
                </a:solidFill>
                <a:effectLst/>
                <a:uFillTx/>
                <a:latin typeface="Aptos"/>
              </a:rPr>
              <a:t>forman</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parte</a:t>
            </a:r>
            <a:r>
              <a:rPr lang="en-US" sz="1010" b="0" u="none" strike="noStrike" dirty="0">
                <a:solidFill>
                  <a:srgbClr val="2E3440"/>
                </a:solidFill>
                <a:effectLst/>
                <a:uFillTx/>
                <a:latin typeface="Aptos"/>
              </a:rPr>
              <a:t> del </a:t>
            </a:r>
            <a:r>
              <a:rPr lang="en-US" sz="1010" b="0" u="none" strike="noStrike" dirty="0" err="1">
                <a:solidFill>
                  <a:srgbClr val="2E3440"/>
                </a:solidFill>
                <a:effectLst/>
                <a:uFillTx/>
                <a:latin typeface="Aptos"/>
              </a:rPr>
              <a:t>expediente</a:t>
            </a:r>
            <a:r>
              <a:rPr lang="en-US" sz="1010" b="0" u="none" strike="noStrike" dirty="0">
                <a:solidFill>
                  <a:srgbClr val="2E3440"/>
                </a:solidFill>
                <a:effectLst/>
                <a:uFillTx/>
                <a:latin typeface="Aptos"/>
              </a:rPr>
              <a:t>.</a:t>
            </a:r>
            <a:endParaRPr lang="en-US" sz="1010" b="0" u="none" strike="noStrike" dirty="0">
              <a:solidFill>
                <a:srgbClr val="000000"/>
              </a:solidFill>
              <a:effectLst/>
              <a:uFillTx/>
              <a:latin typeface="Arial"/>
            </a:endParaRPr>
          </a:p>
        </p:txBody>
      </p:sp>
      <p:sp>
        <p:nvSpPr>
          <p:cNvPr id="201" name="Shape 32"/>
          <p:cNvSpPr/>
          <p:nvPr/>
        </p:nvSpPr>
        <p:spPr>
          <a:xfrm>
            <a:off x="4892040" y="5074920"/>
            <a:ext cx="6263280" cy="1060200"/>
          </a:xfrm>
          <a:prstGeom prst="roundRect">
            <a:avLst>
              <a:gd name="adj" fmla="val 6897"/>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2" name="Shape 33"/>
          <p:cNvSpPr/>
          <p:nvPr/>
        </p:nvSpPr>
        <p:spPr>
          <a:xfrm>
            <a:off x="4892040" y="5074920"/>
            <a:ext cx="72720" cy="1060200"/>
          </a:xfrm>
          <a:prstGeom prst="rect">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3" name="Text 34"/>
          <p:cNvSpPr/>
          <p:nvPr/>
        </p:nvSpPr>
        <p:spPr>
          <a:xfrm>
            <a:off x="5093280" y="5221080"/>
            <a:ext cx="5934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60" b="1" u="none" strike="noStrike">
                <a:solidFill>
                  <a:srgbClr val="172033"/>
                </a:solidFill>
                <a:effectLst/>
                <a:uFillTx/>
                <a:latin typeface="Aptos"/>
              </a:rPr>
              <a:t>Procedimiento</a:t>
            </a:r>
            <a:endParaRPr lang="en-US" sz="1260" b="0" u="none" strike="noStrike">
              <a:solidFill>
                <a:srgbClr val="000000"/>
              </a:solidFill>
              <a:effectLst/>
              <a:uFillTx/>
              <a:latin typeface="Arial"/>
            </a:endParaRPr>
          </a:p>
        </p:txBody>
      </p:sp>
      <p:sp>
        <p:nvSpPr>
          <p:cNvPr id="204" name="Text 35"/>
          <p:cNvSpPr/>
          <p:nvPr/>
        </p:nvSpPr>
        <p:spPr>
          <a:xfrm>
            <a:off x="5093280" y="5532120"/>
            <a:ext cx="593424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2500" lnSpcReduction="19999"/>
          </a:bodyPr>
          <a:lstStyle/>
          <a:p>
            <a:pPr defTabSz="914400">
              <a:lnSpc>
                <a:spcPct val="100000"/>
              </a:lnSpc>
              <a:tabLst>
                <a:tab pos="0" algn="l"/>
              </a:tabLst>
            </a:pPr>
            <a:r>
              <a:rPr lang="en-US" sz="1010" b="0" u="none" strike="noStrike">
                <a:solidFill>
                  <a:srgbClr val="2E3440"/>
                </a:solidFill>
                <a:effectLst/>
                <a:uFillTx/>
                <a:latin typeface="Aptos"/>
              </a:rPr>
              <a:t>1) Se tomó el propósito del PLAN-001.</a:t>
            </a:r>
            <a:endParaRPr lang="en-US" sz="1010" b="0" u="none" strike="noStrike">
              <a:solidFill>
                <a:srgbClr val="000000"/>
              </a:solidFill>
              <a:effectLst/>
              <a:uFillTx/>
              <a:latin typeface="Arial"/>
            </a:endParaRPr>
          </a:p>
          <a:p>
            <a:pPr defTabSz="914400">
              <a:lnSpc>
                <a:spcPct val="100000"/>
              </a:lnSpc>
              <a:tabLst>
                <a:tab pos="0" algn="l"/>
              </a:tabLst>
            </a:pPr>
            <a:r>
              <a:rPr lang="en-US" sz="1010" b="0" u="none" strike="noStrike">
                <a:solidFill>
                  <a:srgbClr val="2E3440"/>
                </a:solidFill>
                <a:effectLst/>
                <a:uFillTx/>
                <a:latin typeface="Aptos"/>
              </a:rPr>
              <a:t>2) Se identificó qué entregables sí se podían demostrar.</a:t>
            </a:r>
            <a:endParaRPr lang="en-US" sz="1010" b="0" u="none" strike="noStrike">
              <a:solidFill>
                <a:srgbClr val="000000"/>
              </a:solidFill>
              <a:effectLst/>
              <a:uFillTx/>
              <a:latin typeface="Arial"/>
            </a:endParaRPr>
          </a:p>
          <a:p>
            <a:pPr defTabSz="914400">
              <a:lnSpc>
                <a:spcPct val="100000"/>
              </a:lnSpc>
              <a:tabLst>
                <a:tab pos="0" algn="l"/>
              </a:tabLst>
            </a:pPr>
            <a:r>
              <a:rPr lang="en-US" sz="1010" b="0" u="none" strike="noStrike">
                <a:solidFill>
                  <a:srgbClr val="2E3440"/>
                </a:solidFill>
                <a:effectLst/>
                <a:uFillTx/>
                <a:latin typeface="Aptos"/>
              </a:rPr>
              <a:t>3) Se separaron las actividades académicas de cambios operativos reales.</a:t>
            </a:r>
            <a:endParaRPr lang="en-US" sz="1010" b="0" u="none" strike="noStrike">
              <a:solidFill>
                <a:srgbClr val="000000"/>
              </a:solidFill>
              <a:effectLst/>
              <a:uFillTx/>
              <a:latin typeface="Arial"/>
            </a:endParaRPr>
          </a:p>
          <a:p>
            <a:pPr defTabSz="914400">
              <a:lnSpc>
                <a:spcPct val="100000"/>
              </a:lnSpc>
              <a:tabLst>
                <a:tab pos="0" algn="l"/>
              </a:tabLst>
            </a:pPr>
            <a:r>
              <a:rPr lang="en-US" sz="1010" b="0" u="none" strike="noStrike">
                <a:solidFill>
                  <a:srgbClr val="2E3440"/>
                </a:solidFill>
                <a:effectLst/>
                <a:uFillTx/>
                <a:latin typeface="Aptos"/>
              </a:rPr>
              <a:t>4) La aprobación por mensaje se usó como evidencia de cierre formal de esa etapa.</a:t>
            </a:r>
            <a:endParaRPr lang="en-US" sz="1010" b="0" u="none" strike="noStrike">
              <a:solidFill>
                <a:srgbClr val="000000"/>
              </a:solidFill>
              <a:effectLst/>
              <a:uFillTx/>
              <a:latin typeface="Arial"/>
            </a:endParaRPr>
          </a:p>
        </p:txBody>
      </p:sp>
      <p:sp>
        <p:nvSpPr>
          <p:cNvPr id="207" name="Text 38"/>
          <p:cNvSpPr/>
          <p:nvPr/>
        </p:nvSpPr>
        <p:spPr>
          <a:xfrm>
            <a:off x="11292840" y="658368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1" u="none" strike="noStrike">
                <a:solidFill>
                  <a:srgbClr val="6B7280"/>
                </a:solidFill>
                <a:effectLst/>
                <a:uFillTx/>
                <a:latin typeface="Aptos"/>
              </a:rPr>
              <a:t>06</a:t>
            </a:r>
            <a:endParaRPr lang="en-US" sz="85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08" name="Shape 0"/>
          <p:cNvSpPr/>
          <p:nvPr/>
        </p:nvSpPr>
        <p:spPr>
          <a:xfrm>
            <a:off x="0" y="0"/>
            <a:ext cx="12191400" cy="6857640"/>
          </a:xfrm>
          <a:prstGeom prst="rect">
            <a:avLst/>
          </a:prstGeom>
          <a:solidFill>
            <a:srgbClr val="F6F8FC"/>
          </a:solidFill>
          <a:ln w="12700">
            <a:solidFill>
              <a:srgbClr val="F6F8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9" name="Text 1"/>
          <p:cNvSpPr/>
          <p:nvPr/>
        </p:nvSpPr>
        <p:spPr>
          <a:xfrm>
            <a:off x="502920" y="329040"/>
            <a:ext cx="94179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50" b="1" u="none" strike="noStrike">
                <a:solidFill>
                  <a:srgbClr val="172033"/>
                </a:solidFill>
                <a:effectLst/>
                <a:uFillTx/>
                <a:latin typeface="Aptos Display"/>
                <a:ea typeface="Aptos Display"/>
              </a:rPr>
              <a:t>Construir una WBS/EDT a partir de entregables</a:t>
            </a:r>
            <a:endParaRPr lang="en-US" sz="2450" b="0" u="none" strike="noStrike">
              <a:solidFill>
                <a:srgbClr val="000000"/>
              </a:solidFill>
              <a:effectLst/>
              <a:uFillTx/>
              <a:latin typeface="Arial"/>
            </a:endParaRPr>
          </a:p>
        </p:txBody>
      </p:sp>
      <p:sp>
        <p:nvSpPr>
          <p:cNvPr id="210" name="Text 2"/>
          <p:cNvSpPr/>
          <p:nvPr/>
        </p:nvSpPr>
        <p:spPr>
          <a:xfrm>
            <a:off x="521280" y="749880"/>
            <a:ext cx="9692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20" b="0" u="none" strike="noStrike">
                <a:solidFill>
                  <a:srgbClr val="6B7280"/>
                </a:solidFill>
                <a:effectLst/>
                <a:uFillTx/>
                <a:latin typeface="Aptos"/>
                <a:ea typeface="Aptos"/>
              </a:rPr>
              <a:t>Casos base: Fast Burger y ProcesMuebles</a:t>
            </a:r>
            <a:endParaRPr lang="en-US" sz="1020" b="0" u="none" strike="noStrike">
              <a:solidFill>
                <a:srgbClr val="000000"/>
              </a:solidFill>
              <a:effectLst/>
              <a:uFillTx/>
              <a:latin typeface="Arial"/>
            </a:endParaRPr>
          </a:p>
        </p:txBody>
      </p:sp>
      <p:sp>
        <p:nvSpPr>
          <p:cNvPr id="211" name="Shape 3"/>
          <p:cNvSpPr/>
          <p:nvPr/>
        </p:nvSpPr>
        <p:spPr>
          <a:xfrm>
            <a:off x="502920" y="1042200"/>
            <a:ext cx="11201400" cy="360"/>
          </a:xfrm>
          <a:prstGeom prst="line">
            <a:avLst/>
          </a:prstGeom>
          <a:ln w="10160">
            <a:solidFill>
              <a:srgbClr val="D7DEE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12" name="Shape 4"/>
          <p:cNvSpPr/>
          <p:nvPr/>
        </p:nvSpPr>
        <p:spPr>
          <a:xfrm>
            <a:off x="10104120" y="347400"/>
            <a:ext cx="1535760" cy="383760"/>
          </a:xfrm>
          <a:prstGeom prst="roundRect">
            <a:avLst>
              <a:gd name="adj" fmla="val 23810"/>
            </a:avLst>
          </a:prstGeom>
          <a:solidFill>
            <a:srgbClr val="172033"/>
          </a:solidFill>
          <a:ln w="12700">
            <a:solidFill>
              <a:srgbClr val="172033">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13" name="Text 5"/>
          <p:cNvSpPr/>
          <p:nvPr/>
        </p:nvSpPr>
        <p:spPr>
          <a:xfrm>
            <a:off x="10168200" y="448200"/>
            <a:ext cx="140796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39" b="1" u="none" strike="noStrike">
                <a:solidFill>
                  <a:srgbClr val="FFFFFF"/>
                </a:solidFill>
                <a:effectLst/>
                <a:uFillTx/>
                <a:latin typeface="Aptos"/>
              </a:rPr>
              <a:t>Ejercicio 3</a:t>
            </a:r>
            <a:endParaRPr lang="en-US" sz="839" b="0" u="none" strike="noStrike">
              <a:solidFill>
                <a:srgbClr val="000000"/>
              </a:solidFill>
              <a:effectLst/>
              <a:uFillTx/>
              <a:latin typeface="Arial"/>
            </a:endParaRPr>
          </a:p>
        </p:txBody>
      </p:sp>
      <p:sp>
        <p:nvSpPr>
          <p:cNvPr id="214" name="Shape 6"/>
          <p:cNvSpPr/>
          <p:nvPr/>
        </p:nvSpPr>
        <p:spPr>
          <a:xfrm>
            <a:off x="567000" y="1207080"/>
            <a:ext cx="3547440" cy="4480200"/>
          </a:xfrm>
          <a:prstGeom prst="roundRect">
            <a:avLst>
              <a:gd name="adj" fmla="val 2062"/>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215" name="Image 0" descr="/mnt/data/415cf7c0-9cbb-407c-a824-1c9eeb8a0cc8.png"/>
          <p:cNvPicPr/>
          <p:nvPr/>
        </p:nvPicPr>
        <p:blipFill>
          <a:blip r:embed="rId3"/>
          <a:stretch/>
        </p:blipFill>
        <p:spPr>
          <a:xfrm>
            <a:off x="631080" y="1705680"/>
            <a:ext cx="3419640" cy="3171960"/>
          </a:xfrm>
          <a:prstGeom prst="rect">
            <a:avLst/>
          </a:prstGeom>
          <a:noFill/>
          <a:ln w="0">
            <a:noFill/>
          </a:ln>
        </p:spPr>
      </p:pic>
      <p:sp>
        <p:nvSpPr>
          <p:cNvPr id="216" name="Text 7"/>
          <p:cNvSpPr/>
          <p:nvPr/>
        </p:nvSpPr>
        <p:spPr>
          <a:xfrm>
            <a:off x="685800" y="5422320"/>
            <a:ext cx="3309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10" b="0" u="none" strike="noStrike">
                <a:solidFill>
                  <a:srgbClr val="6B7280"/>
                </a:solidFill>
                <a:effectLst/>
                <a:uFillTx/>
                <a:latin typeface="Aptos"/>
              </a:rPr>
              <a:t>WBS-003: paquetes de Fast Burger.</a:t>
            </a:r>
            <a:endParaRPr lang="en-US" sz="710" b="0" u="none" strike="noStrike">
              <a:solidFill>
                <a:srgbClr val="000000"/>
              </a:solidFill>
              <a:effectLst/>
              <a:uFillTx/>
              <a:latin typeface="Arial"/>
            </a:endParaRPr>
          </a:p>
        </p:txBody>
      </p:sp>
      <p:sp>
        <p:nvSpPr>
          <p:cNvPr id="217" name="Shape 8"/>
          <p:cNvSpPr/>
          <p:nvPr/>
        </p:nvSpPr>
        <p:spPr>
          <a:xfrm>
            <a:off x="4343400" y="1207080"/>
            <a:ext cx="3337200" cy="4480200"/>
          </a:xfrm>
          <a:prstGeom prst="roundRect">
            <a:avLst>
              <a:gd name="adj" fmla="val 2192"/>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218" name="Image 1" descr="/mnt/data/8c3c6422-9128-48e9-a7d9-80e10f42dac9.png"/>
          <p:cNvPicPr/>
          <p:nvPr/>
        </p:nvPicPr>
        <p:blipFill>
          <a:blip r:embed="rId4"/>
          <a:stretch/>
        </p:blipFill>
        <p:spPr>
          <a:xfrm>
            <a:off x="4407480" y="1849680"/>
            <a:ext cx="3209040" cy="2883600"/>
          </a:xfrm>
          <a:prstGeom prst="rect">
            <a:avLst/>
          </a:prstGeom>
          <a:noFill/>
          <a:ln w="0">
            <a:noFill/>
          </a:ln>
        </p:spPr>
      </p:pic>
      <p:sp>
        <p:nvSpPr>
          <p:cNvPr id="219" name="Text 9"/>
          <p:cNvSpPr/>
          <p:nvPr/>
        </p:nvSpPr>
        <p:spPr>
          <a:xfrm>
            <a:off x="4462200" y="5422320"/>
            <a:ext cx="30996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10" b="0" u="none" strike="noStrike">
                <a:solidFill>
                  <a:srgbClr val="6B7280"/>
                </a:solidFill>
                <a:effectLst/>
                <a:uFillTx/>
                <a:latin typeface="Aptos"/>
              </a:rPr>
              <a:t>WBS-002: paquetes de ProcesMuebles.</a:t>
            </a:r>
            <a:endParaRPr lang="en-US" sz="710" b="0" u="none" strike="noStrike">
              <a:solidFill>
                <a:srgbClr val="000000"/>
              </a:solidFill>
              <a:effectLst/>
              <a:uFillTx/>
              <a:latin typeface="Arial"/>
            </a:endParaRPr>
          </a:p>
        </p:txBody>
      </p:sp>
      <p:sp>
        <p:nvSpPr>
          <p:cNvPr id="220" name="Shape 10"/>
          <p:cNvSpPr/>
          <p:nvPr/>
        </p:nvSpPr>
        <p:spPr>
          <a:xfrm>
            <a:off x="7973640" y="1207080"/>
            <a:ext cx="3428640" cy="1416960"/>
          </a:xfrm>
          <a:prstGeom prst="roundRect">
            <a:avLst>
              <a:gd name="adj" fmla="val 5161"/>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1" name="Shape 11"/>
          <p:cNvSpPr/>
          <p:nvPr/>
        </p:nvSpPr>
        <p:spPr>
          <a:xfrm>
            <a:off x="7973640" y="1207080"/>
            <a:ext cx="72720" cy="1416960"/>
          </a:xfrm>
          <a:prstGeom prst="rect">
            <a:avLst/>
          </a:prstGeom>
          <a:solidFill>
            <a:srgbClr val="6C4BD2"/>
          </a:solidFill>
          <a:ln w="12700">
            <a:solidFill>
              <a:srgbClr val="6C4BD2">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22" name="Text 12"/>
          <p:cNvSpPr/>
          <p:nvPr/>
        </p:nvSpPr>
        <p:spPr>
          <a:xfrm>
            <a:off x="8174880" y="1353240"/>
            <a:ext cx="30996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60" b="1" u="none" strike="noStrike">
                <a:solidFill>
                  <a:srgbClr val="172033"/>
                </a:solidFill>
                <a:effectLst/>
                <a:uFillTx/>
                <a:latin typeface="Aptos"/>
              </a:rPr>
              <a:t>Respuesta resumida</a:t>
            </a:r>
            <a:endParaRPr lang="en-US" sz="1260" b="0" u="none" strike="noStrike">
              <a:solidFill>
                <a:srgbClr val="000000"/>
              </a:solidFill>
              <a:effectLst/>
              <a:uFillTx/>
              <a:latin typeface="Arial"/>
            </a:endParaRPr>
          </a:p>
        </p:txBody>
      </p:sp>
      <p:sp>
        <p:nvSpPr>
          <p:cNvPr id="223" name="Text 13"/>
          <p:cNvSpPr/>
          <p:nvPr/>
        </p:nvSpPr>
        <p:spPr>
          <a:xfrm>
            <a:off x="8174880" y="1664280"/>
            <a:ext cx="3099600" cy="84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defTabSz="914400">
              <a:lnSpc>
                <a:spcPct val="100000"/>
              </a:lnSpc>
              <a:tabLst>
                <a:tab pos="0" algn="l"/>
              </a:tabLst>
            </a:pPr>
            <a:r>
              <a:rPr lang="en-US" sz="1010" b="0" u="none" strike="noStrike">
                <a:solidFill>
                  <a:srgbClr val="2E3440"/>
                </a:solidFill>
                <a:effectLst/>
                <a:uFillTx/>
                <a:latin typeface="Aptos"/>
              </a:rPr>
              <a:t>Una WBS útil no es una lista de tareas sueltas. Debe organizar el trabajo por niveles: proyecto completo, fases, paquetes y entregables. En estos expedientes la estructura se leyó como: inicio, planificación, desarrollo técnico, validación, resultados y cierre.</a:t>
            </a:r>
            <a:endParaRPr lang="en-US" sz="1010" b="0" u="none" strike="noStrike">
              <a:solidFill>
                <a:srgbClr val="000000"/>
              </a:solidFill>
              <a:effectLst/>
              <a:uFillTx/>
              <a:latin typeface="Arial"/>
            </a:endParaRPr>
          </a:p>
        </p:txBody>
      </p:sp>
      <p:sp>
        <p:nvSpPr>
          <p:cNvPr id="224" name="Shape 14"/>
          <p:cNvSpPr/>
          <p:nvPr/>
        </p:nvSpPr>
        <p:spPr>
          <a:xfrm>
            <a:off x="7973640" y="2880360"/>
            <a:ext cx="1142640" cy="35640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25" name="Text 15"/>
          <p:cNvSpPr/>
          <p:nvPr/>
        </p:nvSpPr>
        <p:spPr>
          <a:xfrm>
            <a:off x="8028360" y="2949120"/>
            <a:ext cx="10328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90" b="1" u="none" strike="noStrike">
                <a:solidFill>
                  <a:srgbClr val="FFFFFF"/>
                </a:solidFill>
                <a:effectLst/>
                <a:uFillTx/>
                <a:latin typeface="Aptos"/>
              </a:rPr>
              <a:t>Nivel</a:t>
            </a:r>
            <a:endParaRPr lang="en-US" sz="790" b="0" u="none" strike="noStrike">
              <a:solidFill>
                <a:srgbClr val="000000"/>
              </a:solidFill>
              <a:effectLst/>
              <a:uFillTx/>
              <a:latin typeface="Arial"/>
            </a:endParaRPr>
          </a:p>
        </p:txBody>
      </p:sp>
      <p:sp>
        <p:nvSpPr>
          <p:cNvPr id="226" name="Shape 16"/>
          <p:cNvSpPr/>
          <p:nvPr/>
        </p:nvSpPr>
        <p:spPr>
          <a:xfrm>
            <a:off x="9116640" y="2880360"/>
            <a:ext cx="2285640" cy="35640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27" name="Text 17"/>
          <p:cNvSpPr/>
          <p:nvPr/>
        </p:nvSpPr>
        <p:spPr>
          <a:xfrm>
            <a:off x="9171360" y="2949120"/>
            <a:ext cx="21758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90" b="1" u="none" strike="noStrike">
                <a:solidFill>
                  <a:srgbClr val="FFFFFF"/>
                </a:solidFill>
                <a:effectLst/>
                <a:uFillTx/>
                <a:latin typeface="Aptos"/>
              </a:rPr>
              <a:t>Ejemplo aplicado</a:t>
            </a:r>
            <a:endParaRPr lang="en-US" sz="790" b="0" u="none" strike="noStrike">
              <a:solidFill>
                <a:srgbClr val="000000"/>
              </a:solidFill>
              <a:effectLst/>
              <a:uFillTx/>
              <a:latin typeface="Arial"/>
            </a:endParaRPr>
          </a:p>
        </p:txBody>
      </p:sp>
      <p:sp>
        <p:nvSpPr>
          <p:cNvPr id="228" name="Shape 18"/>
          <p:cNvSpPr/>
          <p:nvPr/>
        </p:nvSpPr>
        <p:spPr>
          <a:xfrm>
            <a:off x="7973640" y="3237120"/>
            <a:ext cx="1142640" cy="3564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9" name="Text 19"/>
          <p:cNvSpPr/>
          <p:nvPr/>
        </p:nvSpPr>
        <p:spPr>
          <a:xfrm>
            <a:off x="8028360" y="3305520"/>
            <a:ext cx="10328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60" b="0" u="none" strike="noStrike">
                <a:solidFill>
                  <a:srgbClr val="2E3440"/>
                </a:solidFill>
                <a:effectLst/>
                <a:uFillTx/>
                <a:latin typeface="Aptos"/>
              </a:rPr>
              <a:t>1.0</a:t>
            </a:r>
            <a:endParaRPr lang="en-US" sz="760" b="0" u="none" strike="noStrike">
              <a:solidFill>
                <a:srgbClr val="000000"/>
              </a:solidFill>
              <a:effectLst/>
              <a:uFillTx/>
              <a:latin typeface="Arial"/>
            </a:endParaRPr>
          </a:p>
        </p:txBody>
      </p:sp>
      <p:sp>
        <p:nvSpPr>
          <p:cNvPr id="230" name="Shape 20"/>
          <p:cNvSpPr/>
          <p:nvPr/>
        </p:nvSpPr>
        <p:spPr>
          <a:xfrm>
            <a:off x="9116640" y="3237120"/>
            <a:ext cx="2285640" cy="3564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1" name="Text 21"/>
          <p:cNvSpPr/>
          <p:nvPr/>
        </p:nvSpPr>
        <p:spPr>
          <a:xfrm>
            <a:off x="9171360" y="3305520"/>
            <a:ext cx="21758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60" b="0" u="none" strike="noStrike">
                <a:solidFill>
                  <a:srgbClr val="2E3440"/>
                </a:solidFill>
                <a:effectLst/>
                <a:uFillTx/>
                <a:latin typeface="Aptos"/>
              </a:rPr>
              <a:t>Proyecto completo</a:t>
            </a:r>
            <a:endParaRPr lang="en-US" sz="760" b="0" u="none" strike="noStrike">
              <a:solidFill>
                <a:srgbClr val="000000"/>
              </a:solidFill>
              <a:effectLst/>
              <a:uFillTx/>
              <a:latin typeface="Arial"/>
            </a:endParaRPr>
          </a:p>
        </p:txBody>
      </p:sp>
      <p:sp>
        <p:nvSpPr>
          <p:cNvPr id="232" name="Shape 22"/>
          <p:cNvSpPr/>
          <p:nvPr/>
        </p:nvSpPr>
        <p:spPr>
          <a:xfrm>
            <a:off x="7973640" y="3593520"/>
            <a:ext cx="1142640" cy="3564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3" name="Text 23"/>
          <p:cNvSpPr/>
          <p:nvPr/>
        </p:nvSpPr>
        <p:spPr>
          <a:xfrm>
            <a:off x="8028360" y="3662280"/>
            <a:ext cx="10328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60" b="0" u="none" strike="noStrike">
                <a:solidFill>
                  <a:srgbClr val="2E3440"/>
                </a:solidFill>
                <a:effectLst/>
                <a:uFillTx/>
                <a:latin typeface="Aptos"/>
              </a:rPr>
              <a:t>1.1</a:t>
            </a:r>
            <a:endParaRPr lang="en-US" sz="760" b="0" u="none" strike="noStrike">
              <a:solidFill>
                <a:srgbClr val="000000"/>
              </a:solidFill>
              <a:effectLst/>
              <a:uFillTx/>
              <a:latin typeface="Arial"/>
            </a:endParaRPr>
          </a:p>
        </p:txBody>
      </p:sp>
      <p:sp>
        <p:nvSpPr>
          <p:cNvPr id="234" name="Shape 24"/>
          <p:cNvSpPr/>
          <p:nvPr/>
        </p:nvSpPr>
        <p:spPr>
          <a:xfrm>
            <a:off x="9116640" y="3593520"/>
            <a:ext cx="2285640" cy="3564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5" name="Text 25"/>
          <p:cNvSpPr/>
          <p:nvPr/>
        </p:nvSpPr>
        <p:spPr>
          <a:xfrm>
            <a:off x="9171360" y="3662280"/>
            <a:ext cx="21758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60" b="0" u="none" strike="noStrike">
                <a:solidFill>
                  <a:srgbClr val="2E3440"/>
                </a:solidFill>
                <a:effectLst/>
                <a:uFillTx/>
                <a:latin typeface="Aptos"/>
              </a:rPr>
              <a:t>Inicio y formalización</a:t>
            </a:r>
            <a:endParaRPr lang="en-US" sz="760" b="0" u="none" strike="noStrike">
              <a:solidFill>
                <a:srgbClr val="000000"/>
              </a:solidFill>
              <a:effectLst/>
              <a:uFillTx/>
              <a:latin typeface="Arial"/>
            </a:endParaRPr>
          </a:p>
        </p:txBody>
      </p:sp>
      <p:sp>
        <p:nvSpPr>
          <p:cNvPr id="236" name="Shape 26"/>
          <p:cNvSpPr/>
          <p:nvPr/>
        </p:nvSpPr>
        <p:spPr>
          <a:xfrm>
            <a:off x="7973640" y="3950280"/>
            <a:ext cx="1142640" cy="3564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7" name="Text 27"/>
          <p:cNvSpPr/>
          <p:nvPr/>
        </p:nvSpPr>
        <p:spPr>
          <a:xfrm>
            <a:off x="8028360" y="4018680"/>
            <a:ext cx="10328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60" b="0" u="none" strike="noStrike">
                <a:solidFill>
                  <a:srgbClr val="2E3440"/>
                </a:solidFill>
                <a:effectLst/>
                <a:uFillTx/>
                <a:latin typeface="Aptos"/>
              </a:rPr>
              <a:t>1.2</a:t>
            </a:r>
            <a:endParaRPr lang="en-US" sz="760" b="0" u="none" strike="noStrike">
              <a:solidFill>
                <a:srgbClr val="000000"/>
              </a:solidFill>
              <a:effectLst/>
              <a:uFillTx/>
              <a:latin typeface="Arial"/>
            </a:endParaRPr>
          </a:p>
        </p:txBody>
      </p:sp>
      <p:sp>
        <p:nvSpPr>
          <p:cNvPr id="238" name="Shape 28"/>
          <p:cNvSpPr/>
          <p:nvPr/>
        </p:nvSpPr>
        <p:spPr>
          <a:xfrm>
            <a:off x="9116640" y="3950280"/>
            <a:ext cx="2285640" cy="3564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9" name="Text 29"/>
          <p:cNvSpPr/>
          <p:nvPr/>
        </p:nvSpPr>
        <p:spPr>
          <a:xfrm>
            <a:off x="9171360" y="4018680"/>
            <a:ext cx="21758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60" b="0" u="none" strike="noStrike">
                <a:solidFill>
                  <a:srgbClr val="2E3440"/>
                </a:solidFill>
                <a:effectLst/>
                <a:uFillTx/>
                <a:latin typeface="Aptos"/>
              </a:rPr>
              <a:t>Planificación</a:t>
            </a:r>
            <a:endParaRPr lang="en-US" sz="760" b="0" u="none" strike="noStrike">
              <a:solidFill>
                <a:srgbClr val="000000"/>
              </a:solidFill>
              <a:effectLst/>
              <a:uFillTx/>
              <a:latin typeface="Arial"/>
            </a:endParaRPr>
          </a:p>
        </p:txBody>
      </p:sp>
      <p:sp>
        <p:nvSpPr>
          <p:cNvPr id="240" name="Shape 30"/>
          <p:cNvSpPr/>
          <p:nvPr/>
        </p:nvSpPr>
        <p:spPr>
          <a:xfrm>
            <a:off x="7973640" y="4306680"/>
            <a:ext cx="1142640" cy="3564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1" name="Text 31"/>
          <p:cNvSpPr/>
          <p:nvPr/>
        </p:nvSpPr>
        <p:spPr>
          <a:xfrm>
            <a:off x="8028360" y="4375440"/>
            <a:ext cx="10328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60" b="0" u="none" strike="noStrike">
                <a:solidFill>
                  <a:srgbClr val="2E3440"/>
                </a:solidFill>
                <a:effectLst/>
                <a:uFillTx/>
                <a:latin typeface="Aptos"/>
              </a:rPr>
              <a:t>1.3</a:t>
            </a:r>
            <a:endParaRPr lang="en-US" sz="760" b="0" u="none" strike="noStrike">
              <a:solidFill>
                <a:srgbClr val="000000"/>
              </a:solidFill>
              <a:effectLst/>
              <a:uFillTx/>
              <a:latin typeface="Arial"/>
            </a:endParaRPr>
          </a:p>
        </p:txBody>
      </p:sp>
      <p:sp>
        <p:nvSpPr>
          <p:cNvPr id="242" name="Shape 32"/>
          <p:cNvSpPr/>
          <p:nvPr/>
        </p:nvSpPr>
        <p:spPr>
          <a:xfrm>
            <a:off x="9116640" y="4306680"/>
            <a:ext cx="2285640" cy="3564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3" name="Text 33"/>
          <p:cNvSpPr/>
          <p:nvPr/>
        </p:nvSpPr>
        <p:spPr>
          <a:xfrm>
            <a:off x="9171360" y="4375440"/>
            <a:ext cx="21758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60" b="0" u="none" strike="noStrike">
                <a:solidFill>
                  <a:srgbClr val="2E3440"/>
                </a:solidFill>
                <a:effectLst/>
                <a:uFillTx/>
                <a:latin typeface="Aptos"/>
              </a:rPr>
              <a:t>D1–D5: desarrollo y pruebas</a:t>
            </a:r>
            <a:endParaRPr lang="en-US" sz="760" b="0" u="none" strike="noStrike">
              <a:solidFill>
                <a:srgbClr val="000000"/>
              </a:solidFill>
              <a:effectLst/>
              <a:uFillTx/>
              <a:latin typeface="Arial"/>
            </a:endParaRPr>
          </a:p>
        </p:txBody>
      </p:sp>
      <p:sp>
        <p:nvSpPr>
          <p:cNvPr id="244" name="Shape 34"/>
          <p:cNvSpPr/>
          <p:nvPr/>
        </p:nvSpPr>
        <p:spPr>
          <a:xfrm>
            <a:off x="7973640" y="4663440"/>
            <a:ext cx="1142640" cy="3564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5" name="Text 35"/>
          <p:cNvSpPr/>
          <p:nvPr/>
        </p:nvSpPr>
        <p:spPr>
          <a:xfrm>
            <a:off x="8028360" y="4732200"/>
            <a:ext cx="10328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60" b="0" u="none" strike="noStrike">
                <a:solidFill>
                  <a:srgbClr val="2E3440"/>
                </a:solidFill>
                <a:effectLst/>
                <a:uFillTx/>
                <a:latin typeface="Aptos"/>
              </a:rPr>
              <a:t>1.4</a:t>
            </a:r>
            <a:endParaRPr lang="en-US" sz="760" b="0" u="none" strike="noStrike">
              <a:solidFill>
                <a:srgbClr val="000000"/>
              </a:solidFill>
              <a:effectLst/>
              <a:uFillTx/>
              <a:latin typeface="Arial"/>
            </a:endParaRPr>
          </a:p>
        </p:txBody>
      </p:sp>
      <p:sp>
        <p:nvSpPr>
          <p:cNvPr id="246" name="Shape 36"/>
          <p:cNvSpPr/>
          <p:nvPr/>
        </p:nvSpPr>
        <p:spPr>
          <a:xfrm>
            <a:off x="9116640" y="4663440"/>
            <a:ext cx="2285640" cy="3564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7" name="Text 37"/>
          <p:cNvSpPr/>
          <p:nvPr/>
        </p:nvSpPr>
        <p:spPr>
          <a:xfrm>
            <a:off x="9171360" y="4732200"/>
            <a:ext cx="21758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60" b="0" u="none" strike="noStrike">
                <a:solidFill>
                  <a:srgbClr val="2E3440"/>
                </a:solidFill>
                <a:effectLst/>
                <a:uFillTx/>
                <a:latin typeface="Aptos"/>
              </a:rPr>
              <a:t>D6: escenarios</a:t>
            </a:r>
            <a:endParaRPr lang="en-US" sz="760" b="0" u="none" strike="noStrike">
              <a:solidFill>
                <a:srgbClr val="000000"/>
              </a:solidFill>
              <a:effectLst/>
              <a:uFillTx/>
              <a:latin typeface="Arial"/>
            </a:endParaRPr>
          </a:p>
        </p:txBody>
      </p:sp>
      <p:sp>
        <p:nvSpPr>
          <p:cNvPr id="248" name="Shape 38"/>
          <p:cNvSpPr/>
          <p:nvPr/>
        </p:nvSpPr>
        <p:spPr>
          <a:xfrm>
            <a:off x="7973640" y="5020200"/>
            <a:ext cx="1142640" cy="3564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9" name="Text 39"/>
          <p:cNvSpPr/>
          <p:nvPr/>
        </p:nvSpPr>
        <p:spPr>
          <a:xfrm>
            <a:off x="8028360" y="5088600"/>
            <a:ext cx="10328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60" b="0" u="none" strike="noStrike">
                <a:solidFill>
                  <a:srgbClr val="2E3440"/>
                </a:solidFill>
                <a:effectLst/>
                <a:uFillTx/>
                <a:latin typeface="Aptos"/>
              </a:rPr>
              <a:t>1.5</a:t>
            </a:r>
            <a:endParaRPr lang="en-US" sz="760" b="0" u="none" strike="noStrike">
              <a:solidFill>
                <a:srgbClr val="000000"/>
              </a:solidFill>
              <a:effectLst/>
              <a:uFillTx/>
              <a:latin typeface="Arial"/>
            </a:endParaRPr>
          </a:p>
        </p:txBody>
      </p:sp>
      <p:sp>
        <p:nvSpPr>
          <p:cNvPr id="250" name="Shape 40"/>
          <p:cNvSpPr/>
          <p:nvPr/>
        </p:nvSpPr>
        <p:spPr>
          <a:xfrm>
            <a:off x="9116640" y="5020200"/>
            <a:ext cx="2285640" cy="3564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1" name="Text 41"/>
          <p:cNvSpPr/>
          <p:nvPr/>
        </p:nvSpPr>
        <p:spPr>
          <a:xfrm>
            <a:off x="9171360" y="5088600"/>
            <a:ext cx="21758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60" b="0" u="none" strike="noStrike">
                <a:solidFill>
                  <a:srgbClr val="2E3440"/>
                </a:solidFill>
                <a:effectLst/>
                <a:uFillTx/>
                <a:latin typeface="Aptos"/>
              </a:rPr>
              <a:t>D7–D8: informe y cierre</a:t>
            </a:r>
            <a:endParaRPr lang="en-US" sz="760" b="0" u="none" strike="noStrike">
              <a:solidFill>
                <a:srgbClr val="000000"/>
              </a:solidFill>
              <a:effectLst/>
              <a:uFillTx/>
              <a:latin typeface="Arial"/>
            </a:endParaRPr>
          </a:p>
        </p:txBody>
      </p:sp>
      <p:sp>
        <p:nvSpPr>
          <p:cNvPr id="252" name="Shape 42"/>
          <p:cNvSpPr/>
          <p:nvPr/>
        </p:nvSpPr>
        <p:spPr>
          <a:xfrm>
            <a:off x="7973640" y="5532120"/>
            <a:ext cx="3428640" cy="511560"/>
          </a:xfrm>
          <a:prstGeom prst="roundRect">
            <a:avLst>
              <a:gd name="adj" fmla="val 14286"/>
            </a:avLst>
          </a:prstGeom>
          <a:solidFill>
            <a:srgbClr val="FFFFFF"/>
          </a:solidFill>
          <a:ln w="635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3" name="Text 43"/>
          <p:cNvSpPr/>
          <p:nvPr/>
        </p:nvSpPr>
        <p:spPr>
          <a:xfrm>
            <a:off x="8119800" y="5641920"/>
            <a:ext cx="31359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10" b="0" u="none" strike="noStrike">
                <a:solidFill>
                  <a:srgbClr val="2E3440"/>
                </a:solidFill>
                <a:effectLst/>
                <a:uFillTx/>
                <a:latin typeface="Aptos"/>
              </a:rPr>
              <a:t>Procedimiento: se agruparon los entregables por resultado esperado, no solamente por fecha.</a:t>
            </a:r>
            <a:endParaRPr lang="en-US" sz="1010" b="0" u="none" strike="noStrike">
              <a:solidFill>
                <a:srgbClr val="000000"/>
              </a:solidFill>
              <a:effectLst/>
              <a:uFillTx/>
              <a:latin typeface="Arial"/>
            </a:endParaRPr>
          </a:p>
        </p:txBody>
      </p:sp>
      <p:sp>
        <p:nvSpPr>
          <p:cNvPr id="256" name="Text 46"/>
          <p:cNvSpPr/>
          <p:nvPr/>
        </p:nvSpPr>
        <p:spPr>
          <a:xfrm>
            <a:off x="11292840" y="658368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1" u="none" strike="noStrike">
                <a:solidFill>
                  <a:srgbClr val="6B7280"/>
                </a:solidFill>
                <a:effectLst/>
                <a:uFillTx/>
                <a:latin typeface="Aptos"/>
              </a:rPr>
              <a:t>07</a:t>
            </a:r>
            <a:endParaRPr lang="en-US" sz="85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58" name="Text 1"/>
          <p:cNvSpPr/>
          <p:nvPr/>
        </p:nvSpPr>
        <p:spPr>
          <a:xfrm>
            <a:off x="502920" y="329040"/>
            <a:ext cx="94179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50" b="1" u="none" strike="noStrike">
                <a:solidFill>
                  <a:srgbClr val="172033"/>
                </a:solidFill>
                <a:effectLst/>
                <a:uFillTx/>
                <a:latin typeface="Aptos Display"/>
                <a:ea typeface="Aptos Display"/>
              </a:rPr>
              <a:t>Ordenar actividades y definir dependencias</a:t>
            </a:r>
            <a:endParaRPr lang="en-US" sz="2450" b="0" u="none" strike="noStrike">
              <a:solidFill>
                <a:srgbClr val="000000"/>
              </a:solidFill>
              <a:effectLst/>
              <a:uFillTx/>
              <a:latin typeface="Arial"/>
            </a:endParaRPr>
          </a:p>
        </p:txBody>
      </p:sp>
      <p:sp>
        <p:nvSpPr>
          <p:cNvPr id="259" name="Text 2"/>
          <p:cNvSpPr/>
          <p:nvPr/>
        </p:nvSpPr>
        <p:spPr>
          <a:xfrm>
            <a:off x="521280" y="749880"/>
            <a:ext cx="9692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20" b="0" u="none" strike="noStrike">
                <a:solidFill>
                  <a:srgbClr val="6B7280"/>
                </a:solidFill>
                <a:effectLst/>
                <a:uFillTx/>
                <a:latin typeface="Aptos"/>
                <a:ea typeface="Aptos"/>
              </a:rPr>
              <a:t>Secuencia común D1–D8</a:t>
            </a:r>
            <a:endParaRPr lang="en-US" sz="1020" b="0" u="none" strike="noStrike">
              <a:solidFill>
                <a:srgbClr val="000000"/>
              </a:solidFill>
              <a:effectLst/>
              <a:uFillTx/>
              <a:latin typeface="Arial"/>
            </a:endParaRPr>
          </a:p>
        </p:txBody>
      </p:sp>
      <p:sp>
        <p:nvSpPr>
          <p:cNvPr id="260" name="Shape 3"/>
          <p:cNvSpPr/>
          <p:nvPr/>
        </p:nvSpPr>
        <p:spPr>
          <a:xfrm>
            <a:off x="502920" y="1042200"/>
            <a:ext cx="11201400" cy="360"/>
          </a:xfrm>
          <a:prstGeom prst="line">
            <a:avLst/>
          </a:prstGeom>
          <a:ln w="10160">
            <a:solidFill>
              <a:srgbClr val="D7DEE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61" name="Shape 4"/>
          <p:cNvSpPr/>
          <p:nvPr/>
        </p:nvSpPr>
        <p:spPr>
          <a:xfrm>
            <a:off x="10104120" y="347400"/>
            <a:ext cx="1535760" cy="383760"/>
          </a:xfrm>
          <a:prstGeom prst="roundRect">
            <a:avLst>
              <a:gd name="adj" fmla="val 23810"/>
            </a:avLst>
          </a:prstGeom>
          <a:solidFill>
            <a:srgbClr val="172033"/>
          </a:solidFill>
          <a:ln w="12700">
            <a:solidFill>
              <a:srgbClr val="172033">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2" name="Text 5"/>
          <p:cNvSpPr/>
          <p:nvPr/>
        </p:nvSpPr>
        <p:spPr>
          <a:xfrm>
            <a:off x="10168200" y="448200"/>
            <a:ext cx="140796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39" b="1" u="none" strike="noStrike">
                <a:solidFill>
                  <a:srgbClr val="FFFFFF"/>
                </a:solidFill>
                <a:effectLst/>
                <a:uFillTx/>
                <a:latin typeface="Aptos"/>
              </a:rPr>
              <a:t>Ejercicio 4</a:t>
            </a:r>
            <a:endParaRPr lang="en-US" sz="839" b="0" u="none" strike="noStrike">
              <a:solidFill>
                <a:srgbClr val="000000"/>
              </a:solidFill>
              <a:effectLst/>
              <a:uFillTx/>
              <a:latin typeface="Arial"/>
            </a:endParaRPr>
          </a:p>
        </p:txBody>
      </p:sp>
      <p:sp>
        <p:nvSpPr>
          <p:cNvPr id="263" name="Shape 6"/>
          <p:cNvSpPr/>
          <p:nvPr/>
        </p:nvSpPr>
        <p:spPr>
          <a:xfrm>
            <a:off x="685800" y="1353240"/>
            <a:ext cx="776880" cy="43848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4" name="Text 7"/>
          <p:cNvSpPr/>
          <p:nvPr/>
        </p:nvSpPr>
        <p:spPr>
          <a:xfrm>
            <a:off x="740520" y="1422000"/>
            <a:ext cx="6670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80" b="1" u="none" strike="noStrike">
                <a:solidFill>
                  <a:srgbClr val="FFFFFF"/>
                </a:solidFill>
                <a:effectLst/>
                <a:uFillTx/>
                <a:latin typeface="Aptos"/>
              </a:rPr>
              <a:t>ID</a:t>
            </a:r>
            <a:endParaRPr lang="en-US" sz="880" b="0" u="none" strike="noStrike">
              <a:solidFill>
                <a:srgbClr val="000000"/>
              </a:solidFill>
              <a:effectLst/>
              <a:uFillTx/>
              <a:latin typeface="Arial"/>
            </a:endParaRPr>
          </a:p>
        </p:txBody>
      </p:sp>
      <p:sp>
        <p:nvSpPr>
          <p:cNvPr id="265" name="Shape 8"/>
          <p:cNvSpPr/>
          <p:nvPr/>
        </p:nvSpPr>
        <p:spPr>
          <a:xfrm>
            <a:off x="1463040" y="1353240"/>
            <a:ext cx="2422800" cy="43848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6" name="Text 9"/>
          <p:cNvSpPr/>
          <p:nvPr/>
        </p:nvSpPr>
        <p:spPr>
          <a:xfrm>
            <a:off x="1517760" y="1422000"/>
            <a:ext cx="23130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80" b="1" u="none" strike="noStrike">
                <a:solidFill>
                  <a:srgbClr val="FFFFFF"/>
                </a:solidFill>
                <a:effectLst/>
                <a:uFillTx/>
                <a:latin typeface="Aptos"/>
              </a:rPr>
              <a:t>Actividad</a:t>
            </a:r>
            <a:endParaRPr lang="en-US" sz="880" b="0" u="none" strike="noStrike">
              <a:solidFill>
                <a:srgbClr val="000000"/>
              </a:solidFill>
              <a:effectLst/>
              <a:uFillTx/>
              <a:latin typeface="Arial"/>
            </a:endParaRPr>
          </a:p>
        </p:txBody>
      </p:sp>
      <p:sp>
        <p:nvSpPr>
          <p:cNvPr id="267" name="Shape 10"/>
          <p:cNvSpPr/>
          <p:nvPr/>
        </p:nvSpPr>
        <p:spPr>
          <a:xfrm>
            <a:off x="3886200" y="1353240"/>
            <a:ext cx="4023000" cy="43848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8" name="Text 11"/>
          <p:cNvSpPr/>
          <p:nvPr/>
        </p:nvSpPr>
        <p:spPr>
          <a:xfrm>
            <a:off x="3940920" y="1422000"/>
            <a:ext cx="39132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80" b="1" u="none" strike="noStrike">
                <a:solidFill>
                  <a:srgbClr val="FFFFFF"/>
                </a:solidFill>
                <a:effectLst/>
                <a:uFillTx/>
                <a:latin typeface="Aptos"/>
              </a:rPr>
              <a:t>Dependencia</a:t>
            </a:r>
            <a:endParaRPr lang="en-US" sz="880" b="0" u="none" strike="noStrike">
              <a:solidFill>
                <a:srgbClr val="000000"/>
              </a:solidFill>
              <a:effectLst/>
              <a:uFillTx/>
              <a:latin typeface="Arial"/>
            </a:endParaRPr>
          </a:p>
        </p:txBody>
      </p:sp>
      <p:sp>
        <p:nvSpPr>
          <p:cNvPr id="269" name="Shape 12"/>
          <p:cNvSpPr/>
          <p:nvPr/>
        </p:nvSpPr>
        <p:spPr>
          <a:xfrm>
            <a:off x="685800" y="1792080"/>
            <a:ext cx="77688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0" name="Text 13"/>
          <p:cNvSpPr/>
          <p:nvPr/>
        </p:nvSpPr>
        <p:spPr>
          <a:xfrm>
            <a:off x="740520" y="1860840"/>
            <a:ext cx="6670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D1</a:t>
            </a:r>
            <a:endParaRPr lang="en-US" sz="850" b="0" u="none" strike="noStrike">
              <a:solidFill>
                <a:srgbClr val="000000"/>
              </a:solidFill>
              <a:effectLst/>
              <a:uFillTx/>
              <a:latin typeface="Arial"/>
            </a:endParaRPr>
          </a:p>
        </p:txBody>
      </p:sp>
      <p:sp>
        <p:nvSpPr>
          <p:cNvPr id="271" name="Shape 14"/>
          <p:cNvSpPr/>
          <p:nvPr/>
        </p:nvSpPr>
        <p:spPr>
          <a:xfrm>
            <a:off x="1463040" y="1792080"/>
            <a:ext cx="242280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2" name="Text 15"/>
          <p:cNvSpPr/>
          <p:nvPr/>
        </p:nvSpPr>
        <p:spPr>
          <a:xfrm>
            <a:off x="1517760" y="1860840"/>
            <a:ext cx="23130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Mapa/diagrama</a:t>
            </a:r>
            <a:endParaRPr lang="en-US" sz="850" b="0" u="none" strike="noStrike">
              <a:solidFill>
                <a:srgbClr val="000000"/>
              </a:solidFill>
              <a:effectLst/>
              <a:uFillTx/>
              <a:latin typeface="Arial"/>
            </a:endParaRPr>
          </a:p>
        </p:txBody>
      </p:sp>
      <p:sp>
        <p:nvSpPr>
          <p:cNvPr id="273" name="Shape 16"/>
          <p:cNvSpPr/>
          <p:nvPr/>
        </p:nvSpPr>
        <p:spPr>
          <a:xfrm>
            <a:off x="3886200" y="1792080"/>
            <a:ext cx="402300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4" name="Text 17"/>
          <p:cNvSpPr/>
          <p:nvPr/>
        </p:nvSpPr>
        <p:spPr>
          <a:xfrm>
            <a:off x="3940920" y="1860840"/>
            <a:ext cx="39132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No depende de otra entrega.</a:t>
            </a:r>
            <a:endParaRPr lang="en-US" sz="850" b="0" u="none" strike="noStrike">
              <a:solidFill>
                <a:srgbClr val="000000"/>
              </a:solidFill>
              <a:effectLst/>
              <a:uFillTx/>
              <a:latin typeface="Arial"/>
            </a:endParaRPr>
          </a:p>
        </p:txBody>
      </p:sp>
      <p:sp>
        <p:nvSpPr>
          <p:cNvPr id="275" name="Shape 18"/>
          <p:cNvSpPr/>
          <p:nvPr/>
        </p:nvSpPr>
        <p:spPr>
          <a:xfrm>
            <a:off x="685800" y="2231280"/>
            <a:ext cx="77688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6" name="Text 19"/>
          <p:cNvSpPr/>
          <p:nvPr/>
        </p:nvSpPr>
        <p:spPr>
          <a:xfrm>
            <a:off x="740520" y="2299680"/>
            <a:ext cx="6670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D2</a:t>
            </a:r>
            <a:endParaRPr lang="en-US" sz="850" b="0" u="none" strike="noStrike">
              <a:solidFill>
                <a:srgbClr val="000000"/>
              </a:solidFill>
              <a:effectLst/>
              <a:uFillTx/>
              <a:latin typeface="Arial"/>
            </a:endParaRPr>
          </a:p>
        </p:txBody>
      </p:sp>
      <p:sp>
        <p:nvSpPr>
          <p:cNvPr id="277" name="Shape 20"/>
          <p:cNvSpPr/>
          <p:nvPr/>
        </p:nvSpPr>
        <p:spPr>
          <a:xfrm>
            <a:off x="1463040" y="2231280"/>
            <a:ext cx="242280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8" name="Text 21"/>
          <p:cNvSpPr/>
          <p:nvPr/>
        </p:nvSpPr>
        <p:spPr>
          <a:xfrm>
            <a:off x="1517760" y="2299680"/>
            <a:ext cx="23130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Datos y parámetros</a:t>
            </a:r>
            <a:endParaRPr lang="en-US" sz="850" b="0" u="none" strike="noStrike">
              <a:solidFill>
                <a:srgbClr val="000000"/>
              </a:solidFill>
              <a:effectLst/>
              <a:uFillTx/>
              <a:latin typeface="Arial"/>
            </a:endParaRPr>
          </a:p>
        </p:txBody>
      </p:sp>
      <p:sp>
        <p:nvSpPr>
          <p:cNvPr id="279" name="Shape 22"/>
          <p:cNvSpPr/>
          <p:nvPr/>
        </p:nvSpPr>
        <p:spPr>
          <a:xfrm>
            <a:off x="3886200" y="2231280"/>
            <a:ext cx="402300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0" name="Text 23"/>
          <p:cNvSpPr/>
          <p:nvPr/>
        </p:nvSpPr>
        <p:spPr>
          <a:xfrm>
            <a:off x="3940920" y="2299680"/>
            <a:ext cx="39132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Depende del proceso definido en D1.</a:t>
            </a:r>
            <a:endParaRPr lang="en-US" sz="850" b="0" u="none" strike="noStrike">
              <a:solidFill>
                <a:srgbClr val="000000"/>
              </a:solidFill>
              <a:effectLst/>
              <a:uFillTx/>
              <a:latin typeface="Arial"/>
            </a:endParaRPr>
          </a:p>
        </p:txBody>
      </p:sp>
      <p:sp>
        <p:nvSpPr>
          <p:cNvPr id="281" name="Shape 24"/>
          <p:cNvSpPr/>
          <p:nvPr/>
        </p:nvSpPr>
        <p:spPr>
          <a:xfrm>
            <a:off x="685800" y="2670120"/>
            <a:ext cx="77688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2" name="Text 25"/>
          <p:cNvSpPr/>
          <p:nvPr/>
        </p:nvSpPr>
        <p:spPr>
          <a:xfrm>
            <a:off x="740520" y="2738520"/>
            <a:ext cx="6670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D3</a:t>
            </a:r>
            <a:endParaRPr lang="en-US" sz="850" b="0" u="none" strike="noStrike">
              <a:solidFill>
                <a:srgbClr val="000000"/>
              </a:solidFill>
              <a:effectLst/>
              <a:uFillTx/>
              <a:latin typeface="Arial"/>
            </a:endParaRPr>
          </a:p>
        </p:txBody>
      </p:sp>
      <p:sp>
        <p:nvSpPr>
          <p:cNvPr id="283" name="Shape 26"/>
          <p:cNvSpPr/>
          <p:nvPr/>
        </p:nvSpPr>
        <p:spPr>
          <a:xfrm>
            <a:off x="1463040" y="2670120"/>
            <a:ext cx="242280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4" name="Text 27"/>
          <p:cNvSpPr/>
          <p:nvPr/>
        </p:nvSpPr>
        <p:spPr>
          <a:xfrm>
            <a:off x="1517760" y="2738520"/>
            <a:ext cx="23130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Modelado BPMN</a:t>
            </a:r>
            <a:endParaRPr lang="en-US" sz="850" b="0" u="none" strike="noStrike">
              <a:solidFill>
                <a:srgbClr val="000000"/>
              </a:solidFill>
              <a:effectLst/>
              <a:uFillTx/>
              <a:latin typeface="Arial"/>
            </a:endParaRPr>
          </a:p>
        </p:txBody>
      </p:sp>
      <p:sp>
        <p:nvSpPr>
          <p:cNvPr id="285" name="Shape 28"/>
          <p:cNvSpPr/>
          <p:nvPr/>
        </p:nvSpPr>
        <p:spPr>
          <a:xfrm>
            <a:off x="3886200" y="2670120"/>
            <a:ext cx="402300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6" name="Text 29"/>
          <p:cNvSpPr/>
          <p:nvPr/>
        </p:nvSpPr>
        <p:spPr>
          <a:xfrm>
            <a:off x="3940920" y="2738520"/>
            <a:ext cx="39132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Depende de D1 y D2.</a:t>
            </a:r>
            <a:endParaRPr lang="en-US" sz="850" b="0" u="none" strike="noStrike">
              <a:solidFill>
                <a:srgbClr val="000000"/>
              </a:solidFill>
              <a:effectLst/>
              <a:uFillTx/>
              <a:latin typeface="Arial"/>
            </a:endParaRPr>
          </a:p>
        </p:txBody>
      </p:sp>
      <p:sp>
        <p:nvSpPr>
          <p:cNvPr id="287" name="Shape 30"/>
          <p:cNvSpPr/>
          <p:nvPr/>
        </p:nvSpPr>
        <p:spPr>
          <a:xfrm>
            <a:off x="685800" y="3108960"/>
            <a:ext cx="77688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8" name="Text 31"/>
          <p:cNvSpPr/>
          <p:nvPr/>
        </p:nvSpPr>
        <p:spPr>
          <a:xfrm>
            <a:off x="740520" y="3177720"/>
            <a:ext cx="6670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D4</a:t>
            </a:r>
            <a:endParaRPr lang="en-US" sz="850" b="0" u="none" strike="noStrike">
              <a:solidFill>
                <a:srgbClr val="000000"/>
              </a:solidFill>
              <a:effectLst/>
              <a:uFillTx/>
              <a:latin typeface="Arial"/>
            </a:endParaRPr>
          </a:p>
        </p:txBody>
      </p:sp>
      <p:sp>
        <p:nvSpPr>
          <p:cNvPr id="289" name="Shape 32"/>
          <p:cNvSpPr/>
          <p:nvPr/>
        </p:nvSpPr>
        <p:spPr>
          <a:xfrm>
            <a:off x="1463040" y="3108960"/>
            <a:ext cx="242280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0" name="Text 33"/>
          <p:cNvSpPr/>
          <p:nvPr/>
        </p:nvSpPr>
        <p:spPr>
          <a:xfrm>
            <a:off x="1517760" y="3177720"/>
            <a:ext cx="23130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Modelo configurado</a:t>
            </a:r>
            <a:endParaRPr lang="en-US" sz="850" b="0" u="none" strike="noStrike">
              <a:solidFill>
                <a:srgbClr val="000000"/>
              </a:solidFill>
              <a:effectLst/>
              <a:uFillTx/>
              <a:latin typeface="Arial"/>
            </a:endParaRPr>
          </a:p>
        </p:txBody>
      </p:sp>
      <p:sp>
        <p:nvSpPr>
          <p:cNvPr id="291" name="Shape 34"/>
          <p:cNvSpPr/>
          <p:nvPr/>
        </p:nvSpPr>
        <p:spPr>
          <a:xfrm>
            <a:off x="3886200" y="3108960"/>
            <a:ext cx="402300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2" name="Text 35"/>
          <p:cNvSpPr/>
          <p:nvPr/>
        </p:nvSpPr>
        <p:spPr>
          <a:xfrm>
            <a:off x="3940920" y="3177720"/>
            <a:ext cx="39132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Depende del BPMN y de los datos.</a:t>
            </a:r>
            <a:endParaRPr lang="en-US" sz="850" b="0" u="none" strike="noStrike">
              <a:solidFill>
                <a:srgbClr val="000000"/>
              </a:solidFill>
              <a:effectLst/>
              <a:uFillTx/>
              <a:latin typeface="Arial"/>
            </a:endParaRPr>
          </a:p>
        </p:txBody>
      </p:sp>
      <p:sp>
        <p:nvSpPr>
          <p:cNvPr id="293" name="Shape 36"/>
          <p:cNvSpPr/>
          <p:nvPr/>
        </p:nvSpPr>
        <p:spPr>
          <a:xfrm>
            <a:off x="685800" y="3547800"/>
            <a:ext cx="77688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4" name="Text 37"/>
          <p:cNvSpPr/>
          <p:nvPr/>
        </p:nvSpPr>
        <p:spPr>
          <a:xfrm>
            <a:off x="740520" y="3616560"/>
            <a:ext cx="6670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D5</a:t>
            </a:r>
            <a:endParaRPr lang="en-US" sz="850" b="0" u="none" strike="noStrike">
              <a:solidFill>
                <a:srgbClr val="000000"/>
              </a:solidFill>
              <a:effectLst/>
              <a:uFillTx/>
              <a:latin typeface="Arial"/>
            </a:endParaRPr>
          </a:p>
        </p:txBody>
      </p:sp>
      <p:sp>
        <p:nvSpPr>
          <p:cNvPr id="295" name="Shape 38"/>
          <p:cNvSpPr/>
          <p:nvPr/>
        </p:nvSpPr>
        <p:spPr>
          <a:xfrm>
            <a:off x="1463040" y="3547800"/>
            <a:ext cx="242280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6" name="Text 39"/>
          <p:cNvSpPr/>
          <p:nvPr/>
        </p:nvSpPr>
        <p:spPr>
          <a:xfrm>
            <a:off x="1517760" y="3616560"/>
            <a:ext cx="23130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Pruebas</a:t>
            </a:r>
            <a:endParaRPr lang="en-US" sz="850" b="0" u="none" strike="noStrike">
              <a:solidFill>
                <a:srgbClr val="000000"/>
              </a:solidFill>
              <a:effectLst/>
              <a:uFillTx/>
              <a:latin typeface="Arial"/>
            </a:endParaRPr>
          </a:p>
        </p:txBody>
      </p:sp>
      <p:sp>
        <p:nvSpPr>
          <p:cNvPr id="297" name="Shape 40"/>
          <p:cNvSpPr/>
          <p:nvPr/>
        </p:nvSpPr>
        <p:spPr>
          <a:xfrm>
            <a:off x="3886200" y="3547800"/>
            <a:ext cx="402300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8" name="Text 41"/>
          <p:cNvSpPr/>
          <p:nvPr/>
        </p:nvSpPr>
        <p:spPr>
          <a:xfrm>
            <a:off x="3940920" y="3616560"/>
            <a:ext cx="39132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Depende del modelo funcional.</a:t>
            </a:r>
            <a:endParaRPr lang="en-US" sz="850" b="0" u="none" strike="noStrike">
              <a:solidFill>
                <a:srgbClr val="000000"/>
              </a:solidFill>
              <a:effectLst/>
              <a:uFillTx/>
              <a:latin typeface="Arial"/>
            </a:endParaRPr>
          </a:p>
        </p:txBody>
      </p:sp>
      <p:sp>
        <p:nvSpPr>
          <p:cNvPr id="299" name="Shape 42"/>
          <p:cNvSpPr/>
          <p:nvPr/>
        </p:nvSpPr>
        <p:spPr>
          <a:xfrm>
            <a:off x="685800" y="3986640"/>
            <a:ext cx="77688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0" name="Text 43"/>
          <p:cNvSpPr/>
          <p:nvPr/>
        </p:nvSpPr>
        <p:spPr>
          <a:xfrm>
            <a:off x="740520" y="4055400"/>
            <a:ext cx="6670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D6</a:t>
            </a:r>
            <a:endParaRPr lang="en-US" sz="850" b="0" u="none" strike="noStrike">
              <a:solidFill>
                <a:srgbClr val="000000"/>
              </a:solidFill>
              <a:effectLst/>
              <a:uFillTx/>
              <a:latin typeface="Arial"/>
            </a:endParaRPr>
          </a:p>
        </p:txBody>
      </p:sp>
      <p:sp>
        <p:nvSpPr>
          <p:cNvPr id="301" name="Shape 44"/>
          <p:cNvSpPr/>
          <p:nvPr/>
        </p:nvSpPr>
        <p:spPr>
          <a:xfrm>
            <a:off x="1463040" y="3986640"/>
            <a:ext cx="242280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2" name="Text 45"/>
          <p:cNvSpPr/>
          <p:nvPr/>
        </p:nvSpPr>
        <p:spPr>
          <a:xfrm>
            <a:off x="1517760" y="4055400"/>
            <a:ext cx="23130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Escenarios</a:t>
            </a:r>
            <a:endParaRPr lang="en-US" sz="850" b="0" u="none" strike="noStrike">
              <a:solidFill>
                <a:srgbClr val="000000"/>
              </a:solidFill>
              <a:effectLst/>
              <a:uFillTx/>
              <a:latin typeface="Arial"/>
            </a:endParaRPr>
          </a:p>
        </p:txBody>
      </p:sp>
      <p:sp>
        <p:nvSpPr>
          <p:cNvPr id="303" name="Shape 46"/>
          <p:cNvSpPr/>
          <p:nvPr/>
        </p:nvSpPr>
        <p:spPr>
          <a:xfrm>
            <a:off x="3886200" y="3986640"/>
            <a:ext cx="402300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4" name="Text 47"/>
          <p:cNvSpPr/>
          <p:nvPr/>
        </p:nvSpPr>
        <p:spPr>
          <a:xfrm>
            <a:off x="3940920" y="4055400"/>
            <a:ext cx="39132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Depende de una línea base validada.</a:t>
            </a:r>
            <a:endParaRPr lang="en-US" sz="850" b="0" u="none" strike="noStrike">
              <a:solidFill>
                <a:srgbClr val="000000"/>
              </a:solidFill>
              <a:effectLst/>
              <a:uFillTx/>
              <a:latin typeface="Arial"/>
            </a:endParaRPr>
          </a:p>
        </p:txBody>
      </p:sp>
      <p:sp>
        <p:nvSpPr>
          <p:cNvPr id="305" name="Shape 48"/>
          <p:cNvSpPr/>
          <p:nvPr/>
        </p:nvSpPr>
        <p:spPr>
          <a:xfrm>
            <a:off x="685800" y="4425840"/>
            <a:ext cx="77688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6" name="Text 49"/>
          <p:cNvSpPr/>
          <p:nvPr/>
        </p:nvSpPr>
        <p:spPr>
          <a:xfrm>
            <a:off x="740520" y="4494240"/>
            <a:ext cx="6670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D7</a:t>
            </a:r>
            <a:endParaRPr lang="en-US" sz="850" b="0" u="none" strike="noStrike">
              <a:solidFill>
                <a:srgbClr val="000000"/>
              </a:solidFill>
              <a:effectLst/>
              <a:uFillTx/>
              <a:latin typeface="Arial"/>
            </a:endParaRPr>
          </a:p>
        </p:txBody>
      </p:sp>
      <p:sp>
        <p:nvSpPr>
          <p:cNvPr id="307" name="Shape 50"/>
          <p:cNvSpPr/>
          <p:nvPr/>
        </p:nvSpPr>
        <p:spPr>
          <a:xfrm>
            <a:off x="1463040" y="4425840"/>
            <a:ext cx="242280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8" name="Text 51"/>
          <p:cNvSpPr/>
          <p:nvPr/>
        </p:nvSpPr>
        <p:spPr>
          <a:xfrm>
            <a:off x="1517760" y="4494240"/>
            <a:ext cx="23130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Informe</a:t>
            </a:r>
            <a:endParaRPr lang="en-US" sz="850" b="0" u="none" strike="noStrike">
              <a:solidFill>
                <a:srgbClr val="000000"/>
              </a:solidFill>
              <a:effectLst/>
              <a:uFillTx/>
              <a:latin typeface="Arial"/>
            </a:endParaRPr>
          </a:p>
        </p:txBody>
      </p:sp>
      <p:sp>
        <p:nvSpPr>
          <p:cNvPr id="309" name="Shape 52"/>
          <p:cNvSpPr/>
          <p:nvPr/>
        </p:nvSpPr>
        <p:spPr>
          <a:xfrm>
            <a:off x="3886200" y="4425840"/>
            <a:ext cx="402300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0" name="Text 53"/>
          <p:cNvSpPr/>
          <p:nvPr/>
        </p:nvSpPr>
        <p:spPr>
          <a:xfrm>
            <a:off x="3940920" y="4494240"/>
            <a:ext cx="39132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Depende de D6.</a:t>
            </a:r>
            <a:endParaRPr lang="en-US" sz="850" b="0" u="none" strike="noStrike">
              <a:solidFill>
                <a:srgbClr val="000000"/>
              </a:solidFill>
              <a:effectLst/>
              <a:uFillTx/>
              <a:latin typeface="Arial"/>
            </a:endParaRPr>
          </a:p>
        </p:txBody>
      </p:sp>
      <p:sp>
        <p:nvSpPr>
          <p:cNvPr id="311" name="Shape 54"/>
          <p:cNvSpPr/>
          <p:nvPr/>
        </p:nvSpPr>
        <p:spPr>
          <a:xfrm>
            <a:off x="685800" y="4864680"/>
            <a:ext cx="77688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2" name="Text 55"/>
          <p:cNvSpPr/>
          <p:nvPr/>
        </p:nvSpPr>
        <p:spPr>
          <a:xfrm>
            <a:off x="740520" y="4933080"/>
            <a:ext cx="6670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D8</a:t>
            </a:r>
            <a:endParaRPr lang="en-US" sz="850" b="0" u="none" strike="noStrike">
              <a:solidFill>
                <a:srgbClr val="000000"/>
              </a:solidFill>
              <a:effectLst/>
              <a:uFillTx/>
              <a:latin typeface="Arial"/>
            </a:endParaRPr>
          </a:p>
        </p:txBody>
      </p:sp>
      <p:sp>
        <p:nvSpPr>
          <p:cNvPr id="313" name="Shape 56"/>
          <p:cNvSpPr/>
          <p:nvPr/>
        </p:nvSpPr>
        <p:spPr>
          <a:xfrm>
            <a:off x="1463040" y="4864680"/>
            <a:ext cx="242280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4" name="Text 57"/>
          <p:cNvSpPr/>
          <p:nvPr/>
        </p:nvSpPr>
        <p:spPr>
          <a:xfrm>
            <a:off x="1517760" y="4933080"/>
            <a:ext cx="23130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Entrega final</a:t>
            </a:r>
            <a:endParaRPr lang="en-US" sz="850" b="0" u="none" strike="noStrike">
              <a:solidFill>
                <a:srgbClr val="000000"/>
              </a:solidFill>
              <a:effectLst/>
              <a:uFillTx/>
              <a:latin typeface="Arial"/>
            </a:endParaRPr>
          </a:p>
        </p:txBody>
      </p:sp>
      <p:sp>
        <p:nvSpPr>
          <p:cNvPr id="315" name="Shape 58"/>
          <p:cNvSpPr/>
          <p:nvPr/>
        </p:nvSpPr>
        <p:spPr>
          <a:xfrm>
            <a:off x="3886200" y="4864680"/>
            <a:ext cx="4023000" cy="438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6" name="Text 59"/>
          <p:cNvSpPr/>
          <p:nvPr/>
        </p:nvSpPr>
        <p:spPr>
          <a:xfrm>
            <a:off x="3940920" y="4933080"/>
            <a:ext cx="39132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50" b="0" u="none" strike="noStrike">
                <a:solidFill>
                  <a:srgbClr val="2E3440"/>
                </a:solidFill>
                <a:effectLst/>
                <a:uFillTx/>
                <a:latin typeface="Aptos"/>
              </a:rPr>
              <a:t>Depende de D7 y validación PM.</a:t>
            </a:r>
            <a:endParaRPr lang="en-US" sz="850" b="0" u="none" strike="noStrike">
              <a:solidFill>
                <a:srgbClr val="000000"/>
              </a:solidFill>
              <a:effectLst/>
              <a:uFillTx/>
              <a:latin typeface="Arial"/>
            </a:endParaRPr>
          </a:p>
        </p:txBody>
      </p:sp>
      <p:sp>
        <p:nvSpPr>
          <p:cNvPr id="317" name="Shape 60"/>
          <p:cNvSpPr/>
          <p:nvPr/>
        </p:nvSpPr>
        <p:spPr>
          <a:xfrm>
            <a:off x="8092440" y="1572840"/>
            <a:ext cx="712800" cy="402120"/>
          </a:xfrm>
          <a:prstGeom prst="roundRect">
            <a:avLst>
              <a:gd name="adj" fmla="val 20455"/>
            </a:avLst>
          </a:prstGeom>
          <a:solidFill>
            <a:srgbClr val="2477C8"/>
          </a:solidFill>
          <a:ln w="12700">
            <a:solidFill>
              <a:srgbClr val="2477C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8" name="Text 61"/>
          <p:cNvSpPr/>
          <p:nvPr/>
        </p:nvSpPr>
        <p:spPr>
          <a:xfrm>
            <a:off x="8129160" y="1700640"/>
            <a:ext cx="6397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50" b="1" u="none" strike="noStrike">
                <a:solidFill>
                  <a:srgbClr val="FFFFFF"/>
                </a:solidFill>
                <a:effectLst/>
                <a:uFillTx/>
                <a:latin typeface="Aptos"/>
              </a:rPr>
              <a:t>D1</a:t>
            </a:r>
            <a:endParaRPr lang="en-US" sz="850" b="0" u="none" strike="noStrike">
              <a:solidFill>
                <a:srgbClr val="000000"/>
              </a:solidFill>
              <a:effectLst/>
              <a:uFillTx/>
              <a:latin typeface="Arial"/>
            </a:endParaRPr>
          </a:p>
        </p:txBody>
      </p:sp>
      <p:sp>
        <p:nvSpPr>
          <p:cNvPr id="319" name="Shape 62"/>
          <p:cNvSpPr/>
          <p:nvPr/>
        </p:nvSpPr>
        <p:spPr>
          <a:xfrm>
            <a:off x="9189720" y="1572840"/>
            <a:ext cx="712800" cy="402120"/>
          </a:xfrm>
          <a:prstGeom prst="roundRect">
            <a:avLst>
              <a:gd name="adj" fmla="val 20455"/>
            </a:avLst>
          </a:prstGeom>
          <a:solidFill>
            <a:srgbClr val="2477C8"/>
          </a:solidFill>
          <a:ln w="12700">
            <a:solidFill>
              <a:srgbClr val="2477C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0" name="Text 63"/>
          <p:cNvSpPr/>
          <p:nvPr/>
        </p:nvSpPr>
        <p:spPr>
          <a:xfrm>
            <a:off x="9226440" y="1700640"/>
            <a:ext cx="6397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50" b="1" u="none" strike="noStrike">
                <a:solidFill>
                  <a:srgbClr val="FFFFFF"/>
                </a:solidFill>
                <a:effectLst/>
                <a:uFillTx/>
                <a:latin typeface="Aptos"/>
              </a:rPr>
              <a:t>D2</a:t>
            </a:r>
            <a:endParaRPr lang="en-US" sz="850" b="0" u="none" strike="noStrike">
              <a:solidFill>
                <a:srgbClr val="000000"/>
              </a:solidFill>
              <a:effectLst/>
              <a:uFillTx/>
              <a:latin typeface="Arial"/>
            </a:endParaRPr>
          </a:p>
        </p:txBody>
      </p:sp>
      <p:sp>
        <p:nvSpPr>
          <p:cNvPr id="321" name="Shape 64"/>
          <p:cNvSpPr/>
          <p:nvPr/>
        </p:nvSpPr>
        <p:spPr>
          <a:xfrm>
            <a:off x="10287000" y="1572840"/>
            <a:ext cx="712800" cy="402120"/>
          </a:xfrm>
          <a:prstGeom prst="roundRect">
            <a:avLst>
              <a:gd name="adj" fmla="val 20455"/>
            </a:avLst>
          </a:prstGeom>
          <a:solidFill>
            <a:srgbClr val="2477C8"/>
          </a:solidFill>
          <a:ln w="12700">
            <a:solidFill>
              <a:srgbClr val="2477C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2" name="Text 65"/>
          <p:cNvSpPr/>
          <p:nvPr/>
        </p:nvSpPr>
        <p:spPr>
          <a:xfrm>
            <a:off x="10323720" y="1700640"/>
            <a:ext cx="6397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50" b="1" u="none" strike="noStrike">
                <a:solidFill>
                  <a:srgbClr val="FFFFFF"/>
                </a:solidFill>
                <a:effectLst/>
                <a:uFillTx/>
                <a:latin typeface="Aptos"/>
              </a:rPr>
              <a:t>D3</a:t>
            </a:r>
            <a:endParaRPr lang="en-US" sz="850" b="0" u="none" strike="noStrike">
              <a:solidFill>
                <a:srgbClr val="000000"/>
              </a:solidFill>
              <a:effectLst/>
              <a:uFillTx/>
              <a:latin typeface="Arial"/>
            </a:endParaRPr>
          </a:p>
        </p:txBody>
      </p:sp>
      <p:sp>
        <p:nvSpPr>
          <p:cNvPr id="323" name="Shape 66"/>
          <p:cNvSpPr/>
          <p:nvPr/>
        </p:nvSpPr>
        <p:spPr>
          <a:xfrm>
            <a:off x="8092440" y="2697480"/>
            <a:ext cx="712800" cy="402120"/>
          </a:xfrm>
          <a:prstGeom prst="roundRect">
            <a:avLst>
              <a:gd name="adj" fmla="val 20455"/>
            </a:avLst>
          </a:prstGeom>
          <a:solidFill>
            <a:srgbClr val="2477C8"/>
          </a:solidFill>
          <a:ln w="12700">
            <a:solidFill>
              <a:srgbClr val="2477C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4" name="Text 67"/>
          <p:cNvSpPr/>
          <p:nvPr/>
        </p:nvSpPr>
        <p:spPr>
          <a:xfrm>
            <a:off x="8129160" y="2825640"/>
            <a:ext cx="6397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50" b="1" u="none" strike="noStrike">
                <a:solidFill>
                  <a:srgbClr val="FFFFFF"/>
                </a:solidFill>
                <a:effectLst/>
                <a:uFillTx/>
                <a:latin typeface="Aptos"/>
              </a:rPr>
              <a:t>D4</a:t>
            </a:r>
            <a:endParaRPr lang="en-US" sz="850" b="0" u="none" strike="noStrike">
              <a:solidFill>
                <a:srgbClr val="000000"/>
              </a:solidFill>
              <a:effectLst/>
              <a:uFillTx/>
              <a:latin typeface="Arial"/>
            </a:endParaRPr>
          </a:p>
        </p:txBody>
      </p:sp>
      <p:sp>
        <p:nvSpPr>
          <p:cNvPr id="325" name="Shape 68"/>
          <p:cNvSpPr/>
          <p:nvPr/>
        </p:nvSpPr>
        <p:spPr>
          <a:xfrm>
            <a:off x="9189720" y="2697480"/>
            <a:ext cx="712800" cy="402120"/>
          </a:xfrm>
          <a:prstGeom prst="roundRect">
            <a:avLst>
              <a:gd name="adj" fmla="val 20455"/>
            </a:avLst>
          </a:prstGeom>
          <a:solidFill>
            <a:srgbClr val="2477C8"/>
          </a:solidFill>
          <a:ln w="12700">
            <a:solidFill>
              <a:srgbClr val="2477C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6" name="Text 69"/>
          <p:cNvSpPr/>
          <p:nvPr/>
        </p:nvSpPr>
        <p:spPr>
          <a:xfrm>
            <a:off x="9226440" y="2825640"/>
            <a:ext cx="6397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50" b="1" u="none" strike="noStrike">
                <a:solidFill>
                  <a:srgbClr val="FFFFFF"/>
                </a:solidFill>
                <a:effectLst/>
                <a:uFillTx/>
                <a:latin typeface="Aptos"/>
              </a:rPr>
              <a:t>D5</a:t>
            </a:r>
            <a:endParaRPr lang="en-US" sz="850" b="0" u="none" strike="noStrike">
              <a:solidFill>
                <a:srgbClr val="000000"/>
              </a:solidFill>
              <a:effectLst/>
              <a:uFillTx/>
              <a:latin typeface="Arial"/>
            </a:endParaRPr>
          </a:p>
        </p:txBody>
      </p:sp>
      <p:sp>
        <p:nvSpPr>
          <p:cNvPr id="327" name="Shape 70"/>
          <p:cNvSpPr/>
          <p:nvPr/>
        </p:nvSpPr>
        <p:spPr>
          <a:xfrm>
            <a:off x="10287000" y="2697480"/>
            <a:ext cx="712800" cy="402120"/>
          </a:xfrm>
          <a:prstGeom prst="roundRect">
            <a:avLst>
              <a:gd name="adj" fmla="val 20455"/>
            </a:avLst>
          </a:prstGeom>
          <a:solidFill>
            <a:srgbClr val="2477C8"/>
          </a:solidFill>
          <a:ln w="12700">
            <a:solidFill>
              <a:srgbClr val="2477C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8" name="Text 71"/>
          <p:cNvSpPr/>
          <p:nvPr/>
        </p:nvSpPr>
        <p:spPr>
          <a:xfrm>
            <a:off x="10323720" y="2825640"/>
            <a:ext cx="6397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50" b="1" u="none" strike="noStrike">
                <a:solidFill>
                  <a:srgbClr val="FFFFFF"/>
                </a:solidFill>
                <a:effectLst/>
                <a:uFillTx/>
                <a:latin typeface="Aptos"/>
              </a:rPr>
              <a:t>D6</a:t>
            </a:r>
            <a:endParaRPr lang="en-US" sz="850" b="0" u="none" strike="noStrike">
              <a:solidFill>
                <a:srgbClr val="000000"/>
              </a:solidFill>
              <a:effectLst/>
              <a:uFillTx/>
              <a:latin typeface="Arial"/>
            </a:endParaRPr>
          </a:p>
        </p:txBody>
      </p:sp>
      <p:sp>
        <p:nvSpPr>
          <p:cNvPr id="329" name="Shape 72"/>
          <p:cNvSpPr/>
          <p:nvPr/>
        </p:nvSpPr>
        <p:spPr>
          <a:xfrm>
            <a:off x="8092440" y="3822120"/>
            <a:ext cx="712800" cy="402120"/>
          </a:xfrm>
          <a:prstGeom prst="roundRect">
            <a:avLst>
              <a:gd name="adj" fmla="val 20455"/>
            </a:avLst>
          </a:prstGeom>
          <a:solidFill>
            <a:srgbClr val="2477C8"/>
          </a:solidFill>
          <a:ln w="12700">
            <a:solidFill>
              <a:srgbClr val="2477C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0" name="Text 73"/>
          <p:cNvSpPr/>
          <p:nvPr/>
        </p:nvSpPr>
        <p:spPr>
          <a:xfrm>
            <a:off x="8129160" y="3950280"/>
            <a:ext cx="6397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50" b="1" u="none" strike="noStrike">
                <a:solidFill>
                  <a:srgbClr val="FFFFFF"/>
                </a:solidFill>
                <a:effectLst/>
                <a:uFillTx/>
                <a:latin typeface="Aptos"/>
              </a:rPr>
              <a:t>D7</a:t>
            </a:r>
            <a:endParaRPr lang="en-US" sz="850" b="0" u="none" strike="noStrike">
              <a:solidFill>
                <a:srgbClr val="000000"/>
              </a:solidFill>
              <a:effectLst/>
              <a:uFillTx/>
              <a:latin typeface="Arial"/>
            </a:endParaRPr>
          </a:p>
        </p:txBody>
      </p:sp>
      <p:sp>
        <p:nvSpPr>
          <p:cNvPr id="331" name="Shape 74"/>
          <p:cNvSpPr/>
          <p:nvPr/>
        </p:nvSpPr>
        <p:spPr>
          <a:xfrm>
            <a:off x="9189720" y="3822120"/>
            <a:ext cx="712800" cy="402120"/>
          </a:xfrm>
          <a:prstGeom prst="roundRect">
            <a:avLst>
              <a:gd name="adj" fmla="val 20455"/>
            </a:avLst>
          </a:prstGeom>
          <a:solidFill>
            <a:srgbClr val="2477C8"/>
          </a:solidFill>
          <a:ln w="12700">
            <a:solidFill>
              <a:srgbClr val="2477C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2" name="Text 75"/>
          <p:cNvSpPr/>
          <p:nvPr/>
        </p:nvSpPr>
        <p:spPr>
          <a:xfrm>
            <a:off x="9226440" y="3950280"/>
            <a:ext cx="6397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50" b="1" u="none" strike="noStrike">
                <a:solidFill>
                  <a:srgbClr val="FFFFFF"/>
                </a:solidFill>
                <a:effectLst/>
                <a:uFillTx/>
                <a:latin typeface="Aptos"/>
              </a:rPr>
              <a:t>D8</a:t>
            </a:r>
            <a:endParaRPr lang="en-US" sz="850" b="0" u="none" strike="noStrike">
              <a:solidFill>
                <a:srgbClr val="000000"/>
              </a:solidFill>
              <a:effectLst/>
              <a:uFillTx/>
              <a:latin typeface="Arial"/>
            </a:endParaRPr>
          </a:p>
        </p:txBody>
      </p:sp>
      <p:sp>
        <p:nvSpPr>
          <p:cNvPr id="333" name="Shape 76"/>
          <p:cNvSpPr/>
          <p:nvPr/>
        </p:nvSpPr>
        <p:spPr>
          <a:xfrm>
            <a:off x="10287000" y="3822120"/>
            <a:ext cx="712800" cy="402120"/>
          </a:xfrm>
          <a:prstGeom prst="roundRect">
            <a:avLst>
              <a:gd name="adj" fmla="val 20455"/>
            </a:avLst>
          </a:prstGeom>
          <a:solidFill>
            <a:srgbClr val="00A86B"/>
          </a:solidFill>
          <a:ln w="12700">
            <a:solidFill>
              <a:srgbClr val="00A86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4" name="Text 77"/>
          <p:cNvSpPr/>
          <p:nvPr/>
        </p:nvSpPr>
        <p:spPr>
          <a:xfrm>
            <a:off x="10323720" y="3950280"/>
            <a:ext cx="6397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50" b="1" u="none" strike="noStrike">
                <a:solidFill>
                  <a:srgbClr val="FFFFFF"/>
                </a:solidFill>
                <a:effectLst/>
                <a:uFillTx/>
                <a:latin typeface="Aptos"/>
              </a:rPr>
              <a:t>Cierre</a:t>
            </a:r>
            <a:endParaRPr lang="en-US" sz="850" b="0" u="none" strike="noStrike">
              <a:solidFill>
                <a:srgbClr val="000000"/>
              </a:solidFill>
              <a:effectLst/>
              <a:uFillTx/>
              <a:latin typeface="Arial"/>
            </a:endParaRPr>
          </a:p>
        </p:txBody>
      </p:sp>
      <p:sp>
        <p:nvSpPr>
          <p:cNvPr id="335" name="Shape 78"/>
          <p:cNvSpPr/>
          <p:nvPr/>
        </p:nvSpPr>
        <p:spPr>
          <a:xfrm>
            <a:off x="8805600" y="1773720"/>
            <a:ext cx="384120" cy="360"/>
          </a:xfrm>
          <a:prstGeom prst="line">
            <a:avLst/>
          </a:prstGeom>
          <a:ln w="15240">
            <a:solidFill>
              <a:srgbClr val="D7DEE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36" name="Shape 79"/>
          <p:cNvSpPr/>
          <p:nvPr/>
        </p:nvSpPr>
        <p:spPr>
          <a:xfrm>
            <a:off x="9902880" y="1773720"/>
            <a:ext cx="384120" cy="360"/>
          </a:xfrm>
          <a:prstGeom prst="line">
            <a:avLst/>
          </a:prstGeom>
          <a:ln w="15240">
            <a:solidFill>
              <a:srgbClr val="D7DEE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37" name="Shape 80"/>
          <p:cNvSpPr/>
          <p:nvPr/>
        </p:nvSpPr>
        <p:spPr>
          <a:xfrm flipH="1">
            <a:off x="8092440" y="1773720"/>
            <a:ext cx="2907720" cy="1124640"/>
          </a:xfrm>
          <a:prstGeom prst="line">
            <a:avLst/>
          </a:prstGeom>
          <a:ln w="15240">
            <a:solidFill>
              <a:srgbClr val="D7DEE9"/>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338" name="Shape 81"/>
          <p:cNvSpPr/>
          <p:nvPr/>
        </p:nvSpPr>
        <p:spPr>
          <a:xfrm>
            <a:off x="8805600" y="2898360"/>
            <a:ext cx="384120" cy="360"/>
          </a:xfrm>
          <a:prstGeom prst="line">
            <a:avLst/>
          </a:prstGeom>
          <a:ln w="15240">
            <a:solidFill>
              <a:srgbClr val="D7DEE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39" name="Shape 82"/>
          <p:cNvSpPr/>
          <p:nvPr/>
        </p:nvSpPr>
        <p:spPr>
          <a:xfrm>
            <a:off x="9902880" y="2898360"/>
            <a:ext cx="384120" cy="360"/>
          </a:xfrm>
          <a:prstGeom prst="line">
            <a:avLst/>
          </a:prstGeom>
          <a:ln w="15240">
            <a:solidFill>
              <a:srgbClr val="D7DEE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40" name="Shape 83"/>
          <p:cNvSpPr/>
          <p:nvPr/>
        </p:nvSpPr>
        <p:spPr>
          <a:xfrm flipH="1">
            <a:off x="8092440" y="2898360"/>
            <a:ext cx="2907720" cy="1125000"/>
          </a:xfrm>
          <a:prstGeom prst="line">
            <a:avLst/>
          </a:prstGeom>
          <a:ln w="15240">
            <a:solidFill>
              <a:srgbClr val="D7DEE9"/>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341" name="Shape 84"/>
          <p:cNvSpPr/>
          <p:nvPr/>
        </p:nvSpPr>
        <p:spPr>
          <a:xfrm>
            <a:off x="8805600" y="4023360"/>
            <a:ext cx="384120" cy="360"/>
          </a:xfrm>
          <a:prstGeom prst="line">
            <a:avLst/>
          </a:prstGeom>
          <a:ln w="15240">
            <a:solidFill>
              <a:srgbClr val="D7DEE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42" name="Shape 85"/>
          <p:cNvSpPr/>
          <p:nvPr/>
        </p:nvSpPr>
        <p:spPr>
          <a:xfrm>
            <a:off x="9902880" y="4023360"/>
            <a:ext cx="384120" cy="360"/>
          </a:xfrm>
          <a:prstGeom prst="line">
            <a:avLst/>
          </a:prstGeom>
          <a:ln w="15240">
            <a:solidFill>
              <a:srgbClr val="D7DEE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43" name="Shape 86"/>
          <p:cNvSpPr/>
          <p:nvPr/>
        </p:nvSpPr>
        <p:spPr>
          <a:xfrm>
            <a:off x="8119800" y="4919400"/>
            <a:ext cx="3035520" cy="731160"/>
          </a:xfrm>
          <a:prstGeom prst="roundRect">
            <a:avLst>
              <a:gd name="adj" fmla="val 10000"/>
            </a:avLst>
          </a:prstGeom>
          <a:solidFill>
            <a:srgbClr val="DDEEFF"/>
          </a:solidFill>
          <a:ln w="635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4" name="Text 87"/>
          <p:cNvSpPr/>
          <p:nvPr/>
        </p:nvSpPr>
        <p:spPr>
          <a:xfrm>
            <a:off x="8266320" y="5029200"/>
            <a:ext cx="274284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1010" b="0" u="none" strike="noStrike">
                <a:solidFill>
                  <a:srgbClr val="2E3440"/>
                </a:solidFill>
                <a:effectLst/>
                <a:uFillTx/>
                <a:latin typeface="Aptos"/>
              </a:rPr>
              <a:t>Respuesta: la secuencia correcta evita analizar escenarios o redactar resultados antes de contar con datos, modelo y pruebas.</a:t>
            </a:r>
            <a:endParaRPr lang="en-US" sz="1010" b="0" u="none" strike="noStrike">
              <a:solidFill>
                <a:srgbClr val="000000"/>
              </a:solidFill>
              <a:effectLst/>
              <a:uFillTx/>
              <a:latin typeface="Arial"/>
            </a:endParaRPr>
          </a:p>
        </p:txBody>
      </p:sp>
      <p:sp>
        <p:nvSpPr>
          <p:cNvPr id="347" name="Text 90"/>
          <p:cNvSpPr/>
          <p:nvPr/>
        </p:nvSpPr>
        <p:spPr>
          <a:xfrm>
            <a:off x="11292840" y="658368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1" u="none" strike="noStrike">
                <a:solidFill>
                  <a:srgbClr val="6B7280"/>
                </a:solidFill>
                <a:effectLst/>
                <a:uFillTx/>
                <a:latin typeface="Aptos"/>
              </a:rPr>
              <a:t>08</a:t>
            </a:r>
            <a:endParaRPr lang="en-US" sz="85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349" name="Text 1"/>
          <p:cNvSpPr/>
          <p:nvPr/>
        </p:nvSpPr>
        <p:spPr>
          <a:xfrm>
            <a:off x="502920" y="329040"/>
            <a:ext cx="94179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50" b="1" u="none" strike="noStrike">
                <a:solidFill>
                  <a:srgbClr val="172033"/>
                </a:solidFill>
                <a:effectLst/>
                <a:uFillTx/>
                <a:latin typeface="Aptos Display"/>
                <a:ea typeface="Aptos Display"/>
              </a:rPr>
              <a:t>Elaborar un cronograma básico</a:t>
            </a:r>
            <a:endParaRPr lang="en-US" sz="2450" b="0" u="none" strike="noStrike">
              <a:solidFill>
                <a:srgbClr val="000000"/>
              </a:solidFill>
              <a:effectLst/>
              <a:uFillTx/>
              <a:latin typeface="Arial"/>
            </a:endParaRPr>
          </a:p>
        </p:txBody>
      </p:sp>
      <p:sp>
        <p:nvSpPr>
          <p:cNvPr id="350" name="Text 2"/>
          <p:cNvSpPr/>
          <p:nvPr/>
        </p:nvSpPr>
        <p:spPr>
          <a:xfrm>
            <a:off x="521280" y="749880"/>
            <a:ext cx="9692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20" b="0" u="none" strike="noStrike">
                <a:solidFill>
                  <a:srgbClr val="6B7280"/>
                </a:solidFill>
                <a:effectLst/>
                <a:uFillTx/>
                <a:latin typeface="Aptos"/>
                <a:ea typeface="Aptos"/>
              </a:rPr>
              <a:t>Caso base: Industria Bloquera</a:t>
            </a:r>
            <a:endParaRPr lang="en-US" sz="1020" b="0" u="none" strike="noStrike">
              <a:solidFill>
                <a:srgbClr val="000000"/>
              </a:solidFill>
              <a:effectLst/>
              <a:uFillTx/>
              <a:latin typeface="Arial"/>
            </a:endParaRPr>
          </a:p>
        </p:txBody>
      </p:sp>
      <p:sp>
        <p:nvSpPr>
          <p:cNvPr id="351" name="Shape 3"/>
          <p:cNvSpPr/>
          <p:nvPr/>
        </p:nvSpPr>
        <p:spPr>
          <a:xfrm>
            <a:off x="502920" y="1042200"/>
            <a:ext cx="11201400" cy="360"/>
          </a:xfrm>
          <a:prstGeom prst="line">
            <a:avLst/>
          </a:prstGeom>
          <a:ln w="10160">
            <a:solidFill>
              <a:srgbClr val="D7DEE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52" name="Shape 4"/>
          <p:cNvSpPr/>
          <p:nvPr/>
        </p:nvSpPr>
        <p:spPr>
          <a:xfrm>
            <a:off x="10104120" y="347400"/>
            <a:ext cx="1535760" cy="383760"/>
          </a:xfrm>
          <a:prstGeom prst="roundRect">
            <a:avLst>
              <a:gd name="adj" fmla="val 23810"/>
            </a:avLst>
          </a:prstGeom>
          <a:solidFill>
            <a:srgbClr val="172033"/>
          </a:solidFill>
          <a:ln w="12700">
            <a:solidFill>
              <a:srgbClr val="172033">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3" name="Text 5"/>
          <p:cNvSpPr/>
          <p:nvPr/>
        </p:nvSpPr>
        <p:spPr>
          <a:xfrm>
            <a:off x="10168200" y="448200"/>
            <a:ext cx="140796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39" b="1" u="none" strike="noStrike">
                <a:solidFill>
                  <a:srgbClr val="FFFFFF"/>
                </a:solidFill>
                <a:effectLst/>
                <a:uFillTx/>
                <a:latin typeface="Aptos"/>
              </a:rPr>
              <a:t>Ejercicio 5</a:t>
            </a:r>
            <a:endParaRPr lang="en-US" sz="839" b="0" u="none" strike="noStrike">
              <a:solidFill>
                <a:srgbClr val="000000"/>
              </a:solidFill>
              <a:effectLst/>
              <a:uFillTx/>
              <a:latin typeface="Arial"/>
            </a:endParaRPr>
          </a:p>
        </p:txBody>
      </p:sp>
      <p:sp>
        <p:nvSpPr>
          <p:cNvPr id="354" name="Shape 6"/>
          <p:cNvSpPr/>
          <p:nvPr/>
        </p:nvSpPr>
        <p:spPr>
          <a:xfrm>
            <a:off x="567000" y="1207080"/>
            <a:ext cx="4114440" cy="4251600"/>
          </a:xfrm>
          <a:prstGeom prst="roundRect">
            <a:avLst>
              <a:gd name="adj" fmla="val 1778"/>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355" name="Image 0" descr="/mnt/data/fa3728dc-abc5-4404-9b70-8f8b4c64bb7e.png"/>
          <p:cNvPicPr/>
          <p:nvPr/>
        </p:nvPicPr>
        <p:blipFill>
          <a:blip r:embed="rId3"/>
          <a:stretch/>
        </p:blipFill>
        <p:spPr>
          <a:xfrm>
            <a:off x="631080" y="1884600"/>
            <a:ext cx="3986280" cy="2585880"/>
          </a:xfrm>
          <a:prstGeom prst="rect">
            <a:avLst/>
          </a:prstGeom>
          <a:noFill/>
          <a:ln w="0">
            <a:noFill/>
          </a:ln>
        </p:spPr>
      </p:pic>
      <p:sp>
        <p:nvSpPr>
          <p:cNvPr id="356" name="Text 7"/>
          <p:cNvSpPr/>
          <p:nvPr/>
        </p:nvSpPr>
        <p:spPr>
          <a:xfrm>
            <a:off x="685800" y="5193720"/>
            <a:ext cx="3876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10" b="0" u="none" strike="noStrike">
                <a:solidFill>
                  <a:srgbClr val="6B7280"/>
                </a:solidFill>
                <a:effectLst/>
                <a:uFillTx/>
                <a:latin typeface="Aptos"/>
              </a:rPr>
              <a:t>PLAN-001: periodo base del 22 al 30 de agosto de 2026.</a:t>
            </a:r>
            <a:endParaRPr lang="en-US" sz="710" b="0" u="none" strike="noStrike">
              <a:solidFill>
                <a:srgbClr val="000000"/>
              </a:solidFill>
              <a:effectLst/>
              <a:uFillTx/>
              <a:latin typeface="Arial"/>
            </a:endParaRPr>
          </a:p>
        </p:txBody>
      </p:sp>
      <p:sp>
        <p:nvSpPr>
          <p:cNvPr id="357" name="Shape 8"/>
          <p:cNvSpPr/>
          <p:nvPr/>
        </p:nvSpPr>
        <p:spPr>
          <a:xfrm>
            <a:off x="4983480" y="1298520"/>
            <a:ext cx="639720" cy="42012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8" name="Text 9"/>
          <p:cNvSpPr/>
          <p:nvPr/>
        </p:nvSpPr>
        <p:spPr>
          <a:xfrm>
            <a:off x="5038200" y="1366920"/>
            <a:ext cx="5299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1" u="none" strike="noStrike">
                <a:solidFill>
                  <a:srgbClr val="FFFFFF"/>
                </a:solidFill>
                <a:effectLst/>
                <a:uFillTx/>
                <a:latin typeface="Aptos"/>
              </a:rPr>
              <a:t>ID</a:t>
            </a:r>
            <a:endParaRPr lang="en-US" sz="800" b="0" u="none" strike="noStrike">
              <a:solidFill>
                <a:srgbClr val="000000"/>
              </a:solidFill>
              <a:effectLst/>
              <a:uFillTx/>
              <a:latin typeface="Arial"/>
            </a:endParaRPr>
          </a:p>
        </p:txBody>
      </p:sp>
      <p:sp>
        <p:nvSpPr>
          <p:cNvPr id="359" name="Shape 10"/>
          <p:cNvSpPr/>
          <p:nvPr/>
        </p:nvSpPr>
        <p:spPr>
          <a:xfrm>
            <a:off x="5623560" y="1298520"/>
            <a:ext cx="2742840" cy="42012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0" name="Text 11"/>
          <p:cNvSpPr/>
          <p:nvPr/>
        </p:nvSpPr>
        <p:spPr>
          <a:xfrm>
            <a:off x="5678280" y="1366920"/>
            <a:ext cx="26330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1" u="none" strike="noStrike">
                <a:solidFill>
                  <a:srgbClr val="FFFFFF"/>
                </a:solidFill>
                <a:effectLst/>
                <a:uFillTx/>
                <a:latin typeface="Aptos"/>
              </a:rPr>
              <a:t>Actividad</a:t>
            </a:r>
            <a:endParaRPr lang="en-US" sz="800" b="0" u="none" strike="noStrike">
              <a:solidFill>
                <a:srgbClr val="000000"/>
              </a:solidFill>
              <a:effectLst/>
              <a:uFillTx/>
              <a:latin typeface="Arial"/>
            </a:endParaRPr>
          </a:p>
        </p:txBody>
      </p:sp>
      <p:sp>
        <p:nvSpPr>
          <p:cNvPr id="361" name="Shape 12"/>
          <p:cNvSpPr/>
          <p:nvPr/>
        </p:nvSpPr>
        <p:spPr>
          <a:xfrm>
            <a:off x="8366760" y="1298520"/>
            <a:ext cx="1051200" cy="42012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2" name="Text 13"/>
          <p:cNvSpPr/>
          <p:nvPr/>
        </p:nvSpPr>
        <p:spPr>
          <a:xfrm>
            <a:off x="8421480" y="136692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1" u="none" strike="noStrike">
                <a:solidFill>
                  <a:srgbClr val="FFFFFF"/>
                </a:solidFill>
                <a:effectLst/>
                <a:uFillTx/>
                <a:latin typeface="Aptos"/>
              </a:rPr>
              <a:t>Inicio</a:t>
            </a:r>
            <a:endParaRPr lang="en-US" sz="800" b="0" u="none" strike="noStrike">
              <a:solidFill>
                <a:srgbClr val="000000"/>
              </a:solidFill>
              <a:effectLst/>
              <a:uFillTx/>
              <a:latin typeface="Arial"/>
            </a:endParaRPr>
          </a:p>
        </p:txBody>
      </p:sp>
      <p:sp>
        <p:nvSpPr>
          <p:cNvPr id="363" name="Shape 14"/>
          <p:cNvSpPr/>
          <p:nvPr/>
        </p:nvSpPr>
        <p:spPr>
          <a:xfrm>
            <a:off x="9418320" y="1298520"/>
            <a:ext cx="1051200" cy="42012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4" name="Text 15"/>
          <p:cNvSpPr/>
          <p:nvPr/>
        </p:nvSpPr>
        <p:spPr>
          <a:xfrm>
            <a:off x="9473040" y="136692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1" u="none" strike="noStrike">
                <a:solidFill>
                  <a:srgbClr val="FFFFFF"/>
                </a:solidFill>
                <a:effectLst/>
                <a:uFillTx/>
                <a:latin typeface="Aptos"/>
              </a:rPr>
              <a:t>Fin</a:t>
            </a:r>
            <a:endParaRPr lang="en-US" sz="800" b="0" u="none" strike="noStrike">
              <a:solidFill>
                <a:srgbClr val="000000"/>
              </a:solidFill>
              <a:effectLst/>
              <a:uFillTx/>
              <a:latin typeface="Arial"/>
            </a:endParaRPr>
          </a:p>
        </p:txBody>
      </p:sp>
      <p:sp>
        <p:nvSpPr>
          <p:cNvPr id="365" name="Shape 16"/>
          <p:cNvSpPr/>
          <p:nvPr/>
        </p:nvSpPr>
        <p:spPr>
          <a:xfrm>
            <a:off x="10469880" y="1298520"/>
            <a:ext cx="1051200" cy="42012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6" name="Text 17"/>
          <p:cNvSpPr/>
          <p:nvPr/>
        </p:nvSpPr>
        <p:spPr>
          <a:xfrm>
            <a:off x="10524600" y="136692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1" u="none" strike="noStrike">
                <a:solidFill>
                  <a:srgbClr val="FFFFFF"/>
                </a:solidFill>
                <a:effectLst/>
                <a:uFillTx/>
                <a:latin typeface="Aptos"/>
              </a:rPr>
              <a:t>Estado</a:t>
            </a:r>
            <a:endParaRPr lang="en-US" sz="800" b="0" u="none" strike="noStrike">
              <a:solidFill>
                <a:srgbClr val="000000"/>
              </a:solidFill>
              <a:effectLst/>
              <a:uFillTx/>
              <a:latin typeface="Arial"/>
            </a:endParaRPr>
          </a:p>
        </p:txBody>
      </p:sp>
      <p:sp>
        <p:nvSpPr>
          <p:cNvPr id="367" name="Shape 18"/>
          <p:cNvSpPr/>
          <p:nvPr/>
        </p:nvSpPr>
        <p:spPr>
          <a:xfrm>
            <a:off x="4983480" y="1719000"/>
            <a:ext cx="63972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8" name="Text 19"/>
          <p:cNvSpPr/>
          <p:nvPr/>
        </p:nvSpPr>
        <p:spPr>
          <a:xfrm>
            <a:off x="5038200" y="1787760"/>
            <a:ext cx="5299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D1–D2</a:t>
            </a:r>
            <a:endParaRPr lang="en-US" sz="770" b="0" u="none" strike="noStrike">
              <a:solidFill>
                <a:srgbClr val="000000"/>
              </a:solidFill>
              <a:effectLst/>
              <a:uFillTx/>
              <a:latin typeface="Arial"/>
            </a:endParaRPr>
          </a:p>
        </p:txBody>
      </p:sp>
      <p:sp>
        <p:nvSpPr>
          <p:cNvPr id="369" name="Shape 20"/>
          <p:cNvSpPr/>
          <p:nvPr/>
        </p:nvSpPr>
        <p:spPr>
          <a:xfrm>
            <a:off x="5623560" y="1719000"/>
            <a:ext cx="274284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0" name="Text 21"/>
          <p:cNvSpPr/>
          <p:nvPr/>
        </p:nvSpPr>
        <p:spPr>
          <a:xfrm>
            <a:off x="5678280" y="1787760"/>
            <a:ext cx="26330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Diagrama y datos</a:t>
            </a:r>
            <a:endParaRPr lang="en-US" sz="770" b="0" u="none" strike="noStrike">
              <a:solidFill>
                <a:srgbClr val="000000"/>
              </a:solidFill>
              <a:effectLst/>
              <a:uFillTx/>
              <a:latin typeface="Arial"/>
            </a:endParaRPr>
          </a:p>
        </p:txBody>
      </p:sp>
      <p:sp>
        <p:nvSpPr>
          <p:cNvPr id="371" name="Shape 22"/>
          <p:cNvSpPr/>
          <p:nvPr/>
        </p:nvSpPr>
        <p:spPr>
          <a:xfrm>
            <a:off x="8366760" y="1719000"/>
            <a:ext cx="105120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2" name="Text 23"/>
          <p:cNvSpPr/>
          <p:nvPr/>
        </p:nvSpPr>
        <p:spPr>
          <a:xfrm>
            <a:off x="8421480" y="178776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22/08</a:t>
            </a:r>
            <a:endParaRPr lang="en-US" sz="770" b="0" u="none" strike="noStrike">
              <a:solidFill>
                <a:srgbClr val="000000"/>
              </a:solidFill>
              <a:effectLst/>
              <a:uFillTx/>
              <a:latin typeface="Arial"/>
            </a:endParaRPr>
          </a:p>
        </p:txBody>
      </p:sp>
      <p:sp>
        <p:nvSpPr>
          <p:cNvPr id="373" name="Shape 24"/>
          <p:cNvSpPr/>
          <p:nvPr/>
        </p:nvSpPr>
        <p:spPr>
          <a:xfrm>
            <a:off x="9418320" y="1719000"/>
            <a:ext cx="105120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4" name="Text 25"/>
          <p:cNvSpPr/>
          <p:nvPr/>
        </p:nvSpPr>
        <p:spPr>
          <a:xfrm>
            <a:off x="9473040" y="178776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22/08</a:t>
            </a:r>
            <a:endParaRPr lang="en-US" sz="770" b="0" u="none" strike="noStrike">
              <a:solidFill>
                <a:srgbClr val="000000"/>
              </a:solidFill>
              <a:effectLst/>
              <a:uFillTx/>
              <a:latin typeface="Arial"/>
            </a:endParaRPr>
          </a:p>
        </p:txBody>
      </p:sp>
      <p:sp>
        <p:nvSpPr>
          <p:cNvPr id="375" name="Shape 26"/>
          <p:cNvSpPr/>
          <p:nvPr/>
        </p:nvSpPr>
        <p:spPr>
          <a:xfrm>
            <a:off x="10469880" y="1719000"/>
            <a:ext cx="105120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6" name="Text 27"/>
          <p:cNvSpPr/>
          <p:nvPr/>
        </p:nvSpPr>
        <p:spPr>
          <a:xfrm>
            <a:off x="10524600" y="178776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Completo</a:t>
            </a:r>
            <a:endParaRPr lang="en-US" sz="770" b="0" u="none" strike="noStrike">
              <a:solidFill>
                <a:srgbClr val="000000"/>
              </a:solidFill>
              <a:effectLst/>
              <a:uFillTx/>
              <a:latin typeface="Arial"/>
            </a:endParaRPr>
          </a:p>
        </p:txBody>
      </p:sp>
      <p:sp>
        <p:nvSpPr>
          <p:cNvPr id="377" name="Shape 28"/>
          <p:cNvSpPr/>
          <p:nvPr/>
        </p:nvSpPr>
        <p:spPr>
          <a:xfrm>
            <a:off x="4983480" y="2139840"/>
            <a:ext cx="63972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8" name="Text 29"/>
          <p:cNvSpPr/>
          <p:nvPr/>
        </p:nvSpPr>
        <p:spPr>
          <a:xfrm>
            <a:off x="5038200" y="2208240"/>
            <a:ext cx="5299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D3</a:t>
            </a:r>
            <a:endParaRPr lang="en-US" sz="770" b="0" u="none" strike="noStrike">
              <a:solidFill>
                <a:srgbClr val="000000"/>
              </a:solidFill>
              <a:effectLst/>
              <a:uFillTx/>
              <a:latin typeface="Arial"/>
            </a:endParaRPr>
          </a:p>
        </p:txBody>
      </p:sp>
      <p:sp>
        <p:nvSpPr>
          <p:cNvPr id="379" name="Shape 30"/>
          <p:cNvSpPr/>
          <p:nvPr/>
        </p:nvSpPr>
        <p:spPr>
          <a:xfrm>
            <a:off x="5623560" y="2139840"/>
            <a:ext cx="274284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0" name="Text 31"/>
          <p:cNvSpPr/>
          <p:nvPr/>
        </p:nvSpPr>
        <p:spPr>
          <a:xfrm>
            <a:off x="5678280" y="2208240"/>
            <a:ext cx="26330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Diseño del modelo</a:t>
            </a:r>
            <a:endParaRPr lang="en-US" sz="770" b="0" u="none" strike="noStrike">
              <a:solidFill>
                <a:srgbClr val="000000"/>
              </a:solidFill>
              <a:effectLst/>
              <a:uFillTx/>
              <a:latin typeface="Arial"/>
            </a:endParaRPr>
          </a:p>
        </p:txBody>
      </p:sp>
      <p:sp>
        <p:nvSpPr>
          <p:cNvPr id="381" name="Shape 32"/>
          <p:cNvSpPr/>
          <p:nvPr/>
        </p:nvSpPr>
        <p:spPr>
          <a:xfrm>
            <a:off x="8366760" y="2139840"/>
            <a:ext cx="105120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2" name="Text 33"/>
          <p:cNvSpPr/>
          <p:nvPr/>
        </p:nvSpPr>
        <p:spPr>
          <a:xfrm>
            <a:off x="8421480" y="220824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23/08</a:t>
            </a:r>
            <a:endParaRPr lang="en-US" sz="770" b="0" u="none" strike="noStrike">
              <a:solidFill>
                <a:srgbClr val="000000"/>
              </a:solidFill>
              <a:effectLst/>
              <a:uFillTx/>
              <a:latin typeface="Arial"/>
            </a:endParaRPr>
          </a:p>
        </p:txBody>
      </p:sp>
      <p:sp>
        <p:nvSpPr>
          <p:cNvPr id="383" name="Shape 34"/>
          <p:cNvSpPr/>
          <p:nvPr/>
        </p:nvSpPr>
        <p:spPr>
          <a:xfrm>
            <a:off x="9418320" y="2139840"/>
            <a:ext cx="105120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4" name="Text 35"/>
          <p:cNvSpPr/>
          <p:nvPr/>
        </p:nvSpPr>
        <p:spPr>
          <a:xfrm>
            <a:off x="9473040" y="220824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23/08</a:t>
            </a:r>
            <a:endParaRPr lang="en-US" sz="770" b="0" u="none" strike="noStrike">
              <a:solidFill>
                <a:srgbClr val="000000"/>
              </a:solidFill>
              <a:effectLst/>
              <a:uFillTx/>
              <a:latin typeface="Arial"/>
            </a:endParaRPr>
          </a:p>
        </p:txBody>
      </p:sp>
      <p:sp>
        <p:nvSpPr>
          <p:cNvPr id="385" name="Shape 36"/>
          <p:cNvSpPr/>
          <p:nvPr/>
        </p:nvSpPr>
        <p:spPr>
          <a:xfrm>
            <a:off x="10469880" y="2139840"/>
            <a:ext cx="105120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6" name="Text 37"/>
          <p:cNvSpPr/>
          <p:nvPr/>
        </p:nvSpPr>
        <p:spPr>
          <a:xfrm>
            <a:off x="10524600" y="220824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Completo</a:t>
            </a:r>
            <a:endParaRPr lang="en-US" sz="770" b="0" u="none" strike="noStrike">
              <a:solidFill>
                <a:srgbClr val="000000"/>
              </a:solidFill>
              <a:effectLst/>
              <a:uFillTx/>
              <a:latin typeface="Arial"/>
            </a:endParaRPr>
          </a:p>
        </p:txBody>
      </p:sp>
      <p:sp>
        <p:nvSpPr>
          <p:cNvPr id="387" name="Shape 38"/>
          <p:cNvSpPr/>
          <p:nvPr/>
        </p:nvSpPr>
        <p:spPr>
          <a:xfrm>
            <a:off x="4983480" y="2560320"/>
            <a:ext cx="63972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8" name="Text 39"/>
          <p:cNvSpPr/>
          <p:nvPr/>
        </p:nvSpPr>
        <p:spPr>
          <a:xfrm>
            <a:off x="5038200" y="2629080"/>
            <a:ext cx="5299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D4</a:t>
            </a:r>
            <a:endParaRPr lang="en-US" sz="770" b="0" u="none" strike="noStrike">
              <a:solidFill>
                <a:srgbClr val="000000"/>
              </a:solidFill>
              <a:effectLst/>
              <a:uFillTx/>
              <a:latin typeface="Arial"/>
            </a:endParaRPr>
          </a:p>
        </p:txBody>
      </p:sp>
      <p:sp>
        <p:nvSpPr>
          <p:cNvPr id="389" name="Shape 40"/>
          <p:cNvSpPr/>
          <p:nvPr/>
        </p:nvSpPr>
        <p:spPr>
          <a:xfrm>
            <a:off x="5623560" y="2560320"/>
            <a:ext cx="274284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0" name="Text 41"/>
          <p:cNvSpPr/>
          <p:nvPr/>
        </p:nvSpPr>
        <p:spPr>
          <a:xfrm>
            <a:off x="5678280" y="2629080"/>
            <a:ext cx="26330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Modelo funcional</a:t>
            </a:r>
            <a:endParaRPr lang="en-US" sz="770" b="0" u="none" strike="noStrike">
              <a:solidFill>
                <a:srgbClr val="000000"/>
              </a:solidFill>
              <a:effectLst/>
              <a:uFillTx/>
              <a:latin typeface="Arial"/>
            </a:endParaRPr>
          </a:p>
        </p:txBody>
      </p:sp>
      <p:sp>
        <p:nvSpPr>
          <p:cNvPr id="391" name="Shape 42"/>
          <p:cNvSpPr/>
          <p:nvPr/>
        </p:nvSpPr>
        <p:spPr>
          <a:xfrm>
            <a:off x="8366760" y="2560320"/>
            <a:ext cx="105120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2" name="Text 43"/>
          <p:cNvSpPr/>
          <p:nvPr/>
        </p:nvSpPr>
        <p:spPr>
          <a:xfrm>
            <a:off x="8421480" y="262908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26/08</a:t>
            </a:r>
            <a:endParaRPr lang="en-US" sz="770" b="0" u="none" strike="noStrike">
              <a:solidFill>
                <a:srgbClr val="000000"/>
              </a:solidFill>
              <a:effectLst/>
              <a:uFillTx/>
              <a:latin typeface="Arial"/>
            </a:endParaRPr>
          </a:p>
        </p:txBody>
      </p:sp>
      <p:sp>
        <p:nvSpPr>
          <p:cNvPr id="393" name="Shape 44"/>
          <p:cNvSpPr/>
          <p:nvPr/>
        </p:nvSpPr>
        <p:spPr>
          <a:xfrm>
            <a:off x="9418320" y="2560320"/>
            <a:ext cx="105120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4" name="Text 45"/>
          <p:cNvSpPr/>
          <p:nvPr/>
        </p:nvSpPr>
        <p:spPr>
          <a:xfrm>
            <a:off x="9473040" y="262908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26/08</a:t>
            </a:r>
            <a:endParaRPr lang="en-US" sz="770" b="0" u="none" strike="noStrike">
              <a:solidFill>
                <a:srgbClr val="000000"/>
              </a:solidFill>
              <a:effectLst/>
              <a:uFillTx/>
              <a:latin typeface="Arial"/>
            </a:endParaRPr>
          </a:p>
        </p:txBody>
      </p:sp>
      <p:sp>
        <p:nvSpPr>
          <p:cNvPr id="395" name="Shape 46"/>
          <p:cNvSpPr/>
          <p:nvPr/>
        </p:nvSpPr>
        <p:spPr>
          <a:xfrm>
            <a:off x="10469880" y="2560320"/>
            <a:ext cx="105120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6" name="Text 47"/>
          <p:cNvSpPr/>
          <p:nvPr/>
        </p:nvSpPr>
        <p:spPr>
          <a:xfrm>
            <a:off x="10524600" y="262908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Completo</a:t>
            </a:r>
            <a:endParaRPr lang="en-US" sz="770" b="0" u="none" strike="noStrike">
              <a:solidFill>
                <a:srgbClr val="000000"/>
              </a:solidFill>
              <a:effectLst/>
              <a:uFillTx/>
              <a:latin typeface="Arial"/>
            </a:endParaRPr>
          </a:p>
        </p:txBody>
      </p:sp>
      <p:sp>
        <p:nvSpPr>
          <p:cNvPr id="397" name="Shape 48"/>
          <p:cNvSpPr/>
          <p:nvPr/>
        </p:nvSpPr>
        <p:spPr>
          <a:xfrm>
            <a:off x="4983480" y="2980800"/>
            <a:ext cx="63972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8" name="Text 49"/>
          <p:cNvSpPr/>
          <p:nvPr/>
        </p:nvSpPr>
        <p:spPr>
          <a:xfrm>
            <a:off x="5038200" y="3049560"/>
            <a:ext cx="5299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D5</a:t>
            </a:r>
            <a:endParaRPr lang="en-US" sz="770" b="0" u="none" strike="noStrike">
              <a:solidFill>
                <a:srgbClr val="000000"/>
              </a:solidFill>
              <a:effectLst/>
              <a:uFillTx/>
              <a:latin typeface="Arial"/>
            </a:endParaRPr>
          </a:p>
        </p:txBody>
      </p:sp>
      <p:sp>
        <p:nvSpPr>
          <p:cNvPr id="399" name="Shape 50"/>
          <p:cNvSpPr/>
          <p:nvPr/>
        </p:nvSpPr>
        <p:spPr>
          <a:xfrm>
            <a:off x="5623560" y="2980800"/>
            <a:ext cx="274284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0" name="Text 51"/>
          <p:cNvSpPr/>
          <p:nvPr/>
        </p:nvSpPr>
        <p:spPr>
          <a:xfrm>
            <a:off x="5678280" y="3049560"/>
            <a:ext cx="26330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Pruebas</a:t>
            </a:r>
            <a:endParaRPr lang="en-US" sz="770" b="0" u="none" strike="noStrike">
              <a:solidFill>
                <a:srgbClr val="000000"/>
              </a:solidFill>
              <a:effectLst/>
              <a:uFillTx/>
              <a:latin typeface="Arial"/>
            </a:endParaRPr>
          </a:p>
        </p:txBody>
      </p:sp>
      <p:sp>
        <p:nvSpPr>
          <p:cNvPr id="401" name="Shape 52"/>
          <p:cNvSpPr/>
          <p:nvPr/>
        </p:nvSpPr>
        <p:spPr>
          <a:xfrm>
            <a:off x="8366760" y="2980800"/>
            <a:ext cx="105120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2" name="Text 53"/>
          <p:cNvSpPr/>
          <p:nvPr/>
        </p:nvSpPr>
        <p:spPr>
          <a:xfrm>
            <a:off x="8421480" y="304956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27/08</a:t>
            </a:r>
            <a:endParaRPr lang="en-US" sz="770" b="0" u="none" strike="noStrike">
              <a:solidFill>
                <a:srgbClr val="000000"/>
              </a:solidFill>
              <a:effectLst/>
              <a:uFillTx/>
              <a:latin typeface="Arial"/>
            </a:endParaRPr>
          </a:p>
        </p:txBody>
      </p:sp>
      <p:sp>
        <p:nvSpPr>
          <p:cNvPr id="403" name="Shape 54"/>
          <p:cNvSpPr/>
          <p:nvPr/>
        </p:nvSpPr>
        <p:spPr>
          <a:xfrm>
            <a:off x="9418320" y="2980800"/>
            <a:ext cx="105120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4" name="Text 55"/>
          <p:cNvSpPr/>
          <p:nvPr/>
        </p:nvSpPr>
        <p:spPr>
          <a:xfrm>
            <a:off x="9473040" y="304956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27/08</a:t>
            </a:r>
            <a:endParaRPr lang="en-US" sz="770" b="0" u="none" strike="noStrike">
              <a:solidFill>
                <a:srgbClr val="000000"/>
              </a:solidFill>
              <a:effectLst/>
              <a:uFillTx/>
              <a:latin typeface="Arial"/>
            </a:endParaRPr>
          </a:p>
        </p:txBody>
      </p:sp>
      <p:sp>
        <p:nvSpPr>
          <p:cNvPr id="405" name="Shape 56"/>
          <p:cNvSpPr/>
          <p:nvPr/>
        </p:nvSpPr>
        <p:spPr>
          <a:xfrm>
            <a:off x="10469880" y="2980800"/>
            <a:ext cx="105120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6" name="Text 57"/>
          <p:cNvSpPr/>
          <p:nvPr/>
        </p:nvSpPr>
        <p:spPr>
          <a:xfrm>
            <a:off x="10524600" y="304956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Completo</a:t>
            </a:r>
            <a:endParaRPr lang="en-US" sz="770" b="0" u="none" strike="noStrike">
              <a:solidFill>
                <a:srgbClr val="000000"/>
              </a:solidFill>
              <a:effectLst/>
              <a:uFillTx/>
              <a:latin typeface="Arial"/>
            </a:endParaRPr>
          </a:p>
        </p:txBody>
      </p:sp>
      <p:sp>
        <p:nvSpPr>
          <p:cNvPr id="407" name="Shape 58"/>
          <p:cNvSpPr/>
          <p:nvPr/>
        </p:nvSpPr>
        <p:spPr>
          <a:xfrm>
            <a:off x="4983480" y="3401640"/>
            <a:ext cx="63972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8" name="Text 59"/>
          <p:cNvSpPr/>
          <p:nvPr/>
        </p:nvSpPr>
        <p:spPr>
          <a:xfrm>
            <a:off x="5038200" y="3470040"/>
            <a:ext cx="5299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D6</a:t>
            </a:r>
            <a:endParaRPr lang="en-US" sz="770" b="0" u="none" strike="noStrike">
              <a:solidFill>
                <a:srgbClr val="000000"/>
              </a:solidFill>
              <a:effectLst/>
              <a:uFillTx/>
              <a:latin typeface="Arial"/>
            </a:endParaRPr>
          </a:p>
        </p:txBody>
      </p:sp>
      <p:sp>
        <p:nvSpPr>
          <p:cNvPr id="409" name="Shape 60"/>
          <p:cNvSpPr/>
          <p:nvPr/>
        </p:nvSpPr>
        <p:spPr>
          <a:xfrm>
            <a:off x="5623560" y="3401640"/>
            <a:ext cx="274284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0" name="Text 61"/>
          <p:cNvSpPr/>
          <p:nvPr/>
        </p:nvSpPr>
        <p:spPr>
          <a:xfrm>
            <a:off x="5678280" y="3470040"/>
            <a:ext cx="26330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1 vs. 2 revolvedoras</a:t>
            </a:r>
            <a:endParaRPr lang="en-US" sz="770" b="0" u="none" strike="noStrike">
              <a:solidFill>
                <a:srgbClr val="000000"/>
              </a:solidFill>
              <a:effectLst/>
              <a:uFillTx/>
              <a:latin typeface="Arial"/>
            </a:endParaRPr>
          </a:p>
        </p:txBody>
      </p:sp>
      <p:sp>
        <p:nvSpPr>
          <p:cNvPr id="411" name="Shape 62"/>
          <p:cNvSpPr/>
          <p:nvPr/>
        </p:nvSpPr>
        <p:spPr>
          <a:xfrm>
            <a:off x="8366760" y="3401640"/>
            <a:ext cx="105120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2" name="Text 63"/>
          <p:cNvSpPr/>
          <p:nvPr/>
        </p:nvSpPr>
        <p:spPr>
          <a:xfrm>
            <a:off x="8421480" y="347004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28/08</a:t>
            </a:r>
            <a:endParaRPr lang="en-US" sz="770" b="0" u="none" strike="noStrike">
              <a:solidFill>
                <a:srgbClr val="000000"/>
              </a:solidFill>
              <a:effectLst/>
              <a:uFillTx/>
              <a:latin typeface="Arial"/>
            </a:endParaRPr>
          </a:p>
        </p:txBody>
      </p:sp>
      <p:sp>
        <p:nvSpPr>
          <p:cNvPr id="413" name="Shape 64"/>
          <p:cNvSpPr/>
          <p:nvPr/>
        </p:nvSpPr>
        <p:spPr>
          <a:xfrm>
            <a:off x="9418320" y="3401640"/>
            <a:ext cx="105120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4" name="Text 65"/>
          <p:cNvSpPr/>
          <p:nvPr/>
        </p:nvSpPr>
        <p:spPr>
          <a:xfrm>
            <a:off x="9473040" y="347004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28/08</a:t>
            </a:r>
            <a:endParaRPr lang="en-US" sz="770" b="0" u="none" strike="noStrike">
              <a:solidFill>
                <a:srgbClr val="000000"/>
              </a:solidFill>
              <a:effectLst/>
              <a:uFillTx/>
              <a:latin typeface="Arial"/>
            </a:endParaRPr>
          </a:p>
        </p:txBody>
      </p:sp>
      <p:sp>
        <p:nvSpPr>
          <p:cNvPr id="415" name="Shape 66"/>
          <p:cNvSpPr/>
          <p:nvPr/>
        </p:nvSpPr>
        <p:spPr>
          <a:xfrm>
            <a:off x="10469880" y="3401640"/>
            <a:ext cx="105120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6" name="Text 67"/>
          <p:cNvSpPr/>
          <p:nvPr/>
        </p:nvSpPr>
        <p:spPr>
          <a:xfrm>
            <a:off x="10524600" y="347004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Proceso</a:t>
            </a:r>
            <a:endParaRPr lang="en-US" sz="770" b="0" u="none" strike="noStrike">
              <a:solidFill>
                <a:srgbClr val="000000"/>
              </a:solidFill>
              <a:effectLst/>
              <a:uFillTx/>
              <a:latin typeface="Arial"/>
            </a:endParaRPr>
          </a:p>
        </p:txBody>
      </p:sp>
      <p:sp>
        <p:nvSpPr>
          <p:cNvPr id="417" name="Shape 68"/>
          <p:cNvSpPr/>
          <p:nvPr/>
        </p:nvSpPr>
        <p:spPr>
          <a:xfrm>
            <a:off x="4983480" y="3822120"/>
            <a:ext cx="63972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8" name="Text 69"/>
          <p:cNvSpPr/>
          <p:nvPr/>
        </p:nvSpPr>
        <p:spPr>
          <a:xfrm>
            <a:off x="5038200" y="3890880"/>
            <a:ext cx="5299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D7</a:t>
            </a:r>
            <a:endParaRPr lang="en-US" sz="770" b="0" u="none" strike="noStrike">
              <a:solidFill>
                <a:srgbClr val="000000"/>
              </a:solidFill>
              <a:effectLst/>
              <a:uFillTx/>
              <a:latin typeface="Arial"/>
            </a:endParaRPr>
          </a:p>
        </p:txBody>
      </p:sp>
      <p:sp>
        <p:nvSpPr>
          <p:cNvPr id="419" name="Shape 70"/>
          <p:cNvSpPr/>
          <p:nvPr/>
        </p:nvSpPr>
        <p:spPr>
          <a:xfrm>
            <a:off x="5623560" y="3822120"/>
            <a:ext cx="274284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0" name="Text 71"/>
          <p:cNvSpPr/>
          <p:nvPr/>
        </p:nvSpPr>
        <p:spPr>
          <a:xfrm>
            <a:off x="5678280" y="3890880"/>
            <a:ext cx="26330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Informe</a:t>
            </a:r>
            <a:endParaRPr lang="en-US" sz="770" b="0" u="none" strike="noStrike">
              <a:solidFill>
                <a:srgbClr val="000000"/>
              </a:solidFill>
              <a:effectLst/>
              <a:uFillTx/>
              <a:latin typeface="Arial"/>
            </a:endParaRPr>
          </a:p>
        </p:txBody>
      </p:sp>
      <p:sp>
        <p:nvSpPr>
          <p:cNvPr id="421" name="Shape 72"/>
          <p:cNvSpPr/>
          <p:nvPr/>
        </p:nvSpPr>
        <p:spPr>
          <a:xfrm>
            <a:off x="8366760" y="3822120"/>
            <a:ext cx="105120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2" name="Text 73"/>
          <p:cNvSpPr/>
          <p:nvPr/>
        </p:nvSpPr>
        <p:spPr>
          <a:xfrm>
            <a:off x="8421480" y="389088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29/08</a:t>
            </a:r>
            <a:endParaRPr lang="en-US" sz="770" b="0" u="none" strike="noStrike">
              <a:solidFill>
                <a:srgbClr val="000000"/>
              </a:solidFill>
              <a:effectLst/>
              <a:uFillTx/>
              <a:latin typeface="Arial"/>
            </a:endParaRPr>
          </a:p>
        </p:txBody>
      </p:sp>
      <p:sp>
        <p:nvSpPr>
          <p:cNvPr id="423" name="Shape 74"/>
          <p:cNvSpPr/>
          <p:nvPr/>
        </p:nvSpPr>
        <p:spPr>
          <a:xfrm>
            <a:off x="9418320" y="3822120"/>
            <a:ext cx="105120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4" name="Text 75"/>
          <p:cNvSpPr/>
          <p:nvPr/>
        </p:nvSpPr>
        <p:spPr>
          <a:xfrm>
            <a:off x="9473040" y="389088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29/08</a:t>
            </a:r>
            <a:endParaRPr lang="en-US" sz="770" b="0" u="none" strike="noStrike">
              <a:solidFill>
                <a:srgbClr val="000000"/>
              </a:solidFill>
              <a:effectLst/>
              <a:uFillTx/>
              <a:latin typeface="Arial"/>
            </a:endParaRPr>
          </a:p>
        </p:txBody>
      </p:sp>
      <p:sp>
        <p:nvSpPr>
          <p:cNvPr id="425" name="Shape 76"/>
          <p:cNvSpPr/>
          <p:nvPr/>
        </p:nvSpPr>
        <p:spPr>
          <a:xfrm>
            <a:off x="10469880" y="3822120"/>
            <a:ext cx="105120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6" name="Text 77"/>
          <p:cNvSpPr/>
          <p:nvPr/>
        </p:nvSpPr>
        <p:spPr>
          <a:xfrm>
            <a:off x="10524600" y="389088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Pendiente</a:t>
            </a:r>
            <a:endParaRPr lang="en-US" sz="770" b="0" u="none" strike="noStrike">
              <a:solidFill>
                <a:srgbClr val="000000"/>
              </a:solidFill>
              <a:effectLst/>
              <a:uFillTx/>
              <a:latin typeface="Arial"/>
            </a:endParaRPr>
          </a:p>
        </p:txBody>
      </p:sp>
      <p:sp>
        <p:nvSpPr>
          <p:cNvPr id="427" name="Shape 78"/>
          <p:cNvSpPr/>
          <p:nvPr/>
        </p:nvSpPr>
        <p:spPr>
          <a:xfrm>
            <a:off x="4983480" y="4242960"/>
            <a:ext cx="63972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8" name="Text 79"/>
          <p:cNvSpPr/>
          <p:nvPr/>
        </p:nvSpPr>
        <p:spPr>
          <a:xfrm>
            <a:off x="5038200" y="4311360"/>
            <a:ext cx="5299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D8</a:t>
            </a:r>
            <a:endParaRPr lang="en-US" sz="770" b="0" u="none" strike="noStrike">
              <a:solidFill>
                <a:srgbClr val="000000"/>
              </a:solidFill>
              <a:effectLst/>
              <a:uFillTx/>
              <a:latin typeface="Arial"/>
            </a:endParaRPr>
          </a:p>
        </p:txBody>
      </p:sp>
      <p:sp>
        <p:nvSpPr>
          <p:cNvPr id="429" name="Shape 80"/>
          <p:cNvSpPr/>
          <p:nvPr/>
        </p:nvSpPr>
        <p:spPr>
          <a:xfrm>
            <a:off x="5623560" y="4242960"/>
            <a:ext cx="274284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0" name="Text 81"/>
          <p:cNvSpPr/>
          <p:nvPr/>
        </p:nvSpPr>
        <p:spPr>
          <a:xfrm>
            <a:off x="5678280" y="4311360"/>
            <a:ext cx="26330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Entrega final</a:t>
            </a:r>
            <a:endParaRPr lang="en-US" sz="770" b="0" u="none" strike="noStrike">
              <a:solidFill>
                <a:srgbClr val="000000"/>
              </a:solidFill>
              <a:effectLst/>
              <a:uFillTx/>
              <a:latin typeface="Arial"/>
            </a:endParaRPr>
          </a:p>
        </p:txBody>
      </p:sp>
      <p:sp>
        <p:nvSpPr>
          <p:cNvPr id="431" name="Shape 82"/>
          <p:cNvSpPr/>
          <p:nvPr/>
        </p:nvSpPr>
        <p:spPr>
          <a:xfrm>
            <a:off x="8366760" y="4242960"/>
            <a:ext cx="105120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2" name="Text 83"/>
          <p:cNvSpPr/>
          <p:nvPr/>
        </p:nvSpPr>
        <p:spPr>
          <a:xfrm>
            <a:off x="8421480" y="431136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30/08</a:t>
            </a:r>
            <a:endParaRPr lang="en-US" sz="770" b="0" u="none" strike="noStrike">
              <a:solidFill>
                <a:srgbClr val="000000"/>
              </a:solidFill>
              <a:effectLst/>
              <a:uFillTx/>
              <a:latin typeface="Arial"/>
            </a:endParaRPr>
          </a:p>
        </p:txBody>
      </p:sp>
      <p:sp>
        <p:nvSpPr>
          <p:cNvPr id="433" name="Shape 84"/>
          <p:cNvSpPr/>
          <p:nvPr/>
        </p:nvSpPr>
        <p:spPr>
          <a:xfrm>
            <a:off x="9418320" y="4242960"/>
            <a:ext cx="105120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4" name="Text 85"/>
          <p:cNvSpPr/>
          <p:nvPr/>
        </p:nvSpPr>
        <p:spPr>
          <a:xfrm>
            <a:off x="9473040" y="431136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30/08</a:t>
            </a:r>
            <a:endParaRPr lang="en-US" sz="770" b="0" u="none" strike="noStrike">
              <a:solidFill>
                <a:srgbClr val="000000"/>
              </a:solidFill>
              <a:effectLst/>
              <a:uFillTx/>
              <a:latin typeface="Arial"/>
            </a:endParaRPr>
          </a:p>
        </p:txBody>
      </p:sp>
      <p:sp>
        <p:nvSpPr>
          <p:cNvPr id="435" name="Shape 86"/>
          <p:cNvSpPr/>
          <p:nvPr/>
        </p:nvSpPr>
        <p:spPr>
          <a:xfrm>
            <a:off x="10469880" y="4242960"/>
            <a:ext cx="1051200" cy="42012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6" name="Text 87"/>
          <p:cNvSpPr/>
          <p:nvPr/>
        </p:nvSpPr>
        <p:spPr>
          <a:xfrm>
            <a:off x="10524600" y="4311360"/>
            <a:ext cx="9414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Pendiente</a:t>
            </a:r>
            <a:endParaRPr lang="en-US" sz="770" b="0" u="none" strike="noStrike">
              <a:solidFill>
                <a:srgbClr val="000000"/>
              </a:solidFill>
              <a:effectLst/>
              <a:uFillTx/>
              <a:latin typeface="Arial"/>
            </a:endParaRPr>
          </a:p>
        </p:txBody>
      </p:sp>
      <p:sp>
        <p:nvSpPr>
          <p:cNvPr id="437" name="Shape 88"/>
          <p:cNvSpPr/>
          <p:nvPr/>
        </p:nvSpPr>
        <p:spPr>
          <a:xfrm>
            <a:off x="4983480" y="5166360"/>
            <a:ext cx="6080400" cy="731160"/>
          </a:xfrm>
          <a:prstGeom prst="roundRect">
            <a:avLst>
              <a:gd name="adj" fmla="val 10000"/>
            </a:avLst>
          </a:prstGeom>
          <a:solidFill>
            <a:srgbClr val="FFF1D6"/>
          </a:solidFill>
          <a:ln w="635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8" name="Text 89"/>
          <p:cNvSpPr/>
          <p:nvPr/>
        </p:nvSpPr>
        <p:spPr>
          <a:xfrm>
            <a:off x="5129640" y="5276160"/>
            <a:ext cx="578772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10" b="0" u="none" strike="noStrike" dirty="0">
                <a:solidFill>
                  <a:srgbClr val="2E3440"/>
                </a:solidFill>
                <a:effectLst/>
                <a:uFillTx/>
                <a:latin typeface="Aptos"/>
              </a:rPr>
              <a:t>El </a:t>
            </a:r>
            <a:r>
              <a:rPr lang="en-US" sz="1010" b="0" u="none" strike="noStrike" dirty="0" err="1">
                <a:solidFill>
                  <a:srgbClr val="2E3440"/>
                </a:solidFill>
                <a:effectLst/>
                <a:uFillTx/>
                <a:latin typeface="Aptos"/>
              </a:rPr>
              <a:t>cronograma</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básico</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coloca</a:t>
            </a:r>
            <a:r>
              <a:rPr lang="en-US" sz="1010" b="0" u="none" strike="noStrike" dirty="0">
                <a:solidFill>
                  <a:srgbClr val="2E3440"/>
                </a:solidFill>
                <a:effectLst/>
                <a:uFillTx/>
                <a:latin typeface="Aptos"/>
              </a:rPr>
              <a:t> las </a:t>
            </a:r>
            <a:r>
              <a:rPr lang="en-US" sz="1010" b="0" u="none" strike="noStrike" dirty="0" err="1">
                <a:solidFill>
                  <a:srgbClr val="2E3440"/>
                </a:solidFill>
                <a:effectLst/>
                <a:uFillTx/>
                <a:latin typeface="Aptos"/>
              </a:rPr>
              <a:t>actividades</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en</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secuencia</a:t>
            </a:r>
            <a:r>
              <a:rPr lang="en-US" sz="1010" b="0" u="none" strike="noStrike" dirty="0">
                <a:solidFill>
                  <a:srgbClr val="2E3440"/>
                </a:solidFill>
                <a:effectLst/>
                <a:uFillTx/>
                <a:latin typeface="Aptos"/>
              </a:rPr>
              <a:t> y </a:t>
            </a:r>
            <a:r>
              <a:rPr lang="en-US" sz="1010" b="0" u="none" strike="noStrike" dirty="0" err="1">
                <a:solidFill>
                  <a:srgbClr val="2E3440"/>
                </a:solidFill>
                <a:effectLst/>
                <a:uFillTx/>
                <a:latin typeface="Aptos"/>
              </a:rPr>
              <a:t>deja</a:t>
            </a:r>
            <a:r>
              <a:rPr lang="en-US" sz="1010" b="0" u="none" strike="noStrike" dirty="0">
                <a:solidFill>
                  <a:srgbClr val="2E3440"/>
                </a:solidFill>
                <a:effectLst/>
                <a:uFillTx/>
                <a:latin typeface="Aptos"/>
              </a:rPr>
              <a:t> visible que D7 y D8 no </a:t>
            </a:r>
            <a:r>
              <a:rPr lang="en-US" sz="1010" b="0" u="none" strike="noStrike" dirty="0" err="1">
                <a:solidFill>
                  <a:srgbClr val="2E3440"/>
                </a:solidFill>
                <a:effectLst/>
                <a:uFillTx/>
                <a:latin typeface="Aptos"/>
              </a:rPr>
              <a:t>deben</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avanzar</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si</a:t>
            </a:r>
            <a:r>
              <a:rPr lang="en-US" sz="1010" b="0" u="none" strike="noStrike" dirty="0">
                <a:solidFill>
                  <a:srgbClr val="2E3440"/>
                </a:solidFill>
                <a:effectLst/>
                <a:uFillTx/>
                <a:latin typeface="Aptos"/>
              </a:rPr>
              <a:t> D6 </a:t>
            </a:r>
            <a:r>
              <a:rPr lang="en-US" sz="1010" b="0" u="none" strike="noStrike" dirty="0" err="1">
                <a:solidFill>
                  <a:srgbClr val="2E3440"/>
                </a:solidFill>
                <a:effectLst/>
                <a:uFillTx/>
                <a:latin typeface="Aptos"/>
              </a:rPr>
              <a:t>aún</a:t>
            </a:r>
            <a:r>
              <a:rPr lang="en-US" sz="1010" b="0" u="none" strike="noStrike" dirty="0">
                <a:solidFill>
                  <a:srgbClr val="2E3440"/>
                </a:solidFill>
                <a:effectLst/>
                <a:uFillTx/>
                <a:latin typeface="Aptos"/>
              </a:rPr>
              <a:t> no </a:t>
            </a:r>
            <a:r>
              <a:rPr lang="en-US" sz="1010" b="0" u="none" strike="noStrike" dirty="0" err="1">
                <a:solidFill>
                  <a:srgbClr val="2E3440"/>
                </a:solidFill>
                <a:effectLst/>
                <a:uFillTx/>
                <a:latin typeface="Aptos"/>
              </a:rPr>
              <a:t>queda</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aprobado</a:t>
            </a:r>
            <a:r>
              <a:rPr lang="en-US" sz="1010" b="0" u="none" strike="noStrike" dirty="0">
                <a:solidFill>
                  <a:srgbClr val="2E3440"/>
                </a:solidFill>
                <a:effectLst/>
                <a:uFillTx/>
                <a:latin typeface="Aptos"/>
              </a:rPr>
              <a:t>.</a:t>
            </a:r>
            <a:endParaRPr lang="en-US" sz="1010" b="0" u="none" strike="noStrike" dirty="0">
              <a:solidFill>
                <a:srgbClr val="000000"/>
              </a:solidFill>
              <a:effectLst/>
              <a:uFillTx/>
              <a:latin typeface="Arial"/>
            </a:endParaRPr>
          </a:p>
        </p:txBody>
      </p:sp>
      <p:sp>
        <p:nvSpPr>
          <p:cNvPr id="441" name="Text 92"/>
          <p:cNvSpPr/>
          <p:nvPr/>
        </p:nvSpPr>
        <p:spPr>
          <a:xfrm>
            <a:off x="11292840" y="658368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1" u="none" strike="noStrike">
                <a:solidFill>
                  <a:srgbClr val="6B7280"/>
                </a:solidFill>
                <a:effectLst/>
                <a:uFillTx/>
                <a:latin typeface="Aptos"/>
              </a:rPr>
              <a:t>09</a:t>
            </a:r>
            <a:endParaRPr lang="en-US" sz="85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442" name="Shape 0"/>
          <p:cNvSpPr/>
          <p:nvPr/>
        </p:nvSpPr>
        <p:spPr>
          <a:xfrm>
            <a:off x="0" y="0"/>
            <a:ext cx="12191400" cy="6857640"/>
          </a:xfrm>
          <a:prstGeom prst="rect">
            <a:avLst/>
          </a:prstGeom>
          <a:solidFill>
            <a:srgbClr val="F6F8FC"/>
          </a:solidFill>
          <a:ln w="12700">
            <a:solidFill>
              <a:srgbClr val="F6F8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3" name="Text 1"/>
          <p:cNvSpPr/>
          <p:nvPr/>
        </p:nvSpPr>
        <p:spPr>
          <a:xfrm>
            <a:off x="502920" y="329040"/>
            <a:ext cx="94179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50" b="1" u="none" strike="noStrike">
                <a:solidFill>
                  <a:srgbClr val="172033"/>
                </a:solidFill>
                <a:effectLst/>
                <a:uFillTx/>
                <a:latin typeface="Aptos Display"/>
                <a:ea typeface="Aptos Display"/>
              </a:rPr>
              <a:t>Interpretar un diagrama de Gantt</a:t>
            </a:r>
            <a:endParaRPr lang="en-US" sz="2450" b="0" u="none" strike="noStrike">
              <a:solidFill>
                <a:srgbClr val="000000"/>
              </a:solidFill>
              <a:effectLst/>
              <a:uFillTx/>
              <a:latin typeface="Arial"/>
            </a:endParaRPr>
          </a:p>
        </p:txBody>
      </p:sp>
      <p:sp>
        <p:nvSpPr>
          <p:cNvPr id="444" name="Text 2"/>
          <p:cNvSpPr/>
          <p:nvPr/>
        </p:nvSpPr>
        <p:spPr>
          <a:xfrm>
            <a:off x="521280" y="749880"/>
            <a:ext cx="9692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20" b="0" u="none" strike="noStrike">
                <a:solidFill>
                  <a:srgbClr val="6B7280"/>
                </a:solidFill>
                <a:effectLst/>
                <a:uFillTx/>
                <a:latin typeface="Aptos"/>
                <a:ea typeface="Aptos"/>
              </a:rPr>
              <a:t>Lectura de avances y atrasos</a:t>
            </a:r>
            <a:endParaRPr lang="en-US" sz="1020" b="0" u="none" strike="noStrike">
              <a:solidFill>
                <a:srgbClr val="000000"/>
              </a:solidFill>
              <a:effectLst/>
              <a:uFillTx/>
              <a:latin typeface="Arial"/>
            </a:endParaRPr>
          </a:p>
        </p:txBody>
      </p:sp>
      <p:sp>
        <p:nvSpPr>
          <p:cNvPr id="445" name="Shape 3"/>
          <p:cNvSpPr/>
          <p:nvPr/>
        </p:nvSpPr>
        <p:spPr>
          <a:xfrm>
            <a:off x="502920" y="1042200"/>
            <a:ext cx="11201400" cy="360"/>
          </a:xfrm>
          <a:prstGeom prst="line">
            <a:avLst/>
          </a:prstGeom>
          <a:ln w="10160">
            <a:solidFill>
              <a:srgbClr val="D7DEE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46" name="Shape 4"/>
          <p:cNvSpPr/>
          <p:nvPr/>
        </p:nvSpPr>
        <p:spPr>
          <a:xfrm>
            <a:off x="10104120" y="347400"/>
            <a:ext cx="1535760" cy="383760"/>
          </a:xfrm>
          <a:prstGeom prst="roundRect">
            <a:avLst>
              <a:gd name="adj" fmla="val 23810"/>
            </a:avLst>
          </a:prstGeom>
          <a:solidFill>
            <a:srgbClr val="172033"/>
          </a:solidFill>
          <a:ln w="12700">
            <a:solidFill>
              <a:srgbClr val="172033">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7" name="Text 5"/>
          <p:cNvSpPr/>
          <p:nvPr/>
        </p:nvSpPr>
        <p:spPr>
          <a:xfrm>
            <a:off x="10168200" y="448200"/>
            <a:ext cx="140796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39" b="1" u="none" strike="noStrike">
                <a:solidFill>
                  <a:srgbClr val="FFFFFF"/>
                </a:solidFill>
                <a:effectLst/>
                <a:uFillTx/>
                <a:latin typeface="Aptos"/>
              </a:rPr>
              <a:t>Ejercicio 6</a:t>
            </a:r>
            <a:endParaRPr lang="en-US" sz="839" b="0" u="none" strike="noStrike">
              <a:solidFill>
                <a:srgbClr val="000000"/>
              </a:solidFill>
              <a:effectLst/>
              <a:uFillTx/>
              <a:latin typeface="Arial"/>
            </a:endParaRPr>
          </a:p>
        </p:txBody>
      </p:sp>
      <p:sp>
        <p:nvSpPr>
          <p:cNvPr id="448" name="Shape 6"/>
          <p:cNvSpPr/>
          <p:nvPr/>
        </p:nvSpPr>
        <p:spPr>
          <a:xfrm>
            <a:off x="567000" y="1170360"/>
            <a:ext cx="5486040" cy="2925720"/>
          </a:xfrm>
          <a:prstGeom prst="roundRect">
            <a:avLst>
              <a:gd name="adj" fmla="val 2500"/>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449" name="Image 0" descr="/mnt/data/7b137a4e-4eab-4f72-b19e-428cc57f7cd6.png"/>
          <p:cNvPicPr/>
          <p:nvPr/>
        </p:nvPicPr>
        <p:blipFill>
          <a:blip r:embed="rId3"/>
          <a:stretch/>
        </p:blipFill>
        <p:spPr>
          <a:xfrm>
            <a:off x="631080" y="1382400"/>
            <a:ext cx="5357880" cy="2190600"/>
          </a:xfrm>
          <a:prstGeom prst="rect">
            <a:avLst/>
          </a:prstGeom>
          <a:noFill/>
          <a:ln w="0">
            <a:noFill/>
          </a:ln>
        </p:spPr>
      </p:pic>
      <p:sp>
        <p:nvSpPr>
          <p:cNvPr id="450" name="Text 7"/>
          <p:cNvSpPr/>
          <p:nvPr/>
        </p:nvSpPr>
        <p:spPr>
          <a:xfrm>
            <a:off x="685800" y="3831480"/>
            <a:ext cx="52484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10" b="0" u="none" strike="noStrike">
                <a:solidFill>
                  <a:srgbClr val="6B7280"/>
                </a:solidFill>
                <a:effectLst/>
                <a:uFillTx/>
                <a:latin typeface="Aptos"/>
              </a:rPr>
              <a:t>GANTT-003: comparación plan vs. cierre real en Fast Burger.</a:t>
            </a:r>
            <a:endParaRPr lang="en-US" sz="710" b="0" u="none" strike="noStrike">
              <a:solidFill>
                <a:srgbClr val="000000"/>
              </a:solidFill>
              <a:effectLst/>
              <a:uFillTx/>
              <a:latin typeface="Arial"/>
            </a:endParaRPr>
          </a:p>
        </p:txBody>
      </p:sp>
      <p:sp>
        <p:nvSpPr>
          <p:cNvPr id="451" name="Shape 8"/>
          <p:cNvSpPr/>
          <p:nvPr/>
        </p:nvSpPr>
        <p:spPr>
          <a:xfrm>
            <a:off x="6291000" y="1170360"/>
            <a:ext cx="5348880" cy="2925720"/>
          </a:xfrm>
          <a:prstGeom prst="roundRect">
            <a:avLst>
              <a:gd name="adj" fmla="val 2500"/>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452" name="Image 1" descr="/mnt/data/794d5344-8fce-4dae-8ab9-7782524680d7.png"/>
          <p:cNvPicPr/>
          <p:nvPr/>
        </p:nvPicPr>
        <p:blipFill>
          <a:blip r:embed="rId4"/>
          <a:stretch/>
        </p:blipFill>
        <p:spPr>
          <a:xfrm>
            <a:off x="6355080" y="1276920"/>
            <a:ext cx="5220720" cy="2401560"/>
          </a:xfrm>
          <a:prstGeom prst="rect">
            <a:avLst/>
          </a:prstGeom>
          <a:noFill/>
          <a:ln w="0">
            <a:noFill/>
          </a:ln>
        </p:spPr>
      </p:pic>
      <p:sp>
        <p:nvSpPr>
          <p:cNvPr id="453" name="Text 9"/>
          <p:cNvSpPr/>
          <p:nvPr/>
        </p:nvSpPr>
        <p:spPr>
          <a:xfrm>
            <a:off x="6409800" y="3831480"/>
            <a:ext cx="51112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10" b="0" u="none" strike="noStrike">
                <a:solidFill>
                  <a:srgbClr val="6B7280"/>
                </a:solidFill>
                <a:effectLst/>
                <a:uFillTx/>
                <a:latin typeface="Aptos"/>
              </a:rPr>
              <a:t>GANTT-002: seguimiento de ProcesMuebles al corte.</a:t>
            </a:r>
            <a:endParaRPr lang="en-US" sz="710" b="0" u="none" strike="noStrike">
              <a:solidFill>
                <a:srgbClr val="000000"/>
              </a:solidFill>
              <a:effectLst/>
              <a:uFillTx/>
              <a:latin typeface="Arial"/>
            </a:endParaRPr>
          </a:p>
        </p:txBody>
      </p:sp>
      <p:sp>
        <p:nvSpPr>
          <p:cNvPr id="454" name="Shape 10"/>
          <p:cNvSpPr/>
          <p:nvPr/>
        </p:nvSpPr>
        <p:spPr>
          <a:xfrm>
            <a:off x="749880" y="4407480"/>
            <a:ext cx="4800240" cy="1170000"/>
          </a:xfrm>
          <a:prstGeom prst="roundRect">
            <a:avLst>
              <a:gd name="adj" fmla="val 6250"/>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55" name="Shape 11"/>
          <p:cNvSpPr/>
          <p:nvPr/>
        </p:nvSpPr>
        <p:spPr>
          <a:xfrm>
            <a:off x="749880" y="4407480"/>
            <a:ext cx="72720" cy="1170000"/>
          </a:xfrm>
          <a:prstGeom prst="rect">
            <a:avLst/>
          </a:prstGeom>
          <a:solidFill>
            <a:srgbClr val="2477C8"/>
          </a:solidFill>
          <a:ln w="12700">
            <a:solidFill>
              <a:srgbClr val="2477C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56" name="Text 12"/>
          <p:cNvSpPr/>
          <p:nvPr/>
        </p:nvSpPr>
        <p:spPr>
          <a:xfrm>
            <a:off x="951120" y="4553640"/>
            <a:ext cx="44712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60" b="1" u="none" strike="noStrike">
                <a:solidFill>
                  <a:srgbClr val="172033"/>
                </a:solidFill>
                <a:effectLst/>
                <a:uFillTx/>
                <a:latin typeface="Aptos"/>
              </a:rPr>
              <a:t>Procedimiento de lectura</a:t>
            </a:r>
            <a:endParaRPr lang="en-US" sz="1260" b="0" u="none" strike="noStrike">
              <a:solidFill>
                <a:srgbClr val="000000"/>
              </a:solidFill>
              <a:effectLst/>
              <a:uFillTx/>
              <a:latin typeface="Arial"/>
            </a:endParaRPr>
          </a:p>
        </p:txBody>
      </p:sp>
      <p:sp>
        <p:nvSpPr>
          <p:cNvPr id="457" name="Text 13"/>
          <p:cNvSpPr/>
          <p:nvPr/>
        </p:nvSpPr>
        <p:spPr>
          <a:xfrm>
            <a:off x="951120" y="4864680"/>
            <a:ext cx="44712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defTabSz="914400">
              <a:lnSpc>
                <a:spcPct val="100000"/>
              </a:lnSpc>
              <a:tabLst>
                <a:tab pos="0" algn="l"/>
              </a:tabLst>
            </a:pPr>
            <a:r>
              <a:rPr lang="en-US" sz="1010" b="0" u="none" strike="noStrike">
                <a:solidFill>
                  <a:srgbClr val="2E3440"/>
                </a:solidFill>
                <a:effectLst/>
                <a:uFillTx/>
                <a:latin typeface="Aptos"/>
              </a:rPr>
              <a:t>1) Revisar fechas plan y fechas reales.</a:t>
            </a:r>
            <a:endParaRPr lang="en-US" sz="1010" b="0" u="none" strike="noStrike">
              <a:solidFill>
                <a:srgbClr val="000000"/>
              </a:solidFill>
              <a:effectLst/>
              <a:uFillTx/>
              <a:latin typeface="Arial"/>
            </a:endParaRPr>
          </a:p>
          <a:p>
            <a:pPr defTabSz="914400">
              <a:lnSpc>
                <a:spcPct val="100000"/>
              </a:lnSpc>
              <a:tabLst>
                <a:tab pos="0" algn="l"/>
              </a:tabLst>
            </a:pPr>
            <a:r>
              <a:rPr lang="en-US" sz="1010" b="0" u="none" strike="noStrike">
                <a:solidFill>
                  <a:srgbClr val="2E3440"/>
                </a:solidFill>
                <a:effectLst/>
                <a:uFillTx/>
                <a:latin typeface="Aptos"/>
              </a:rPr>
              <a:t>2) Ubicar actividades con desviación.</a:t>
            </a:r>
            <a:endParaRPr lang="en-US" sz="1010" b="0" u="none" strike="noStrike">
              <a:solidFill>
                <a:srgbClr val="000000"/>
              </a:solidFill>
              <a:effectLst/>
              <a:uFillTx/>
              <a:latin typeface="Arial"/>
            </a:endParaRPr>
          </a:p>
          <a:p>
            <a:pPr defTabSz="914400">
              <a:lnSpc>
                <a:spcPct val="100000"/>
              </a:lnSpc>
              <a:tabLst>
                <a:tab pos="0" algn="l"/>
              </a:tabLst>
            </a:pPr>
            <a:r>
              <a:rPr lang="en-US" sz="1010" b="0" u="none" strike="noStrike">
                <a:solidFill>
                  <a:srgbClr val="2E3440"/>
                </a:solidFill>
                <a:effectLst/>
                <a:uFillTx/>
                <a:latin typeface="Aptos"/>
              </a:rPr>
              <a:t>3) Revisar si el estado corresponde con la evidencia.</a:t>
            </a:r>
            <a:endParaRPr lang="en-US" sz="1010" b="0" u="none" strike="noStrike">
              <a:solidFill>
                <a:srgbClr val="000000"/>
              </a:solidFill>
              <a:effectLst/>
              <a:uFillTx/>
              <a:latin typeface="Arial"/>
            </a:endParaRPr>
          </a:p>
          <a:p>
            <a:pPr defTabSz="914400">
              <a:lnSpc>
                <a:spcPct val="100000"/>
              </a:lnSpc>
              <a:tabLst>
                <a:tab pos="0" algn="l"/>
              </a:tabLst>
            </a:pPr>
            <a:r>
              <a:rPr lang="en-US" sz="1010" b="0" u="none" strike="noStrike">
                <a:solidFill>
                  <a:srgbClr val="2E3440"/>
                </a:solidFill>
                <a:effectLst/>
                <a:uFillTx/>
                <a:latin typeface="Aptos"/>
              </a:rPr>
              <a:t>4) Decidir: aprobar, corregir, recuperar o mantener pendiente.</a:t>
            </a:r>
            <a:endParaRPr lang="en-US" sz="1010" b="0" u="none" strike="noStrike">
              <a:solidFill>
                <a:srgbClr val="000000"/>
              </a:solidFill>
              <a:effectLst/>
              <a:uFillTx/>
              <a:latin typeface="Arial"/>
            </a:endParaRPr>
          </a:p>
        </p:txBody>
      </p:sp>
      <p:sp>
        <p:nvSpPr>
          <p:cNvPr id="458" name="Shape 14"/>
          <p:cNvSpPr/>
          <p:nvPr/>
        </p:nvSpPr>
        <p:spPr>
          <a:xfrm>
            <a:off x="6053400" y="4407480"/>
            <a:ext cx="5074560" cy="1170000"/>
          </a:xfrm>
          <a:prstGeom prst="roundRect">
            <a:avLst>
              <a:gd name="adj" fmla="val 6250"/>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59" name="Shape 15"/>
          <p:cNvSpPr/>
          <p:nvPr/>
        </p:nvSpPr>
        <p:spPr>
          <a:xfrm>
            <a:off x="6053400" y="4407480"/>
            <a:ext cx="72720" cy="1170000"/>
          </a:xfrm>
          <a:prstGeom prst="rect">
            <a:avLst/>
          </a:prstGeom>
          <a:solidFill>
            <a:srgbClr val="00A86B"/>
          </a:solidFill>
          <a:ln w="12700">
            <a:solidFill>
              <a:srgbClr val="00A86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60" name="Text 16"/>
          <p:cNvSpPr/>
          <p:nvPr/>
        </p:nvSpPr>
        <p:spPr>
          <a:xfrm>
            <a:off x="6254640" y="4553640"/>
            <a:ext cx="4745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60" b="1" u="none" strike="noStrike">
                <a:solidFill>
                  <a:srgbClr val="172033"/>
                </a:solidFill>
                <a:effectLst/>
                <a:uFillTx/>
                <a:latin typeface="Aptos"/>
              </a:rPr>
              <a:t>Respuesta</a:t>
            </a:r>
            <a:endParaRPr lang="en-US" sz="1260" b="0" u="none" strike="noStrike">
              <a:solidFill>
                <a:srgbClr val="000000"/>
              </a:solidFill>
              <a:effectLst/>
              <a:uFillTx/>
              <a:latin typeface="Arial"/>
            </a:endParaRPr>
          </a:p>
        </p:txBody>
      </p:sp>
      <p:sp>
        <p:nvSpPr>
          <p:cNvPr id="461" name="Text 17"/>
          <p:cNvSpPr/>
          <p:nvPr/>
        </p:nvSpPr>
        <p:spPr>
          <a:xfrm>
            <a:off x="6254640" y="4864680"/>
            <a:ext cx="474552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defTabSz="914400">
              <a:lnSpc>
                <a:spcPct val="100000"/>
              </a:lnSpc>
              <a:tabLst>
                <a:tab pos="0" algn="l"/>
              </a:tabLst>
            </a:pPr>
            <a:r>
              <a:rPr lang="en-US" sz="1010" b="0" u="none" strike="noStrike">
                <a:solidFill>
                  <a:srgbClr val="2E3440"/>
                </a:solidFill>
                <a:effectLst/>
                <a:uFillTx/>
                <a:latin typeface="Aptos"/>
              </a:rPr>
              <a:t>En Fast Burger, D6, D7 y D8 cerraron después de la fecha planeada, aunque terminaron aprobados. En ProcesMuebles, el Gantt muestra D6–D8 pendientes o con revisión, por lo que no debe reportarse como cierre completo.</a:t>
            </a:r>
            <a:endParaRPr lang="en-US" sz="1010" b="0" u="none" strike="noStrike">
              <a:solidFill>
                <a:srgbClr val="000000"/>
              </a:solidFill>
              <a:effectLst/>
              <a:uFillTx/>
              <a:latin typeface="Arial"/>
            </a:endParaRPr>
          </a:p>
        </p:txBody>
      </p:sp>
      <p:sp>
        <p:nvSpPr>
          <p:cNvPr id="464" name="Text 20"/>
          <p:cNvSpPr/>
          <p:nvPr/>
        </p:nvSpPr>
        <p:spPr>
          <a:xfrm>
            <a:off x="11292840" y="658368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1" u="none" strike="noStrike">
                <a:solidFill>
                  <a:srgbClr val="6B7280"/>
                </a:solidFill>
                <a:effectLst/>
                <a:uFillTx/>
                <a:latin typeface="Aptos"/>
              </a:rPr>
              <a:t>10</a:t>
            </a:r>
            <a:endParaRPr lang="en-US" sz="85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465" name="Shape 0"/>
          <p:cNvSpPr/>
          <p:nvPr/>
        </p:nvSpPr>
        <p:spPr>
          <a:xfrm>
            <a:off x="0" y="0"/>
            <a:ext cx="12191400" cy="6857640"/>
          </a:xfrm>
          <a:prstGeom prst="rect">
            <a:avLst/>
          </a:prstGeom>
          <a:solidFill>
            <a:srgbClr val="F6F8FC"/>
          </a:solidFill>
          <a:ln w="12700">
            <a:solidFill>
              <a:srgbClr val="F6F8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66" name="Text 1"/>
          <p:cNvSpPr/>
          <p:nvPr/>
        </p:nvSpPr>
        <p:spPr>
          <a:xfrm>
            <a:off x="502920" y="329040"/>
            <a:ext cx="94179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50" b="1" u="none" strike="noStrike">
                <a:solidFill>
                  <a:srgbClr val="172033"/>
                </a:solidFill>
                <a:effectLst/>
                <a:uFillTx/>
                <a:latin typeface="Aptos Display"/>
                <a:ea typeface="Aptos Display"/>
              </a:rPr>
              <a:t>Detectar una desviación frente a la línea base</a:t>
            </a:r>
            <a:endParaRPr lang="en-US" sz="2450" b="0" u="none" strike="noStrike">
              <a:solidFill>
                <a:srgbClr val="000000"/>
              </a:solidFill>
              <a:effectLst/>
              <a:uFillTx/>
              <a:latin typeface="Arial"/>
            </a:endParaRPr>
          </a:p>
        </p:txBody>
      </p:sp>
      <p:sp>
        <p:nvSpPr>
          <p:cNvPr id="467" name="Text 2"/>
          <p:cNvSpPr/>
          <p:nvPr/>
        </p:nvSpPr>
        <p:spPr>
          <a:xfrm>
            <a:off x="521280" y="749880"/>
            <a:ext cx="9692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20" b="0" u="none" strike="noStrike">
                <a:solidFill>
                  <a:srgbClr val="6B7280"/>
                </a:solidFill>
                <a:effectLst/>
                <a:uFillTx/>
                <a:latin typeface="Aptos"/>
                <a:ea typeface="Aptos"/>
              </a:rPr>
              <a:t>Caso base: Fast Burger</a:t>
            </a:r>
            <a:endParaRPr lang="en-US" sz="1020" b="0" u="none" strike="noStrike">
              <a:solidFill>
                <a:srgbClr val="000000"/>
              </a:solidFill>
              <a:effectLst/>
              <a:uFillTx/>
              <a:latin typeface="Arial"/>
            </a:endParaRPr>
          </a:p>
        </p:txBody>
      </p:sp>
      <p:sp>
        <p:nvSpPr>
          <p:cNvPr id="468" name="Shape 3"/>
          <p:cNvSpPr/>
          <p:nvPr/>
        </p:nvSpPr>
        <p:spPr>
          <a:xfrm>
            <a:off x="502920" y="1042200"/>
            <a:ext cx="11201400" cy="360"/>
          </a:xfrm>
          <a:prstGeom prst="line">
            <a:avLst/>
          </a:prstGeom>
          <a:ln w="10160">
            <a:solidFill>
              <a:srgbClr val="D7DEE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69" name="Shape 4"/>
          <p:cNvSpPr/>
          <p:nvPr/>
        </p:nvSpPr>
        <p:spPr>
          <a:xfrm>
            <a:off x="10104120" y="347400"/>
            <a:ext cx="1535760" cy="383760"/>
          </a:xfrm>
          <a:prstGeom prst="roundRect">
            <a:avLst>
              <a:gd name="adj" fmla="val 23810"/>
            </a:avLst>
          </a:prstGeom>
          <a:solidFill>
            <a:srgbClr val="172033"/>
          </a:solidFill>
          <a:ln w="12700">
            <a:solidFill>
              <a:srgbClr val="172033">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0" name="Text 5"/>
          <p:cNvSpPr/>
          <p:nvPr/>
        </p:nvSpPr>
        <p:spPr>
          <a:xfrm>
            <a:off x="10168200" y="448200"/>
            <a:ext cx="140796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39" b="1" u="none" strike="noStrike">
                <a:solidFill>
                  <a:srgbClr val="FFFFFF"/>
                </a:solidFill>
                <a:effectLst/>
                <a:uFillTx/>
                <a:latin typeface="Aptos"/>
              </a:rPr>
              <a:t>Ejercicio 7</a:t>
            </a:r>
            <a:endParaRPr lang="en-US" sz="839" b="0" u="none" strike="noStrike">
              <a:solidFill>
                <a:srgbClr val="000000"/>
              </a:solidFill>
              <a:effectLst/>
              <a:uFillTx/>
              <a:latin typeface="Arial"/>
            </a:endParaRPr>
          </a:p>
        </p:txBody>
      </p:sp>
      <p:sp>
        <p:nvSpPr>
          <p:cNvPr id="471" name="Shape 6"/>
          <p:cNvSpPr/>
          <p:nvPr/>
        </p:nvSpPr>
        <p:spPr>
          <a:xfrm>
            <a:off x="731520" y="1325880"/>
            <a:ext cx="1005480" cy="51156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2" name="Text 7"/>
          <p:cNvSpPr/>
          <p:nvPr/>
        </p:nvSpPr>
        <p:spPr>
          <a:xfrm>
            <a:off x="786240" y="1394640"/>
            <a:ext cx="89568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30" b="1" u="none" strike="noStrike">
                <a:solidFill>
                  <a:srgbClr val="FFFFFF"/>
                </a:solidFill>
                <a:effectLst/>
                <a:uFillTx/>
                <a:latin typeface="Aptos"/>
              </a:rPr>
              <a:t>ID</a:t>
            </a:r>
            <a:endParaRPr lang="en-US" sz="830" b="0" u="none" strike="noStrike">
              <a:solidFill>
                <a:srgbClr val="000000"/>
              </a:solidFill>
              <a:effectLst/>
              <a:uFillTx/>
              <a:latin typeface="Arial"/>
            </a:endParaRPr>
          </a:p>
        </p:txBody>
      </p:sp>
      <p:sp>
        <p:nvSpPr>
          <p:cNvPr id="473" name="Shape 8"/>
          <p:cNvSpPr/>
          <p:nvPr/>
        </p:nvSpPr>
        <p:spPr>
          <a:xfrm>
            <a:off x="1737360" y="1325880"/>
            <a:ext cx="2011320" cy="51156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4" name="Text 9"/>
          <p:cNvSpPr/>
          <p:nvPr/>
        </p:nvSpPr>
        <p:spPr>
          <a:xfrm>
            <a:off x="1792080" y="1394640"/>
            <a:ext cx="190152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30" b="1" u="none" strike="noStrike">
                <a:solidFill>
                  <a:srgbClr val="FFFFFF"/>
                </a:solidFill>
                <a:effectLst/>
                <a:uFillTx/>
                <a:latin typeface="Aptos"/>
              </a:rPr>
              <a:t>Actividad</a:t>
            </a:r>
            <a:endParaRPr lang="en-US" sz="830" b="0" u="none" strike="noStrike">
              <a:solidFill>
                <a:srgbClr val="000000"/>
              </a:solidFill>
              <a:effectLst/>
              <a:uFillTx/>
              <a:latin typeface="Arial"/>
            </a:endParaRPr>
          </a:p>
        </p:txBody>
      </p:sp>
      <p:sp>
        <p:nvSpPr>
          <p:cNvPr id="475" name="Shape 10"/>
          <p:cNvSpPr/>
          <p:nvPr/>
        </p:nvSpPr>
        <p:spPr>
          <a:xfrm>
            <a:off x="3749040" y="1325880"/>
            <a:ext cx="1188360" cy="51156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6" name="Text 11"/>
          <p:cNvSpPr/>
          <p:nvPr/>
        </p:nvSpPr>
        <p:spPr>
          <a:xfrm>
            <a:off x="3803760" y="1394640"/>
            <a:ext cx="107856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30" b="1" u="none" strike="noStrike">
                <a:solidFill>
                  <a:srgbClr val="FFFFFF"/>
                </a:solidFill>
                <a:effectLst/>
                <a:uFillTx/>
                <a:latin typeface="Aptos"/>
              </a:rPr>
              <a:t>Fin plan</a:t>
            </a:r>
            <a:endParaRPr lang="en-US" sz="830" b="0" u="none" strike="noStrike">
              <a:solidFill>
                <a:srgbClr val="000000"/>
              </a:solidFill>
              <a:effectLst/>
              <a:uFillTx/>
              <a:latin typeface="Arial"/>
            </a:endParaRPr>
          </a:p>
        </p:txBody>
      </p:sp>
      <p:sp>
        <p:nvSpPr>
          <p:cNvPr id="477" name="Shape 12"/>
          <p:cNvSpPr/>
          <p:nvPr/>
        </p:nvSpPr>
        <p:spPr>
          <a:xfrm>
            <a:off x="4937760" y="1325880"/>
            <a:ext cx="1188360" cy="51156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8" name="Text 13"/>
          <p:cNvSpPr/>
          <p:nvPr/>
        </p:nvSpPr>
        <p:spPr>
          <a:xfrm>
            <a:off x="4992480" y="1394640"/>
            <a:ext cx="107856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30" b="1" u="none" strike="noStrike">
                <a:solidFill>
                  <a:srgbClr val="FFFFFF"/>
                </a:solidFill>
                <a:effectLst/>
                <a:uFillTx/>
                <a:latin typeface="Aptos"/>
              </a:rPr>
              <a:t>Cierre real</a:t>
            </a:r>
            <a:endParaRPr lang="en-US" sz="830" b="0" u="none" strike="noStrike">
              <a:solidFill>
                <a:srgbClr val="000000"/>
              </a:solidFill>
              <a:effectLst/>
              <a:uFillTx/>
              <a:latin typeface="Arial"/>
            </a:endParaRPr>
          </a:p>
        </p:txBody>
      </p:sp>
      <p:sp>
        <p:nvSpPr>
          <p:cNvPr id="479" name="Shape 14"/>
          <p:cNvSpPr/>
          <p:nvPr/>
        </p:nvSpPr>
        <p:spPr>
          <a:xfrm>
            <a:off x="6126480" y="1325880"/>
            <a:ext cx="1188360" cy="51156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80" name="Text 15"/>
          <p:cNvSpPr/>
          <p:nvPr/>
        </p:nvSpPr>
        <p:spPr>
          <a:xfrm>
            <a:off x="6181200" y="1394640"/>
            <a:ext cx="107856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30" b="1" u="none" strike="noStrike">
                <a:solidFill>
                  <a:srgbClr val="FFFFFF"/>
                </a:solidFill>
                <a:effectLst/>
                <a:uFillTx/>
                <a:latin typeface="Aptos"/>
              </a:rPr>
              <a:t>Desv.</a:t>
            </a:r>
            <a:endParaRPr lang="en-US" sz="830" b="0" u="none" strike="noStrike">
              <a:solidFill>
                <a:srgbClr val="000000"/>
              </a:solidFill>
              <a:effectLst/>
              <a:uFillTx/>
              <a:latin typeface="Arial"/>
            </a:endParaRPr>
          </a:p>
        </p:txBody>
      </p:sp>
      <p:sp>
        <p:nvSpPr>
          <p:cNvPr id="481" name="Shape 16"/>
          <p:cNvSpPr/>
          <p:nvPr/>
        </p:nvSpPr>
        <p:spPr>
          <a:xfrm>
            <a:off x="7315200" y="1325880"/>
            <a:ext cx="2377080" cy="51156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82" name="Text 17"/>
          <p:cNvSpPr/>
          <p:nvPr/>
        </p:nvSpPr>
        <p:spPr>
          <a:xfrm>
            <a:off x="7369920" y="1394640"/>
            <a:ext cx="226728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30" b="1" u="none" strike="noStrike">
                <a:solidFill>
                  <a:srgbClr val="FFFFFF"/>
                </a:solidFill>
                <a:effectLst/>
                <a:uFillTx/>
                <a:latin typeface="Aptos"/>
              </a:rPr>
              <a:t>Lectura PM</a:t>
            </a:r>
            <a:endParaRPr lang="en-US" sz="830" b="0" u="none" strike="noStrike">
              <a:solidFill>
                <a:srgbClr val="000000"/>
              </a:solidFill>
              <a:effectLst/>
              <a:uFillTx/>
              <a:latin typeface="Arial"/>
            </a:endParaRPr>
          </a:p>
        </p:txBody>
      </p:sp>
      <p:sp>
        <p:nvSpPr>
          <p:cNvPr id="483" name="Shape 18"/>
          <p:cNvSpPr/>
          <p:nvPr/>
        </p:nvSpPr>
        <p:spPr>
          <a:xfrm>
            <a:off x="731520" y="1837800"/>
            <a:ext cx="1005480" cy="5115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4" name="Text 19"/>
          <p:cNvSpPr/>
          <p:nvPr/>
        </p:nvSpPr>
        <p:spPr>
          <a:xfrm>
            <a:off x="786240" y="1906560"/>
            <a:ext cx="89568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D6</a:t>
            </a:r>
            <a:endParaRPr lang="en-US" sz="800" b="0" u="none" strike="noStrike">
              <a:solidFill>
                <a:srgbClr val="000000"/>
              </a:solidFill>
              <a:effectLst/>
              <a:uFillTx/>
              <a:latin typeface="Arial"/>
            </a:endParaRPr>
          </a:p>
        </p:txBody>
      </p:sp>
      <p:sp>
        <p:nvSpPr>
          <p:cNvPr id="485" name="Shape 20"/>
          <p:cNvSpPr/>
          <p:nvPr/>
        </p:nvSpPr>
        <p:spPr>
          <a:xfrm>
            <a:off x="1737360" y="1837800"/>
            <a:ext cx="2011320" cy="5115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6" name="Text 21"/>
          <p:cNvSpPr/>
          <p:nvPr/>
        </p:nvSpPr>
        <p:spPr>
          <a:xfrm>
            <a:off x="1792080" y="1906560"/>
            <a:ext cx="190152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Comparación de escenarios</a:t>
            </a:r>
            <a:endParaRPr lang="en-US" sz="800" b="0" u="none" strike="noStrike">
              <a:solidFill>
                <a:srgbClr val="000000"/>
              </a:solidFill>
              <a:effectLst/>
              <a:uFillTx/>
              <a:latin typeface="Arial"/>
            </a:endParaRPr>
          </a:p>
        </p:txBody>
      </p:sp>
      <p:sp>
        <p:nvSpPr>
          <p:cNvPr id="487" name="Shape 22"/>
          <p:cNvSpPr/>
          <p:nvPr/>
        </p:nvSpPr>
        <p:spPr>
          <a:xfrm>
            <a:off x="3749040" y="1837800"/>
            <a:ext cx="1188360" cy="5115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8" name="Text 23"/>
          <p:cNvSpPr/>
          <p:nvPr/>
        </p:nvSpPr>
        <p:spPr>
          <a:xfrm>
            <a:off x="3803760" y="1906560"/>
            <a:ext cx="107856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29/08</a:t>
            </a:r>
            <a:endParaRPr lang="en-US" sz="800" b="0" u="none" strike="noStrike">
              <a:solidFill>
                <a:srgbClr val="000000"/>
              </a:solidFill>
              <a:effectLst/>
              <a:uFillTx/>
              <a:latin typeface="Arial"/>
            </a:endParaRPr>
          </a:p>
        </p:txBody>
      </p:sp>
      <p:sp>
        <p:nvSpPr>
          <p:cNvPr id="489" name="Shape 24"/>
          <p:cNvSpPr/>
          <p:nvPr/>
        </p:nvSpPr>
        <p:spPr>
          <a:xfrm>
            <a:off x="4937760" y="1837800"/>
            <a:ext cx="1188360" cy="5115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0" name="Text 25"/>
          <p:cNvSpPr/>
          <p:nvPr/>
        </p:nvSpPr>
        <p:spPr>
          <a:xfrm>
            <a:off x="4992480" y="1906560"/>
            <a:ext cx="107856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03/09</a:t>
            </a:r>
            <a:endParaRPr lang="en-US" sz="800" b="0" u="none" strike="noStrike">
              <a:solidFill>
                <a:srgbClr val="000000"/>
              </a:solidFill>
              <a:effectLst/>
              <a:uFillTx/>
              <a:latin typeface="Arial"/>
            </a:endParaRPr>
          </a:p>
        </p:txBody>
      </p:sp>
      <p:sp>
        <p:nvSpPr>
          <p:cNvPr id="491" name="Shape 26"/>
          <p:cNvSpPr/>
          <p:nvPr/>
        </p:nvSpPr>
        <p:spPr>
          <a:xfrm>
            <a:off x="6126480" y="1837800"/>
            <a:ext cx="1188360" cy="5115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2" name="Text 27"/>
          <p:cNvSpPr/>
          <p:nvPr/>
        </p:nvSpPr>
        <p:spPr>
          <a:xfrm>
            <a:off x="6181200" y="1906560"/>
            <a:ext cx="107856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5 días</a:t>
            </a:r>
            <a:endParaRPr lang="en-US" sz="800" b="0" u="none" strike="noStrike">
              <a:solidFill>
                <a:srgbClr val="000000"/>
              </a:solidFill>
              <a:effectLst/>
              <a:uFillTx/>
              <a:latin typeface="Arial"/>
            </a:endParaRPr>
          </a:p>
        </p:txBody>
      </p:sp>
      <p:sp>
        <p:nvSpPr>
          <p:cNvPr id="493" name="Shape 28"/>
          <p:cNvSpPr/>
          <p:nvPr/>
        </p:nvSpPr>
        <p:spPr>
          <a:xfrm>
            <a:off x="7315200" y="1837800"/>
            <a:ext cx="2377080" cy="5115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4" name="Text 29"/>
          <p:cNvSpPr/>
          <p:nvPr/>
        </p:nvSpPr>
        <p:spPr>
          <a:xfrm>
            <a:off x="7369920" y="1906560"/>
            <a:ext cx="226728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Requiere corrección y validación.</a:t>
            </a:r>
            <a:endParaRPr lang="en-US" sz="800" b="0" u="none" strike="noStrike">
              <a:solidFill>
                <a:srgbClr val="000000"/>
              </a:solidFill>
              <a:effectLst/>
              <a:uFillTx/>
              <a:latin typeface="Arial"/>
            </a:endParaRPr>
          </a:p>
        </p:txBody>
      </p:sp>
      <p:sp>
        <p:nvSpPr>
          <p:cNvPr id="495" name="Shape 30"/>
          <p:cNvSpPr/>
          <p:nvPr/>
        </p:nvSpPr>
        <p:spPr>
          <a:xfrm>
            <a:off x="731520" y="2350080"/>
            <a:ext cx="1005480" cy="5115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6" name="Text 31"/>
          <p:cNvSpPr/>
          <p:nvPr/>
        </p:nvSpPr>
        <p:spPr>
          <a:xfrm>
            <a:off x="786240" y="2418480"/>
            <a:ext cx="89568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D7</a:t>
            </a:r>
            <a:endParaRPr lang="en-US" sz="800" b="0" u="none" strike="noStrike">
              <a:solidFill>
                <a:srgbClr val="000000"/>
              </a:solidFill>
              <a:effectLst/>
              <a:uFillTx/>
              <a:latin typeface="Arial"/>
            </a:endParaRPr>
          </a:p>
        </p:txBody>
      </p:sp>
      <p:sp>
        <p:nvSpPr>
          <p:cNvPr id="497" name="Shape 32"/>
          <p:cNvSpPr/>
          <p:nvPr/>
        </p:nvSpPr>
        <p:spPr>
          <a:xfrm>
            <a:off x="1737360" y="2350080"/>
            <a:ext cx="2011320" cy="5115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8" name="Text 33"/>
          <p:cNvSpPr/>
          <p:nvPr/>
        </p:nvSpPr>
        <p:spPr>
          <a:xfrm>
            <a:off x="1792080" y="2418480"/>
            <a:ext cx="190152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Informe de resultados</a:t>
            </a:r>
            <a:endParaRPr lang="en-US" sz="800" b="0" u="none" strike="noStrike">
              <a:solidFill>
                <a:srgbClr val="000000"/>
              </a:solidFill>
              <a:effectLst/>
              <a:uFillTx/>
              <a:latin typeface="Arial"/>
            </a:endParaRPr>
          </a:p>
        </p:txBody>
      </p:sp>
      <p:sp>
        <p:nvSpPr>
          <p:cNvPr id="499" name="Shape 34"/>
          <p:cNvSpPr/>
          <p:nvPr/>
        </p:nvSpPr>
        <p:spPr>
          <a:xfrm>
            <a:off x="3749040" y="2350080"/>
            <a:ext cx="1188360" cy="5115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0" name="Text 35"/>
          <p:cNvSpPr/>
          <p:nvPr/>
        </p:nvSpPr>
        <p:spPr>
          <a:xfrm>
            <a:off x="3803760" y="2418480"/>
            <a:ext cx="107856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30/08</a:t>
            </a:r>
            <a:endParaRPr lang="en-US" sz="800" b="0" u="none" strike="noStrike">
              <a:solidFill>
                <a:srgbClr val="000000"/>
              </a:solidFill>
              <a:effectLst/>
              <a:uFillTx/>
              <a:latin typeface="Arial"/>
            </a:endParaRPr>
          </a:p>
        </p:txBody>
      </p:sp>
      <p:sp>
        <p:nvSpPr>
          <p:cNvPr id="501" name="Shape 36"/>
          <p:cNvSpPr/>
          <p:nvPr/>
        </p:nvSpPr>
        <p:spPr>
          <a:xfrm>
            <a:off x="4937760" y="2350080"/>
            <a:ext cx="1188360" cy="5115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2" name="Text 37"/>
          <p:cNvSpPr/>
          <p:nvPr/>
        </p:nvSpPr>
        <p:spPr>
          <a:xfrm>
            <a:off x="4992480" y="2418480"/>
            <a:ext cx="107856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03/09</a:t>
            </a:r>
            <a:endParaRPr lang="en-US" sz="800" b="0" u="none" strike="noStrike">
              <a:solidFill>
                <a:srgbClr val="000000"/>
              </a:solidFill>
              <a:effectLst/>
              <a:uFillTx/>
              <a:latin typeface="Arial"/>
            </a:endParaRPr>
          </a:p>
        </p:txBody>
      </p:sp>
      <p:sp>
        <p:nvSpPr>
          <p:cNvPr id="503" name="Shape 38"/>
          <p:cNvSpPr/>
          <p:nvPr/>
        </p:nvSpPr>
        <p:spPr>
          <a:xfrm>
            <a:off x="6126480" y="2350080"/>
            <a:ext cx="1188360" cy="5115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4" name="Text 39"/>
          <p:cNvSpPr/>
          <p:nvPr/>
        </p:nvSpPr>
        <p:spPr>
          <a:xfrm>
            <a:off x="6181200" y="2418480"/>
            <a:ext cx="107856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4 días</a:t>
            </a:r>
            <a:endParaRPr lang="en-US" sz="800" b="0" u="none" strike="noStrike">
              <a:solidFill>
                <a:srgbClr val="000000"/>
              </a:solidFill>
              <a:effectLst/>
              <a:uFillTx/>
              <a:latin typeface="Arial"/>
            </a:endParaRPr>
          </a:p>
        </p:txBody>
      </p:sp>
      <p:sp>
        <p:nvSpPr>
          <p:cNvPr id="505" name="Shape 40"/>
          <p:cNvSpPr/>
          <p:nvPr/>
        </p:nvSpPr>
        <p:spPr>
          <a:xfrm>
            <a:off x="7315200" y="2350080"/>
            <a:ext cx="2377080" cy="5115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6" name="Text 41"/>
          <p:cNvSpPr/>
          <p:nvPr/>
        </p:nvSpPr>
        <p:spPr>
          <a:xfrm>
            <a:off x="7369920" y="2418480"/>
            <a:ext cx="226728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Aprobado después de ajustar D6.</a:t>
            </a:r>
            <a:endParaRPr lang="en-US" sz="800" b="0" u="none" strike="noStrike">
              <a:solidFill>
                <a:srgbClr val="000000"/>
              </a:solidFill>
              <a:effectLst/>
              <a:uFillTx/>
              <a:latin typeface="Arial"/>
            </a:endParaRPr>
          </a:p>
        </p:txBody>
      </p:sp>
      <p:sp>
        <p:nvSpPr>
          <p:cNvPr id="507" name="Shape 42"/>
          <p:cNvSpPr/>
          <p:nvPr/>
        </p:nvSpPr>
        <p:spPr>
          <a:xfrm>
            <a:off x="731520" y="2862000"/>
            <a:ext cx="1005480" cy="5115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8" name="Text 43"/>
          <p:cNvSpPr/>
          <p:nvPr/>
        </p:nvSpPr>
        <p:spPr>
          <a:xfrm>
            <a:off x="786240" y="2930760"/>
            <a:ext cx="89568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D8</a:t>
            </a:r>
            <a:endParaRPr lang="en-US" sz="800" b="0" u="none" strike="noStrike">
              <a:solidFill>
                <a:srgbClr val="000000"/>
              </a:solidFill>
              <a:effectLst/>
              <a:uFillTx/>
              <a:latin typeface="Arial"/>
            </a:endParaRPr>
          </a:p>
        </p:txBody>
      </p:sp>
      <p:sp>
        <p:nvSpPr>
          <p:cNvPr id="509" name="Shape 44"/>
          <p:cNvSpPr/>
          <p:nvPr/>
        </p:nvSpPr>
        <p:spPr>
          <a:xfrm>
            <a:off x="1737360" y="2862000"/>
            <a:ext cx="2011320" cy="5115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10" name="Text 45"/>
          <p:cNvSpPr/>
          <p:nvPr/>
        </p:nvSpPr>
        <p:spPr>
          <a:xfrm>
            <a:off x="1792080" y="2930760"/>
            <a:ext cx="190152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Entrega final</a:t>
            </a:r>
            <a:endParaRPr lang="en-US" sz="800" b="0" u="none" strike="noStrike">
              <a:solidFill>
                <a:srgbClr val="000000"/>
              </a:solidFill>
              <a:effectLst/>
              <a:uFillTx/>
              <a:latin typeface="Arial"/>
            </a:endParaRPr>
          </a:p>
        </p:txBody>
      </p:sp>
      <p:sp>
        <p:nvSpPr>
          <p:cNvPr id="511" name="Shape 46"/>
          <p:cNvSpPr/>
          <p:nvPr/>
        </p:nvSpPr>
        <p:spPr>
          <a:xfrm>
            <a:off x="3749040" y="2862000"/>
            <a:ext cx="1188360" cy="5115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12" name="Text 47"/>
          <p:cNvSpPr/>
          <p:nvPr/>
        </p:nvSpPr>
        <p:spPr>
          <a:xfrm>
            <a:off x="3803760" y="2930760"/>
            <a:ext cx="107856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30/08</a:t>
            </a:r>
            <a:endParaRPr lang="en-US" sz="800" b="0" u="none" strike="noStrike">
              <a:solidFill>
                <a:srgbClr val="000000"/>
              </a:solidFill>
              <a:effectLst/>
              <a:uFillTx/>
              <a:latin typeface="Arial"/>
            </a:endParaRPr>
          </a:p>
        </p:txBody>
      </p:sp>
      <p:sp>
        <p:nvSpPr>
          <p:cNvPr id="513" name="Shape 48"/>
          <p:cNvSpPr/>
          <p:nvPr/>
        </p:nvSpPr>
        <p:spPr>
          <a:xfrm>
            <a:off x="4937760" y="2862000"/>
            <a:ext cx="1188360" cy="5115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14" name="Text 49"/>
          <p:cNvSpPr/>
          <p:nvPr/>
        </p:nvSpPr>
        <p:spPr>
          <a:xfrm>
            <a:off x="4992480" y="2930760"/>
            <a:ext cx="107856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03/09</a:t>
            </a:r>
            <a:endParaRPr lang="en-US" sz="800" b="0" u="none" strike="noStrike">
              <a:solidFill>
                <a:srgbClr val="000000"/>
              </a:solidFill>
              <a:effectLst/>
              <a:uFillTx/>
              <a:latin typeface="Arial"/>
            </a:endParaRPr>
          </a:p>
        </p:txBody>
      </p:sp>
      <p:sp>
        <p:nvSpPr>
          <p:cNvPr id="515" name="Shape 50"/>
          <p:cNvSpPr/>
          <p:nvPr/>
        </p:nvSpPr>
        <p:spPr>
          <a:xfrm>
            <a:off x="6126480" y="2862000"/>
            <a:ext cx="1188360" cy="5115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16" name="Text 51"/>
          <p:cNvSpPr/>
          <p:nvPr/>
        </p:nvSpPr>
        <p:spPr>
          <a:xfrm>
            <a:off x="6181200" y="2930760"/>
            <a:ext cx="107856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4 días</a:t>
            </a:r>
            <a:endParaRPr lang="en-US" sz="800" b="0" u="none" strike="noStrike">
              <a:solidFill>
                <a:srgbClr val="000000"/>
              </a:solidFill>
              <a:effectLst/>
              <a:uFillTx/>
              <a:latin typeface="Arial"/>
            </a:endParaRPr>
          </a:p>
        </p:txBody>
      </p:sp>
      <p:sp>
        <p:nvSpPr>
          <p:cNvPr id="517" name="Shape 52"/>
          <p:cNvSpPr/>
          <p:nvPr/>
        </p:nvSpPr>
        <p:spPr>
          <a:xfrm>
            <a:off x="7315200" y="2862000"/>
            <a:ext cx="2377080" cy="5115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18" name="Text 53"/>
          <p:cNvSpPr/>
          <p:nvPr/>
        </p:nvSpPr>
        <p:spPr>
          <a:xfrm>
            <a:off x="7369920" y="2930760"/>
            <a:ext cx="226728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Cierre posterior documentado.</a:t>
            </a:r>
            <a:endParaRPr lang="en-US" sz="800" b="0" u="none" strike="noStrike">
              <a:solidFill>
                <a:srgbClr val="000000"/>
              </a:solidFill>
              <a:effectLst/>
              <a:uFillTx/>
              <a:latin typeface="Arial"/>
            </a:endParaRPr>
          </a:p>
        </p:txBody>
      </p:sp>
      <p:sp>
        <p:nvSpPr>
          <p:cNvPr id="519" name="Shape 54"/>
          <p:cNvSpPr/>
          <p:nvPr/>
        </p:nvSpPr>
        <p:spPr>
          <a:xfrm>
            <a:off x="777240" y="3584520"/>
            <a:ext cx="5230080" cy="1755360"/>
          </a:xfrm>
          <a:prstGeom prst="roundRect">
            <a:avLst>
              <a:gd name="adj" fmla="val 4167"/>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520" name="Image 0" descr="/mnt/data/6464b244-9e08-432a-8ed6-79ba36a48bd7.png"/>
          <p:cNvPicPr/>
          <p:nvPr/>
        </p:nvPicPr>
        <p:blipFill>
          <a:blip r:embed="rId3"/>
          <a:stretch/>
        </p:blipFill>
        <p:spPr>
          <a:xfrm>
            <a:off x="1436040" y="3648600"/>
            <a:ext cx="3912480" cy="1316520"/>
          </a:xfrm>
          <a:prstGeom prst="rect">
            <a:avLst/>
          </a:prstGeom>
          <a:noFill/>
          <a:ln w="0">
            <a:noFill/>
          </a:ln>
        </p:spPr>
      </p:pic>
      <p:sp>
        <p:nvSpPr>
          <p:cNvPr id="521" name="Text 55"/>
          <p:cNvSpPr/>
          <p:nvPr/>
        </p:nvSpPr>
        <p:spPr>
          <a:xfrm>
            <a:off x="896040" y="5074920"/>
            <a:ext cx="49921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10" b="0" u="none" strike="noStrike">
                <a:solidFill>
                  <a:srgbClr val="6B7280"/>
                </a:solidFill>
                <a:effectLst/>
                <a:uFillTx/>
                <a:latin typeface="Aptos"/>
              </a:rPr>
              <a:t>Estado por unidad: evidencia de cierre documentado en Fast Burger.</a:t>
            </a:r>
            <a:endParaRPr lang="en-US" sz="710" b="0" u="none" strike="noStrike">
              <a:solidFill>
                <a:srgbClr val="000000"/>
              </a:solidFill>
              <a:effectLst/>
              <a:uFillTx/>
              <a:latin typeface="Arial"/>
            </a:endParaRPr>
          </a:p>
        </p:txBody>
      </p:sp>
      <p:sp>
        <p:nvSpPr>
          <p:cNvPr id="522" name="Shape 56"/>
          <p:cNvSpPr/>
          <p:nvPr/>
        </p:nvSpPr>
        <p:spPr>
          <a:xfrm>
            <a:off x="6327720" y="3584520"/>
            <a:ext cx="4525920" cy="1096920"/>
          </a:xfrm>
          <a:prstGeom prst="roundRect">
            <a:avLst>
              <a:gd name="adj" fmla="val 6667"/>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23" name="Shape 57"/>
          <p:cNvSpPr/>
          <p:nvPr/>
        </p:nvSpPr>
        <p:spPr>
          <a:xfrm>
            <a:off x="6327720" y="3584520"/>
            <a:ext cx="72720" cy="1096920"/>
          </a:xfrm>
          <a:prstGeom prst="rect">
            <a:avLst/>
          </a:prstGeom>
          <a:solidFill>
            <a:srgbClr val="D64545"/>
          </a:solidFill>
          <a:ln w="12700">
            <a:solidFill>
              <a:srgbClr val="D6454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24" name="Text 58"/>
          <p:cNvSpPr/>
          <p:nvPr/>
        </p:nvSpPr>
        <p:spPr>
          <a:xfrm>
            <a:off x="6528960" y="3730680"/>
            <a:ext cx="41968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60" b="1" u="none" strike="noStrike">
                <a:solidFill>
                  <a:srgbClr val="172033"/>
                </a:solidFill>
                <a:effectLst/>
                <a:uFillTx/>
                <a:latin typeface="Aptos"/>
              </a:rPr>
              <a:t>Respuesta</a:t>
            </a:r>
            <a:endParaRPr lang="en-US" sz="1260" b="0" u="none" strike="noStrike">
              <a:solidFill>
                <a:srgbClr val="000000"/>
              </a:solidFill>
              <a:effectLst/>
              <a:uFillTx/>
              <a:latin typeface="Arial"/>
            </a:endParaRPr>
          </a:p>
        </p:txBody>
      </p:sp>
      <p:sp>
        <p:nvSpPr>
          <p:cNvPr id="525" name="Text 59"/>
          <p:cNvSpPr/>
          <p:nvPr/>
        </p:nvSpPr>
        <p:spPr>
          <a:xfrm>
            <a:off x="6528960" y="4041720"/>
            <a:ext cx="419688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2500" lnSpcReduction="9999"/>
          </a:bodyPr>
          <a:lstStyle/>
          <a:p>
            <a:pPr defTabSz="914400">
              <a:lnSpc>
                <a:spcPct val="100000"/>
              </a:lnSpc>
              <a:tabLst>
                <a:tab pos="0" algn="l"/>
              </a:tabLst>
            </a:pPr>
            <a:r>
              <a:rPr lang="en-US" sz="1010" b="0" u="none" strike="noStrike">
                <a:solidFill>
                  <a:srgbClr val="2E3440"/>
                </a:solidFill>
                <a:effectLst/>
                <a:uFillTx/>
                <a:latin typeface="Aptos"/>
              </a:rPr>
              <a:t>La desviación se localiza comparando la línea base del cronograma contra el cierre real. En este caso no significa fracaso del proyecto: significa que el cierre ocurrió fuera del plazo planeado y fue necesario registrar corrección posterior, aprobación y cierre formal.</a:t>
            </a:r>
            <a:endParaRPr lang="en-US" sz="1010" b="0" u="none" strike="noStrike">
              <a:solidFill>
                <a:srgbClr val="000000"/>
              </a:solidFill>
              <a:effectLst/>
              <a:uFillTx/>
              <a:latin typeface="Arial"/>
            </a:endParaRPr>
          </a:p>
        </p:txBody>
      </p:sp>
      <p:sp>
        <p:nvSpPr>
          <p:cNvPr id="526" name="Shape 60"/>
          <p:cNvSpPr/>
          <p:nvPr/>
        </p:nvSpPr>
        <p:spPr>
          <a:xfrm>
            <a:off x="6327720" y="4956120"/>
            <a:ext cx="4525920" cy="529920"/>
          </a:xfrm>
          <a:prstGeom prst="roundRect">
            <a:avLst>
              <a:gd name="adj" fmla="val 13793"/>
            </a:avLst>
          </a:prstGeom>
          <a:solidFill>
            <a:srgbClr val="FFE5E5"/>
          </a:solidFill>
          <a:ln w="635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27" name="Text 61"/>
          <p:cNvSpPr/>
          <p:nvPr/>
        </p:nvSpPr>
        <p:spPr>
          <a:xfrm>
            <a:off x="6473880" y="5065920"/>
            <a:ext cx="42332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10" b="0" u="none" strike="noStrike">
                <a:solidFill>
                  <a:srgbClr val="2E3440"/>
                </a:solidFill>
                <a:effectLst/>
                <a:uFillTx/>
                <a:latin typeface="Aptos"/>
              </a:rPr>
              <a:t>Decisión PM: conservar la evidencia de desviación y cerrar únicamente cuando D6, D7 y D8 quedaron revisados.</a:t>
            </a:r>
            <a:endParaRPr lang="en-US" sz="1010" b="0" u="none" strike="noStrike">
              <a:solidFill>
                <a:srgbClr val="000000"/>
              </a:solidFill>
              <a:effectLst/>
              <a:uFillTx/>
              <a:latin typeface="Arial"/>
            </a:endParaRPr>
          </a:p>
        </p:txBody>
      </p:sp>
      <p:sp>
        <p:nvSpPr>
          <p:cNvPr id="530" name="Text 64"/>
          <p:cNvSpPr/>
          <p:nvPr/>
        </p:nvSpPr>
        <p:spPr>
          <a:xfrm>
            <a:off x="11292840" y="658368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1" u="none" strike="noStrike">
                <a:solidFill>
                  <a:srgbClr val="6B7280"/>
                </a:solidFill>
                <a:effectLst/>
                <a:uFillTx/>
                <a:latin typeface="Aptos"/>
              </a:rPr>
              <a:t>11</a:t>
            </a:r>
            <a:endParaRPr lang="en-US" sz="85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531" name="Shape 0"/>
          <p:cNvSpPr/>
          <p:nvPr/>
        </p:nvSpPr>
        <p:spPr>
          <a:xfrm>
            <a:off x="0" y="0"/>
            <a:ext cx="12191400" cy="6857640"/>
          </a:xfrm>
          <a:prstGeom prst="rect">
            <a:avLst/>
          </a:prstGeom>
          <a:solidFill>
            <a:srgbClr val="F6F8FC"/>
          </a:solidFill>
          <a:ln w="12700">
            <a:solidFill>
              <a:srgbClr val="F6F8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32" name="Text 1"/>
          <p:cNvSpPr/>
          <p:nvPr/>
        </p:nvSpPr>
        <p:spPr>
          <a:xfrm>
            <a:off x="502920" y="329040"/>
            <a:ext cx="94179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50" b="1" u="none" strike="noStrike">
                <a:solidFill>
                  <a:srgbClr val="172033"/>
                </a:solidFill>
                <a:effectLst/>
                <a:uFillTx/>
                <a:latin typeface="Aptos Display"/>
                <a:ea typeface="Aptos Display"/>
              </a:rPr>
              <a:t>Asignar recursos</a:t>
            </a:r>
            <a:endParaRPr lang="en-US" sz="2450" b="0" u="none" strike="noStrike">
              <a:solidFill>
                <a:srgbClr val="000000"/>
              </a:solidFill>
              <a:effectLst/>
              <a:uFillTx/>
              <a:latin typeface="Arial"/>
            </a:endParaRPr>
          </a:p>
        </p:txBody>
      </p:sp>
      <p:sp>
        <p:nvSpPr>
          <p:cNvPr id="533" name="Text 2"/>
          <p:cNvSpPr/>
          <p:nvPr/>
        </p:nvSpPr>
        <p:spPr>
          <a:xfrm>
            <a:off x="521280" y="749880"/>
            <a:ext cx="9692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20" b="0" u="none" strike="noStrike">
                <a:solidFill>
                  <a:srgbClr val="6B7280"/>
                </a:solidFill>
                <a:effectLst/>
                <a:uFillTx/>
                <a:latin typeface="Aptos"/>
                <a:ea typeface="Aptos"/>
              </a:rPr>
              <a:t>Casos base: REC-003 y REC-002</a:t>
            </a:r>
            <a:endParaRPr lang="en-US" sz="1020" b="0" u="none" strike="noStrike">
              <a:solidFill>
                <a:srgbClr val="000000"/>
              </a:solidFill>
              <a:effectLst/>
              <a:uFillTx/>
              <a:latin typeface="Arial"/>
            </a:endParaRPr>
          </a:p>
        </p:txBody>
      </p:sp>
      <p:sp>
        <p:nvSpPr>
          <p:cNvPr id="534" name="Shape 3"/>
          <p:cNvSpPr/>
          <p:nvPr/>
        </p:nvSpPr>
        <p:spPr>
          <a:xfrm>
            <a:off x="502920" y="1042200"/>
            <a:ext cx="11201400" cy="360"/>
          </a:xfrm>
          <a:prstGeom prst="line">
            <a:avLst/>
          </a:prstGeom>
          <a:ln w="10160">
            <a:solidFill>
              <a:srgbClr val="D7DEE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35" name="Shape 4"/>
          <p:cNvSpPr/>
          <p:nvPr/>
        </p:nvSpPr>
        <p:spPr>
          <a:xfrm>
            <a:off x="10104120" y="347400"/>
            <a:ext cx="1535760" cy="383760"/>
          </a:xfrm>
          <a:prstGeom prst="roundRect">
            <a:avLst>
              <a:gd name="adj" fmla="val 23810"/>
            </a:avLst>
          </a:prstGeom>
          <a:solidFill>
            <a:srgbClr val="172033"/>
          </a:solidFill>
          <a:ln w="12700">
            <a:solidFill>
              <a:srgbClr val="172033">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36" name="Text 5"/>
          <p:cNvSpPr/>
          <p:nvPr/>
        </p:nvSpPr>
        <p:spPr>
          <a:xfrm>
            <a:off x="10168200" y="448200"/>
            <a:ext cx="140796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39" b="1" u="none" strike="noStrike">
                <a:solidFill>
                  <a:srgbClr val="FFFFFF"/>
                </a:solidFill>
                <a:effectLst/>
                <a:uFillTx/>
                <a:latin typeface="Aptos"/>
              </a:rPr>
              <a:t>Ejercicio 8</a:t>
            </a:r>
            <a:endParaRPr lang="en-US" sz="839" b="0" u="none" strike="noStrike">
              <a:solidFill>
                <a:srgbClr val="000000"/>
              </a:solidFill>
              <a:effectLst/>
              <a:uFillTx/>
              <a:latin typeface="Arial"/>
            </a:endParaRPr>
          </a:p>
        </p:txBody>
      </p:sp>
      <p:sp>
        <p:nvSpPr>
          <p:cNvPr id="537" name="Shape 6"/>
          <p:cNvSpPr/>
          <p:nvPr/>
        </p:nvSpPr>
        <p:spPr>
          <a:xfrm>
            <a:off x="567000" y="1143000"/>
            <a:ext cx="2880000" cy="4343040"/>
          </a:xfrm>
          <a:prstGeom prst="roundRect">
            <a:avLst>
              <a:gd name="adj" fmla="val 2540"/>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538" name="Image 0" descr="/mnt/data/rec_render/rec003-1.png"/>
          <p:cNvPicPr/>
          <p:nvPr/>
        </p:nvPicPr>
        <p:blipFill>
          <a:blip r:embed="rId3"/>
          <a:stretch/>
        </p:blipFill>
        <p:spPr>
          <a:xfrm>
            <a:off x="631080" y="1378440"/>
            <a:ext cx="2751840" cy="3561480"/>
          </a:xfrm>
          <a:prstGeom prst="rect">
            <a:avLst/>
          </a:prstGeom>
          <a:noFill/>
          <a:ln w="0">
            <a:noFill/>
          </a:ln>
        </p:spPr>
      </p:pic>
      <p:sp>
        <p:nvSpPr>
          <p:cNvPr id="539" name="Text 7"/>
          <p:cNvSpPr/>
          <p:nvPr/>
        </p:nvSpPr>
        <p:spPr>
          <a:xfrm>
            <a:off x="685800" y="5221080"/>
            <a:ext cx="26424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10" b="0" u="none" strike="noStrike">
                <a:solidFill>
                  <a:srgbClr val="6B7280"/>
                </a:solidFill>
                <a:effectLst/>
                <a:uFillTx/>
                <a:latin typeface="Aptos"/>
              </a:rPr>
              <a:t>REC-003: recursos utilizados por Aarón / Fast Burger.</a:t>
            </a:r>
            <a:endParaRPr lang="en-US" sz="710" b="0" u="none" strike="noStrike">
              <a:solidFill>
                <a:srgbClr val="000000"/>
              </a:solidFill>
              <a:effectLst/>
              <a:uFillTx/>
              <a:latin typeface="Arial"/>
            </a:endParaRPr>
          </a:p>
        </p:txBody>
      </p:sp>
      <p:sp>
        <p:nvSpPr>
          <p:cNvPr id="540" name="Shape 8"/>
          <p:cNvSpPr/>
          <p:nvPr/>
        </p:nvSpPr>
        <p:spPr>
          <a:xfrm>
            <a:off x="3611880" y="1143000"/>
            <a:ext cx="2880000" cy="4343040"/>
          </a:xfrm>
          <a:prstGeom prst="roundRect">
            <a:avLst>
              <a:gd name="adj" fmla="val 2540"/>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541" name="Image 1" descr="/mnt/data/rec_render/rec002-1.png"/>
          <p:cNvPicPr/>
          <p:nvPr/>
        </p:nvPicPr>
        <p:blipFill>
          <a:blip r:embed="rId4"/>
          <a:stretch/>
        </p:blipFill>
        <p:spPr>
          <a:xfrm>
            <a:off x="3675960" y="1378440"/>
            <a:ext cx="2751840" cy="3561480"/>
          </a:xfrm>
          <a:prstGeom prst="rect">
            <a:avLst/>
          </a:prstGeom>
          <a:noFill/>
          <a:ln w="0">
            <a:noFill/>
          </a:ln>
        </p:spPr>
      </p:pic>
      <p:sp>
        <p:nvSpPr>
          <p:cNvPr id="542" name="Text 9"/>
          <p:cNvSpPr/>
          <p:nvPr/>
        </p:nvSpPr>
        <p:spPr>
          <a:xfrm>
            <a:off x="3730680" y="5221080"/>
            <a:ext cx="26424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10" b="0" u="none" strike="noStrike">
                <a:solidFill>
                  <a:srgbClr val="6B7280"/>
                </a:solidFill>
                <a:effectLst/>
                <a:uFillTx/>
                <a:latin typeface="Aptos"/>
              </a:rPr>
              <a:t>REC-002: recursos utilizados por Alondra / ProcesMuebles.</a:t>
            </a:r>
            <a:endParaRPr lang="en-US" sz="710" b="0" u="none" strike="noStrike">
              <a:solidFill>
                <a:srgbClr val="000000"/>
              </a:solidFill>
              <a:effectLst/>
              <a:uFillTx/>
              <a:latin typeface="Arial"/>
            </a:endParaRPr>
          </a:p>
        </p:txBody>
      </p:sp>
      <p:sp>
        <p:nvSpPr>
          <p:cNvPr id="543" name="Shape 10"/>
          <p:cNvSpPr/>
          <p:nvPr/>
        </p:nvSpPr>
        <p:spPr>
          <a:xfrm>
            <a:off x="6748200" y="1261800"/>
            <a:ext cx="1828440" cy="42948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44" name="Text 11"/>
          <p:cNvSpPr/>
          <p:nvPr/>
        </p:nvSpPr>
        <p:spPr>
          <a:xfrm>
            <a:off x="6803280" y="1330560"/>
            <a:ext cx="1718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1" u="none" strike="noStrike">
                <a:solidFill>
                  <a:srgbClr val="FFFFFF"/>
                </a:solidFill>
                <a:effectLst/>
                <a:uFillTx/>
                <a:latin typeface="Aptos"/>
              </a:rPr>
              <a:t>Tipo</a:t>
            </a:r>
            <a:endParaRPr lang="en-US" sz="800" b="0" u="none" strike="noStrike">
              <a:solidFill>
                <a:srgbClr val="000000"/>
              </a:solidFill>
              <a:effectLst/>
              <a:uFillTx/>
              <a:latin typeface="Arial"/>
            </a:endParaRPr>
          </a:p>
        </p:txBody>
      </p:sp>
      <p:sp>
        <p:nvSpPr>
          <p:cNvPr id="545" name="Shape 12"/>
          <p:cNvSpPr/>
          <p:nvPr/>
        </p:nvSpPr>
        <p:spPr>
          <a:xfrm>
            <a:off x="8577000" y="1261800"/>
            <a:ext cx="2468520" cy="42948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46" name="Text 13"/>
          <p:cNvSpPr/>
          <p:nvPr/>
        </p:nvSpPr>
        <p:spPr>
          <a:xfrm>
            <a:off x="8632080" y="1330560"/>
            <a:ext cx="23587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1" u="none" strike="noStrike">
                <a:solidFill>
                  <a:srgbClr val="FFFFFF"/>
                </a:solidFill>
                <a:effectLst/>
                <a:uFillTx/>
                <a:latin typeface="Aptos"/>
              </a:rPr>
              <a:t>Asignación correcta</a:t>
            </a:r>
            <a:endParaRPr lang="en-US" sz="800" b="0" u="none" strike="noStrike">
              <a:solidFill>
                <a:srgbClr val="000000"/>
              </a:solidFill>
              <a:effectLst/>
              <a:uFillTx/>
              <a:latin typeface="Arial"/>
            </a:endParaRPr>
          </a:p>
        </p:txBody>
      </p:sp>
      <p:sp>
        <p:nvSpPr>
          <p:cNvPr id="547" name="Shape 14"/>
          <p:cNvSpPr/>
          <p:nvPr/>
        </p:nvSpPr>
        <p:spPr>
          <a:xfrm>
            <a:off x="6748200" y="1691640"/>
            <a:ext cx="1828440" cy="429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8" name="Text 15"/>
          <p:cNvSpPr/>
          <p:nvPr/>
        </p:nvSpPr>
        <p:spPr>
          <a:xfrm>
            <a:off x="6803280" y="1760400"/>
            <a:ext cx="1718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Humano</a:t>
            </a:r>
            <a:endParaRPr lang="en-US" sz="770" b="0" u="none" strike="noStrike">
              <a:solidFill>
                <a:srgbClr val="000000"/>
              </a:solidFill>
              <a:effectLst/>
              <a:uFillTx/>
              <a:latin typeface="Arial"/>
            </a:endParaRPr>
          </a:p>
        </p:txBody>
      </p:sp>
      <p:sp>
        <p:nvSpPr>
          <p:cNvPr id="549" name="Shape 16"/>
          <p:cNvSpPr/>
          <p:nvPr/>
        </p:nvSpPr>
        <p:spPr>
          <a:xfrm>
            <a:off x="8577000" y="1691640"/>
            <a:ext cx="2468520" cy="429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0" name="Text 17"/>
          <p:cNvSpPr/>
          <p:nvPr/>
        </p:nvSpPr>
        <p:spPr>
          <a:xfrm>
            <a:off x="8632080" y="1760400"/>
            <a:ext cx="23587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Ejecutor del modelo + PM para revisión y control.</a:t>
            </a:r>
            <a:endParaRPr lang="en-US" sz="770" b="0" u="none" strike="noStrike">
              <a:solidFill>
                <a:srgbClr val="000000"/>
              </a:solidFill>
              <a:effectLst/>
              <a:uFillTx/>
              <a:latin typeface="Arial"/>
            </a:endParaRPr>
          </a:p>
        </p:txBody>
      </p:sp>
      <p:sp>
        <p:nvSpPr>
          <p:cNvPr id="551" name="Shape 18"/>
          <p:cNvSpPr/>
          <p:nvPr/>
        </p:nvSpPr>
        <p:spPr>
          <a:xfrm>
            <a:off x="6748200" y="2121480"/>
            <a:ext cx="1828440" cy="429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2" name="Text 19"/>
          <p:cNvSpPr/>
          <p:nvPr/>
        </p:nvSpPr>
        <p:spPr>
          <a:xfrm>
            <a:off x="6803280" y="2189880"/>
            <a:ext cx="1718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Software</a:t>
            </a:r>
            <a:endParaRPr lang="en-US" sz="770" b="0" u="none" strike="noStrike">
              <a:solidFill>
                <a:srgbClr val="000000"/>
              </a:solidFill>
              <a:effectLst/>
              <a:uFillTx/>
              <a:latin typeface="Arial"/>
            </a:endParaRPr>
          </a:p>
        </p:txBody>
      </p:sp>
      <p:sp>
        <p:nvSpPr>
          <p:cNvPr id="553" name="Shape 20"/>
          <p:cNvSpPr/>
          <p:nvPr/>
        </p:nvSpPr>
        <p:spPr>
          <a:xfrm>
            <a:off x="8577000" y="2121480"/>
            <a:ext cx="2468520" cy="429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4" name="Text 21"/>
          <p:cNvSpPr/>
          <p:nvPr/>
        </p:nvSpPr>
        <p:spPr>
          <a:xfrm>
            <a:off x="8632080" y="2189880"/>
            <a:ext cx="23587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Bizagi para BPMN/simulación; Word/PDF para expediente.</a:t>
            </a:r>
            <a:endParaRPr lang="en-US" sz="770" b="0" u="none" strike="noStrike">
              <a:solidFill>
                <a:srgbClr val="000000"/>
              </a:solidFill>
              <a:effectLst/>
              <a:uFillTx/>
              <a:latin typeface="Arial"/>
            </a:endParaRPr>
          </a:p>
        </p:txBody>
      </p:sp>
      <p:sp>
        <p:nvSpPr>
          <p:cNvPr id="555" name="Shape 22"/>
          <p:cNvSpPr/>
          <p:nvPr/>
        </p:nvSpPr>
        <p:spPr>
          <a:xfrm>
            <a:off x="6748200" y="2551320"/>
            <a:ext cx="1828440" cy="429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6" name="Text 23"/>
          <p:cNvSpPr/>
          <p:nvPr/>
        </p:nvSpPr>
        <p:spPr>
          <a:xfrm>
            <a:off x="6803280" y="2619720"/>
            <a:ext cx="1718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Análisis</a:t>
            </a:r>
            <a:endParaRPr lang="en-US" sz="770" b="0" u="none" strike="noStrike">
              <a:solidFill>
                <a:srgbClr val="000000"/>
              </a:solidFill>
              <a:effectLst/>
              <a:uFillTx/>
              <a:latin typeface="Arial"/>
            </a:endParaRPr>
          </a:p>
        </p:txBody>
      </p:sp>
      <p:sp>
        <p:nvSpPr>
          <p:cNvPr id="557" name="Shape 24"/>
          <p:cNvSpPr/>
          <p:nvPr/>
        </p:nvSpPr>
        <p:spPr>
          <a:xfrm>
            <a:off x="8577000" y="2551320"/>
            <a:ext cx="2468520" cy="429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8" name="Text 25"/>
          <p:cNvSpPr/>
          <p:nvPr/>
        </p:nvSpPr>
        <p:spPr>
          <a:xfrm>
            <a:off x="8632080" y="2619720"/>
            <a:ext cx="23587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Excel para resultados y comparaciones.</a:t>
            </a:r>
            <a:endParaRPr lang="en-US" sz="770" b="0" u="none" strike="noStrike">
              <a:solidFill>
                <a:srgbClr val="000000"/>
              </a:solidFill>
              <a:effectLst/>
              <a:uFillTx/>
              <a:latin typeface="Arial"/>
            </a:endParaRPr>
          </a:p>
        </p:txBody>
      </p:sp>
      <p:sp>
        <p:nvSpPr>
          <p:cNvPr id="559" name="Shape 26"/>
          <p:cNvSpPr/>
          <p:nvPr/>
        </p:nvSpPr>
        <p:spPr>
          <a:xfrm>
            <a:off x="6748200" y="2980800"/>
            <a:ext cx="1828440" cy="429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60" name="Text 27"/>
          <p:cNvSpPr/>
          <p:nvPr/>
        </p:nvSpPr>
        <p:spPr>
          <a:xfrm>
            <a:off x="6803280" y="3049560"/>
            <a:ext cx="1718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Comunicación</a:t>
            </a:r>
            <a:endParaRPr lang="en-US" sz="770" b="0" u="none" strike="noStrike">
              <a:solidFill>
                <a:srgbClr val="000000"/>
              </a:solidFill>
              <a:effectLst/>
              <a:uFillTx/>
              <a:latin typeface="Arial"/>
            </a:endParaRPr>
          </a:p>
        </p:txBody>
      </p:sp>
      <p:sp>
        <p:nvSpPr>
          <p:cNvPr id="561" name="Shape 28"/>
          <p:cNvSpPr/>
          <p:nvPr/>
        </p:nvSpPr>
        <p:spPr>
          <a:xfrm>
            <a:off x="8577000" y="2980800"/>
            <a:ext cx="2468520" cy="429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62" name="Text 29"/>
          <p:cNvSpPr/>
          <p:nvPr/>
        </p:nvSpPr>
        <p:spPr>
          <a:xfrm>
            <a:off x="8632080" y="3049560"/>
            <a:ext cx="23587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WhatsApp para avances y evidencia.</a:t>
            </a:r>
            <a:endParaRPr lang="en-US" sz="770" b="0" u="none" strike="noStrike">
              <a:solidFill>
                <a:srgbClr val="000000"/>
              </a:solidFill>
              <a:effectLst/>
              <a:uFillTx/>
              <a:latin typeface="Arial"/>
            </a:endParaRPr>
          </a:p>
        </p:txBody>
      </p:sp>
      <p:sp>
        <p:nvSpPr>
          <p:cNvPr id="563" name="Shape 30"/>
          <p:cNvSpPr/>
          <p:nvPr/>
        </p:nvSpPr>
        <p:spPr>
          <a:xfrm>
            <a:off x="6748200" y="3410640"/>
            <a:ext cx="1828440" cy="429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64" name="Text 31"/>
          <p:cNvSpPr/>
          <p:nvPr/>
        </p:nvSpPr>
        <p:spPr>
          <a:xfrm>
            <a:off x="6803280" y="3479400"/>
            <a:ext cx="1718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Gestión</a:t>
            </a:r>
            <a:endParaRPr lang="en-US" sz="770" b="0" u="none" strike="noStrike">
              <a:solidFill>
                <a:srgbClr val="000000"/>
              </a:solidFill>
              <a:effectLst/>
              <a:uFillTx/>
              <a:latin typeface="Arial"/>
            </a:endParaRPr>
          </a:p>
        </p:txBody>
      </p:sp>
      <p:sp>
        <p:nvSpPr>
          <p:cNvPr id="565" name="Shape 32"/>
          <p:cNvSpPr/>
          <p:nvPr/>
        </p:nvSpPr>
        <p:spPr>
          <a:xfrm>
            <a:off x="8577000" y="3410640"/>
            <a:ext cx="2468520" cy="429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66" name="Text 33"/>
          <p:cNvSpPr/>
          <p:nvPr/>
        </p:nvSpPr>
        <p:spPr>
          <a:xfrm>
            <a:off x="8632080" y="3479400"/>
            <a:ext cx="23587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70" b="0" u="none" strike="noStrike">
                <a:solidFill>
                  <a:srgbClr val="2E3440"/>
                </a:solidFill>
                <a:effectLst/>
                <a:uFillTx/>
                <a:latin typeface="Aptos"/>
              </a:rPr>
              <a:t>Trello / ClickUp para seguimiento.</a:t>
            </a:r>
            <a:endParaRPr lang="en-US" sz="770" b="0" u="none" strike="noStrike">
              <a:solidFill>
                <a:srgbClr val="000000"/>
              </a:solidFill>
              <a:effectLst/>
              <a:uFillTx/>
              <a:latin typeface="Arial"/>
            </a:endParaRPr>
          </a:p>
        </p:txBody>
      </p:sp>
      <p:sp>
        <p:nvSpPr>
          <p:cNvPr id="567" name="Shape 34"/>
          <p:cNvSpPr/>
          <p:nvPr/>
        </p:nvSpPr>
        <p:spPr>
          <a:xfrm>
            <a:off x="6748200" y="4370760"/>
            <a:ext cx="4297320" cy="749520"/>
          </a:xfrm>
          <a:prstGeom prst="roundRect">
            <a:avLst>
              <a:gd name="adj" fmla="val 9756"/>
            </a:avLst>
          </a:prstGeom>
          <a:solidFill>
            <a:srgbClr val="DDF7EA"/>
          </a:solidFill>
          <a:ln w="635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68" name="Text 35"/>
          <p:cNvSpPr/>
          <p:nvPr/>
        </p:nvSpPr>
        <p:spPr>
          <a:xfrm>
            <a:off x="6894720" y="4480560"/>
            <a:ext cx="40046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10" b="0" u="none" strike="noStrike" dirty="0">
                <a:solidFill>
                  <a:srgbClr val="2E3440"/>
                </a:solidFill>
                <a:effectLst/>
                <a:uFillTx/>
                <a:latin typeface="Aptos"/>
              </a:rPr>
              <a:t>Los </a:t>
            </a:r>
            <a:r>
              <a:rPr lang="en-US" sz="1010" b="0" u="none" strike="noStrike" dirty="0" err="1">
                <a:solidFill>
                  <a:srgbClr val="2E3440"/>
                </a:solidFill>
                <a:effectLst/>
                <a:uFillTx/>
                <a:latin typeface="Aptos"/>
              </a:rPr>
              <a:t>recursos</a:t>
            </a:r>
            <a:r>
              <a:rPr lang="en-US" sz="1010" b="0" u="none" strike="noStrike" dirty="0">
                <a:solidFill>
                  <a:srgbClr val="2E3440"/>
                </a:solidFill>
                <a:effectLst/>
                <a:uFillTx/>
                <a:latin typeface="Aptos"/>
              </a:rPr>
              <a:t> se </a:t>
            </a:r>
            <a:r>
              <a:rPr lang="en-US" sz="1010" b="0" u="none" strike="noStrike" dirty="0" err="1">
                <a:solidFill>
                  <a:srgbClr val="2E3440"/>
                </a:solidFill>
                <a:effectLst/>
                <a:uFillTx/>
                <a:latin typeface="Aptos"/>
              </a:rPr>
              <a:t>asignan</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según</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función</a:t>
            </a:r>
            <a:r>
              <a:rPr lang="en-US" sz="1010" b="0" u="none" strike="noStrike" dirty="0">
                <a:solidFill>
                  <a:srgbClr val="2E3440"/>
                </a:solidFill>
                <a:effectLst/>
                <a:uFillTx/>
                <a:latin typeface="Aptos"/>
              </a:rPr>
              <a:t>, no </a:t>
            </a:r>
            <a:r>
              <a:rPr lang="en-US" sz="1010" b="0" u="none" strike="noStrike" dirty="0" err="1">
                <a:solidFill>
                  <a:srgbClr val="2E3440"/>
                </a:solidFill>
                <a:effectLst/>
                <a:uFillTx/>
                <a:latin typeface="Aptos"/>
              </a:rPr>
              <a:t>por</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disponibilidad</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genérica</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Cada</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herramienta</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debe</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tener</a:t>
            </a:r>
            <a:r>
              <a:rPr lang="en-US" sz="1010" b="0" u="none" strike="noStrike" dirty="0">
                <a:solidFill>
                  <a:srgbClr val="2E3440"/>
                </a:solidFill>
                <a:effectLst/>
                <a:uFillTx/>
                <a:latin typeface="Aptos"/>
              </a:rPr>
              <a:t> un </a:t>
            </a:r>
            <a:r>
              <a:rPr lang="en-US" sz="1010" b="0" u="none" strike="noStrike" dirty="0" err="1">
                <a:solidFill>
                  <a:srgbClr val="2E3440"/>
                </a:solidFill>
                <a:effectLst/>
                <a:uFillTx/>
                <a:latin typeface="Aptos"/>
              </a:rPr>
              <a:t>uso</a:t>
            </a:r>
            <a:r>
              <a:rPr lang="en-US" sz="1010" b="0" u="none" strike="noStrike" dirty="0">
                <a:solidFill>
                  <a:srgbClr val="2E3440"/>
                </a:solidFill>
                <a:effectLst/>
                <a:uFillTx/>
                <a:latin typeface="Aptos"/>
              </a:rPr>
              <a:t> claro </a:t>
            </a:r>
            <a:r>
              <a:rPr lang="en-US" sz="1010" b="0" u="none" strike="noStrike" dirty="0" err="1">
                <a:solidFill>
                  <a:srgbClr val="2E3440"/>
                </a:solidFill>
                <a:effectLst/>
                <a:uFillTx/>
                <a:latin typeface="Aptos"/>
              </a:rPr>
              <a:t>dentro</a:t>
            </a:r>
            <a:r>
              <a:rPr lang="en-US" sz="1010" b="0" u="none" strike="noStrike" dirty="0">
                <a:solidFill>
                  <a:srgbClr val="2E3440"/>
                </a:solidFill>
                <a:effectLst/>
                <a:uFillTx/>
                <a:latin typeface="Aptos"/>
              </a:rPr>
              <a:t> del </a:t>
            </a:r>
            <a:r>
              <a:rPr lang="en-US" sz="1010" b="0" u="none" strike="noStrike" dirty="0" err="1">
                <a:solidFill>
                  <a:srgbClr val="2E3440"/>
                </a:solidFill>
                <a:effectLst/>
                <a:uFillTx/>
                <a:latin typeface="Aptos"/>
              </a:rPr>
              <a:t>expediente</a:t>
            </a:r>
            <a:r>
              <a:rPr lang="en-US" sz="1010" b="0" u="none" strike="noStrike" dirty="0">
                <a:solidFill>
                  <a:srgbClr val="2E3440"/>
                </a:solidFill>
                <a:effectLst/>
                <a:uFillTx/>
                <a:latin typeface="Aptos"/>
              </a:rPr>
              <a:t>.</a:t>
            </a:r>
            <a:endParaRPr lang="en-US" sz="1010" b="0" u="none" strike="noStrike" dirty="0">
              <a:solidFill>
                <a:srgbClr val="000000"/>
              </a:solidFill>
              <a:effectLst/>
              <a:uFillTx/>
              <a:latin typeface="Arial"/>
            </a:endParaRPr>
          </a:p>
        </p:txBody>
      </p:sp>
      <p:sp>
        <p:nvSpPr>
          <p:cNvPr id="571" name="Text 38"/>
          <p:cNvSpPr/>
          <p:nvPr/>
        </p:nvSpPr>
        <p:spPr>
          <a:xfrm>
            <a:off x="11292840" y="658368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1" u="none" strike="noStrike">
                <a:solidFill>
                  <a:srgbClr val="6B7280"/>
                </a:solidFill>
                <a:effectLst/>
                <a:uFillTx/>
                <a:latin typeface="Aptos"/>
              </a:rPr>
              <a:t>12</a:t>
            </a:r>
            <a:endParaRPr lang="en-US" sz="85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572" name="Shape 0"/>
          <p:cNvSpPr/>
          <p:nvPr/>
        </p:nvSpPr>
        <p:spPr>
          <a:xfrm>
            <a:off x="0" y="0"/>
            <a:ext cx="12191400" cy="6857640"/>
          </a:xfrm>
          <a:prstGeom prst="rect">
            <a:avLst/>
          </a:prstGeom>
          <a:solidFill>
            <a:srgbClr val="F6F8FC"/>
          </a:solidFill>
          <a:ln w="12700">
            <a:solidFill>
              <a:srgbClr val="F6F8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73" name="Text 1"/>
          <p:cNvSpPr/>
          <p:nvPr/>
        </p:nvSpPr>
        <p:spPr>
          <a:xfrm>
            <a:off x="502920" y="329040"/>
            <a:ext cx="94179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50" b="1" u="none" strike="noStrike">
                <a:solidFill>
                  <a:srgbClr val="172033"/>
                </a:solidFill>
                <a:effectLst/>
                <a:uFillTx/>
                <a:latin typeface="Aptos Display"/>
                <a:ea typeface="Aptos Display"/>
              </a:rPr>
              <a:t>Identificar sobrecarga o conflicto de recursos</a:t>
            </a:r>
            <a:endParaRPr lang="en-US" sz="2450" b="0" u="none" strike="noStrike">
              <a:solidFill>
                <a:srgbClr val="000000"/>
              </a:solidFill>
              <a:effectLst/>
              <a:uFillTx/>
              <a:latin typeface="Arial"/>
            </a:endParaRPr>
          </a:p>
        </p:txBody>
      </p:sp>
      <p:sp>
        <p:nvSpPr>
          <p:cNvPr id="574" name="Text 2"/>
          <p:cNvSpPr/>
          <p:nvPr/>
        </p:nvSpPr>
        <p:spPr>
          <a:xfrm>
            <a:off x="521280" y="749880"/>
            <a:ext cx="9692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20" b="0" u="none" strike="noStrike">
                <a:solidFill>
                  <a:srgbClr val="6B7280"/>
                </a:solidFill>
                <a:effectLst/>
                <a:uFillTx/>
                <a:latin typeface="Aptos"/>
                <a:ea typeface="Aptos"/>
              </a:rPr>
              <a:t>Caso base: ProcesMuebles</a:t>
            </a:r>
            <a:endParaRPr lang="en-US" sz="1020" b="0" u="none" strike="noStrike">
              <a:solidFill>
                <a:srgbClr val="000000"/>
              </a:solidFill>
              <a:effectLst/>
              <a:uFillTx/>
              <a:latin typeface="Arial"/>
            </a:endParaRPr>
          </a:p>
        </p:txBody>
      </p:sp>
      <p:sp>
        <p:nvSpPr>
          <p:cNvPr id="576" name="Shape 4"/>
          <p:cNvSpPr/>
          <p:nvPr/>
        </p:nvSpPr>
        <p:spPr>
          <a:xfrm>
            <a:off x="10104120" y="347400"/>
            <a:ext cx="1535760" cy="383760"/>
          </a:xfrm>
          <a:prstGeom prst="roundRect">
            <a:avLst>
              <a:gd name="adj" fmla="val 23810"/>
            </a:avLst>
          </a:prstGeom>
          <a:solidFill>
            <a:srgbClr val="172033"/>
          </a:solidFill>
          <a:ln w="12700">
            <a:solidFill>
              <a:srgbClr val="172033">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77" name="Text 5"/>
          <p:cNvSpPr/>
          <p:nvPr/>
        </p:nvSpPr>
        <p:spPr>
          <a:xfrm>
            <a:off x="10168200" y="448200"/>
            <a:ext cx="140796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39" b="1" u="none" strike="noStrike">
                <a:solidFill>
                  <a:srgbClr val="FFFFFF"/>
                </a:solidFill>
                <a:effectLst/>
                <a:uFillTx/>
                <a:latin typeface="Aptos"/>
              </a:rPr>
              <a:t>Ejercicio 9</a:t>
            </a:r>
            <a:endParaRPr lang="en-US" sz="839" b="0" u="none" strike="noStrike">
              <a:solidFill>
                <a:srgbClr val="000000"/>
              </a:solidFill>
              <a:effectLst/>
              <a:uFillTx/>
              <a:latin typeface="Arial"/>
            </a:endParaRPr>
          </a:p>
        </p:txBody>
      </p:sp>
      <p:sp>
        <p:nvSpPr>
          <p:cNvPr id="578" name="Shape 6"/>
          <p:cNvSpPr/>
          <p:nvPr/>
        </p:nvSpPr>
        <p:spPr>
          <a:xfrm>
            <a:off x="567000" y="1170360"/>
            <a:ext cx="4754520" cy="4114440"/>
          </a:xfrm>
          <a:prstGeom prst="roundRect">
            <a:avLst>
              <a:gd name="adj" fmla="val 1778"/>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579" name="Image 0" descr="/mnt/data/94b1df48-a063-406b-b2e3-402832acf9a6.png"/>
          <p:cNvPicPr/>
          <p:nvPr/>
        </p:nvPicPr>
        <p:blipFill>
          <a:blip r:embed="rId3"/>
          <a:srcRect l="16151" r="16151"/>
          <a:stretch/>
        </p:blipFill>
        <p:spPr>
          <a:xfrm>
            <a:off x="631080" y="1234440"/>
            <a:ext cx="4626360" cy="3675600"/>
          </a:xfrm>
          <a:prstGeom prst="rect">
            <a:avLst/>
          </a:prstGeom>
          <a:noFill/>
          <a:ln w="0">
            <a:noFill/>
          </a:ln>
        </p:spPr>
      </p:pic>
      <p:sp>
        <p:nvSpPr>
          <p:cNvPr id="580" name="Text 7"/>
          <p:cNvSpPr/>
          <p:nvPr/>
        </p:nvSpPr>
        <p:spPr>
          <a:xfrm>
            <a:off x="685800" y="5020200"/>
            <a:ext cx="45169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10" b="0" u="none" strike="noStrike">
                <a:solidFill>
                  <a:srgbClr val="6B7280"/>
                </a:solidFill>
                <a:effectLst/>
                <a:uFillTx/>
                <a:latin typeface="Aptos"/>
              </a:rPr>
              <a:t>ClickUp: D1–D5 en curso/revisión y D6–D8 pendientes.</a:t>
            </a:r>
            <a:endParaRPr lang="en-US" sz="710" b="0" u="none" strike="noStrike">
              <a:solidFill>
                <a:srgbClr val="000000"/>
              </a:solidFill>
              <a:effectLst/>
              <a:uFillTx/>
              <a:latin typeface="Arial"/>
            </a:endParaRPr>
          </a:p>
        </p:txBody>
      </p:sp>
      <p:sp>
        <p:nvSpPr>
          <p:cNvPr id="581" name="Shape 8"/>
          <p:cNvSpPr/>
          <p:nvPr/>
        </p:nvSpPr>
        <p:spPr>
          <a:xfrm>
            <a:off x="5623560" y="1234440"/>
            <a:ext cx="5166000" cy="1142640"/>
          </a:xfrm>
          <a:prstGeom prst="roundRect">
            <a:avLst>
              <a:gd name="adj" fmla="val 6400"/>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82" name="Shape 9"/>
          <p:cNvSpPr/>
          <p:nvPr/>
        </p:nvSpPr>
        <p:spPr>
          <a:xfrm>
            <a:off x="5623560" y="1234440"/>
            <a:ext cx="72720" cy="1142640"/>
          </a:xfrm>
          <a:prstGeom prst="rect">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83" name="Text 10"/>
          <p:cNvSpPr/>
          <p:nvPr/>
        </p:nvSpPr>
        <p:spPr>
          <a:xfrm>
            <a:off x="5824800" y="1380600"/>
            <a:ext cx="48369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60" b="1" u="none" strike="noStrike">
                <a:solidFill>
                  <a:srgbClr val="172033"/>
                </a:solidFill>
                <a:effectLst/>
                <a:uFillTx/>
                <a:latin typeface="Aptos"/>
              </a:rPr>
              <a:t>Planteamiento</a:t>
            </a:r>
            <a:endParaRPr lang="en-US" sz="1260" b="0" u="none" strike="noStrike">
              <a:solidFill>
                <a:srgbClr val="000000"/>
              </a:solidFill>
              <a:effectLst/>
              <a:uFillTx/>
              <a:latin typeface="Arial"/>
            </a:endParaRPr>
          </a:p>
        </p:txBody>
      </p:sp>
      <p:sp>
        <p:nvSpPr>
          <p:cNvPr id="584" name="Text 11"/>
          <p:cNvSpPr/>
          <p:nvPr/>
        </p:nvSpPr>
        <p:spPr>
          <a:xfrm>
            <a:off x="5824800" y="1691640"/>
            <a:ext cx="483696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010" b="0" u="none" strike="noStrike">
                <a:solidFill>
                  <a:srgbClr val="2E3440"/>
                </a:solidFill>
                <a:effectLst/>
                <a:uFillTx/>
                <a:latin typeface="Aptos"/>
              </a:rPr>
              <a:t>Alondra concentra varias tareas con prioridad alta y algunas requieren corrección antes de continuar. Si D2–D5 no quedan estables, D6 no puede analizar escenarios con una línea base confiable.</a:t>
            </a:r>
            <a:endParaRPr lang="en-US" sz="1010" b="0" u="none" strike="noStrike">
              <a:solidFill>
                <a:srgbClr val="000000"/>
              </a:solidFill>
              <a:effectLst/>
              <a:uFillTx/>
              <a:latin typeface="Arial"/>
            </a:endParaRPr>
          </a:p>
        </p:txBody>
      </p:sp>
      <p:sp>
        <p:nvSpPr>
          <p:cNvPr id="585" name="Shape 12"/>
          <p:cNvSpPr/>
          <p:nvPr/>
        </p:nvSpPr>
        <p:spPr>
          <a:xfrm>
            <a:off x="5623560" y="2697480"/>
            <a:ext cx="1828440" cy="48420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86" name="Text 13"/>
          <p:cNvSpPr/>
          <p:nvPr/>
        </p:nvSpPr>
        <p:spPr>
          <a:xfrm>
            <a:off x="5678280" y="2766240"/>
            <a:ext cx="171864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30" b="1" u="none" strike="noStrike">
                <a:solidFill>
                  <a:srgbClr val="FFFFFF"/>
                </a:solidFill>
                <a:effectLst/>
                <a:uFillTx/>
                <a:latin typeface="Aptos"/>
              </a:rPr>
              <a:t>Conflicto</a:t>
            </a:r>
            <a:endParaRPr lang="en-US" sz="830" b="0" u="none" strike="noStrike">
              <a:solidFill>
                <a:srgbClr val="000000"/>
              </a:solidFill>
              <a:effectLst/>
              <a:uFillTx/>
              <a:latin typeface="Arial"/>
            </a:endParaRPr>
          </a:p>
        </p:txBody>
      </p:sp>
      <p:sp>
        <p:nvSpPr>
          <p:cNvPr id="587" name="Shape 14"/>
          <p:cNvSpPr/>
          <p:nvPr/>
        </p:nvSpPr>
        <p:spPr>
          <a:xfrm>
            <a:off x="7452360" y="2697480"/>
            <a:ext cx="3337200" cy="48420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88" name="Text 15"/>
          <p:cNvSpPr/>
          <p:nvPr/>
        </p:nvSpPr>
        <p:spPr>
          <a:xfrm>
            <a:off x="7507080" y="2766240"/>
            <a:ext cx="322740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30" b="1" u="none" strike="noStrike">
                <a:solidFill>
                  <a:srgbClr val="FFFFFF"/>
                </a:solidFill>
                <a:effectLst/>
                <a:uFillTx/>
                <a:latin typeface="Aptos"/>
              </a:rPr>
              <a:t>Respuesta</a:t>
            </a:r>
            <a:endParaRPr lang="en-US" sz="830" b="0" u="none" strike="noStrike">
              <a:solidFill>
                <a:srgbClr val="000000"/>
              </a:solidFill>
              <a:effectLst/>
              <a:uFillTx/>
              <a:latin typeface="Arial"/>
            </a:endParaRPr>
          </a:p>
        </p:txBody>
      </p:sp>
      <p:sp>
        <p:nvSpPr>
          <p:cNvPr id="589" name="Shape 16"/>
          <p:cNvSpPr/>
          <p:nvPr/>
        </p:nvSpPr>
        <p:spPr>
          <a:xfrm>
            <a:off x="5623560" y="3182040"/>
            <a:ext cx="1828440" cy="4842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90" name="Text 17"/>
          <p:cNvSpPr/>
          <p:nvPr/>
        </p:nvSpPr>
        <p:spPr>
          <a:xfrm>
            <a:off x="5678280" y="3250800"/>
            <a:ext cx="171864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Dependencia técnica</a:t>
            </a:r>
            <a:endParaRPr lang="en-US" sz="800" b="0" u="none" strike="noStrike">
              <a:solidFill>
                <a:srgbClr val="000000"/>
              </a:solidFill>
              <a:effectLst/>
              <a:uFillTx/>
              <a:latin typeface="Arial"/>
            </a:endParaRPr>
          </a:p>
        </p:txBody>
      </p:sp>
      <p:sp>
        <p:nvSpPr>
          <p:cNvPr id="591" name="Shape 18"/>
          <p:cNvSpPr/>
          <p:nvPr/>
        </p:nvSpPr>
        <p:spPr>
          <a:xfrm>
            <a:off x="7452360" y="3182040"/>
            <a:ext cx="3337200" cy="4842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92" name="Text 19"/>
          <p:cNvSpPr/>
          <p:nvPr/>
        </p:nvSpPr>
        <p:spPr>
          <a:xfrm>
            <a:off x="7507080" y="3250800"/>
            <a:ext cx="322740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D6 depende de corregir D2–D5.</a:t>
            </a:r>
            <a:endParaRPr lang="en-US" sz="800" b="0" u="none" strike="noStrike">
              <a:solidFill>
                <a:srgbClr val="000000"/>
              </a:solidFill>
              <a:effectLst/>
              <a:uFillTx/>
              <a:latin typeface="Arial"/>
            </a:endParaRPr>
          </a:p>
        </p:txBody>
      </p:sp>
      <p:sp>
        <p:nvSpPr>
          <p:cNvPr id="593" name="Shape 20"/>
          <p:cNvSpPr/>
          <p:nvPr/>
        </p:nvSpPr>
        <p:spPr>
          <a:xfrm>
            <a:off x="5623560" y="3666600"/>
            <a:ext cx="1828440" cy="4842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94" name="Text 21"/>
          <p:cNvSpPr/>
          <p:nvPr/>
        </p:nvSpPr>
        <p:spPr>
          <a:xfrm>
            <a:off x="5678280" y="3735360"/>
            <a:ext cx="171864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Un solo ejecutor</a:t>
            </a:r>
            <a:endParaRPr lang="en-US" sz="800" b="0" u="none" strike="noStrike">
              <a:solidFill>
                <a:srgbClr val="000000"/>
              </a:solidFill>
              <a:effectLst/>
              <a:uFillTx/>
              <a:latin typeface="Arial"/>
            </a:endParaRPr>
          </a:p>
        </p:txBody>
      </p:sp>
      <p:sp>
        <p:nvSpPr>
          <p:cNvPr id="595" name="Shape 22"/>
          <p:cNvSpPr/>
          <p:nvPr/>
        </p:nvSpPr>
        <p:spPr>
          <a:xfrm>
            <a:off x="7452360" y="3666600"/>
            <a:ext cx="3337200" cy="4842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96" name="Text 23"/>
          <p:cNvSpPr/>
          <p:nvPr/>
        </p:nvSpPr>
        <p:spPr>
          <a:xfrm>
            <a:off x="7507080" y="3735360"/>
            <a:ext cx="322740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No conviene abrir D7–D8 sin validar D6.</a:t>
            </a:r>
            <a:endParaRPr lang="en-US" sz="800" b="0" u="none" strike="noStrike">
              <a:solidFill>
                <a:srgbClr val="000000"/>
              </a:solidFill>
              <a:effectLst/>
              <a:uFillTx/>
              <a:latin typeface="Arial"/>
            </a:endParaRPr>
          </a:p>
        </p:txBody>
      </p:sp>
      <p:sp>
        <p:nvSpPr>
          <p:cNvPr id="597" name="Shape 24"/>
          <p:cNvSpPr/>
          <p:nvPr/>
        </p:nvSpPr>
        <p:spPr>
          <a:xfrm>
            <a:off x="5623560" y="4151520"/>
            <a:ext cx="1828440" cy="4842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98" name="Text 25"/>
          <p:cNvSpPr/>
          <p:nvPr/>
        </p:nvSpPr>
        <p:spPr>
          <a:xfrm>
            <a:off x="5678280" y="4219920"/>
            <a:ext cx="171864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Prioridad alta</a:t>
            </a:r>
            <a:endParaRPr lang="en-US" sz="800" b="0" u="none" strike="noStrike">
              <a:solidFill>
                <a:srgbClr val="000000"/>
              </a:solidFill>
              <a:effectLst/>
              <a:uFillTx/>
              <a:latin typeface="Arial"/>
            </a:endParaRPr>
          </a:p>
        </p:txBody>
      </p:sp>
      <p:sp>
        <p:nvSpPr>
          <p:cNvPr id="599" name="Shape 26"/>
          <p:cNvSpPr/>
          <p:nvPr/>
        </p:nvSpPr>
        <p:spPr>
          <a:xfrm>
            <a:off x="7452360" y="4151520"/>
            <a:ext cx="3337200" cy="48420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00" name="Text 27"/>
          <p:cNvSpPr/>
          <p:nvPr/>
        </p:nvSpPr>
        <p:spPr>
          <a:xfrm>
            <a:off x="7507080" y="4219920"/>
            <a:ext cx="322740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Se atiende primero lo que desbloquea la línea base.</a:t>
            </a:r>
            <a:endParaRPr lang="en-US" sz="800" b="0" u="none" strike="noStrike">
              <a:solidFill>
                <a:srgbClr val="000000"/>
              </a:solidFill>
              <a:effectLst/>
              <a:uFillTx/>
              <a:latin typeface="Arial"/>
            </a:endParaRPr>
          </a:p>
        </p:txBody>
      </p:sp>
      <p:sp>
        <p:nvSpPr>
          <p:cNvPr id="601" name="Shape 28"/>
          <p:cNvSpPr/>
          <p:nvPr/>
        </p:nvSpPr>
        <p:spPr>
          <a:xfrm>
            <a:off x="5623560" y="4892040"/>
            <a:ext cx="5166000" cy="658080"/>
          </a:xfrm>
          <a:prstGeom prst="roundRect">
            <a:avLst>
              <a:gd name="adj" fmla="val 11111"/>
            </a:avLst>
          </a:prstGeom>
          <a:solidFill>
            <a:srgbClr val="FFF1D6"/>
          </a:solidFill>
          <a:ln w="635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02" name="Text 29"/>
          <p:cNvSpPr/>
          <p:nvPr/>
        </p:nvSpPr>
        <p:spPr>
          <a:xfrm>
            <a:off x="5769720" y="5001840"/>
            <a:ext cx="48733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10" b="0" u="none" strike="noStrike">
                <a:solidFill>
                  <a:srgbClr val="2E3440"/>
                </a:solidFill>
                <a:effectLst/>
                <a:uFillTx/>
                <a:latin typeface="Aptos"/>
              </a:rPr>
              <a:t>Decisión PM: reordenar el trabajo. Primero corregir D2–D5, después aprobar línea base, luego continuar con D6, D7 y D8.</a:t>
            </a:r>
            <a:endParaRPr lang="en-US" sz="1010" b="0" u="none" strike="noStrike">
              <a:solidFill>
                <a:srgbClr val="000000"/>
              </a:solidFill>
              <a:effectLst/>
              <a:uFillTx/>
              <a:latin typeface="Arial"/>
            </a:endParaRPr>
          </a:p>
        </p:txBody>
      </p:sp>
      <p:sp>
        <p:nvSpPr>
          <p:cNvPr id="605" name="Text 32"/>
          <p:cNvSpPr/>
          <p:nvPr/>
        </p:nvSpPr>
        <p:spPr>
          <a:xfrm>
            <a:off x="11292840" y="658368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1" u="none" strike="noStrike">
                <a:solidFill>
                  <a:srgbClr val="6B7280"/>
                </a:solidFill>
                <a:effectLst/>
                <a:uFillTx/>
                <a:latin typeface="Aptos"/>
              </a:rPr>
              <a:t>13</a:t>
            </a:r>
            <a:endParaRPr lang="en-US" sz="85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606" name="Shape 0"/>
          <p:cNvSpPr/>
          <p:nvPr/>
        </p:nvSpPr>
        <p:spPr>
          <a:xfrm>
            <a:off x="0" y="0"/>
            <a:ext cx="12191400" cy="6857640"/>
          </a:xfrm>
          <a:prstGeom prst="rect">
            <a:avLst/>
          </a:prstGeom>
          <a:solidFill>
            <a:srgbClr val="F6F8FC"/>
          </a:solidFill>
          <a:ln w="12700">
            <a:solidFill>
              <a:srgbClr val="F6F8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07" name="Text 1"/>
          <p:cNvSpPr/>
          <p:nvPr/>
        </p:nvSpPr>
        <p:spPr>
          <a:xfrm>
            <a:off x="502920" y="329040"/>
            <a:ext cx="94179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50" b="1" u="none" strike="noStrike">
                <a:solidFill>
                  <a:srgbClr val="172033"/>
                </a:solidFill>
                <a:effectLst/>
                <a:uFillTx/>
                <a:latin typeface="Aptos Display"/>
                <a:ea typeface="Aptos Display"/>
              </a:rPr>
              <a:t>Estimar recursos y costos</a:t>
            </a:r>
            <a:endParaRPr lang="en-US" sz="2450" b="0" u="none" strike="noStrike">
              <a:solidFill>
                <a:srgbClr val="000000"/>
              </a:solidFill>
              <a:effectLst/>
              <a:uFillTx/>
              <a:latin typeface="Arial"/>
            </a:endParaRPr>
          </a:p>
        </p:txBody>
      </p:sp>
      <p:sp>
        <p:nvSpPr>
          <p:cNvPr id="608" name="Text 2"/>
          <p:cNvSpPr/>
          <p:nvPr/>
        </p:nvSpPr>
        <p:spPr>
          <a:xfrm>
            <a:off x="521280" y="749880"/>
            <a:ext cx="9692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20" b="0" u="none" strike="noStrike">
                <a:solidFill>
                  <a:srgbClr val="6B7280"/>
                </a:solidFill>
                <a:effectLst/>
                <a:uFillTx/>
                <a:latin typeface="Aptos"/>
                <a:ea typeface="Aptos"/>
              </a:rPr>
              <a:t>Estimación sin inventar presupuesto</a:t>
            </a:r>
            <a:endParaRPr lang="en-US" sz="1020" b="0" u="none" strike="noStrike">
              <a:solidFill>
                <a:srgbClr val="000000"/>
              </a:solidFill>
              <a:effectLst/>
              <a:uFillTx/>
              <a:latin typeface="Arial"/>
            </a:endParaRPr>
          </a:p>
        </p:txBody>
      </p:sp>
      <p:sp>
        <p:nvSpPr>
          <p:cNvPr id="610" name="Shape 4"/>
          <p:cNvSpPr/>
          <p:nvPr/>
        </p:nvSpPr>
        <p:spPr>
          <a:xfrm>
            <a:off x="10104120" y="347400"/>
            <a:ext cx="1535760" cy="383760"/>
          </a:xfrm>
          <a:prstGeom prst="roundRect">
            <a:avLst>
              <a:gd name="adj" fmla="val 23810"/>
            </a:avLst>
          </a:prstGeom>
          <a:solidFill>
            <a:srgbClr val="172033"/>
          </a:solidFill>
          <a:ln w="12700">
            <a:solidFill>
              <a:srgbClr val="172033">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11" name="Text 5"/>
          <p:cNvSpPr/>
          <p:nvPr/>
        </p:nvSpPr>
        <p:spPr>
          <a:xfrm>
            <a:off x="10168200" y="448200"/>
            <a:ext cx="140796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39" b="1" u="none" strike="noStrike">
                <a:solidFill>
                  <a:srgbClr val="FFFFFF"/>
                </a:solidFill>
                <a:effectLst/>
                <a:uFillTx/>
                <a:latin typeface="Aptos"/>
              </a:rPr>
              <a:t>Ejercicio 10</a:t>
            </a:r>
            <a:endParaRPr lang="en-US" sz="839" b="0" u="none" strike="noStrike">
              <a:solidFill>
                <a:srgbClr val="000000"/>
              </a:solidFill>
              <a:effectLst/>
              <a:uFillTx/>
              <a:latin typeface="Arial"/>
            </a:endParaRPr>
          </a:p>
        </p:txBody>
      </p:sp>
      <p:sp>
        <p:nvSpPr>
          <p:cNvPr id="612" name="Shape 6"/>
          <p:cNvSpPr/>
          <p:nvPr/>
        </p:nvSpPr>
        <p:spPr>
          <a:xfrm>
            <a:off x="567000" y="1207080"/>
            <a:ext cx="2651400" cy="3565800"/>
          </a:xfrm>
          <a:prstGeom prst="roundRect">
            <a:avLst>
              <a:gd name="adj" fmla="val 2759"/>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613" name="Image 0" descr="/mnt/data/rec_render/rec003-1.png"/>
          <p:cNvPicPr/>
          <p:nvPr/>
        </p:nvPicPr>
        <p:blipFill>
          <a:blip r:embed="rId3"/>
          <a:stretch/>
        </p:blipFill>
        <p:spPr>
          <a:xfrm>
            <a:off x="684720" y="1271160"/>
            <a:ext cx="2416320" cy="3126960"/>
          </a:xfrm>
          <a:prstGeom prst="rect">
            <a:avLst/>
          </a:prstGeom>
          <a:noFill/>
          <a:ln w="0">
            <a:noFill/>
          </a:ln>
        </p:spPr>
      </p:pic>
      <p:sp>
        <p:nvSpPr>
          <p:cNvPr id="614" name="Text 7"/>
          <p:cNvSpPr/>
          <p:nvPr/>
        </p:nvSpPr>
        <p:spPr>
          <a:xfrm>
            <a:off x="685800" y="4507920"/>
            <a:ext cx="241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10" b="0" u="none" strike="noStrike">
                <a:solidFill>
                  <a:srgbClr val="6B7280"/>
                </a:solidFill>
                <a:effectLst/>
                <a:uFillTx/>
                <a:latin typeface="Aptos"/>
              </a:rPr>
              <a:t>REC-003: indica que no hubo presupuesto formal.</a:t>
            </a:r>
            <a:endParaRPr lang="en-US" sz="710" b="0" u="none" strike="noStrike">
              <a:solidFill>
                <a:srgbClr val="000000"/>
              </a:solidFill>
              <a:effectLst/>
              <a:uFillTx/>
              <a:latin typeface="Arial"/>
            </a:endParaRPr>
          </a:p>
        </p:txBody>
      </p:sp>
      <p:sp>
        <p:nvSpPr>
          <p:cNvPr id="615" name="Shape 8"/>
          <p:cNvSpPr/>
          <p:nvPr/>
        </p:nvSpPr>
        <p:spPr>
          <a:xfrm>
            <a:off x="3401640" y="1207080"/>
            <a:ext cx="2651400" cy="3565800"/>
          </a:xfrm>
          <a:prstGeom prst="roundRect">
            <a:avLst>
              <a:gd name="adj" fmla="val 2759"/>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616" name="Image 1" descr="/mnt/data/rec_render/rec002-1.png"/>
          <p:cNvPicPr/>
          <p:nvPr/>
        </p:nvPicPr>
        <p:blipFill>
          <a:blip r:embed="rId4"/>
          <a:stretch/>
        </p:blipFill>
        <p:spPr>
          <a:xfrm>
            <a:off x="3519360" y="1271160"/>
            <a:ext cx="2416320" cy="3126960"/>
          </a:xfrm>
          <a:prstGeom prst="rect">
            <a:avLst/>
          </a:prstGeom>
          <a:noFill/>
          <a:ln w="0">
            <a:noFill/>
          </a:ln>
        </p:spPr>
      </p:pic>
      <p:sp>
        <p:nvSpPr>
          <p:cNvPr id="617" name="Text 9"/>
          <p:cNvSpPr/>
          <p:nvPr/>
        </p:nvSpPr>
        <p:spPr>
          <a:xfrm>
            <a:off x="3520440" y="4507920"/>
            <a:ext cx="241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710" b="0" u="none" strike="noStrike">
                <a:solidFill>
                  <a:srgbClr val="6B7280"/>
                </a:solidFill>
                <a:effectLst/>
                <a:uFillTx/>
                <a:latin typeface="Aptos"/>
              </a:rPr>
              <a:t>REC-002: registra recursos reales, sin montos comprobables.</a:t>
            </a:r>
            <a:endParaRPr lang="en-US" sz="710" b="0" u="none" strike="noStrike">
              <a:solidFill>
                <a:srgbClr val="000000"/>
              </a:solidFill>
              <a:effectLst/>
              <a:uFillTx/>
              <a:latin typeface="Arial"/>
            </a:endParaRPr>
          </a:p>
        </p:txBody>
      </p:sp>
      <p:sp>
        <p:nvSpPr>
          <p:cNvPr id="618" name="Shape 10"/>
          <p:cNvSpPr/>
          <p:nvPr/>
        </p:nvSpPr>
        <p:spPr>
          <a:xfrm>
            <a:off x="6355080" y="1234440"/>
            <a:ext cx="4617360" cy="1416960"/>
          </a:xfrm>
          <a:prstGeom prst="roundRect">
            <a:avLst>
              <a:gd name="adj" fmla="val 5161"/>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19" name="Shape 11"/>
          <p:cNvSpPr/>
          <p:nvPr/>
        </p:nvSpPr>
        <p:spPr>
          <a:xfrm>
            <a:off x="6355080" y="1234440"/>
            <a:ext cx="72720" cy="1416960"/>
          </a:xfrm>
          <a:prstGeom prst="rect">
            <a:avLst/>
          </a:prstGeom>
          <a:solidFill>
            <a:srgbClr val="2477C8"/>
          </a:solidFill>
          <a:ln w="12700">
            <a:solidFill>
              <a:srgbClr val="2477C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20" name="Text 12"/>
          <p:cNvSpPr/>
          <p:nvPr/>
        </p:nvSpPr>
        <p:spPr>
          <a:xfrm>
            <a:off x="6556320" y="1380600"/>
            <a:ext cx="42883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60" b="1" u="none" strike="noStrike">
                <a:solidFill>
                  <a:srgbClr val="172033"/>
                </a:solidFill>
                <a:effectLst/>
                <a:uFillTx/>
                <a:latin typeface="Aptos"/>
              </a:rPr>
              <a:t>Procedimiento</a:t>
            </a:r>
            <a:endParaRPr lang="en-US" sz="1260" b="0" u="none" strike="noStrike">
              <a:solidFill>
                <a:srgbClr val="000000"/>
              </a:solidFill>
              <a:effectLst/>
              <a:uFillTx/>
              <a:latin typeface="Arial"/>
            </a:endParaRPr>
          </a:p>
        </p:txBody>
      </p:sp>
      <p:sp>
        <p:nvSpPr>
          <p:cNvPr id="621" name="Text 13"/>
          <p:cNvSpPr/>
          <p:nvPr/>
        </p:nvSpPr>
        <p:spPr>
          <a:xfrm>
            <a:off x="6556320" y="1691640"/>
            <a:ext cx="4288320" cy="84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010" b="0" u="none" strike="noStrike">
                <a:solidFill>
                  <a:srgbClr val="2E3440"/>
                </a:solidFill>
                <a:effectLst/>
                <a:uFillTx/>
                <a:latin typeface="Aptos"/>
              </a:rPr>
              <a:t>1) Separar recursos usados de costos monetarios.</a:t>
            </a:r>
            <a:endParaRPr lang="en-US" sz="1010" b="0" u="none" strike="noStrike">
              <a:solidFill>
                <a:srgbClr val="000000"/>
              </a:solidFill>
              <a:effectLst/>
              <a:uFillTx/>
              <a:latin typeface="Arial"/>
            </a:endParaRPr>
          </a:p>
          <a:p>
            <a:pPr defTabSz="914400">
              <a:lnSpc>
                <a:spcPct val="100000"/>
              </a:lnSpc>
              <a:tabLst>
                <a:tab pos="0" algn="l"/>
              </a:tabLst>
            </a:pPr>
            <a:r>
              <a:rPr lang="en-US" sz="1010" b="0" u="none" strike="noStrike">
                <a:solidFill>
                  <a:srgbClr val="2E3440"/>
                </a:solidFill>
                <a:effectLst/>
                <a:uFillTx/>
                <a:latin typeface="Aptos"/>
              </a:rPr>
              <a:t>2) Registrar costos comprobables, si existen.</a:t>
            </a:r>
            <a:endParaRPr lang="en-US" sz="1010" b="0" u="none" strike="noStrike">
              <a:solidFill>
                <a:srgbClr val="000000"/>
              </a:solidFill>
              <a:effectLst/>
              <a:uFillTx/>
              <a:latin typeface="Arial"/>
            </a:endParaRPr>
          </a:p>
          <a:p>
            <a:pPr defTabSz="914400">
              <a:lnSpc>
                <a:spcPct val="100000"/>
              </a:lnSpc>
              <a:tabLst>
                <a:tab pos="0" algn="l"/>
              </a:tabLst>
            </a:pPr>
            <a:r>
              <a:rPr lang="en-US" sz="1010" b="0" u="none" strike="noStrike">
                <a:solidFill>
                  <a:srgbClr val="2E3440"/>
                </a:solidFill>
                <a:effectLst/>
                <a:uFillTx/>
                <a:latin typeface="Aptos"/>
              </a:rPr>
              <a:t>3) Clasificar recursos existentes, software sin costo adicional y costos no cuantificados.</a:t>
            </a:r>
            <a:endParaRPr lang="en-US" sz="1010" b="0" u="none" strike="noStrike">
              <a:solidFill>
                <a:srgbClr val="000000"/>
              </a:solidFill>
              <a:effectLst/>
              <a:uFillTx/>
              <a:latin typeface="Arial"/>
            </a:endParaRPr>
          </a:p>
          <a:p>
            <a:pPr defTabSz="914400">
              <a:lnSpc>
                <a:spcPct val="100000"/>
              </a:lnSpc>
              <a:tabLst>
                <a:tab pos="0" algn="l"/>
              </a:tabLst>
            </a:pPr>
            <a:r>
              <a:rPr lang="en-US" sz="1010" b="0" u="none" strike="noStrike">
                <a:solidFill>
                  <a:srgbClr val="2E3440"/>
                </a:solidFill>
                <a:effectLst/>
                <a:uFillTx/>
                <a:latin typeface="Aptos"/>
              </a:rPr>
              <a:t>4) Evitar convertir importes hipotéticos en costos reales.</a:t>
            </a:r>
            <a:endParaRPr lang="en-US" sz="1010" b="0" u="none" strike="noStrike">
              <a:solidFill>
                <a:srgbClr val="000000"/>
              </a:solidFill>
              <a:effectLst/>
              <a:uFillTx/>
              <a:latin typeface="Arial"/>
            </a:endParaRPr>
          </a:p>
        </p:txBody>
      </p:sp>
      <p:sp>
        <p:nvSpPr>
          <p:cNvPr id="622" name="Shape 14"/>
          <p:cNvSpPr/>
          <p:nvPr/>
        </p:nvSpPr>
        <p:spPr>
          <a:xfrm>
            <a:off x="6355080" y="2971800"/>
            <a:ext cx="2011320" cy="42948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23" name="Text 15"/>
          <p:cNvSpPr/>
          <p:nvPr/>
        </p:nvSpPr>
        <p:spPr>
          <a:xfrm>
            <a:off x="6409800" y="3040560"/>
            <a:ext cx="19015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30" b="1" u="none" strike="noStrike">
                <a:solidFill>
                  <a:srgbClr val="FFFFFF"/>
                </a:solidFill>
                <a:effectLst/>
                <a:uFillTx/>
                <a:latin typeface="Aptos"/>
              </a:rPr>
              <a:t>Concepto</a:t>
            </a:r>
            <a:endParaRPr lang="en-US" sz="830" b="0" u="none" strike="noStrike">
              <a:solidFill>
                <a:srgbClr val="000000"/>
              </a:solidFill>
              <a:effectLst/>
              <a:uFillTx/>
              <a:latin typeface="Arial"/>
            </a:endParaRPr>
          </a:p>
        </p:txBody>
      </p:sp>
      <p:sp>
        <p:nvSpPr>
          <p:cNvPr id="624" name="Shape 16"/>
          <p:cNvSpPr/>
          <p:nvPr/>
        </p:nvSpPr>
        <p:spPr>
          <a:xfrm>
            <a:off x="8366760" y="2971800"/>
            <a:ext cx="2697120" cy="42948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25" name="Text 17"/>
          <p:cNvSpPr/>
          <p:nvPr/>
        </p:nvSpPr>
        <p:spPr>
          <a:xfrm>
            <a:off x="8421480" y="3040560"/>
            <a:ext cx="25873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30" b="1" u="none" strike="noStrike">
                <a:solidFill>
                  <a:srgbClr val="FFFFFF"/>
                </a:solidFill>
                <a:effectLst/>
                <a:uFillTx/>
                <a:latin typeface="Aptos"/>
              </a:rPr>
              <a:t>Tratamiento</a:t>
            </a:r>
            <a:endParaRPr lang="en-US" sz="830" b="0" u="none" strike="noStrike">
              <a:solidFill>
                <a:srgbClr val="000000"/>
              </a:solidFill>
              <a:effectLst/>
              <a:uFillTx/>
              <a:latin typeface="Arial"/>
            </a:endParaRPr>
          </a:p>
        </p:txBody>
      </p:sp>
      <p:sp>
        <p:nvSpPr>
          <p:cNvPr id="626" name="Shape 18"/>
          <p:cNvSpPr/>
          <p:nvPr/>
        </p:nvSpPr>
        <p:spPr>
          <a:xfrm>
            <a:off x="6355080" y="3401640"/>
            <a:ext cx="2011320" cy="429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27" name="Text 19"/>
          <p:cNvSpPr/>
          <p:nvPr/>
        </p:nvSpPr>
        <p:spPr>
          <a:xfrm>
            <a:off x="6409800" y="3470040"/>
            <a:ext cx="19015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Bizagi / Word / Excel</a:t>
            </a:r>
            <a:endParaRPr lang="en-US" sz="800" b="0" u="none" strike="noStrike">
              <a:solidFill>
                <a:srgbClr val="000000"/>
              </a:solidFill>
              <a:effectLst/>
              <a:uFillTx/>
              <a:latin typeface="Arial"/>
            </a:endParaRPr>
          </a:p>
        </p:txBody>
      </p:sp>
      <p:sp>
        <p:nvSpPr>
          <p:cNvPr id="628" name="Shape 20"/>
          <p:cNvSpPr/>
          <p:nvPr/>
        </p:nvSpPr>
        <p:spPr>
          <a:xfrm>
            <a:off x="8366760" y="3401640"/>
            <a:ext cx="2697120" cy="429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29" name="Text 21"/>
          <p:cNvSpPr/>
          <p:nvPr/>
        </p:nvSpPr>
        <p:spPr>
          <a:xfrm>
            <a:off x="8421480" y="3470040"/>
            <a:ext cx="25873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Sin costo adicional registrado.</a:t>
            </a:r>
            <a:endParaRPr lang="en-US" sz="800" b="0" u="none" strike="noStrike">
              <a:solidFill>
                <a:srgbClr val="000000"/>
              </a:solidFill>
              <a:effectLst/>
              <a:uFillTx/>
              <a:latin typeface="Arial"/>
            </a:endParaRPr>
          </a:p>
        </p:txBody>
      </p:sp>
      <p:sp>
        <p:nvSpPr>
          <p:cNvPr id="630" name="Shape 22"/>
          <p:cNvSpPr/>
          <p:nvPr/>
        </p:nvSpPr>
        <p:spPr>
          <a:xfrm>
            <a:off x="6355080" y="3831480"/>
            <a:ext cx="2011320" cy="429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31" name="Text 23"/>
          <p:cNvSpPr/>
          <p:nvPr/>
        </p:nvSpPr>
        <p:spPr>
          <a:xfrm>
            <a:off x="6409800" y="3899880"/>
            <a:ext cx="19015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Equipo de cómputo</a:t>
            </a:r>
            <a:endParaRPr lang="en-US" sz="800" b="0" u="none" strike="noStrike">
              <a:solidFill>
                <a:srgbClr val="000000"/>
              </a:solidFill>
              <a:effectLst/>
              <a:uFillTx/>
              <a:latin typeface="Arial"/>
            </a:endParaRPr>
          </a:p>
        </p:txBody>
      </p:sp>
      <p:sp>
        <p:nvSpPr>
          <p:cNvPr id="632" name="Shape 24"/>
          <p:cNvSpPr/>
          <p:nvPr/>
        </p:nvSpPr>
        <p:spPr>
          <a:xfrm>
            <a:off x="8366760" y="3831480"/>
            <a:ext cx="2697120" cy="429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33" name="Text 25"/>
          <p:cNvSpPr/>
          <p:nvPr/>
        </p:nvSpPr>
        <p:spPr>
          <a:xfrm>
            <a:off x="8421480" y="3899880"/>
            <a:ext cx="25873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Recurso existente.</a:t>
            </a:r>
            <a:endParaRPr lang="en-US" sz="800" b="0" u="none" strike="noStrike">
              <a:solidFill>
                <a:srgbClr val="000000"/>
              </a:solidFill>
              <a:effectLst/>
              <a:uFillTx/>
              <a:latin typeface="Arial"/>
            </a:endParaRPr>
          </a:p>
        </p:txBody>
      </p:sp>
      <p:sp>
        <p:nvSpPr>
          <p:cNvPr id="634" name="Shape 26"/>
          <p:cNvSpPr/>
          <p:nvPr/>
        </p:nvSpPr>
        <p:spPr>
          <a:xfrm>
            <a:off x="6355080" y="4260960"/>
            <a:ext cx="2011320" cy="429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35" name="Text 27"/>
          <p:cNvSpPr/>
          <p:nvPr/>
        </p:nvSpPr>
        <p:spPr>
          <a:xfrm>
            <a:off x="6409800" y="4329720"/>
            <a:ext cx="19015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Internet y energía</a:t>
            </a:r>
            <a:endParaRPr lang="en-US" sz="800" b="0" u="none" strike="noStrike">
              <a:solidFill>
                <a:srgbClr val="000000"/>
              </a:solidFill>
              <a:effectLst/>
              <a:uFillTx/>
              <a:latin typeface="Arial"/>
            </a:endParaRPr>
          </a:p>
        </p:txBody>
      </p:sp>
      <p:sp>
        <p:nvSpPr>
          <p:cNvPr id="636" name="Shape 28"/>
          <p:cNvSpPr/>
          <p:nvPr/>
        </p:nvSpPr>
        <p:spPr>
          <a:xfrm>
            <a:off x="8366760" y="4260960"/>
            <a:ext cx="2697120" cy="429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37" name="Text 29"/>
          <p:cNvSpPr/>
          <p:nvPr/>
        </p:nvSpPr>
        <p:spPr>
          <a:xfrm>
            <a:off x="8421480" y="4329720"/>
            <a:ext cx="25873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No cuantificados.</a:t>
            </a:r>
            <a:endParaRPr lang="en-US" sz="800" b="0" u="none" strike="noStrike">
              <a:solidFill>
                <a:srgbClr val="000000"/>
              </a:solidFill>
              <a:effectLst/>
              <a:uFillTx/>
              <a:latin typeface="Arial"/>
            </a:endParaRPr>
          </a:p>
        </p:txBody>
      </p:sp>
      <p:sp>
        <p:nvSpPr>
          <p:cNvPr id="638" name="Shape 30"/>
          <p:cNvSpPr/>
          <p:nvPr/>
        </p:nvSpPr>
        <p:spPr>
          <a:xfrm>
            <a:off x="6355080" y="4690800"/>
            <a:ext cx="2011320" cy="429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39" name="Text 31"/>
          <p:cNvSpPr/>
          <p:nvPr/>
        </p:nvSpPr>
        <p:spPr>
          <a:xfrm>
            <a:off x="6409800" y="4759560"/>
            <a:ext cx="19015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Mano de obra</a:t>
            </a:r>
            <a:endParaRPr lang="en-US" sz="800" b="0" u="none" strike="noStrike">
              <a:solidFill>
                <a:srgbClr val="000000"/>
              </a:solidFill>
              <a:effectLst/>
              <a:uFillTx/>
              <a:latin typeface="Arial"/>
            </a:endParaRPr>
          </a:p>
        </p:txBody>
      </p:sp>
      <p:sp>
        <p:nvSpPr>
          <p:cNvPr id="640" name="Shape 32"/>
          <p:cNvSpPr/>
          <p:nvPr/>
        </p:nvSpPr>
        <p:spPr>
          <a:xfrm>
            <a:off x="8366760" y="4690800"/>
            <a:ext cx="2697120" cy="42948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41" name="Text 33"/>
          <p:cNvSpPr/>
          <p:nvPr/>
        </p:nvSpPr>
        <p:spPr>
          <a:xfrm>
            <a:off x="8421480" y="4759560"/>
            <a:ext cx="25873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a:solidFill>
                  <a:srgbClr val="2E3440"/>
                </a:solidFill>
                <a:effectLst/>
                <a:uFillTx/>
                <a:latin typeface="Aptos"/>
              </a:rPr>
              <a:t>No monetizada por ser práctica académica.</a:t>
            </a:r>
            <a:endParaRPr lang="en-US" sz="800" b="0" u="none" strike="noStrike">
              <a:solidFill>
                <a:srgbClr val="000000"/>
              </a:solidFill>
              <a:effectLst/>
              <a:uFillTx/>
              <a:latin typeface="Arial"/>
            </a:endParaRPr>
          </a:p>
        </p:txBody>
      </p:sp>
      <p:sp>
        <p:nvSpPr>
          <p:cNvPr id="642" name="Shape 34"/>
          <p:cNvSpPr/>
          <p:nvPr/>
        </p:nvSpPr>
        <p:spPr>
          <a:xfrm>
            <a:off x="932760" y="5230440"/>
            <a:ext cx="10240920" cy="639720"/>
          </a:xfrm>
          <a:prstGeom prst="roundRect">
            <a:avLst>
              <a:gd name="adj" fmla="val 11429"/>
            </a:avLst>
          </a:prstGeom>
          <a:solidFill>
            <a:srgbClr val="DDF7EA"/>
          </a:solidFill>
          <a:ln w="635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43" name="Text 35"/>
          <p:cNvSpPr/>
          <p:nvPr/>
        </p:nvSpPr>
        <p:spPr>
          <a:xfrm>
            <a:off x="1078920" y="5340240"/>
            <a:ext cx="99482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10" b="0" u="none" strike="noStrike" dirty="0">
                <a:solidFill>
                  <a:srgbClr val="2E3440"/>
                </a:solidFill>
                <a:effectLst/>
                <a:uFillTx/>
                <a:latin typeface="Aptos"/>
              </a:rPr>
              <a:t>Para </a:t>
            </a:r>
            <a:r>
              <a:rPr lang="en-US" sz="1010" b="0" u="none" strike="noStrike" dirty="0" err="1">
                <a:solidFill>
                  <a:srgbClr val="2E3440"/>
                </a:solidFill>
                <a:effectLst/>
                <a:uFillTx/>
                <a:latin typeface="Aptos"/>
              </a:rPr>
              <a:t>estos</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expedientes</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el</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costo</a:t>
            </a:r>
            <a:r>
              <a:rPr lang="en-US" sz="1010" b="0" u="none" strike="noStrike" dirty="0">
                <a:solidFill>
                  <a:srgbClr val="2E3440"/>
                </a:solidFill>
                <a:effectLst/>
                <a:uFillTx/>
                <a:latin typeface="Aptos"/>
              </a:rPr>
              <a:t> real </a:t>
            </a:r>
            <a:r>
              <a:rPr lang="en-US" sz="1010" b="0" u="none" strike="noStrike" dirty="0" err="1">
                <a:solidFill>
                  <a:srgbClr val="2E3440"/>
                </a:solidFill>
                <a:effectLst/>
                <a:uFillTx/>
                <a:latin typeface="Aptos"/>
              </a:rPr>
              <a:t>registrado</a:t>
            </a:r>
            <a:r>
              <a:rPr lang="en-US" sz="1010" b="0" u="none" strike="noStrike" dirty="0">
                <a:solidFill>
                  <a:srgbClr val="2E3440"/>
                </a:solidFill>
                <a:effectLst/>
                <a:uFillTx/>
                <a:latin typeface="Aptos"/>
              </a:rPr>
              <a:t> no se </a:t>
            </a:r>
            <a:r>
              <a:rPr lang="en-US" sz="1010" b="0" u="none" strike="noStrike" dirty="0" err="1">
                <a:solidFill>
                  <a:srgbClr val="2E3440"/>
                </a:solidFill>
                <a:effectLst/>
                <a:uFillTx/>
                <a:latin typeface="Aptos"/>
              </a:rPr>
              <a:t>expresa</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en</a:t>
            </a:r>
            <a:r>
              <a:rPr lang="en-US" sz="1010" b="0" u="none" strike="noStrike" dirty="0">
                <a:solidFill>
                  <a:srgbClr val="2E3440"/>
                </a:solidFill>
                <a:effectLst/>
                <a:uFillTx/>
                <a:latin typeface="Aptos"/>
              </a:rPr>
              <a:t> pesos </a:t>
            </a:r>
            <a:r>
              <a:rPr lang="en-US" sz="1010" b="0" u="none" strike="noStrike" dirty="0" err="1">
                <a:solidFill>
                  <a:srgbClr val="2E3440"/>
                </a:solidFill>
                <a:effectLst/>
                <a:uFillTx/>
                <a:latin typeface="Aptos"/>
              </a:rPr>
              <a:t>porque</a:t>
            </a:r>
            <a:r>
              <a:rPr lang="en-US" sz="1010" b="0" u="none" strike="noStrike" dirty="0">
                <a:solidFill>
                  <a:srgbClr val="2E3440"/>
                </a:solidFill>
                <a:effectLst/>
                <a:uFillTx/>
                <a:latin typeface="Aptos"/>
              </a:rPr>
              <a:t> no hay </a:t>
            </a:r>
            <a:r>
              <a:rPr lang="en-US" sz="1010" b="0" u="none" strike="noStrike" dirty="0" err="1">
                <a:solidFill>
                  <a:srgbClr val="2E3440"/>
                </a:solidFill>
                <a:effectLst/>
                <a:uFillTx/>
                <a:latin typeface="Aptos"/>
              </a:rPr>
              <a:t>comprobantes</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ni</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presupuesto</a:t>
            </a:r>
            <a:r>
              <a:rPr lang="en-US" sz="1010" b="0" u="none" strike="noStrike" dirty="0">
                <a:solidFill>
                  <a:srgbClr val="2E3440"/>
                </a:solidFill>
                <a:effectLst/>
                <a:uFillTx/>
                <a:latin typeface="Aptos"/>
              </a:rPr>
              <a:t> formal. Lo </a:t>
            </a:r>
            <a:r>
              <a:rPr lang="en-US" sz="1010" b="0" u="none" strike="noStrike" dirty="0" err="1">
                <a:solidFill>
                  <a:srgbClr val="2E3440"/>
                </a:solidFill>
                <a:effectLst/>
                <a:uFillTx/>
                <a:latin typeface="Aptos"/>
              </a:rPr>
              <a:t>correcto</a:t>
            </a:r>
            <a:r>
              <a:rPr lang="en-US" sz="1010" b="0" u="none" strike="noStrike" dirty="0">
                <a:solidFill>
                  <a:srgbClr val="2E3440"/>
                </a:solidFill>
                <a:effectLst/>
                <a:uFillTx/>
                <a:latin typeface="Aptos"/>
              </a:rPr>
              <a:t> es </a:t>
            </a:r>
            <a:r>
              <a:rPr lang="en-US" sz="1010" b="0" u="none" strike="noStrike" dirty="0" err="1">
                <a:solidFill>
                  <a:srgbClr val="2E3440"/>
                </a:solidFill>
                <a:effectLst/>
                <a:uFillTx/>
                <a:latin typeface="Aptos"/>
              </a:rPr>
              <a:t>documentar</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recursos</a:t>
            </a:r>
            <a:r>
              <a:rPr lang="en-US" sz="1010" b="0" u="none" strike="noStrike" dirty="0">
                <a:solidFill>
                  <a:srgbClr val="2E3440"/>
                </a:solidFill>
                <a:effectLst/>
                <a:uFillTx/>
                <a:latin typeface="Aptos"/>
              </a:rPr>
              <a:t> y </a:t>
            </a:r>
            <a:r>
              <a:rPr lang="en-US" sz="1010" b="0" u="none" strike="noStrike" dirty="0" err="1">
                <a:solidFill>
                  <a:srgbClr val="2E3440"/>
                </a:solidFill>
                <a:effectLst/>
                <a:uFillTx/>
                <a:latin typeface="Aptos"/>
              </a:rPr>
              <a:t>aclarar</a:t>
            </a:r>
            <a:r>
              <a:rPr lang="en-US" sz="1010" b="0" u="none" strike="noStrike" dirty="0">
                <a:solidFill>
                  <a:srgbClr val="2E3440"/>
                </a:solidFill>
                <a:effectLst/>
                <a:uFillTx/>
                <a:latin typeface="Aptos"/>
              </a:rPr>
              <a:t> que </a:t>
            </a:r>
            <a:r>
              <a:rPr lang="en-US" sz="1010" b="0" u="none" strike="noStrike" dirty="0" err="1">
                <a:solidFill>
                  <a:srgbClr val="2E3440"/>
                </a:solidFill>
                <a:effectLst/>
                <a:uFillTx/>
                <a:latin typeface="Aptos"/>
              </a:rPr>
              <a:t>cualquier</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monto</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sería</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una</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estimación</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académica</a:t>
            </a:r>
            <a:r>
              <a:rPr lang="en-US" sz="1010" b="0" u="none" strike="noStrike" dirty="0">
                <a:solidFill>
                  <a:srgbClr val="2E3440"/>
                </a:solidFill>
                <a:effectLst/>
                <a:uFillTx/>
                <a:latin typeface="Aptos"/>
              </a:rPr>
              <a:t>.</a:t>
            </a:r>
            <a:endParaRPr lang="en-US" sz="1010" b="0" u="none" strike="noStrike" dirty="0">
              <a:solidFill>
                <a:srgbClr val="000000"/>
              </a:solidFill>
              <a:effectLst/>
              <a:uFillTx/>
              <a:latin typeface="Arial"/>
            </a:endParaRPr>
          </a:p>
        </p:txBody>
      </p:sp>
      <p:sp>
        <p:nvSpPr>
          <p:cNvPr id="646" name="Text 38"/>
          <p:cNvSpPr/>
          <p:nvPr/>
        </p:nvSpPr>
        <p:spPr>
          <a:xfrm>
            <a:off x="11292840" y="658368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1" u="none" strike="noStrike">
                <a:solidFill>
                  <a:srgbClr val="6B7280"/>
                </a:solidFill>
                <a:effectLst/>
                <a:uFillTx/>
                <a:latin typeface="Aptos"/>
              </a:rPr>
              <a:t>14</a:t>
            </a:r>
            <a:endParaRPr lang="en-US" sz="85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647" name="Shape 0"/>
          <p:cNvSpPr/>
          <p:nvPr/>
        </p:nvSpPr>
        <p:spPr>
          <a:xfrm>
            <a:off x="0" y="0"/>
            <a:ext cx="12191400" cy="6857640"/>
          </a:xfrm>
          <a:prstGeom prst="rect">
            <a:avLst/>
          </a:prstGeom>
          <a:solidFill>
            <a:srgbClr val="F6F8FC"/>
          </a:solidFill>
          <a:ln w="12700">
            <a:solidFill>
              <a:srgbClr val="F6F8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48" name="Text 1"/>
          <p:cNvSpPr/>
          <p:nvPr/>
        </p:nvSpPr>
        <p:spPr>
          <a:xfrm>
            <a:off x="502920" y="329040"/>
            <a:ext cx="94179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50" b="1" u="none" strike="noStrike">
                <a:solidFill>
                  <a:srgbClr val="172033"/>
                </a:solidFill>
                <a:effectLst/>
                <a:uFillTx/>
                <a:latin typeface="Aptos Display"/>
                <a:ea typeface="Aptos Display"/>
              </a:rPr>
              <a:t>Replanificar un proyecto retrasado</a:t>
            </a:r>
            <a:endParaRPr lang="en-US" sz="2450" b="0" u="none" strike="noStrike">
              <a:solidFill>
                <a:srgbClr val="000000"/>
              </a:solidFill>
              <a:effectLst/>
              <a:uFillTx/>
              <a:latin typeface="Arial"/>
            </a:endParaRPr>
          </a:p>
        </p:txBody>
      </p:sp>
      <p:sp>
        <p:nvSpPr>
          <p:cNvPr id="649" name="Text 2"/>
          <p:cNvSpPr/>
          <p:nvPr/>
        </p:nvSpPr>
        <p:spPr>
          <a:xfrm>
            <a:off x="521280" y="749880"/>
            <a:ext cx="9692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20" b="0" u="none" strike="noStrike">
                <a:solidFill>
                  <a:srgbClr val="6B7280"/>
                </a:solidFill>
                <a:effectLst/>
                <a:uFillTx/>
                <a:latin typeface="Aptos"/>
                <a:ea typeface="Aptos"/>
              </a:rPr>
              <a:t>Caso base: ProcesMuebles</a:t>
            </a:r>
            <a:endParaRPr lang="en-US" sz="1020" b="0" u="none" strike="noStrike">
              <a:solidFill>
                <a:srgbClr val="000000"/>
              </a:solidFill>
              <a:effectLst/>
              <a:uFillTx/>
              <a:latin typeface="Arial"/>
            </a:endParaRPr>
          </a:p>
        </p:txBody>
      </p:sp>
      <p:sp>
        <p:nvSpPr>
          <p:cNvPr id="651" name="Shape 4"/>
          <p:cNvSpPr/>
          <p:nvPr/>
        </p:nvSpPr>
        <p:spPr>
          <a:xfrm>
            <a:off x="10104120" y="347400"/>
            <a:ext cx="1535760" cy="383760"/>
          </a:xfrm>
          <a:prstGeom prst="roundRect">
            <a:avLst>
              <a:gd name="adj" fmla="val 23810"/>
            </a:avLst>
          </a:prstGeom>
          <a:solidFill>
            <a:srgbClr val="172033"/>
          </a:solidFill>
          <a:ln w="12700">
            <a:solidFill>
              <a:srgbClr val="172033">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52" name="Text 5"/>
          <p:cNvSpPr/>
          <p:nvPr/>
        </p:nvSpPr>
        <p:spPr>
          <a:xfrm>
            <a:off x="10168200" y="448200"/>
            <a:ext cx="140796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39" b="1" u="none" strike="noStrike">
                <a:solidFill>
                  <a:srgbClr val="FFFFFF"/>
                </a:solidFill>
                <a:effectLst/>
                <a:uFillTx/>
                <a:latin typeface="Aptos"/>
              </a:rPr>
              <a:t>Ejercicio 11</a:t>
            </a:r>
            <a:endParaRPr lang="en-US" sz="839" b="0" u="none" strike="noStrike">
              <a:solidFill>
                <a:srgbClr val="000000"/>
              </a:solidFill>
              <a:effectLst/>
              <a:uFillTx/>
              <a:latin typeface="Arial"/>
            </a:endParaRPr>
          </a:p>
        </p:txBody>
      </p:sp>
      <p:sp>
        <p:nvSpPr>
          <p:cNvPr id="653" name="Shape 6"/>
          <p:cNvSpPr/>
          <p:nvPr/>
        </p:nvSpPr>
        <p:spPr>
          <a:xfrm>
            <a:off x="567000" y="1143000"/>
            <a:ext cx="3748680" cy="4525920"/>
          </a:xfrm>
          <a:prstGeom prst="roundRect">
            <a:avLst>
              <a:gd name="adj" fmla="val 1951"/>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654" name="Image 0" descr="/mnt/data/a6e3885c-1743-4194-b1a4-db7358a21a38.png"/>
          <p:cNvPicPr/>
          <p:nvPr/>
        </p:nvPicPr>
        <p:blipFill>
          <a:blip r:embed="rId3"/>
          <a:stretch/>
        </p:blipFill>
        <p:spPr>
          <a:xfrm>
            <a:off x="631080" y="1902960"/>
            <a:ext cx="3620520" cy="2695320"/>
          </a:xfrm>
          <a:prstGeom prst="rect">
            <a:avLst/>
          </a:prstGeom>
          <a:noFill/>
          <a:ln w="0">
            <a:noFill/>
          </a:ln>
        </p:spPr>
      </p:pic>
      <p:sp>
        <p:nvSpPr>
          <p:cNvPr id="655" name="Text 7"/>
          <p:cNvSpPr/>
          <p:nvPr/>
        </p:nvSpPr>
        <p:spPr>
          <a:xfrm>
            <a:off x="685800" y="5403960"/>
            <a:ext cx="35110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10" b="0" u="none" strike="noStrike">
                <a:solidFill>
                  <a:srgbClr val="6B7280"/>
                </a:solidFill>
                <a:effectLst/>
                <a:uFillTx/>
                <a:latin typeface="Aptos"/>
              </a:rPr>
              <a:t>PLAN-002 v2: plan de recuperación emitido el 16/09/2026.</a:t>
            </a:r>
            <a:endParaRPr lang="en-US" sz="710" b="0" u="none" strike="noStrike">
              <a:solidFill>
                <a:srgbClr val="000000"/>
              </a:solidFill>
              <a:effectLst/>
              <a:uFillTx/>
              <a:latin typeface="Arial"/>
            </a:endParaRPr>
          </a:p>
        </p:txBody>
      </p:sp>
      <p:sp>
        <p:nvSpPr>
          <p:cNvPr id="656" name="Shape 8"/>
          <p:cNvSpPr/>
          <p:nvPr/>
        </p:nvSpPr>
        <p:spPr>
          <a:xfrm>
            <a:off x="4526280" y="1143000"/>
            <a:ext cx="3154320" cy="4525920"/>
          </a:xfrm>
          <a:prstGeom prst="roundRect">
            <a:avLst>
              <a:gd name="adj" fmla="val 2319"/>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657" name="Image 1" descr="/mnt/data/f97f6a44-d83e-4ed9-9b52-b098a7bfbf01.png"/>
          <p:cNvPicPr/>
          <p:nvPr/>
        </p:nvPicPr>
        <p:blipFill>
          <a:blip r:embed="rId4"/>
          <a:stretch/>
        </p:blipFill>
        <p:spPr>
          <a:xfrm>
            <a:off x="4590360" y="2276280"/>
            <a:ext cx="3026160" cy="1947960"/>
          </a:xfrm>
          <a:prstGeom prst="rect">
            <a:avLst/>
          </a:prstGeom>
          <a:noFill/>
          <a:ln w="0">
            <a:noFill/>
          </a:ln>
        </p:spPr>
      </p:pic>
      <p:sp>
        <p:nvSpPr>
          <p:cNvPr id="658" name="Text 9"/>
          <p:cNvSpPr/>
          <p:nvPr/>
        </p:nvSpPr>
        <p:spPr>
          <a:xfrm>
            <a:off x="4645080" y="5403960"/>
            <a:ext cx="29167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10" b="0" u="none" strike="noStrike">
                <a:solidFill>
                  <a:srgbClr val="6B7280"/>
                </a:solidFill>
                <a:effectLst/>
                <a:uFillTx/>
                <a:latin typeface="Aptos"/>
              </a:rPr>
              <a:t>Estado del expediente: D2–D5 requieren ajuste; D6–D8 pendientes.</a:t>
            </a:r>
            <a:endParaRPr lang="en-US" sz="710" b="0" u="none" strike="noStrike">
              <a:solidFill>
                <a:srgbClr val="000000"/>
              </a:solidFill>
              <a:effectLst/>
              <a:uFillTx/>
              <a:latin typeface="Arial"/>
            </a:endParaRPr>
          </a:p>
        </p:txBody>
      </p:sp>
      <p:sp>
        <p:nvSpPr>
          <p:cNvPr id="659" name="Shape 10"/>
          <p:cNvSpPr/>
          <p:nvPr/>
        </p:nvSpPr>
        <p:spPr>
          <a:xfrm>
            <a:off x="7955280" y="1143000"/>
            <a:ext cx="3428640" cy="1782720"/>
          </a:xfrm>
          <a:prstGeom prst="roundRect">
            <a:avLst>
              <a:gd name="adj" fmla="val 4103"/>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60" name="Shape 11"/>
          <p:cNvSpPr/>
          <p:nvPr/>
        </p:nvSpPr>
        <p:spPr>
          <a:xfrm>
            <a:off x="7955280" y="1143000"/>
            <a:ext cx="72720" cy="1782720"/>
          </a:xfrm>
          <a:prstGeom prst="rect">
            <a:avLst/>
          </a:prstGeom>
          <a:solidFill>
            <a:srgbClr val="00A86B"/>
          </a:solidFill>
          <a:ln w="12700">
            <a:solidFill>
              <a:srgbClr val="00A86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62" name="Text 13"/>
          <p:cNvSpPr/>
          <p:nvPr/>
        </p:nvSpPr>
        <p:spPr>
          <a:xfrm>
            <a:off x="8156520" y="1600200"/>
            <a:ext cx="3099600" cy="121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010" b="0" u="none" strike="noStrike">
                <a:solidFill>
                  <a:srgbClr val="2E3440"/>
                </a:solidFill>
                <a:effectLst/>
                <a:uFillTx/>
                <a:latin typeface="Aptos"/>
              </a:rPr>
              <a:t>La replanificación se resuelve con una secuencia de recuperación: corregir D2–D5, revisar línea base, aprobar la base corregida, continuar con D6, integrar D7, preparar D8 y cerrar con validación PM. La fecha final no debe fijarse como cerrada mientras falte acuerdo o evidencia técnica.</a:t>
            </a:r>
            <a:endParaRPr lang="en-US" sz="1010" b="0" u="none" strike="noStrike">
              <a:solidFill>
                <a:srgbClr val="000000"/>
              </a:solidFill>
              <a:effectLst/>
              <a:uFillTx/>
              <a:latin typeface="Arial"/>
            </a:endParaRPr>
          </a:p>
        </p:txBody>
      </p:sp>
      <p:sp>
        <p:nvSpPr>
          <p:cNvPr id="663" name="Shape 14"/>
          <p:cNvSpPr/>
          <p:nvPr/>
        </p:nvSpPr>
        <p:spPr>
          <a:xfrm>
            <a:off x="7955280" y="3246120"/>
            <a:ext cx="731160" cy="34704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64" name="Text 15"/>
          <p:cNvSpPr/>
          <p:nvPr/>
        </p:nvSpPr>
        <p:spPr>
          <a:xfrm>
            <a:off x="8010000" y="3314880"/>
            <a:ext cx="6213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80" b="1" u="none" strike="noStrike">
                <a:solidFill>
                  <a:srgbClr val="FFFFFF"/>
                </a:solidFill>
                <a:effectLst/>
                <a:uFillTx/>
                <a:latin typeface="Aptos"/>
              </a:rPr>
              <a:t>R1</a:t>
            </a:r>
            <a:endParaRPr lang="en-US" sz="780" b="0" u="none" strike="noStrike">
              <a:solidFill>
                <a:srgbClr val="000000"/>
              </a:solidFill>
              <a:effectLst/>
              <a:uFillTx/>
              <a:latin typeface="Arial"/>
            </a:endParaRPr>
          </a:p>
        </p:txBody>
      </p:sp>
      <p:sp>
        <p:nvSpPr>
          <p:cNvPr id="665" name="Shape 16"/>
          <p:cNvSpPr/>
          <p:nvPr/>
        </p:nvSpPr>
        <p:spPr>
          <a:xfrm>
            <a:off x="8686800" y="3246120"/>
            <a:ext cx="2697120" cy="34704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66" name="Text 17"/>
          <p:cNvSpPr/>
          <p:nvPr/>
        </p:nvSpPr>
        <p:spPr>
          <a:xfrm>
            <a:off x="8741520" y="3314880"/>
            <a:ext cx="2587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80" b="1" u="none" strike="noStrike">
                <a:solidFill>
                  <a:srgbClr val="FFFFFF"/>
                </a:solidFill>
                <a:effectLst/>
                <a:uFillTx/>
                <a:latin typeface="Aptos"/>
              </a:rPr>
              <a:t>Corregir D2–D5</a:t>
            </a:r>
            <a:endParaRPr lang="en-US" sz="780" b="0" u="none" strike="noStrike">
              <a:solidFill>
                <a:srgbClr val="000000"/>
              </a:solidFill>
              <a:effectLst/>
              <a:uFillTx/>
              <a:latin typeface="Arial"/>
            </a:endParaRPr>
          </a:p>
        </p:txBody>
      </p:sp>
      <p:sp>
        <p:nvSpPr>
          <p:cNvPr id="667" name="Shape 18"/>
          <p:cNvSpPr/>
          <p:nvPr/>
        </p:nvSpPr>
        <p:spPr>
          <a:xfrm>
            <a:off x="7955280" y="3593520"/>
            <a:ext cx="731160" cy="34704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68" name="Text 19"/>
          <p:cNvSpPr/>
          <p:nvPr/>
        </p:nvSpPr>
        <p:spPr>
          <a:xfrm>
            <a:off x="8010000" y="3662280"/>
            <a:ext cx="6213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R2</a:t>
            </a:r>
            <a:endParaRPr lang="en-US" sz="750" b="0" u="none" strike="noStrike">
              <a:solidFill>
                <a:srgbClr val="000000"/>
              </a:solidFill>
              <a:effectLst/>
              <a:uFillTx/>
              <a:latin typeface="Arial"/>
            </a:endParaRPr>
          </a:p>
        </p:txBody>
      </p:sp>
      <p:sp>
        <p:nvSpPr>
          <p:cNvPr id="669" name="Shape 20"/>
          <p:cNvSpPr/>
          <p:nvPr/>
        </p:nvSpPr>
        <p:spPr>
          <a:xfrm>
            <a:off x="8686800" y="3593520"/>
            <a:ext cx="2697120" cy="34704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70" name="Text 21"/>
          <p:cNvSpPr/>
          <p:nvPr/>
        </p:nvSpPr>
        <p:spPr>
          <a:xfrm>
            <a:off x="8741520" y="3662280"/>
            <a:ext cx="2587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Revisión PM de línea base</a:t>
            </a:r>
            <a:endParaRPr lang="en-US" sz="750" b="0" u="none" strike="noStrike">
              <a:solidFill>
                <a:srgbClr val="000000"/>
              </a:solidFill>
              <a:effectLst/>
              <a:uFillTx/>
              <a:latin typeface="Arial"/>
            </a:endParaRPr>
          </a:p>
        </p:txBody>
      </p:sp>
      <p:sp>
        <p:nvSpPr>
          <p:cNvPr id="671" name="Shape 22"/>
          <p:cNvSpPr/>
          <p:nvPr/>
        </p:nvSpPr>
        <p:spPr>
          <a:xfrm>
            <a:off x="7955280" y="3940920"/>
            <a:ext cx="731160" cy="34704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72" name="Text 23"/>
          <p:cNvSpPr/>
          <p:nvPr/>
        </p:nvSpPr>
        <p:spPr>
          <a:xfrm>
            <a:off x="8010000" y="4009680"/>
            <a:ext cx="6213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R3</a:t>
            </a:r>
            <a:endParaRPr lang="en-US" sz="750" b="0" u="none" strike="noStrike">
              <a:solidFill>
                <a:srgbClr val="000000"/>
              </a:solidFill>
              <a:effectLst/>
              <a:uFillTx/>
              <a:latin typeface="Arial"/>
            </a:endParaRPr>
          </a:p>
        </p:txBody>
      </p:sp>
      <p:sp>
        <p:nvSpPr>
          <p:cNvPr id="673" name="Shape 24"/>
          <p:cNvSpPr/>
          <p:nvPr/>
        </p:nvSpPr>
        <p:spPr>
          <a:xfrm>
            <a:off x="8686800" y="3940920"/>
            <a:ext cx="2697120" cy="34704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74" name="Text 25"/>
          <p:cNvSpPr/>
          <p:nvPr/>
        </p:nvSpPr>
        <p:spPr>
          <a:xfrm>
            <a:off x="8741520" y="4009680"/>
            <a:ext cx="2587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D6 · análisis de escenarios</a:t>
            </a:r>
            <a:endParaRPr lang="en-US" sz="750" b="0" u="none" strike="noStrike">
              <a:solidFill>
                <a:srgbClr val="000000"/>
              </a:solidFill>
              <a:effectLst/>
              <a:uFillTx/>
              <a:latin typeface="Arial"/>
            </a:endParaRPr>
          </a:p>
        </p:txBody>
      </p:sp>
      <p:sp>
        <p:nvSpPr>
          <p:cNvPr id="675" name="Shape 26"/>
          <p:cNvSpPr/>
          <p:nvPr/>
        </p:nvSpPr>
        <p:spPr>
          <a:xfrm>
            <a:off x="7955280" y="4288680"/>
            <a:ext cx="731160" cy="34704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76" name="Text 27"/>
          <p:cNvSpPr/>
          <p:nvPr/>
        </p:nvSpPr>
        <p:spPr>
          <a:xfrm>
            <a:off x="8010000" y="4357080"/>
            <a:ext cx="6213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R4</a:t>
            </a:r>
            <a:endParaRPr lang="en-US" sz="750" b="0" u="none" strike="noStrike">
              <a:solidFill>
                <a:srgbClr val="000000"/>
              </a:solidFill>
              <a:effectLst/>
              <a:uFillTx/>
              <a:latin typeface="Arial"/>
            </a:endParaRPr>
          </a:p>
        </p:txBody>
      </p:sp>
      <p:sp>
        <p:nvSpPr>
          <p:cNvPr id="677" name="Shape 28"/>
          <p:cNvSpPr/>
          <p:nvPr/>
        </p:nvSpPr>
        <p:spPr>
          <a:xfrm>
            <a:off x="8686800" y="4288680"/>
            <a:ext cx="2697120" cy="34704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78" name="Text 29"/>
          <p:cNvSpPr/>
          <p:nvPr/>
        </p:nvSpPr>
        <p:spPr>
          <a:xfrm>
            <a:off x="8741520" y="4357080"/>
            <a:ext cx="2587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D7 · informe de resultados</a:t>
            </a:r>
            <a:endParaRPr lang="en-US" sz="750" b="0" u="none" strike="noStrike">
              <a:solidFill>
                <a:srgbClr val="000000"/>
              </a:solidFill>
              <a:effectLst/>
              <a:uFillTx/>
              <a:latin typeface="Arial"/>
            </a:endParaRPr>
          </a:p>
        </p:txBody>
      </p:sp>
      <p:sp>
        <p:nvSpPr>
          <p:cNvPr id="679" name="Shape 30"/>
          <p:cNvSpPr/>
          <p:nvPr/>
        </p:nvSpPr>
        <p:spPr>
          <a:xfrm>
            <a:off x="7955280" y="4636080"/>
            <a:ext cx="731160" cy="34704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80" name="Text 31"/>
          <p:cNvSpPr/>
          <p:nvPr/>
        </p:nvSpPr>
        <p:spPr>
          <a:xfrm>
            <a:off x="8010000" y="4704480"/>
            <a:ext cx="6213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R5</a:t>
            </a:r>
            <a:endParaRPr lang="en-US" sz="750" b="0" u="none" strike="noStrike">
              <a:solidFill>
                <a:srgbClr val="000000"/>
              </a:solidFill>
              <a:effectLst/>
              <a:uFillTx/>
              <a:latin typeface="Arial"/>
            </a:endParaRPr>
          </a:p>
        </p:txBody>
      </p:sp>
      <p:sp>
        <p:nvSpPr>
          <p:cNvPr id="681" name="Shape 32"/>
          <p:cNvSpPr/>
          <p:nvPr/>
        </p:nvSpPr>
        <p:spPr>
          <a:xfrm>
            <a:off x="8686800" y="4636080"/>
            <a:ext cx="2697120" cy="34704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82" name="Text 33"/>
          <p:cNvSpPr/>
          <p:nvPr/>
        </p:nvSpPr>
        <p:spPr>
          <a:xfrm>
            <a:off x="8741520" y="4704480"/>
            <a:ext cx="2587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D8 · entrega final</a:t>
            </a:r>
            <a:endParaRPr lang="en-US" sz="750" b="0" u="none" strike="noStrike">
              <a:solidFill>
                <a:srgbClr val="000000"/>
              </a:solidFill>
              <a:effectLst/>
              <a:uFillTx/>
              <a:latin typeface="Arial"/>
            </a:endParaRPr>
          </a:p>
        </p:txBody>
      </p:sp>
      <p:sp>
        <p:nvSpPr>
          <p:cNvPr id="683" name="Shape 34"/>
          <p:cNvSpPr/>
          <p:nvPr/>
        </p:nvSpPr>
        <p:spPr>
          <a:xfrm>
            <a:off x="7955280" y="4983480"/>
            <a:ext cx="731160" cy="34704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84" name="Text 35"/>
          <p:cNvSpPr/>
          <p:nvPr/>
        </p:nvSpPr>
        <p:spPr>
          <a:xfrm>
            <a:off x="8010000" y="5052240"/>
            <a:ext cx="6213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R6</a:t>
            </a:r>
            <a:endParaRPr lang="en-US" sz="750" b="0" u="none" strike="noStrike">
              <a:solidFill>
                <a:srgbClr val="000000"/>
              </a:solidFill>
              <a:effectLst/>
              <a:uFillTx/>
              <a:latin typeface="Arial"/>
            </a:endParaRPr>
          </a:p>
        </p:txBody>
      </p:sp>
      <p:sp>
        <p:nvSpPr>
          <p:cNvPr id="685" name="Shape 36"/>
          <p:cNvSpPr/>
          <p:nvPr/>
        </p:nvSpPr>
        <p:spPr>
          <a:xfrm>
            <a:off x="8686800" y="4983480"/>
            <a:ext cx="2697120" cy="34704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86" name="Text 37"/>
          <p:cNvSpPr/>
          <p:nvPr/>
        </p:nvSpPr>
        <p:spPr>
          <a:xfrm>
            <a:off x="8741520" y="5052240"/>
            <a:ext cx="2587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Validación y cierre PM</a:t>
            </a:r>
            <a:endParaRPr lang="en-US" sz="750" b="0" u="none" strike="noStrike">
              <a:solidFill>
                <a:srgbClr val="000000"/>
              </a:solidFill>
              <a:effectLst/>
              <a:uFillTx/>
              <a:latin typeface="Arial"/>
            </a:endParaRPr>
          </a:p>
        </p:txBody>
      </p:sp>
      <p:sp>
        <p:nvSpPr>
          <p:cNvPr id="689" name="Text 40"/>
          <p:cNvSpPr/>
          <p:nvPr/>
        </p:nvSpPr>
        <p:spPr>
          <a:xfrm>
            <a:off x="11292840" y="658368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1" u="none" strike="noStrike">
                <a:solidFill>
                  <a:srgbClr val="6B7280"/>
                </a:solidFill>
                <a:effectLst/>
                <a:uFillTx/>
                <a:latin typeface="Aptos"/>
              </a:rPr>
              <a:t>15</a:t>
            </a:r>
            <a:endParaRPr lang="en-US" sz="85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691" name="Text 1"/>
          <p:cNvSpPr/>
          <p:nvPr/>
        </p:nvSpPr>
        <p:spPr>
          <a:xfrm>
            <a:off x="502920" y="329040"/>
            <a:ext cx="94179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50" b="1" u="none" strike="noStrike">
                <a:solidFill>
                  <a:srgbClr val="172033"/>
                </a:solidFill>
                <a:effectLst/>
                <a:uFillTx/>
                <a:latin typeface="Aptos Display"/>
                <a:ea typeface="Aptos Display"/>
              </a:rPr>
              <a:t>Resolver un caso integrado</a:t>
            </a:r>
            <a:endParaRPr lang="en-US" sz="2450" b="0" u="none" strike="noStrike">
              <a:solidFill>
                <a:srgbClr val="000000"/>
              </a:solidFill>
              <a:effectLst/>
              <a:uFillTx/>
              <a:latin typeface="Arial"/>
            </a:endParaRPr>
          </a:p>
        </p:txBody>
      </p:sp>
      <p:sp>
        <p:nvSpPr>
          <p:cNvPr id="692" name="Text 2"/>
          <p:cNvSpPr/>
          <p:nvPr/>
        </p:nvSpPr>
        <p:spPr>
          <a:xfrm>
            <a:off x="521280" y="749880"/>
            <a:ext cx="9692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20" b="0" u="none" strike="noStrike">
                <a:solidFill>
                  <a:srgbClr val="6B7280"/>
                </a:solidFill>
                <a:effectLst/>
                <a:uFillTx/>
                <a:latin typeface="Aptos"/>
                <a:ea typeface="Aptos"/>
              </a:rPr>
              <a:t>Caso base: Fast Burger</a:t>
            </a:r>
            <a:endParaRPr lang="en-US" sz="1020" b="0" u="none" strike="noStrike">
              <a:solidFill>
                <a:srgbClr val="000000"/>
              </a:solidFill>
              <a:effectLst/>
              <a:uFillTx/>
              <a:latin typeface="Arial"/>
            </a:endParaRPr>
          </a:p>
        </p:txBody>
      </p:sp>
      <p:sp>
        <p:nvSpPr>
          <p:cNvPr id="694" name="Shape 4"/>
          <p:cNvSpPr/>
          <p:nvPr/>
        </p:nvSpPr>
        <p:spPr>
          <a:xfrm>
            <a:off x="10104120" y="347400"/>
            <a:ext cx="1535760" cy="383760"/>
          </a:xfrm>
          <a:prstGeom prst="roundRect">
            <a:avLst>
              <a:gd name="adj" fmla="val 23810"/>
            </a:avLst>
          </a:prstGeom>
          <a:solidFill>
            <a:srgbClr val="172033"/>
          </a:solidFill>
          <a:ln w="12700">
            <a:solidFill>
              <a:srgbClr val="172033">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95" name="Text 5"/>
          <p:cNvSpPr/>
          <p:nvPr/>
        </p:nvSpPr>
        <p:spPr>
          <a:xfrm>
            <a:off x="10168200" y="448200"/>
            <a:ext cx="140796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39" b="1" u="none" strike="noStrike">
                <a:solidFill>
                  <a:srgbClr val="FFFFFF"/>
                </a:solidFill>
                <a:effectLst/>
                <a:uFillTx/>
                <a:latin typeface="Aptos"/>
              </a:rPr>
              <a:t>Ejercicio 12</a:t>
            </a:r>
            <a:endParaRPr lang="en-US" sz="839" b="0" u="none" strike="noStrike">
              <a:solidFill>
                <a:srgbClr val="000000"/>
              </a:solidFill>
              <a:effectLst/>
              <a:uFillTx/>
              <a:latin typeface="Arial"/>
            </a:endParaRPr>
          </a:p>
        </p:txBody>
      </p:sp>
      <p:sp>
        <p:nvSpPr>
          <p:cNvPr id="696" name="Shape 6"/>
          <p:cNvSpPr/>
          <p:nvPr/>
        </p:nvSpPr>
        <p:spPr>
          <a:xfrm>
            <a:off x="567000" y="1143000"/>
            <a:ext cx="4754520" cy="2148480"/>
          </a:xfrm>
          <a:prstGeom prst="roundRect">
            <a:avLst>
              <a:gd name="adj" fmla="val 3404"/>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697" name="Image 0" descr="/mnt/data/6464b244-9e08-432a-8ed6-79ba36a48bd7.png"/>
          <p:cNvPicPr/>
          <p:nvPr/>
        </p:nvPicPr>
        <p:blipFill>
          <a:blip r:embed="rId3"/>
          <a:stretch/>
        </p:blipFill>
        <p:spPr>
          <a:xfrm>
            <a:off x="631080" y="1283400"/>
            <a:ext cx="4626360" cy="1556640"/>
          </a:xfrm>
          <a:prstGeom prst="rect">
            <a:avLst/>
          </a:prstGeom>
          <a:noFill/>
          <a:ln w="0">
            <a:noFill/>
          </a:ln>
        </p:spPr>
      </p:pic>
      <p:sp>
        <p:nvSpPr>
          <p:cNvPr id="698" name="Text 7"/>
          <p:cNvSpPr/>
          <p:nvPr/>
        </p:nvSpPr>
        <p:spPr>
          <a:xfrm>
            <a:off x="685800" y="3026520"/>
            <a:ext cx="45169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10" b="0" u="none" strike="noStrike">
                <a:solidFill>
                  <a:srgbClr val="6B7280"/>
                </a:solidFill>
                <a:effectLst/>
                <a:uFillTx/>
                <a:latin typeface="Aptos"/>
              </a:rPr>
              <a:t>Cierre documentado del expediente Fast Burger.</a:t>
            </a:r>
            <a:endParaRPr lang="en-US" sz="710" b="0" u="none" strike="noStrike">
              <a:solidFill>
                <a:srgbClr val="000000"/>
              </a:solidFill>
              <a:effectLst/>
              <a:uFillTx/>
              <a:latin typeface="Arial"/>
            </a:endParaRPr>
          </a:p>
        </p:txBody>
      </p:sp>
      <p:sp>
        <p:nvSpPr>
          <p:cNvPr id="699" name="Shape 8"/>
          <p:cNvSpPr/>
          <p:nvPr/>
        </p:nvSpPr>
        <p:spPr>
          <a:xfrm>
            <a:off x="567000" y="3584520"/>
            <a:ext cx="4754520" cy="2148480"/>
          </a:xfrm>
          <a:prstGeom prst="roundRect">
            <a:avLst>
              <a:gd name="adj" fmla="val 3404"/>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700" name="Image 1" descr="/mnt/data/7b137a4e-4eab-4f72-b19e-428cc57f7cd6.png"/>
          <p:cNvPicPr/>
          <p:nvPr/>
        </p:nvPicPr>
        <p:blipFill>
          <a:blip r:embed="rId4"/>
          <a:stretch/>
        </p:blipFill>
        <p:spPr>
          <a:xfrm>
            <a:off x="853200" y="3648600"/>
            <a:ext cx="4181760" cy="1709640"/>
          </a:xfrm>
          <a:prstGeom prst="rect">
            <a:avLst/>
          </a:prstGeom>
          <a:noFill/>
          <a:ln w="0">
            <a:noFill/>
          </a:ln>
        </p:spPr>
      </p:pic>
      <p:sp>
        <p:nvSpPr>
          <p:cNvPr id="701" name="Text 9"/>
          <p:cNvSpPr/>
          <p:nvPr/>
        </p:nvSpPr>
        <p:spPr>
          <a:xfrm>
            <a:off x="685800" y="5468040"/>
            <a:ext cx="45169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10" b="0" u="none" strike="noStrike">
                <a:solidFill>
                  <a:srgbClr val="6B7280"/>
                </a:solidFill>
                <a:effectLst/>
                <a:uFillTx/>
                <a:latin typeface="Aptos"/>
              </a:rPr>
              <a:t>GANTT-003: línea base, cierre real y desviaciones.</a:t>
            </a:r>
            <a:endParaRPr lang="en-US" sz="710" b="0" u="none" strike="noStrike">
              <a:solidFill>
                <a:srgbClr val="000000"/>
              </a:solidFill>
              <a:effectLst/>
              <a:uFillTx/>
              <a:latin typeface="Arial"/>
            </a:endParaRPr>
          </a:p>
        </p:txBody>
      </p:sp>
      <p:sp>
        <p:nvSpPr>
          <p:cNvPr id="702" name="Shape 10"/>
          <p:cNvSpPr/>
          <p:nvPr/>
        </p:nvSpPr>
        <p:spPr>
          <a:xfrm>
            <a:off x="5623560" y="1234440"/>
            <a:ext cx="2057040" cy="39276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03" name="Text 11"/>
          <p:cNvSpPr/>
          <p:nvPr/>
        </p:nvSpPr>
        <p:spPr>
          <a:xfrm>
            <a:off x="5678280" y="1303200"/>
            <a:ext cx="194724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80" b="1" u="none" strike="noStrike">
                <a:solidFill>
                  <a:srgbClr val="FFFFFF"/>
                </a:solidFill>
                <a:effectLst/>
                <a:uFillTx/>
                <a:latin typeface="Aptos"/>
              </a:rPr>
              <a:t>Elemento</a:t>
            </a:r>
            <a:endParaRPr lang="en-US" sz="780" b="0" u="none" strike="noStrike">
              <a:solidFill>
                <a:srgbClr val="000000"/>
              </a:solidFill>
              <a:effectLst/>
              <a:uFillTx/>
              <a:latin typeface="Arial"/>
            </a:endParaRPr>
          </a:p>
        </p:txBody>
      </p:sp>
      <p:sp>
        <p:nvSpPr>
          <p:cNvPr id="704" name="Shape 12"/>
          <p:cNvSpPr/>
          <p:nvPr/>
        </p:nvSpPr>
        <p:spPr>
          <a:xfrm>
            <a:off x="7680960" y="1234440"/>
            <a:ext cx="3291480" cy="392760"/>
          </a:xfrm>
          <a:prstGeom prst="rect">
            <a:avLst/>
          </a:prstGeom>
          <a:solidFill>
            <a:srgbClr val="0B4F71"/>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05" name="Text 13"/>
          <p:cNvSpPr/>
          <p:nvPr/>
        </p:nvSpPr>
        <p:spPr>
          <a:xfrm>
            <a:off x="7735680" y="1303200"/>
            <a:ext cx="318168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80" b="1" u="none" strike="noStrike">
                <a:solidFill>
                  <a:srgbClr val="FFFFFF"/>
                </a:solidFill>
                <a:effectLst/>
                <a:uFillTx/>
                <a:latin typeface="Aptos"/>
              </a:rPr>
              <a:t>Respuesta integrada</a:t>
            </a:r>
            <a:endParaRPr lang="en-US" sz="780" b="0" u="none" strike="noStrike">
              <a:solidFill>
                <a:srgbClr val="000000"/>
              </a:solidFill>
              <a:effectLst/>
              <a:uFillTx/>
              <a:latin typeface="Arial"/>
            </a:endParaRPr>
          </a:p>
        </p:txBody>
      </p:sp>
      <p:sp>
        <p:nvSpPr>
          <p:cNvPr id="706" name="Shape 14"/>
          <p:cNvSpPr/>
          <p:nvPr/>
        </p:nvSpPr>
        <p:spPr>
          <a:xfrm>
            <a:off x="5623560" y="1627560"/>
            <a:ext cx="2057040" cy="3927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07" name="Text 15"/>
          <p:cNvSpPr/>
          <p:nvPr/>
        </p:nvSpPr>
        <p:spPr>
          <a:xfrm>
            <a:off x="5678280" y="1696320"/>
            <a:ext cx="194724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Necesidad</a:t>
            </a:r>
            <a:endParaRPr lang="en-US" sz="750" b="0" u="none" strike="noStrike">
              <a:solidFill>
                <a:srgbClr val="000000"/>
              </a:solidFill>
              <a:effectLst/>
              <a:uFillTx/>
              <a:latin typeface="Arial"/>
            </a:endParaRPr>
          </a:p>
        </p:txBody>
      </p:sp>
      <p:sp>
        <p:nvSpPr>
          <p:cNvPr id="708" name="Shape 16"/>
          <p:cNvSpPr/>
          <p:nvPr/>
        </p:nvSpPr>
        <p:spPr>
          <a:xfrm>
            <a:off x="7680960" y="1627560"/>
            <a:ext cx="3291480" cy="3927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09" name="Text 17"/>
          <p:cNvSpPr/>
          <p:nvPr/>
        </p:nvSpPr>
        <p:spPr>
          <a:xfrm>
            <a:off x="7735680" y="1696320"/>
            <a:ext cx="318168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Cerrar la simulación después del retraso inicial.</a:t>
            </a:r>
            <a:endParaRPr lang="en-US" sz="750" b="0" u="none" strike="noStrike">
              <a:solidFill>
                <a:srgbClr val="000000"/>
              </a:solidFill>
              <a:effectLst/>
              <a:uFillTx/>
              <a:latin typeface="Arial"/>
            </a:endParaRPr>
          </a:p>
        </p:txBody>
      </p:sp>
      <p:sp>
        <p:nvSpPr>
          <p:cNvPr id="710" name="Shape 18"/>
          <p:cNvSpPr/>
          <p:nvPr/>
        </p:nvSpPr>
        <p:spPr>
          <a:xfrm>
            <a:off x="5623560" y="2020680"/>
            <a:ext cx="2057040" cy="3927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11" name="Text 19"/>
          <p:cNvSpPr/>
          <p:nvPr/>
        </p:nvSpPr>
        <p:spPr>
          <a:xfrm>
            <a:off x="5678280" y="2089440"/>
            <a:ext cx="194724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Objetivo</a:t>
            </a:r>
            <a:endParaRPr lang="en-US" sz="750" b="0" u="none" strike="noStrike">
              <a:solidFill>
                <a:srgbClr val="000000"/>
              </a:solidFill>
              <a:effectLst/>
              <a:uFillTx/>
              <a:latin typeface="Arial"/>
            </a:endParaRPr>
          </a:p>
        </p:txBody>
      </p:sp>
      <p:sp>
        <p:nvSpPr>
          <p:cNvPr id="712" name="Shape 20"/>
          <p:cNvSpPr/>
          <p:nvPr/>
        </p:nvSpPr>
        <p:spPr>
          <a:xfrm>
            <a:off x="7680960" y="2020680"/>
            <a:ext cx="3291480" cy="3927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13" name="Text 21"/>
          <p:cNvSpPr/>
          <p:nvPr/>
        </p:nvSpPr>
        <p:spPr>
          <a:xfrm>
            <a:off x="7735680" y="2089440"/>
            <a:ext cx="318168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Completar D1–D8 con evidencia revisada.</a:t>
            </a:r>
            <a:endParaRPr lang="en-US" sz="750" b="0" u="none" strike="noStrike">
              <a:solidFill>
                <a:srgbClr val="000000"/>
              </a:solidFill>
              <a:effectLst/>
              <a:uFillTx/>
              <a:latin typeface="Arial"/>
            </a:endParaRPr>
          </a:p>
        </p:txBody>
      </p:sp>
      <p:sp>
        <p:nvSpPr>
          <p:cNvPr id="714" name="Shape 22"/>
          <p:cNvSpPr/>
          <p:nvPr/>
        </p:nvSpPr>
        <p:spPr>
          <a:xfrm>
            <a:off x="5623560" y="2414160"/>
            <a:ext cx="2057040" cy="3927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15" name="Text 23"/>
          <p:cNvSpPr/>
          <p:nvPr/>
        </p:nvSpPr>
        <p:spPr>
          <a:xfrm>
            <a:off x="5678280" y="2482560"/>
            <a:ext cx="194724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Alcance</a:t>
            </a:r>
            <a:endParaRPr lang="en-US" sz="750" b="0" u="none" strike="noStrike">
              <a:solidFill>
                <a:srgbClr val="000000"/>
              </a:solidFill>
              <a:effectLst/>
              <a:uFillTx/>
              <a:latin typeface="Arial"/>
            </a:endParaRPr>
          </a:p>
        </p:txBody>
      </p:sp>
      <p:sp>
        <p:nvSpPr>
          <p:cNvPr id="716" name="Shape 24"/>
          <p:cNvSpPr/>
          <p:nvPr/>
        </p:nvSpPr>
        <p:spPr>
          <a:xfrm>
            <a:off x="7680960" y="2414160"/>
            <a:ext cx="3291480" cy="3927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17" name="Text 25"/>
          <p:cNvSpPr/>
          <p:nvPr/>
        </p:nvSpPr>
        <p:spPr>
          <a:xfrm>
            <a:off x="7735680" y="2482560"/>
            <a:ext cx="318168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Simulación, documentación, pruebas y cierre académico.</a:t>
            </a:r>
            <a:endParaRPr lang="en-US" sz="750" b="0" u="none" strike="noStrike">
              <a:solidFill>
                <a:srgbClr val="000000"/>
              </a:solidFill>
              <a:effectLst/>
              <a:uFillTx/>
              <a:latin typeface="Arial"/>
            </a:endParaRPr>
          </a:p>
        </p:txBody>
      </p:sp>
      <p:sp>
        <p:nvSpPr>
          <p:cNvPr id="718" name="Shape 26"/>
          <p:cNvSpPr/>
          <p:nvPr/>
        </p:nvSpPr>
        <p:spPr>
          <a:xfrm>
            <a:off x="5623560" y="2807280"/>
            <a:ext cx="2057040" cy="3927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19" name="Text 27"/>
          <p:cNvSpPr/>
          <p:nvPr/>
        </p:nvSpPr>
        <p:spPr>
          <a:xfrm>
            <a:off x="5678280" y="2875680"/>
            <a:ext cx="194724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WBS/EDT</a:t>
            </a:r>
            <a:endParaRPr lang="en-US" sz="750" b="0" u="none" strike="noStrike">
              <a:solidFill>
                <a:srgbClr val="000000"/>
              </a:solidFill>
              <a:effectLst/>
              <a:uFillTx/>
              <a:latin typeface="Arial"/>
            </a:endParaRPr>
          </a:p>
        </p:txBody>
      </p:sp>
      <p:sp>
        <p:nvSpPr>
          <p:cNvPr id="720" name="Shape 28"/>
          <p:cNvSpPr/>
          <p:nvPr/>
        </p:nvSpPr>
        <p:spPr>
          <a:xfrm>
            <a:off x="7680960" y="2807280"/>
            <a:ext cx="3291480" cy="3927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21" name="Text 29"/>
          <p:cNvSpPr/>
          <p:nvPr/>
        </p:nvSpPr>
        <p:spPr>
          <a:xfrm>
            <a:off x="7735680" y="2875680"/>
            <a:ext cx="318168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Inicio, planificación, desarrollo, validación, resultados y cierre.</a:t>
            </a:r>
            <a:endParaRPr lang="en-US" sz="750" b="0" u="none" strike="noStrike">
              <a:solidFill>
                <a:srgbClr val="000000"/>
              </a:solidFill>
              <a:effectLst/>
              <a:uFillTx/>
              <a:latin typeface="Arial"/>
            </a:endParaRPr>
          </a:p>
        </p:txBody>
      </p:sp>
      <p:sp>
        <p:nvSpPr>
          <p:cNvPr id="722" name="Shape 30"/>
          <p:cNvSpPr/>
          <p:nvPr/>
        </p:nvSpPr>
        <p:spPr>
          <a:xfrm>
            <a:off x="5623560" y="3200400"/>
            <a:ext cx="2057040" cy="3927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23" name="Text 31"/>
          <p:cNvSpPr/>
          <p:nvPr/>
        </p:nvSpPr>
        <p:spPr>
          <a:xfrm>
            <a:off x="5678280" y="3269160"/>
            <a:ext cx="194724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Cronograma</a:t>
            </a:r>
            <a:endParaRPr lang="en-US" sz="750" b="0" u="none" strike="noStrike">
              <a:solidFill>
                <a:srgbClr val="000000"/>
              </a:solidFill>
              <a:effectLst/>
              <a:uFillTx/>
              <a:latin typeface="Arial"/>
            </a:endParaRPr>
          </a:p>
        </p:txBody>
      </p:sp>
      <p:sp>
        <p:nvSpPr>
          <p:cNvPr id="724" name="Shape 32"/>
          <p:cNvSpPr/>
          <p:nvPr/>
        </p:nvSpPr>
        <p:spPr>
          <a:xfrm>
            <a:off x="7680960" y="3200400"/>
            <a:ext cx="3291480" cy="3927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25" name="Text 33"/>
          <p:cNvSpPr/>
          <p:nvPr/>
        </p:nvSpPr>
        <p:spPr>
          <a:xfrm>
            <a:off x="7735680" y="3269160"/>
            <a:ext cx="318168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Plan 27–30/08; cierre técnico posterior documentado.</a:t>
            </a:r>
            <a:endParaRPr lang="en-US" sz="750" b="0" u="none" strike="noStrike">
              <a:solidFill>
                <a:srgbClr val="000000"/>
              </a:solidFill>
              <a:effectLst/>
              <a:uFillTx/>
              <a:latin typeface="Arial"/>
            </a:endParaRPr>
          </a:p>
        </p:txBody>
      </p:sp>
      <p:sp>
        <p:nvSpPr>
          <p:cNvPr id="726" name="Shape 34"/>
          <p:cNvSpPr/>
          <p:nvPr/>
        </p:nvSpPr>
        <p:spPr>
          <a:xfrm>
            <a:off x="5623560" y="3593520"/>
            <a:ext cx="2057040" cy="3927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27" name="Text 35"/>
          <p:cNvSpPr/>
          <p:nvPr/>
        </p:nvSpPr>
        <p:spPr>
          <a:xfrm>
            <a:off x="5678280" y="3662280"/>
            <a:ext cx="194724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Recursos</a:t>
            </a:r>
            <a:endParaRPr lang="en-US" sz="750" b="0" u="none" strike="noStrike">
              <a:solidFill>
                <a:srgbClr val="000000"/>
              </a:solidFill>
              <a:effectLst/>
              <a:uFillTx/>
              <a:latin typeface="Arial"/>
            </a:endParaRPr>
          </a:p>
        </p:txBody>
      </p:sp>
      <p:sp>
        <p:nvSpPr>
          <p:cNvPr id="728" name="Shape 36"/>
          <p:cNvSpPr/>
          <p:nvPr/>
        </p:nvSpPr>
        <p:spPr>
          <a:xfrm>
            <a:off x="7680960" y="3593520"/>
            <a:ext cx="3291480" cy="3927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29" name="Text 37"/>
          <p:cNvSpPr/>
          <p:nvPr/>
        </p:nvSpPr>
        <p:spPr>
          <a:xfrm>
            <a:off x="7735680" y="3662280"/>
            <a:ext cx="318168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Aarón, Amaury, Bizagi, Word, Excel, WhatsApp y Trello.</a:t>
            </a:r>
            <a:endParaRPr lang="en-US" sz="750" b="0" u="none" strike="noStrike">
              <a:solidFill>
                <a:srgbClr val="000000"/>
              </a:solidFill>
              <a:effectLst/>
              <a:uFillTx/>
              <a:latin typeface="Arial"/>
            </a:endParaRPr>
          </a:p>
        </p:txBody>
      </p:sp>
      <p:sp>
        <p:nvSpPr>
          <p:cNvPr id="730" name="Shape 38"/>
          <p:cNvSpPr/>
          <p:nvPr/>
        </p:nvSpPr>
        <p:spPr>
          <a:xfrm>
            <a:off x="5623560" y="3986640"/>
            <a:ext cx="2057040" cy="3927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31" name="Text 39"/>
          <p:cNvSpPr/>
          <p:nvPr/>
        </p:nvSpPr>
        <p:spPr>
          <a:xfrm>
            <a:off x="5678280" y="4055400"/>
            <a:ext cx="194724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Decisión PM</a:t>
            </a:r>
            <a:endParaRPr lang="en-US" sz="750" b="0" u="none" strike="noStrike">
              <a:solidFill>
                <a:srgbClr val="000000"/>
              </a:solidFill>
              <a:effectLst/>
              <a:uFillTx/>
              <a:latin typeface="Arial"/>
            </a:endParaRPr>
          </a:p>
        </p:txBody>
      </p:sp>
      <p:sp>
        <p:nvSpPr>
          <p:cNvPr id="732" name="Shape 40"/>
          <p:cNvSpPr/>
          <p:nvPr/>
        </p:nvSpPr>
        <p:spPr>
          <a:xfrm>
            <a:off x="7680960" y="3986640"/>
            <a:ext cx="3291480" cy="392760"/>
          </a:xfrm>
          <a:prstGeom prst="rect">
            <a:avLst/>
          </a:prstGeom>
          <a:solidFill>
            <a:srgbClr val="FFFFFF"/>
          </a:solidFill>
          <a:ln w="571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33" name="Text 41"/>
          <p:cNvSpPr/>
          <p:nvPr/>
        </p:nvSpPr>
        <p:spPr>
          <a:xfrm>
            <a:off x="7735680" y="4055400"/>
            <a:ext cx="318168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0" u="none" strike="noStrike">
                <a:solidFill>
                  <a:srgbClr val="2E3440"/>
                </a:solidFill>
                <a:effectLst/>
                <a:uFillTx/>
                <a:latin typeface="Aptos"/>
              </a:rPr>
              <a:t>Aceptar cierre solo después de correcciones D6–D7.</a:t>
            </a:r>
            <a:endParaRPr lang="en-US" sz="750" b="0" u="none" strike="noStrike">
              <a:solidFill>
                <a:srgbClr val="000000"/>
              </a:solidFill>
              <a:effectLst/>
              <a:uFillTx/>
              <a:latin typeface="Arial"/>
            </a:endParaRPr>
          </a:p>
        </p:txBody>
      </p:sp>
      <p:sp>
        <p:nvSpPr>
          <p:cNvPr id="734" name="Shape 42"/>
          <p:cNvSpPr/>
          <p:nvPr/>
        </p:nvSpPr>
        <p:spPr>
          <a:xfrm>
            <a:off x="5623560" y="5870520"/>
            <a:ext cx="5348880" cy="429480"/>
          </a:xfrm>
          <a:prstGeom prst="roundRect">
            <a:avLst>
              <a:gd name="adj" fmla="val 17021"/>
            </a:avLst>
          </a:prstGeom>
          <a:solidFill>
            <a:srgbClr val="DDF7EA"/>
          </a:solidFill>
          <a:ln w="635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35" name="Text 43"/>
          <p:cNvSpPr/>
          <p:nvPr/>
        </p:nvSpPr>
        <p:spPr>
          <a:xfrm>
            <a:off x="5769720" y="5980320"/>
            <a:ext cx="50562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defTabSz="914400">
              <a:lnSpc>
                <a:spcPct val="100000"/>
              </a:lnSpc>
              <a:tabLst>
                <a:tab pos="0" algn="l"/>
              </a:tabLst>
            </a:pPr>
            <a:r>
              <a:rPr lang="en-US" sz="1010" b="0" u="none" strike="noStrike" dirty="0" err="1">
                <a:solidFill>
                  <a:srgbClr val="2E3440"/>
                </a:solidFill>
                <a:effectLst/>
                <a:uFillTx/>
                <a:latin typeface="Aptos"/>
              </a:rPr>
              <a:t>Resultado</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el</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caso</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muestra</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una</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planificación</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completa</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porque</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conecta</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objetivo</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alcance</a:t>
            </a:r>
            <a:r>
              <a:rPr lang="en-US" sz="1010" b="0" u="none" strike="noStrike" dirty="0">
                <a:solidFill>
                  <a:srgbClr val="2E3440"/>
                </a:solidFill>
                <a:effectLst/>
                <a:uFillTx/>
                <a:latin typeface="Aptos"/>
              </a:rPr>
              <a:t>, WBS, </a:t>
            </a:r>
            <a:r>
              <a:rPr lang="en-US" sz="1010" b="0" u="none" strike="noStrike" dirty="0" err="1">
                <a:solidFill>
                  <a:srgbClr val="2E3440"/>
                </a:solidFill>
                <a:effectLst/>
                <a:uFillTx/>
                <a:latin typeface="Aptos"/>
              </a:rPr>
              <a:t>cronograma</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recursos</a:t>
            </a:r>
            <a:r>
              <a:rPr lang="en-US" sz="1010" b="0" u="none" strike="noStrike" dirty="0">
                <a:solidFill>
                  <a:srgbClr val="2E3440"/>
                </a:solidFill>
                <a:effectLst/>
                <a:uFillTx/>
                <a:latin typeface="Aptos"/>
              </a:rPr>
              <a:t>, </a:t>
            </a:r>
            <a:r>
              <a:rPr lang="en-US" sz="1010" b="0" u="none" strike="noStrike" dirty="0" err="1">
                <a:solidFill>
                  <a:srgbClr val="2E3440"/>
                </a:solidFill>
                <a:effectLst/>
                <a:uFillTx/>
                <a:latin typeface="Aptos"/>
              </a:rPr>
              <a:t>desviación</a:t>
            </a:r>
            <a:r>
              <a:rPr lang="en-US" sz="1010" b="0" u="none" strike="noStrike" dirty="0">
                <a:solidFill>
                  <a:srgbClr val="2E3440"/>
                </a:solidFill>
                <a:effectLst/>
                <a:uFillTx/>
                <a:latin typeface="Aptos"/>
              </a:rPr>
              <a:t> y </a:t>
            </a:r>
            <a:r>
              <a:rPr lang="en-US" sz="1010" b="0" u="none" strike="noStrike" dirty="0" err="1">
                <a:solidFill>
                  <a:srgbClr val="2E3440"/>
                </a:solidFill>
                <a:effectLst/>
                <a:uFillTx/>
                <a:latin typeface="Aptos"/>
              </a:rPr>
              <a:t>decisión</a:t>
            </a:r>
            <a:r>
              <a:rPr lang="en-US" sz="1010" b="0" u="none" strike="noStrike" dirty="0">
                <a:solidFill>
                  <a:srgbClr val="2E3440"/>
                </a:solidFill>
                <a:effectLst/>
                <a:uFillTx/>
                <a:latin typeface="Aptos"/>
              </a:rPr>
              <a:t> PM.</a:t>
            </a:r>
            <a:endParaRPr lang="en-US" sz="1010" b="0" u="none" strike="noStrike" dirty="0">
              <a:solidFill>
                <a:srgbClr val="000000"/>
              </a:solidFill>
              <a:effectLst/>
              <a:uFillTx/>
              <a:latin typeface="Arial"/>
            </a:endParaRPr>
          </a:p>
        </p:txBody>
      </p:sp>
      <p:sp>
        <p:nvSpPr>
          <p:cNvPr id="738" name="Text 46"/>
          <p:cNvSpPr/>
          <p:nvPr/>
        </p:nvSpPr>
        <p:spPr>
          <a:xfrm>
            <a:off x="11292840" y="658368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1" u="none" strike="noStrike">
                <a:solidFill>
                  <a:srgbClr val="6B7280"/>
                </a:solidFill>
                <a:effectLst/>
                <a:uFillTx/>
                <a:latin typeface="Aptos"/>
              </a:rPr>
              <a:t>16</a:t>
            </a:r>
            <a:endParaRPr lang="en-US" sz="850" b="0" u="none" strike="noStrike">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740" name="Text 1"/>
          <p:cNvSpPr/>
          <p:nvPr/>
        </p:nvSpPr>
        <p:spPr>
          <a:xfrm>
            <a:off x="502920" y="329040"/>
            <a:ext cx="94179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50" b="1" u="none" strike="noStrike">
                <a:solidFill>
                  <a:srgbClr val="172033"/>
                </a:solidFill>
                <a:effectLst/>
                <a:uFillTx/>
                <a:latin typeface="Aptos Display"/>
                <a:ea typeface="Aptos Display"/>
              </a:rPr>
              <a:t>Herramientas de seguimiento y trazabilidad</a:t>
            </a:r>
            <a:endParaRPr lang="en-US" sz="2450" b="0" u="none" strike="noStrike">
              <a:solidFill>
                <a:srgbClr val="000000"/>
              </a:solidFill>
              <a:effectLst/>
              <a:uFillTx/>
              <a:latin typeface="Arial"/>
            </a:endParaRPr>
          </a:p>
        </p:txBody>
      </p:sp>
      <p:sp>
        <p:nvSpPr>
          <p:cNvPr id="741" name="Text 2"/>
          <p:cNvSpPr/>
          <p:nvPr/>
        </p:nvSpPr>
        <p:spPr>
          <a:xfrm>
            <a:off x="521280" y="749880"/>
            <a:ext cx="9692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20" b="0" u="none" strike="noStrike">
                <a:solidFill>
                  <a:srgbClr val="6B7280"/>
                </a:solidFill>
                <a:effectLst/>
                <a:uFillTx/>
                <a:latin typeface="Aptos"/>
                <a:ea typeface="Aptos"/>
              </a:rPr>
              <a:t>Cómo se respaldaron los ejercicios</a:t>
            </a:r>
            <a:endParaRPr lang="en-US" sz="1020" b="0" u="none" strike="noStrike">
              <a:solidFill>
                <a:srgbClr val="000000"/>
              </a:solidFill>
              <a:effectLst/>
              <a:uFillTx/>
              <a:latin typeface="Arial"/>
            </a:endParaRPr>
          </a:p>
        </p:txBody>
      </p:sp>
      <p:sp>
        <p:nvSpPr>
          <p:cNvPr id="742" name="Shape 3"/>
          <p:cNvSpPr/>
          <p:nvPr/>
        </p:nvSpPr>
        <p:spPr>
          <a:xfrm>
            <a:off x="502920" y="1042200"/>
            <a:ext cx="11201400" cy="360"/>
          </a:xfrm>
          <a:prstGeom prst="line">
            <a:avLst/>
          </a:prstGeom>
          <a:ln w="10160">
            <a:solidFill>
              <a:srgbClr val="D7DEE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743" name="Shape 4"/>
          <p:cNvSpPr/>
          <p:nvPr/>
        </p:nvSpPr>
        <p:spPr>
          <a:xfrm>
            <a:off x="567000" y="1188720"/>
            <a:ext cx="5321520" cy="3794400"/>
          </a:xfrm>
          <a:prstGeom prst="roundRect">
            <a:avLst>
              <a:gd name="adj" fmla="val 1928"/>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744" name="Image 0" descr="/mnt/data/32f4eca4-0a42-4529-914a-551fe7e3141d.png"/>
          <p:cNvPicPr/>
          <p:nvPr/>
        </p:nvPicPr>
        <p:blipFill>
          <a:blip r:embed="rId3"/>
          <a:srcRect l="2736" r="2736"/>
          <a:stretch/>
        </p:blipFill>
        <p:spPr>
          <a:xfrm>
            <a:off x="631080" y="1252800"/>
            <a:ext cx="5193360" cy="3355560"/>
          </a:xfrm>
          <a:prstGeom prst="rect">
            <a:avLst/>
          </a:prstGeom>
          <a:noFill/>
          <a:ln w="0">
            <a:noFill/>
          </a:ln>
        </p:spPr>
      </p:pic>
      <p:sp>
        <p:nvSpPr>
          <p:cNvPr id="745" name="Text 5"/>
          <p:cNvSpPr/>
          <p:nvPr/>
        </p:nvSpPr>
        <p:spPr>
          <a:xfrm>
            <a:off x="685800" y="4718160"/>
            <a:ext cx="50835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10" b="0" u="none" strike="noStrike">
                <a:solidFill>
                  <a:srgbClr val="6B7280"/>
                </a:solidFill>
                <a:effectLst/>
                <a:uFillTx/>
                <a:latin typeface="Aptos"/>
              </a:rPr>
              <a:t>Trello: evidencia del tablero público y tarjetas de entregables.</a:t>
            </a:r>
            <a:endParaRPr lang="en-US" sz="710" b="0" u="none" strike="noStrike">
              <a:solidFill>
                <a:srgbClr val="000000"/>
              </a:solidFill>
              <a:effectLst/>
              <a:uFillTx/>
              <a:latin typeface="Arial"/>
            </a:endParaRPr>
          </a:p>
        </p:txBody>
      </p:sp>
      <p:sp>
        <p:nvSpPr>
          <p:cNvPr id="746" name="Shape 6"/>
          <p:cNvSpPr/>
          <p:nvPr/>
        </p:nvSpPr>
        <p:spPr>
          <a:xfrm>
            <a:off x="6144840" y="1188720"/>
            <a:ext cx="5321520" cy="3794400"/>
          </a:xfrm>
          <a:prstGeom prst="roundRect">
            <a:avLst>
              <a:gd name="adj" fmla="val 1928"/>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747" name="Image 1" descr="/mnt/data/94b1df48-a063-406b-b2e3-402832acf9a6.png"/>
          <p:cNvPicPr/>
          <p:nvPr/>
        </p:nvPicPr>
        <p:blipFill>
          <a:blip r:embed="rId4"/>
          <a:srcRect l="8381" r="8381"/>
          <a:stretch/>
        </p:blipFill>
        <p:spPr>
          <a:xfrm>
            <a:off x="6208920" y="1252800"/>
            <a:ext cx="5193360" cy="3355560"/>
          </a:xfrm>
          <a:prstGeom prst="rect">
            <a:avLst/>
          </a:prstGeom>
          <a:noFill/>
          <a:ln w="0">
            <a:noFill/>
          </a:ln>
        </p:spPr>
      </p:pic>
      <p:sp>
        <p:nvSpPr>
          <p:cNvPr id="748" name="Text 7"/>
          <p:cNvSpPr/>
          <p:nvPr/>
        </p:nvSpPr>
        <p:spPr>
          <a:xfrm>
            <a:off x="6263640" y="4718160"/>
            <a:ext cx="50835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10" b="0" u="none" strike="noStrike">
                <a:solidFill>
                  <a:srgbClr val="6B7280"/>
                </a:solidFill>
                <a:effectLst/>
                <a:uFillTx/>
                <a:latin typeface="Aptos"/>
              </a:rPr>
              <a:t>ClickUp: seguimiento de tareas, estados y prioridades de ProcesMuebles.</a:t>
            </a:r>
            <a:endParaRPr lang="en-US" sz="710" b="0" u="none" strike="noStrike">
              <a:solidFill>
                <a:srgbClr val="000000"/>
              </a:solidFill>
              <a:effectLst/>
              <a:uFillTx/>
              <a:latin typeface="Arial"/>
            </a:endParaRPr>
          </a:p>
        </p:txBody>
      </p:sp>
      <p:sp>
        <p:nvSpPr>
          <p:cNvPr id="749" name="Shape 8"/>
          <p:cNvSpPr/>
          <p:nvPr/>
        </p:nvSpPr>
        <p:spPr>
          <a:xfrm>
            <a:off x="822960" y="5321880"/>
            <a:ext cx="10240920" cy="676440"/>
          </a:xfrm>
          <a:prstGeom prst="roundRect">
            <a:avLst>
              <a:gd name="adj" fmla="val 10811"/>
            </a:avLst>
          </a:prstGeom>
          <a:solidFill>
            <a:srgbClr val="FFFFFF"/>
          </a:solidFill>
          <a:ln w="635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50" name="Text 9"/>
          <p:cNvSpPr/>
          <p:nvPr/>
        </p:nvSpPr>
        <p:spPr>
          <a:xfrm>
            <a:off x="969120" y="5431680"/>
            <a:ext cx="994824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10" b="0" u="none" strike="noStrike">
                <a:solidFill>
                  <a:srgbClr val="2E3440"/>
                </a:solidFill>
                <a:effectLst/>
                <a:uFillTx/>
                <a:latin typeface="Aptos"/>
              </a:rPr>
              <a:t>Trello se utilizó para visibilizar el flujo de trabajo y el estado del expediente. ClickUp se usó como apoyo para controlar tareas de Alondra, marcar prioridades y dejar claro qué seguía pendiente.</a:t>
            </a:r>
            <a:endParaRPr lang="en-US" sz="1010" b="0" u="none" strike="noStrike">
              <a:solidFill>
                <a:srgbClr val="000000"/>
              </a:solidFill>
              <a:effectLst/>
              <a:uFillTx/>
              <a:latin typeface="Arial"/>
            </a:endParaRPr>
          </a:p>
        </p:txBody>
      </p:sp>
      <p:sp>
        <p:nvSpPr>
          <p:cNvPr id="753" name="Text 12"/>
          <p:cNvSpPr/>
          <p:nvPr/>
        </p:nvSpPr>
        <p:spPr>
          <a:xfrm>
            <a:off x="11292840" y="658368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1" u="none" strike="noStrike">
                <a:solidFill>
                  <a:srgbClr val="6B7280"/>
                </a:solidFill>
                <a:effectLst/>
                <a:uFillTx/>
                <a:latin typeface="Aptos"/>
              </a:rPr>
              <a:t>17</a:t>
            </a:r>
            <a:endParaRPr lang="en-US" sz="85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754" name="Shape 0"/>
          <p:cNvSpPr/>
          <p:nvPr/>
        </p:nvSpPr>
        <p:spPr>
          <a:xfrm>
            <a:off x="0" y="0"/>
            <a:ext cx="12191400" cy="6857640"/>
          </a:xfrm>
          <a:prstGeom prst="rect">
            <a:avLst/>
          </a:prstGeom>
          <a:solidFill>
            <a:srgbClr val="F6F8FC"/>
          </a:solidFill>
          <a:ln w="12700">
            <a:solidFill>
              <a:srgbClr val="F6F8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55" name="Text 1"/>
          <p:cNvSpPr/>
          <p:nvPr/>
        </p:nvSpPr>
        <p:spPr>
          <a:xfrm>
            <a:off x="502920" y="329040"/>
            <a:ext cx="94179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50" b="1" u="none" strike="noStrike">
                <a:solidFill>
                  <a:srgbClr val="172033"/>
                </a:solidFill>
                <a:effectLst/>
                <a:uFillTx/>
                <a:latin typeface="Aptos Display"/>
                <a:ea typeface="Aptos Display"/>
              </a:rPr>
              <a:t>Resultados del banco de ejercicios</a:t>
            </a:r>
            <a:endParaRPr lang="en-US" sz="2450" b="0" u="none" strike="noStrike">
              <a:solidFill>
                <a:srgbClr val="000000"/>
              </a:solidFill>
              <a:effectLst/>
              <a:uFillTx/>
              <a:latin typeface="Arial"/>
            </a:endParaRPr>
          </a:p>
        </p:txBody>
      </p:sp>
      <p:sp>
        <p:nvSpPr>
          <p:cNvPr id="756" name="Text 2"/>
          <p:cNvSpPr/>
          <p:nvPr/>
        </p:nvSpPr>
        <p:spPr>
          <a:xfrm>
            <a:off x="521280" y="749880"/>
            <a:ext cx="9692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20" b="0" u="none" strike="noStrike">
                <a:solidFill>
                  <a:srgbClr val="6B7280"/>
                </a:solidFill>
                <a:effectLst/>
                <a:uFillTx/>
                <a:latin typeface="Aptos"/>
                <a:ea typeface="Aptos"/>
              </a:rPr>
              <a:t>Qué demuestra la actividad</a:t>
            </a:r>
            <a:endParaRPr lang="en-US" sz="1020" b="0" u="none" strike="noStrike">
              <a:solidFill>
                <a:srgbClr val="000000"/>
              </a:solidFill>
              <a:effectLst/>
              <a:uFillTx/>
              <a:latin typeface="Arial"/>
            </a:endParaRPr>
          </a:p>
        </p:txBody>
      </p:sp>
      <p:sp>
        <p:nvSpPr>
          <p:cNvPr id="757" name="Shape 3"/>
          <p:cNvSpPr/>
          <p:nvPr/>
        </p:nvSpPr>
        <p:spPr>
          <a:xfrm>
            <a:off x="502920" y="1042200"/>
            <a:ext cx="11201400" cy="360"/>
          </a:xfrm>
          <a:prstGeom prst="line">
            <a:avLst/>
          </a:prstGeom>
          <a:ln w="10160">
            <a:solidFill>
              <a:srgbClr val="D7DEE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758" name="Shape 4"/>
          <p:cNvSpPr/>
          <p:nvPr/>
        </p:nvSpPr>
        <p:spPr>
          <a:xfrm>
            <a:off x="713160" y="1371600"/>
            <a:ext cx="3337200" cy="1142640"/>
          </a:xfrm>
          <a:prstGeom prst="roundRect">
            <a:avLst>
              <a:gd name="adj" fmla="val 8000"/>
            </a:avLst>
          </a:prstGeom>
          <a:solidFill>
            <a:srgbClr val="FFFFFF"/>
          </a:solidFill>
          <a:ln w="952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59" name="Shape 5"/>
          <p:cNvSpPr/>
          <p:nvPr/>
        </p:nvSpPr>
        <p:spPr>
          <a:xfrm>
            <a:off x="713160" y="1371600"/>
            <a:ext cx="91080" cy="1142640"/>
          </a:xfrm>
          <a:prstGeom prst="rect">
            <a:avLst/>
          </a:prstGeom>
          <a:solidFill>
            <a:srgbClr val="2477C8"/>
          </a:solidFill>
          <a:ln w="12700">
            <a:solidFill>
              <a:srgbClr val="2477C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60" name="Text 6"/>
          <p:cNvSpPr/>
          <p:nvPr/>
        </p:nvSpPr>
        <p:spPr>
          <a:xfrm>
            <a:off x="914400" y="1517760"/>
            <a:ext cx="30081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a:solidFill>
                  <a:srgbClr val="172033"/>
                </a:solidFill>
                <a:effectLst/>
                <a:uFillTx/>
                <a:latin typeface="Aptos"/>
              </a:rPr>
              <a:t>Dominio del objetivo</a:t>
            </a:r>
            <a:endParaRPr lang="en-US" sz="1200" b="0" u="none" strike="noStrike">
              <a:solidFill>
                <a:srgbClr val="000000"/>
              </a:solidFill>
              <a:effectLst/>
              <a:uFillTx/>
              <a:latin typeface="Arial"/>
            </a:endParaRPr>
          </a:p>
        </p:txBody>
      </p:sp>
      <p:sp>
        <p:nvSpPr>
          <p:cNvPr id="761" name="Text 7"/>
          <p:cNvSpPr/>
          <p:nvPr/>
        </p:nvSpPr>
        <p:spPr>
          <a:xfrm>
            <a:off x="914400" y="1837800"/>
            <a:ext cx="30081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920" b="0" u="none" strike="noStrike">
                <a:solidFill>
                  <a:srgbClr val="2E3440"/>
                </a:solidFill>
                <a:effectLst/>
                <a:uFillTx/>
                <a:latin typeface="Aptos"/>
              </a:rPr>
              <a:t>La necesidad se convirtió en objetivos medibles, no en frases generales.</a:t>
            </a:r>
            <a:endParaRPr lang="en-US" sz="920" b="0" u="none" strike="noStrike">
              <a:solidFill>
                <a:srgbClr val="000000"/>
              </a:solidFill>
              <a:effectLst/>
              <a:uFillTx/>
              <a:latin typeface="Arial"/>
            </a:endParaRPr>
          </a:p>
        </p:txBody>
      </p:sp>
      <p:sp>
        <p:nvSpPr>
          <p:cNvPr id="762" name="Shape 8"/>
          <p:cNvSpPr/>
          <p:nvPr/>
        </p:nvSpPr>
        <p:spPr>
          <a:xfrm>
            <a:off x="4416480" y="1371600"/>
            <a:ext cx="3337200" cy="1142640"/>
          </a:xfrm>
          <a:prstGeom prst="roundRect">
            <a:avLst>
              <a:gd name="adj" fmla="val 8000"/>
            </a:avLst>
          </a:prstGeom>
          <a:solidFill>
            <a:srgbClr val="FFFFFF"/>
          </a:solidFill>
          <a:ln w="952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63" name="Shape 9"/>
          <p:cNvSpPr/>
          <p:nvPr/>
        </p:nvSpPr>
        <p:spPr>
          <a:xfrm>
            <a:off x="4416480" y="1371600"/>
            <a:ext cx="91080" cy="1142640"/>
          </a:xfrm>
          <a:prstGeom prst="rect">
            <a:avLst/>
          </a:prstGeom>
          <a:solidFill>
            <a:srgbClr val="00A86B"/>
          </a:solidFill>
          <a:ln w="12700">
            <a:solidFill>
              <a:srgbClr val="00A86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64" name="Text 10"/>
          <p:cNvSpPr/>
          <p:nvPr/>
        </p:nvSpPr>
        <p:spPr>
          <a:xfrm>
            <a:off x="4617720" y="1517760"/>
            <a:ext cx="30081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a:solidFill>
                  <a:srgbClr val="172033"/>
                </a:solidFill>
                <a:effectLst/>
                <a:uFillTx/>
                <a:latin typeface="Aptos"/>
              </a:rPr>
              <a:t>Alcance controlado</a:t>
            </a:r>
            <a:endParaRPr lang="en-US" sz="1200" b="0" u="none" strike="noStrike">
              <a:solidFill>
                <a:srgbClr val="000000"/>
              </a:solidFill>
              <a:effectLst/>
              <a:uFillTx/>
              <a:latin typeface="Arial"/>
            </a:endParaRPr>
          </a:p>
        </p:txBody>
      </p:sp>
      <p:sp>
        <p:nvSpPr>
          <p:cNvPr id="765" name="Text 11"/>
          <p:cNvSpPr/>
          <p:nvPr/>
        </p:nvSpPr>
        <p:spPr>
          <a:xfrm>
            <a:off x="4617720" y="1837800"/>
            <a:ext cx="30081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920" b="0" u="none" strike="noStrike">
                <a:solidFill>
                  <a:srgbClr val="2E3440"/>
                </a:solidFill>
                <a:effectLst/>
                <a:uFillTx/>
                <a:latin typeface="Aptos"/>
              </a:rPr>
              <a:t>Se separó lo incluido de lo que no pertenecía al expediente académico.</a:t>
            </a:r>
            <a:endParaRPr lang="en-US" sz="920" b="0" u="none" strike="noStrike">
              <a:solidFill>
                <a:srgbClr val="000000"/>
              </a:solidFill>
              <a:effectLst/>
              <a:uFillTx/>
              <a:latin typeface="Arial"/>
            </a:endParaRPr>
          </a:p>
        </p:txBody>
      </p:sp>
      <p:sp>
        <p:nvSpPr>
          <p:cNvPr id="766" name="Shape 12"/>
          <p:cNvSpPr/>
          <p:nvPr/>
        </p:nvSpPr>
        <p:spPr>
          <a:xfrm>
            <a:off x="8119800" y="1371600"/>
            <a:ext cx="3337200" cy="1142640"/>
          </a:xfrm>
          <a:prstGeom prst="roundRect">
            <a:avLst>
              <a:gd name="adj" fmla="val 8000"/>
            </a:avLst>
          </a:prstGeom>
          <a:solidFill>
            <a:srgbClr val="FFFFFF"/>
          </a:solidFill>
          <a:ln w="952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67" name="Shape 13"/>
          <p:cNvSpPr/>
          <p:nvPr/>
        </p:nvSpPr>
        <p:spPr>
          <a:xfrm>
            <a:off x="8119800" y="1371600"/>
            <a:ext cx="91080" cy="1142640"/>
          </a:xfrm>
          <a:prstGeom prst="rect">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68" name="Text 14"/>
          <p:cNvSpPr/>
          <p:nvPr/>
        </p:nvSpPr>
        <p:spPr>
          <a:xfrm>
            <a:off x="8321040" y="1517760"/>
            <a:ext cx="30081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a:solidFill>
                  <a:srgbClr val="172033"/>
                </a:solidFill>
                <a:effectLst/>
                <a:uFillTx/>
                <a:latin typeface="Aptos"/>
              </a:rPr>
              <a:t>Planificación operativa</a:t>
            </a:r>
            <a:endParaRPr lang="en-US" sz="1200" b="0" u="none" strike="noStrike">
              <a:solidFill>
                <a:srgbClr val="000000"/>
              </a:solidFill>
              <a:effectLst/>
              <a:uFillTx/>
              <a:latin typeface="Arial"/>
            </a:endParaRPr>
          </a:p>
        </p:txBody>
      </p:sp>
      <p:sp>
        <p:nvSpPr>
          <p:cNvPr id="769" name="Text 15"/>
          <p:cNvSpPr/>
          <p:nvPr/>
        </p:nvSpPr>
        <p:spPr>
          <a:xfrm>
            <a:off x="8321040" y="1837800"/>
            <a:ext cx="30081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920" b="0" u="none" strike="noStrike">
                <a:solidFill>
                  <a:srgbClr val="2E3440"/>
                </a:solidFill>
                <a:effectLst/>
                <a:uFillTx/>
                <a:latin typeface="Aptos"/>
              </a:rPr>
              <a:t>La WBS, el cronograma y las dependencias se conectaron con D1–D8.</a:t>
            </a:r>
            <a:endParaRPr lang="en-US" sz="920" b="0" u="none" strike="noStrike">
              <a:solidFill>
                <a:srgbClr val="000000"/>
              </a:solidFill>
              <a:effectLst/>
              <a:uFillTx/>
              <a:latin typeface="Arial"/>
            </a:endParaRPr>
          </a:p>
        </p:txBody>
      </p:sp>
      <p:sp>
        <p:nvSpPr>
          <p:cNvPr id="770" name="Shape 16"/>
          <p:cNvSpPr/>
          <p:nvPr/>
        </p:nvSpPr>
        <p:spPr>
          <a:xfrm>
            <a:off x="713160" y="2834640"/>
            <a:ext cx="3337200" cy="1142640"/>
          </a:xfrm>
          <a:prstGeom prst="roundRect">
            <a:avLst>
              <a:gd name="adj" fmla="val 8000"/>
            </a:avLst>
          </a:prstGeom>
          <a:solidFill>
            <a:srgbClr val="FFFFFF"/>
          </a:solidFill>
          <a:ln w="952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71" name="Shape 17"/>
          <p:cNvSpPr/>
          <p:nvPr/>
        </p:nvSpPr>
        <p:spPr>
          <a:xfrm>
            <a:off x="713160" y="2834640"/>
            <a:ext cx="91080" cy="1142640"/>
          </a:xfrm>
          <a:prstGeom prst="rect">
            <a:avLst/>
          </a:prstGeom>
          <a:solidFill>
            <a:srgbClr val="D64545"/>
          </a:solidFill>
          <a:ln w="12700">
            <a:solidFill>
              <a:srgbClr val="D6454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72" name="Text 18"/>
          <p:cNvSpPr/>
          <p:nvPr/>
        </p:nvSpPr>
        <p:spPr>
          <a:xfrm>
            <a:off x="914400" y="2980800"/>
            <a:ext cx="30081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a:solidFill>
                  <a:srgbClr val="172033"/>
                </a:solidFill>
                <a:effectLst/>
                <a:uFillTx/>
                <a:latin typeface="Aptos"/>
              </a:rPr>
              <a:t>Control real</a:t>
            </a:r>
            <a:endParaRPr lang="en-US" sz="1200" b="0" u="none" strike="noStrike">
              <a:solidFill>
                <a:srgbClr val="000000"/>
              </a:solidFill>
              <a:effectLst/>
              <a:uFillTx/>
              <a:latin typeface="Arial"/>
            </a:endParaRPr>
          </a:p>
        </p:txBody>
      </p:sp>
      <p:sp>
        <p:nvSpPr>
          <p:cNvPr id="773" name="Text 19"/>
          <p:cNvSpPr/>
          <p:nvPr/>
        </p:nvSpPr>
        <p:spPr>
          <a:xfrm>
            <a:off x="914400" y="3300840"/>
            <a:ext cx="30081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920" b="0" u="none" strike="noStrike">
                <a:solidFill>
                  <a:srgbClr val="2E3440"/>
                </a:solidFill>
                <a:effectLst/>
                <a:uFillTx/>
                <a:latin typeface="Aptos"/>
              </a:rPr>
              <a:t>Las desviaciones se explicaron con fechas, estados y decisiones PM.</a:t>
            </a:r>
            <a:endParaRPr lang="en-US" sz="920" b="0" u="none" strike="noStrike">
              <a:solidFill>
                <a:srgbClr val="000000"/>
              </a:solidFill>
              <a:effectLst/>
              <a:uFillTx/>
              <a:latin typeface="Arial"/>
            </a:endParaRPr>
          </a:p>
        </p:txBody>
      </p:sp>
      <p:sp>
        <p:nvSpPr>
          <p:cNvPr id="774" name="Shape 20"/>
          <p:cNvSpPr/>
          <p:nvPr/>
        </p:nvSpPr>
        <p:spPr>
          <a:xfrm>
            <a:off x="4416480" y="2834640"/>
            <a:ext cx="3337200" cy="1142640"/>
          </a:xfrm>
          <a:prstGeom prst="roundRect">
            <a:avLst>
              <a:gd name="adj" fmla="val 8000"/>
            </a:avLst>
          </a:prstGeom>
          <a:solidFill>
            <a:srgbClr val="FFFFFF"/>
          </a:solidFill>
          <a:ln w="952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75" name="Shape 21"/>
          <p:cNvSpPr/>
          <p:nvPr/>
        </p:nvSpPr>
        <p:spPr>
          <a:xfrm>
            <a:off x="4416480" y="2834640"/>
            <a:ext cx="91080" cy="1142640"/>
          </a:xfrm>
          <a:prstGeom prst="rect">
            <a:avLst/>
          </a:prstGeom>
          <a:solidFill>
            <a:srgbClr val="6C4BD2"/>
          </a:solidFill>
          <a:ln w="12700">
            <a:solidFill>
              <a:srgbClr val="6C4BD2">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76" name="Text 22"/>
          <p:cNvSpPr/>
          <p:nvPr/>
        </p:nvSpPr>
        <p:spPr>
          <a:xfrm>
            <a:off x="4617720" y="2980800"/>
            <a:ext cx="30081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a:solidFill>
                  <a:srgbClr val="172033"/>
                </a:solidFill>
                <a:effectLst/>
                <a:uFillTx/>
                <a:latin typeface="Aptos"/>
              </a:rPr>
              <a:t>Recursos documentados</a:t>
            </a:r>
            <a:endParaRPr lang="en-US" sz="1200" b="0" u="none" strike="noStrike">
              <a:solidFill>
                <a:srgbClr val="000000"/>
              </a:solidFill>
              <a:effectLst/>
              <a:uFillTx/>
              <a:latin typeface="Arial"/>
            </a:endParaRPr>
          </a:p>
        </p:txBody>
      </p:sp>
      <p:sp>
        <p:nvSpPr>
          <p:cNvPr id="777" name="Text 23"/>
          <p:cNvSpPr/>
          <p:nvPr/>
        </p:nvSpPr>
        <p:spPr>
          <a:xfrm>
            <a:off x="4617720" y="3300840"/>
            <a:ext cx="30081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920" b="0" u="none" strike="noStrike">
                <a:solidFill>
                  <a:srgbClr val="2E3440"/>
                </a:solidFill>
                <a:effectLst/>
                <a:uFillTx/>
                <a:latin typeface="Aptos"/>
              </a:rPr>
              <a:t>Los recursos se registraron sin inventar montos de costo inexistentes.</a:t>
            </a:r>
            <a:endParaRPr lang="en-US" sz="920" b="0" u="none" strike="noStrike">
              <a:solidFill>
                <a:srgbClr val="000000"/>
              </a:solidFill>
              <a:effectLst/>
              <a:uFillTx/>
              <a:latin typeface="Arial"/>
            </a:endParaRPr>
          </a:p>
        </p:txBody>
      </p:sp>
      <p:sp>
        <p:nvSpPr>
          <p:cNvPr id="778" name="Shape 24"/>
          <p:cNvSpPr/>
          <p:nvPr/>
        </p:nvSpPr>
        <p:spPr>
          <a:xfrm>
            <a:off x="8119800" y="2834640"/>
            <a:ext cx="3337200" cy="1142640"/>
          </a:xfrm>
          <a:prstGeom prst="roundRect">
            <a:avLst>
              <a:gd name="adj" fmla="val 8000"/>
            </a:avLst>
          </a:prstGeom>
          <a:solidFill>
            <a:srgbClr val="FFFFFF"/>
          </a:solidFill>
          <a:ln w="9525">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79" name="Shape 25"/>
          <p:cNvSpPr/>
          <p:nvPr/>
        </p:nvSpPr>
        <p:spPr>
          <a:xfrm>
            <a:off x="8119800" y="2834640"/>
            <a:ext cx="91080" cy="1142640"/>
          </a:xfrm>
          <a:prstGeom prst="rect">
            <a:avLst/>
          </a:prstGeom>
          <a:solidFill>
            <a:srgbClr val="0B4F71"/>
          </a:solidFill>
          <a:ln w="12700">
            <a:solidFill>
              <a:srgbClr val="0B4F71">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80" name="Text 26"/>
          <p:cNvSpPr/>
          <p:nvPr/>
        </p:nvSpPr>
        <p:spPr>
          <a:xfrm>
            <a:off x="8321040" y="2980800"/>
            <a:ext cx="30081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a:solidFill>
                  <a:srgbClr val="172033"/>
                </a:solidFill>
                <a:effectLst/>
                <a:uFillTx/>
                <a:latin typeface="Aptos"/>
              </a:rPr>
              <a:t>Replanificación</a:t>
            </a:r>
            <a:endParaRPr lang="en-US" sz="1200" b="0" u="none" strike="noStrike">
              <a:solidFill>
                <a:srgbClr val="000000"/>
              </a:solidFill>
              <a:effectLst/>
              <a:uFillTx/>
              <a:latin typeface="Arial"/>
            </a:endParaRPr>
          </a:p>
        </p:txBody>
      </p:sp>
      <p:sp>
        <p:nvSpPr>
          <p:cNvPr id="781" name="Text 27"/>
          <p:cNvSpPr/>
          <p:nvPr/>
        </p:nvSpPr>
        <p:spPr>
          <a:xfrm>
            <a:off x="8321040" y="3300840"/>
            <a:ext cx="30081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920" b="0" u="none" strike="noStrike">
                <a:solidFill>
                  <a:srgbClr val="2E3440"/>
                </a:solidFill>
                <a:effectLst/>
                <a:uFillTx/>
                <a:latin typeface="Aptos"/>
              </a:rPr>
              <a:t>Los retrasos se atendieron con recuperación, no con una aprobación forzada.</a:t>
            </a:r>
            <a:endParaRPr lang="en-US" sz="920" b="0" u="none" strike="noStrike">
              <a:solidFill>
                <a:srgbClr val="000000"/>
              </a:solidFill>
              <a:effectLst/>
              <a:uFillTx/>
              <a:latin typeface="Arial"/>
            </a:endParaRPr>
          </a:p>
        </p:txBody>
      </p:sp>
      <p:sp>
        <p:nvSpPr>
          <p:cNvPr id="782" name="Shape 28"/>
          <p:cNvSpPr/>
          <p:nvPr/>
        </p:nvSpPr>
        <p:spPr>
          <a:xfrm>
            <a:off x="987480" y="4892040"/>
            <a:ext cx="9920880" cy="749520"/>
          </a:xfrm>
          <a:prstGeom prst="roundRect">
            <a:avLst>
              <a:gd name="adj" fmla="val 9756"/>
            </a:avLst>
          </a:prstGeom>
          <a:solidFill>
            <a:srgbClr val="DDEEFF"/>
          </a:solidFill>
          <a:ln w="635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83" name="Text 29"/>
          <p:cNvSpPr/>
          <p:nvPr/>
        </p:nvSpPr>
        <p:spPr>
          <a:xfrm>
            <a:off x="1134000" y="5001840"/>
            <a:ext cx="9628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10" b="0" u="none" strike="noStrike">
                <a:solidFill>
                  <a:srgbClr val="2E3440"/>
                </a:solidFill>
                <a:effectLst/>
                <a:uFillTx/>
                <a:latin typeface="Aptos"/>
              </a:rPr>
              <a:t>La evidencia más sólida se encuentra en Fast Burger y ProcesMuebles. En Industria Bloquera se usa PLAN-001, alcance y validación; no se agrega REC-001 porque no fue proporcionado.</a:t>
            </a:r>
            <a:endParaRPr lang="en-US" sz="1010" b="0" u="none" strike="noStrike">
              <a:solidFill>
                <a:srgbClr val="000000"/>
              </a:solidFill>
              <a:effectLst/>
              <a:uFillTx/>
              <a:latin typeface="Arial"/>
            </a:endParaRPr>
          </a:p>
        </p:txBody>
      </p:sp>
      <p:sp>
        <p:nvSpPr>
          <p:cNvPr id="786" name="Text 32"/>
          <p:cNvSpPr/>
          <p:nvPr/>
        </p:nvSpPr>
        <p:spPr>
          <a:xfrm>
            <a:off x="11292840" y="658368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1" u="none" strike="noStrike">
                <a:solidFill>
                  <a:srgbClr val="6B7280"/>
                </a:solidFill>
                <a:effectLst/>
                <a:uFillTx/>
                <a:latin typeface="Aptos"/>
              </a:rPr>
              <a:t>18</a:t>
            </a:r>
            <a:endParaRPr lang="en-US" sz="85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788" name="Text 1"/>
          <p:cNvSpPr/>
          <p:nvPr/>
        </p:nvSpPr>
        <p:spPr>
          <a:xfrm>
            <a:off x="502920" y="329040"/>
            <a:ext cx="94179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50" b="1" u="none" strike="noStrike">
                <a:solidFill>
                  <a:srgbClr val="172033"/>
                </a:solidFill>
                <a:effectLst/>
                <a:uFillTx/>
                <a:latin typeface="Aptos Display"/>
                <a:ea typeface="Aptos Display"/>
              </a:rPr>
              <a:t>Conclusión y fuentes de información</a:t>
            </a:r>
            <a:endParaRPr lang="en-US" sz="2450" b="0" u="none" strike="noStrike">
              <a:solidFill>
                <a:srgbClr val="000000"/>
              </a:solidFill>
              <a:effectLst/>
              <a:uFillTx/>
              <a:latin typeface="Arial"/>
            </a:endParaRPr>
          </a:p>
        </p:txBody>
      </p:sp>
      <p:sp>
        <p:nvSpPr>
          <p:cNvPr id="789" name="Text 2"/>
          <p:cNvSpPr/>
          <p:nvPr/>
        </p:nvSpPr>
        <p:spPr>
          <a:xfrm>
            <a:off x="521280" y="749880"/>
            <a:ext cx="9692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20" b="0" u="none" strike="noStrike">
                <a:solidFill>
                  <a:srgbClr val="6B7280"/>
                </a:solidFill>
                <a:effectLst/>
                <a:uFillTx/>
                <a:latin typeface="Aptos"/>
                <a:ea typeface="Aptos"/>
              </a:rPr>
              <a:t>Cierre del banco de ejercicios</a:t>
            </a:r>
            <a:endParaRPr lang="en-US" sz="1020" b="0" u="none" strike="noStrike">
              <a:solidFill>
                <a:srgbClr val="000000"/>
              </a:solidFill>
              <a:effectLst/>
              <a:uFillTx/>
              <a:latin typeface="Arial"/>
            </a:endParaRPr>
          </a:p>
        </p:txBody>
      </p:sp>
      <p:sp>
        <p:nvSpPr>
          <p:cNvPr id="790" name="Shape 3"/>
          <p:cNvSpPr/>
          <p:nvPr/>
        </p:nvSpPr>
        <p:spPr>
          <a:xfrm>
            <a:off x="502920" y="1042200"/>
            <a:ext cx="11201400" cy="360"/>
          </a:xfrm>
          <a:prstGeom prst="line">
            <a:avLst/>
          </a:prstGeom>
          <a:ln w="10160">
            <a:solidFill>
              <a:srgbClr val="D7DEE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791" name="Shape 4"/>
          <p:cNvSpPr/>
          <p:nvPr/>
        </p:nvSpPr>
        <p:spPr>
          <a:xfrm>
            <a:off x="685800" y="1225440"/>
            <a:ext cx="5257440" cy="4251600"/>
          </a:xfrm>
          <a:prstGeom prst="roundRect">
            <a:avLst>
              <a:gd name="adj" fmla="val 1720"/>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92" name="Shape 5"/>
          <p:cNvSpPr/>
          <p:nvPr/>
        </p:nvSpPr>
        <p:spPr>
          <a:xfrm>
            <a:off x="685800" y="1225440"/>
            <a:ext cx="72720" cy="4251600"/>
          </a:xfrm>
          <a:prstGeom prst="rect">
            <a:avLst/>
          </a:prstGeom>
          <a:solidFill>
            <a:srgbClr val="00A86B"/>
          </a:solidFill>
          <a:ln w="12700">
            <a:solidFill>
              <a:srgbClr val="00A86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93" name="Text 6"/>
          <p:cNvSpPr/>
          <p:nvPr/>
        </p:nvSpPr>
        <p:spPr>
          <a:xfrm>
            <a:off x="887040" y="1371600"/>
            <a:ext cx="4928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60" b="1" u="none" strike="noStrike">
                <a:solidFill>
                  <a:srgbClr val="172033"/>
                </a:solidFill>
                <a:effectLst/>
                <a:uFillTx/>
                <a:latin typeface="Aptos"/>
              </a:rPr>
              <a:t>Conclusión</a:t>
            </a:r>
            <a:endParaRPr lang="en-US" sz="1260" b="0" u="none" strike="noStrike">
              <a:solidFill>
                <a:srgbClr val="000000"/>
              </a:solidFill>
              <a:effectLst/>
              <a:uFillTx/>
              <a:latin typeface="Arial"/>
            </a:endParaRPr>
          </a:p>
        </p:txBody>
      </p:sp>
      <p:sp>
        <p:nvSpPr>
          <p:cNvPr id="794" name="Text 7"/>
          <p:cNvSpPr/>
          <p:nvPr/>
        </p:nvSpPr>
        <p:spPr>
          <a:xfrm>
            <a:off x="887040" y="1682640"/>
            <a:ext cx="4928400" cy="3684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010" b="0" u="none" strike="noStrike">
                <a:solidFill>
                  <a:srgbClr val="2E3440"/>
                </a:solidFill>
                <a:effectLst/>
                <a:uFillTx/>
                <a:latin typeface="Aptos"/>
              </a:rPr>
              <a:t>La planificación aplicada en estos ejercicios permitió ordenar los proyectos desde su necesidad inicial hasta el control de avances. El valor principal del banco está en que cada respuesta se apoya en evidencia: planes, WBS, Gantt, recursos, costos, tableros y mensajes de validación. También se reconocieron límites: no se inventaron costos donde no existían registros y no se cerraron actividades sin evidencia. Esa forma de trabajar hace que el expediente sea más claro, defendible y útil para la toma de decisiones del Project Manager.</a:t>
            </a:r>
            <a:endParaRPr lang="en-US" sz="1010" b="0" u="none" strike="noStrike">
              <a:solidFill>
                <a:srgbClr val="000000"/>
              </a:solidFill>
              <a:effectLst/>
              <a:uFillTx/>
              <a:latin typeface="Arial"/>
            </a:endParaRPr>
          </a:p>
        </p:txBody>
      </p:sp>
      <p:sp>
        <p:nvSpPr>
          <p:cNvPr id="795" name="Shape 8"/>
          <p:cNvSpPr/>
          <p:nvPr/>
        </p:nvSpPr>
        <p:spPr>
          <a:xfrm>
            <a:off x="6236280" y="1225440"/>
            <a:ext cx="4983120" cy="4251600"/>
          </a:xfrm>
          <a:prstGeom prst="roundRect">
            <a:avLst>
              <a:gd name="adj" fmla="val 1720"/>
            </a:avLst>
          </a:prstGeom>
          <a:solidFill>
            <a:srgbClr val="FFFFFF"/>
          </a:solidFill>
          <a:ln w="10160">
            <a:solidFill>
              <a:srgbClr val="D7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96" name="Shape 9"/>
          <p:cNvSpPr/>
          <p:nvPr/>
        </p:nvSpPr>
        <p:spPr>
          <a:xfrm>
            <a:off x="6236280" y="1225440"/>
            <a:ext cx="72720" cy="4251600"/>
          </a:xfrm>
          <a:prstGeom prst="rect">
            <a:avLst/>
          </a:prstGeom>
          <a:solidFill>
            <a:srgbClr val="2477C8"/>
          </a:solidFill>
          <a:ln w="12700">
            <a:solidFill>
              <a:srgbClr val="2477C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97" name="Text 10"/>
          <p:cNvSpPr/>
          <p:nvPr/>
        </p:nvSpPr>
        <p:spPr>
          <a:xfrm>
            <a:off x="6437520" y="1371600"/>
            <a:ext cx="46540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60" b="1" u="none" strike="noStrike">
                <a:solidFill>
                  <a:srgbClr val="172033"/>
                </a:solidFill>
                <a:effectLst/>
                <a:uFillTx/>
                <a:latin typeface="Aptos"/>
              </a:rPr>
              <a:t>Fuentes APA</a:t>
            </a:r>
            <a:endParaRPr lang="en-US" sz="1260" b="0" u="none" strike="noStrike">
              <a:solidFill>
                <a:srgbClr val="000000"/>
              </a:solidFill>
              <a:effectLst/>
              <a:uFillTx/>
              <a:latin typeface="Arial"/>
            </a:endParaRPr>
          </a:p>
        </p:txBody>
      </p:sp>
      <p:sp>
        <p:nvSpPr>
          <p:cNvPr id="798" name="Text 11"/>
          <p:cNvSpPr/>
          <p:nvPr/>
        </p:nvSpPr>
        <p:spPr>
          <a:xfrm>
            <a:off x="6437520" y="1682640"/>
            <a:ext cx="4654080" cy="3684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010" b="0" u="none" strike="noStrike">
                <a:solidFill>
                  <a:srgbClr val="2E3440"/>
                </a:solidFill>
                <a:effectLst/>
                <a:uFillTx/>
                <a:latin typeface="Aptos"/>
              </a:rPr>
              <a:t>Project Management Institute. (2021). A guide to the project management body of knowledge (PMBOK® Guide) (7th ed.). Project Management Institute.</a:t>
            </a:r>
            <a:endParaRPr lang="en-US" sz="1010" b="0" u="none" strike="noStrike">
              <a:solidFill>
                <a:srgbClr val="000000"/>
              </a:solidFill>
              <a:effectLst/>
              <a:uFillTx/>
              <a:latin typeface="Arial"/>
            </a:endParaRPr>
          </a:p>
          <a:p>
            <a:pPr defTabSz="914400">
              <a:lnSpc>
                <a:spcPct val="100000"/>
              </a:lnSpc>
              <a:tabLst>
                <a:tab pos="0" algn="l"/>
              </a:tabLst>
            </a:pPr>
            <a:endParaRPr lang="en-US" sz="1010" b="0" u="none" strike="noStrike">
              <a:solidFill>
                <a:srgbClr val="000000"/>
              </a:solidFill>
              <a:effectLst/>
              <a:uFillTx/>
              <a:latin typeface="Arial"/>
            </a:endParaRPr>
          </a:p>
          <a:p>
            <a:pPr defTabSz="914400">
              <a:lnSpc>
                <a:spcPct val="100000"/>
              </a:lnSpc>
              <a:tabLst>
                <a:tab pos="0" algn="l"/>
              </a:tabLst>
            </a:pPr>
            <a:r>
              <a:rPr lang="en-US" sz="1010" b="0" u="none" strike="noStrike">
                <a:solidFill>
                  <a:srgbClr val="2E3440"/>
                </a:solidFill>
                <a:effectLst/>
                <a:uFillTx/>
                <a:latin typeface="Aptos"/>
              </a:rPr>
              <a:t>Project Management Institute. (2019). Practice standard for work breakdown structures (3rd ed.). Project Management Institute.</a:t>
            </a:r>
            <a:endParaRPr lang="en-US" sz="1010" b="0" u="none" strike="noStrike">
              <a:solidFill>
                <a:srgbClr val="000000"/>
              </a:solidFill>
              <a:effectLst/>
              <a:uFillTx/>
              <a:latin typeface="Arial"/>
            </a:endParaRPr>
          </a:p>
          <a:p>
            <a:pPr defTabSz="914400">
              <a:lnSpc>
                <a:spcPct val="100000"/>
              </a:lnSpc>
              <a:tabLst>
                <a:tab pos="0" algn="l"/>
              </a:tabLst>
            </a:pPr>
            <a:endParaRPr lang="en-US" sz="1010" b="0" u="none" strike="noStrike">
              <a:solidFill>
                <a:srgbClr val="000000"/>
              </a:solidFill>
              <a:effectLst/>
              <a:uFillTx/>
              <a:latin typeface="Arial"/>
            </a:endParaRPr>
          </a:p>
          <a:p>
            <a:pPr defTabSz="914400">
              <a:lnSpc>
                <a:spcPct val="100000"/>
              </a:lnSpc>
              <a:tabLst>
                <a:tab pos="0" algn="l"/>
              </a:tabLst>
            </a:pPr>
            <a:r>
              <a:rPr lang="en-US" sz="1010" b="0" u="none" strike="noStrike">
                <a:solidFill>
                  <a:srgbClr val="2E3440"/>
                </a:solidFill>
                <a:effectLst/>
                <a:uFillTx/>
                <a:latin typeface="Aptos"/>
              </a:rPr>
              <a:t>Project Management Institute. (2019). Practice standard for scheduling (3rd ed.). Project Management Institute.</a:t>
            </a:r>
            <a:endParaRPr lang="en-US" sz="1010" b="0" u="none" strike="noStrike">
              <a:solidFill>
                <a:srgbClr val="000000"/>
              </a:solidFill>
              <a:effectLst/>
              <a:uFillTx/>
              <a:latin typeface="Arial"/>
            </a:endParaRPr>
          </a:p>
          <a:p>
            <a:pPr defTabSz="914400">
              <a:lnSpc>
                <a:spcPct val="100000"/>
              </a:lnSpc>
              <a:tabLst>
                <a:tab pos="0" algn="l"/>
              </a:tabLst>
            </a:pPr>
            <a:endParaRPr lang="en-US" sz="1010" b="0" u="none" strike="noStrike">
              <a:solidFill>
                <a:srgbClr val="000000"/>
              </a:solidFill>
              <a:effectLst/>
              <a:uFillTx/>
              <a:latin typeface="Arial"/>
            </a:endParaRPr>
          </a:p>
          <a:p>
            <a:pPr defTabSz="914400">
              <a:lnSpc>
                <a:spcPct val="100000"/>
              </a:lnSpc>
              <a:tabLst>
                <a:tab pos="0" algn="l"/>
              </a:tabLst>
            </a:pPr>
            <a:r>
              <a:rPr lang="en-US" sz="1010" b="0" u="none" strike="noStrike">
                <a:solidFill>
                  <a:srgbClr val="2E3440"/>
                </a:solidFill>
                <a:effectLst/>
                <a:uFillTx/>
                <a:latin typeface="Aptos"/>
              </a:rPr>
              <a:t>Doran, G. T. (1981). There's a S.M.A.R.T. way to write management's goals and objectives. Management Review, 70(11), 35–36.</a:t>
            </a:r>
            <a:endParaRPr lang="en-US" sz="1010" b="0" u="none" strike="noStrike">
              <a:solidFill>
                <a:srgbClr val="000000"/>
              </a:solidFill>
              <a:effectLst/>
              <a:uFillTx/>
              <a:latin typeface="Arial"/>
            </a:endParaRPr>
          </a:p>
          <a:p>
            <a:pPr defTabSz="914400">
              <a:lnSpc>
                <a:spcPct val="100000"/>
              </a:lnSpc>
              <a:tabLst>
                <a:tab pos="0" algn="l"/>
              </a:tabLst>
            </a:pPr>
            <a:endParaRPr lang="en-US" sz="1010" b="0" u="none" strike="noStrike">
              <a:solidFill>
                <a:srgbClr val="000000"/>
              </a:solidFill>
              <a:effectLst/>
              <a:uFillTx/>
              <a:latin typeface="Arial"/>
            </a:endParaRPr>
          </a:p>
          <a:p>
            <a:pPr defTabSz="914400">
              <a:lnSpc>
                <a:spcPct val="100000"/>
              </a:lnSpc>
              <a:tabLst>
                <a:tab pos="0" algn="l"/>
              </a:tabLst>
            </a:pPr>
            <a:r>
              <a:rPr lang="en-US" sz="1010" b="0" u="none" strike="noStrike">
                <a:solidFill>
                  <a:srgbClr val="2E3440"/>
                </a:solidFill>
                <a:effectLst/>
                <a:uFillTx/>
                <a:latin typeface="Aptos"/>
              </a:rPr>
              <a:t>Monday.com. (s. f.). Gantt chart view. Monday.com Knowledge Base.</a:t>
            </a:r>
            <a:endParaRPr lang="en-US" sz="1010" b="0" u="none" strike="noStrike">
              <a:solidFill>
                <a:srgbClr val="000000"/>
              </a:solidFill>
              <a:effectLst/>
              <a:uFillTx/>
              <a:latin typeface="Arial"/>
            </a:endParaRPr>
          </a:p>
          <a:p>
            <a:pPr defTabSz="914400">
              <a:lnSpc>
                <a:spcPct val="100000"/>
              </a:lnSpc>
              <a:tabLst>
                <a:tab pos="0" algn="l"/>
              </a:tabLst>
            </a:pPr>
            <a:endParaRPr lang="en-US" sz="1010" b="0" u="none" strike="noStrike">
              <a:solidFill>
                <a:srgbClr val="000000"/>
              </a:solidFill>
              <a:effectLst/>
              <a:uFillTx/>
              <a:latin typeface="Arial"/>
            </a:endParaRPr>
          </a:p>
          <a:p>
            <a:pPr defTabSz="914400">
              <a:lnSpc>
                <a:spcPct val="100000"/>
              </a:lnSpc>
              <a:tabLst>
                <a:tab pos="0" algn="l"/>
              </a:tabLst>
            </a:pPr>
            <a:r>
              <a:rPr lang="en-US" sz="1010" b="0" u="none" strike="noStrike">
                <a:solidFill>
                  <a:srgbClr val="2E3440"/>
                </a:solidFill>
                <a:effectLst/>
                <a:uFillTx/>
                <a:latin typeface="Aptos"/>
              </a:rPr>
              <a:t>ClickUp. (s. f.). Gantt charts and project planning resources. ClickUp.</a:t>
            </a:r>
            <a:endParaRPr lang="en-US" sz="1010" b="0" u="none" strike="noStrike">
              <a:solidFill>
                <a:srgbClr val="000000"/>
              </a:solidFill>
              <a:effectLst/>
              <a:uFillTx/>
              <a:latin typeface="Arial"/>
            </a:endParaRPr>
          </a:p>
        </p:txBody>
      </p:sp>
      <p:sp>
        <p:nvSpPr>
          <p:cNvPr id="803" name="Text 16"/>
          <p:cNvSpPr/>
          <p:nvPr/>
        </p:nvSpPr>
        <p:spPr>
          <a:xfrm>
            <a:off x="11292840" y="658368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1" u="none" strike="noStrike">
                <a:solidFill>
                  <a:srgbClr val="6B7280"/>
                </a:solidFill>
                <a:effectLst/>
                <a:uFillTx/>
                <a:latin typeface="Aptos"/>
              </a:rPr>
              <a:t>19</a:t>
            </a:r>
            <a:endParaRPr lang="en-US" sz="85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TotalTime>
  <Words>2470</Words>
  <Application>Microsoft Office PowerPoint</Application>
  <PresentationFormat>Panorámica</PresentationFormat>
  <Paragraphs>412</Paragraphs>
  <Slides>19</Slides>
  <Notes>19</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19</vt:i4>
      </vt:variant>
    </vt:vector>
  </HeadingPairs>
  <TitlesOfParts>
    <vt:vector size="27" baseType="lpstr">
      <vt:lpstr>-apple-system</vt:lpstr>
      <vt:lpstr>Aptos</vt:lpstr>
      <vt:lpstr>Aptos Display</vt:lpstr>
      <vt:lpstr>Arial</vt:lpstr>
      <vt:lpstr>Symbol</vt:lpstr>
      <vt:lpstr>Times New Roman</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TecNM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Actividad 3.3 — Banco de ejercicios: Planificación</dc:title>
  <dc:subject>Actividad 3.3 — Banco de ejercicios: Planificación</dc:subject>
  <dc:creator>Amaury Jahaziel Gordillo Hernández</dc:creator>
  <dc:description/>
  <cp:lastModifiedBy>AMAURY JAHAZIEL GORDILLO HERNANDEZ</cp:lastModifiedBy>
  <cp:revision>4</cp:revision>
  <dcterms:created xsi:type="dcterms:W3CDTF">2026-09-16T22:39:07Z</dcterms:created>
  <dcterms:modified xsi:type="dcterms:W3CDTF">2026-09-22T07:10:45Z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19</vt:r8>
  </property>
  <property fmtid="{D5CDD505-2E9C-101B-9397-08002B2CF9AE}" pid="3" name="PresentationFormat">
    <vt:lpwstr>On-screen Show (16:9)</vt:lpwstr>
  </property>
  <property fmtid="{D5CDD505-2E9C-101B-9397-08002B2CF9AE}" pid="4" name="Slides">
    <vt:r8>19</vt:r8>
  </property>
</Properties>
</file>