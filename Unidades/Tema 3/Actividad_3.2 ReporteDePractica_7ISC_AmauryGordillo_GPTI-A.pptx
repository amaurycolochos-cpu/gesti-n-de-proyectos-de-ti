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58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1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.2 — </a:t>
            </a:r>
            <a:r>
              <a:rPr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03 DE SEPTIEMBRE 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 de la presentación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del reporte de práctica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62456"/>
            <a:ext cx="384048" cy="384048"/>
          </a:xfrm>
          <a:prstGeom prst="ellipse">
            <a:avLst/>
          </a:prstGeom>
          <a:solidFill>
            <a:srgbClr val="0B4F71"/>
          </a:solidFill>
          <a:ln w="12700">
            <a:solidFill>
              <a:srgbClr val="0B4F7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440"/>
                </a:solidFill>
              </a:rPr>
              <a:t>Propósito, objetivo y justificación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020824"/>
            <a:ext cx="384048" cy="384048"/>
          </a:xfrm>
          <a:prstGeom prst="ellipse">
            <a:avLst/>
          </a:prstGeom>
          <a:solidFill>
            <a:srgbClr val="0B4F71"/>
          </a:solidFill>
          <a:ln w="12700">
            <a:solidFill>
              <a:srgbClr val="0B4F7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214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25880" y="207568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440"/>
                </a:solidFill>
              </a:rPr>
              <a:t>Descripción de los tres proyectos gestionados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679192"/>
            <a:ext cx="384048" cy="384048"/>
          </a:xfrm>
          <a:prstGeom prst="ellipse">
            <a:avLst/>
          </a:prstGeom>
          <a:solidFill>
            <a:srgbClr val="0B4F71"/>
          </a:solidFill>
          <a:ln w="12700">
            <a:solidFill>
              <a:srgbClr val="0B4F7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797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25880" y="273405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440"/>
                </a:solidFill>
              </a:rPr>
              <a:t>Procedimiento: alcance → EDT/WBS → cronograma → recursos → control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384048" cy="384048"/>
          </a:xfrm>
          <a:prstGeom prst="ellipse">
            <a:avLst/>
          </a:prstGeom>
          <a:solidFill>
            <a:srgbClr val="0B4F71"/>
          </a:solidFill>
          <a:ln w="12700">
            <a:solidFill>
              <a:srgbClr val="0B4F7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381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25880" y="339242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440"/>
                </a:solidFill>
              </a:rPr>
              <a:t>Evidencias por expediente: Aarón, Ángel y Alondra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995928"/>
            <a:ext cx="384048" cy="384048"/>
          </a:xfrm>
          <a:prstGeom prst="ellipse">
            <a:avLst/>
          </a:prstGeom>
          <a:solidFill>
            <a:srgbClr val="0B4F71"/>
          </a:solidFill>
          <a:ln w="12700">
            <a:solidFill>
              <a:srgbClr val="0B4F7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965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325880" y="405079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440"/>
                </a:solidFill>
              </a:rPr>
              <a:t>Gantt consolidado, comparación planeado vs. real y desviaciones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7240" y="4654296"/>
            <a:ext cx="384048" cy="384048"/>
          </a:xfrm>
          <a:prstGeom prst="ellipse">
            <a:avLst/>
          </a:prstGeom>
          <a:solidFill>
            <a:srgbClr val="0B4F71"/>
          </a:solidFill>
          <a:ln w="12700">
            <a:solidFill>
              <a:srgbClr val="0B4F7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25880" y="470916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440"/>
                </a:solidFill>
              </a:rPr>
              <a:t>Resultados, conclusiones y fuentes de información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D6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9282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Actividad 3.2 · Aplicación de herramientas de planificación · Corte: 16/09/2026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 de la práctica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2286000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72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Justificación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801368"/>
            <a:ext cx="493776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La actividad se desarrolla como una evidencia práctica de gestión porque los proyectos no se limitaron a una definición teórica. Cada expediente tuvo alcance, entregables, fechas, recursos, estados de avance y decisiones tomadas durante el seguimiento. Por eso se integran capturas de documentos, herramientas y comunicación real, mostrando cómo la planificación permitió ordenar el trabajo y detectar desviaciones.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25880"/>
            <a:ext cx="73152" cy="2286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72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Objetivo de la práctica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1801368"/>
            <a:ext cx="493776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Demostrar cómo se aplicaron herramientas de planificación en tres proyectos reales: PLAN, WBS/EDT, cronogramas, Gantt, recursos, costos, seguimiento de avances y control de desviaciones. La intención es evidenciar el proceso seguido por el Project Manager para convertir el alcance en trabajo verificable y medible.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proyectos gestionados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Expedientes usados como aplicación real de la planificación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91440" cy="3291840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721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Aarón · Fast Burger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1783080"/>
            <a:ext cx="317296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Simulación del proceso de atención de clientes. Expediente con recuperación documentada, PLAN-003, WBS-003, GANTT-003 y cierre validado con correcciones posteriores.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325880"/>
            <a:ext cx="91440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4721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Ángel · Industria Bloquera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44568" y="1783080"/>
            <a:ext cx="317296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Simulación del proceso de producción de block. La planificación formaliza el alcance, fecha límite y entregables; mantiene seguimiento sobre cronograma y escenario de mejora con revolvedoras.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01000" y="13258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325880"/>
            <a:ext cx="91440" cy="32918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4721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Alondra · ProcesMuebles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02168" y="1783080"/>
            <a:ext cx="317296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Simulación del flujo de fabricación y entrega. El expediente incluye PLAN-002, WBS-002, GANTT-002, recuperación, control de correcciones y seguimiento en ClickUp.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Procedimiento aplicado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alcance inicial al seguimiento operativo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91440" cy="2377440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093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Definir alcance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92024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Se revisó qué debía incluir cada simulación y qué evidencia debía producirse.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44752" y="4160520"/>
            <a:ext cx="603504" cy="603504"/>
          </a:xfrm>
          <a:prstGeom prst="ellipse">
            <a:avLst/>
          </a:prstGeom>
          <a:solidFill>
            <a:srgbClr val="1E6F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433425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4462272"/>
            <a:ext cx="914400" cy="0"/>
          </a:xfrm>
          <a:prstGeom prst="line">
            <a:avLst/>
          </a:prstGeom>
          <a:noFill/>
          <a:ln w="20320">
            <a:solidFill>
              <a:srgbClr val="D6DEE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9232" y="146304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9232" y="1463040"/>
            <a:ext cx="91440" cy="23774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093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Desglosar en WBS/EDT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192024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El proyecto se separó en paquetes: inicio, planificación, desarrollo, validación, resultados y cierre.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12464" y="4160520"/>
            <a:ext cx="603504" cy="60350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433425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70832" y="4462272"/>
            <a:ext cx="914400" cy="0"/>
          </a:xfrm>
          <a:prstGeom prst="line">
            <a:avLst/>
          </a:prstGeom>
          <a:noFill/>
          <a:ln w="20320">
            <a:solidFill>
              <a:srgbClr val="D6DEE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66944" y="146304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6944" y="1463040"/>
            <a:ext cx="91440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6093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Ordenar actividades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68112" y="192024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Se ubicaron D1–D8 y documentos PM según secuencia y dependencias.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0176" y="4160520"/>
            <a:ext cx="603504" cy="6035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0176" y="433425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38544" y="4462272"/>
            <a:ext cx="914400" cy="0"/>
          </a:xfrm>
          <a:prstGeom prst="line">
            <a:avLst/>
          </a:prstGeom>
          <a:noFill/>
          <a:ln w="20320">
            <a:solidFill>
              <a:srgbClr val="D6DEE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34656" y="146304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34656" y="1463040"/>
            <a:ext cx="91440" cy="2377440"/>
          </a:xfrm>
          <a:prstGeom prst="rect">
            <a:avLst/>
          </a:prstGeom>
          <a:solidFill>
            <a:srgbClr val="6C4BD2"/>
          </a:solidFill>
          <a:ln w="12700">
            <a:solidFill>
              <a:srgbClr val="6C4BD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16093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Asignar fechas y recursos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35824" y="192024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Se definieron periodos de trabajo, herramienta principal, responsables y evidencias.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47888" y="4160520"/>
            <a:ext cx="603504" cy="603504"/>
          </a:xfrm>
          <a:prstGeom prst="ellipse">
            <a:avLst/>
          </a:prstGeom>
          <a:solidFill>
            <a:srgbClr val="6C4B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433425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06256" y="4462272"/>
            <a:ext cx="914400" cy="0"/>
          </a:xfrm>
          <a:prstGeom prst="line">
            <a:avLst/>
          </a:prstGeom>
          <a:noFill/>
          <a:ln w="20320">
            <a:solidFill>
              <a:srgbClr val="D6DEE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802368" y="146304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02368" y="1463040"/>
            <a:ext cx="91440" cy="2377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03536" y="16093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Controlar desviaciones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003536" y="192024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Se comparó lo planeado contra lo recibido y se activaron correcciones o recuperación.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4160520"/>
            <a:ext cx="603504" cy="60350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0" y="433425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97280" y="5285232"/>
            <a:ext cx="9966960" cy="621792"/>
          </a:xfrm>
          <a:prstGeom prst="roundRect">
            <a:avLst>
              <a:gd name="adj" fmla="val 14706"/>
            </a:avLst>
          </a:prstGeom>
          <a:solidFill>
            <a:srgbClr val="EAF4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3584" y="5404104"/>
            <a:ext cx="96743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El procedimiento fue el mismo para los tres proyectos, pero la decisión PM cambió según la evidencia: aprobar, corregir, recuperar o mantener pendiente.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Cronograma general consolidado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30352" y="1152144"/>
            <a:ext cx="1115568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Gantt_estilo_Monday_3_proyec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530" y="1207008"/>
            <a:ext cx="6677324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035040"/>
            <a:ext cx="10936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Gantt consolidado: muestra tareas, estado, cronograma, fecha límite y línea de corte actual.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Aarón · PLAN-003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recuperación para Fast Burger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07008"/>
            <a:ext cx="6035040" cy="5010912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793c87dc-c351-4b4f-8c46-555cf3cdae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28" y="1261872"/>
            <a:ext cx="5760840" cy="46268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5961888"/>
            <a:ext cx="581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Captura del PLAN-003: cronograma y plan de recuperación emitido el 27/08/2026.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812280" y="1426464"/>
            <a:ext cx="4526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12280" y="1426464"/>
            <a:ext cx="73152" cy="3291840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Contexto de la evidencia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95160" y="1901952"/>
            <a:ext cx="420624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El plan se genera después de una incidencia por retraso inicial. Su propósito fue reorganizar el trabajo pendiente, concentrar el expediente en una sola herramienta principal y completar los entregables antes del cierre previsto.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La imagen demuestra datos generales: Project Manager, ejecutor, proyecto, acta de referencia, herramienta principal, periodo de recuperación, fecha final y esquema de seguimiento.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Aarón · WBS-003 y GANTT-003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Desglose y control de fechas en Fast Burger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516636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415cf7c0-9cbb-407c-a824-1c9eeb8a0c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6" y="1261872"/>
            <a:ext cx="4958103" cy="4599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5934456"/>
            <a:ext cx="4946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WBS-003: estructura de desglose del trabajo por paquetes y entregables.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5925312" y="1207008"/>
            <a:ext cx="5742432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9" name="Image 1" descr="/mnt/data/7b137a4e-4eab-4f72-b19e-428cc57f7c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410060"/>
            <a:ext cx="5632704" cy="2303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5934456"/>
            <a:ext cx="5522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GANTT-003: comparación entre cronograma planificado y cierre real.</a:t>
            </a:r>
            <a:endParaRPr lang="en-US" sz="720" dirty="0"/>
          </a:p>
        </p:txBody>
      </p:sp>
      <p:sp>
        <p:nvSpPr>
          <p:cNvPr id="13" name="Text 9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Aarón · resultado del seguimiento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documentado y validación final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6464b244-9e08-432a-8ed6-79ba36a48b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80599"/>
            <a:ext cx="5330952" cy="179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5138928"/>
            <a:ext cx="5221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Estado por unidad: expediente completo, entregables técnicos organizados y cierre documentado.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446520" y="1234440"/>
            <a:ext cx="4800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234440"/>
            <a:ext cx="73152" cy="21031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13807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Lectura PM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29400" y="1709928"/>
            <a:ext cx="448056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El expediente de Fast Burger muestra una recuperación terminada: D1–D8 fueron organizados, D6 y D7 recibieron corrección posterior y el cierre quedó documentado.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En la práctica, esto evidencia el uso de línea base y seguimiento: se detecta una desviación, se aplica recuperación y se valida el resultado final.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6446520" y="3703320"/>
            <a:ext cx="2331720" cy="365760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37673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Indicador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8778240" y="3703320"/>
            <a:ext cx="2057400" cy="365760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42248" y="376732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Resultado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46520" y="406908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0528" y="413308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Entregables totales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778240" y="4069080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42248" y="413308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8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46520" y="443484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449884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Completados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778240" y="4434840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42248" y="449884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8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46520" y="480060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0528" y="486460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Con corrección posterior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778240" y="4800600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42248" y="486460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446520" y="516636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10528" y="523036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Fecha final técnica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8778240" y="5166360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42248" y="523036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03/09/2026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Ángel · PLAN-001 y aprobación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Formalización del cronograma de Industria Bloquera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88720"/>
            <a:ext cx="58064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fa3728dc-abc5-4404-9b70-8f8b4c64bb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41372"/>
            <a:ext cx="5696712" cy="3695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007608"/>
            <a:ext cx="5586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PLAN-001: cronograma y plan de trabajo para la simulación de producción de block.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565392" y="118872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9" name="Image 1" descr="/mnt/data/c3a4d717-9c44-4d6e-a2c0-e99c7e4243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189" y="1243584"/>
            <a:ext cx="3438447" cy="2542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75120" y="3858768"/>
            <a:ext cx="467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Confirmación del alumno sobre recepción y aprobación de ACTA-001 y PLAN-001.</a:t>
            </a:r>
            <a:endParaRPr lang="en-US" sz="720" dirty="0"/>
          </a:p>
        </p:txBody>
      </p:sp>
      <p:sp>
        <p:nvSpPr>
          <p:cNvPr id="11" name="Shape 7"/>
          <p:cNvSpPr/>
          <p:nvPr/>
        </p:nvSpPr>
        <p:spPr>
          <a:xfrm>
            <a:off x="6565392" y="4370832"/>
            <a:ext cx="489204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11696" y="4489704"/>
            <a:ext cx="459943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La evidencia de WhatsApp funciona como aceptación operativa: el responsable confirma recepción y conocimiento del acta y del plan, lo que permite continuar el seguimiento del expediente.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Ángel · avance y decisiones PM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Alcance, cronograma y seguimiento de Industria Bloquera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13232" y="1298448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98448"/>
            <a:ext cx="91440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4475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Alcance registrado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755648"/>
            <a:ext cx="308152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Simulación del proceso de producción de block en Industria Bloquera del Sureste. La práctica se organiza con una persona ejecutora, fechas de trabajo y evidencia verificable.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298448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298448"/>
            <a:ext cx="91440" cy="1965960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Cronograma base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1755648"/>
            <a:ext cx="308152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Periodo del plan: 22 al 30 de agosto de 2026. Se usa como línea de referencia para comparar avance, retrasos y entregables pendientes.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65008" y="1298448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298448"/>
            <a:ext cx="91440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144475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Decisión tomada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66176" y="1755648"/>
            <a:ext cx="308152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Mantener en seguimiento el análisis de mejora: comparación entre una revolvedora y dos revolvedoras. D7–D8 no deben cerrarse hasta contar con informe y entrega final.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3886200"/>
            <a:ext cx="1828800" cy="438912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9502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Elemento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834640" y="3886200"/>
            <a:ext cx="2377440" cy="438912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8648" y="395020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Estado al corte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212080" y="3886200"/>
            <a:ext cx="5943600" cy="438912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3950208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Criterio PM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005840" y="432511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38912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D1–D5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34640" y="432511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438912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Completado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4325112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6088" y="4389120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Base de planificación y pruebas disponible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5840" y="4764024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48280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D6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34640" y="476402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98648" y="482803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En proceso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12080" y="4764024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76088" y="4828032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Comparar 1 vs. 2 revolvedoras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5840" y="5202936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" y="526694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D7–D8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34640" y="520293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98648" y="526694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Pendiente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12080" y="5202936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76088" y="5266944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Dependen de D6 e informe validado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Alondra · PLAN-002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recuperación para ProcesMuebles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5559552" cy="510235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a6e3885c-1743-4194-b1a4-db7358a21a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74217"/>
            <a:ext cx="5449824" cy="4057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6035040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PLAN-002 v2: recuperación emitida el 16/09/2026 para ajustar el expediente.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473952" y="1353312"/>
            <a:ext cx="47091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3952" y="1353312"/>
            <a:ext cx="73152" cy="2560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14996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Contexto de la recuperación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56832" y="1828800"/>
            <a:ext cx="438912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El plan de recuperación se activa porque el plazo original concluyó con D6–D8 pendientes y con D2–D5 sujetos a ajuste.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La nueva ruta ordena las acciones: corregir D2–D5, revisar línea base, ejecutar D6, integrar D7, preparar D8 y validar cierre PM.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6473952" y="4315968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0256" y="4434840"/>
            <a:ext cx="44165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Decisión PM: no avanzar al cierre mientras la línea base no esté corregida; primero se controla la calidad de D2–D5 y después se continúa con escenarios.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Alondra · WBS-002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desglose de ProcesMuebles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170432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8c3c6422-9128-48e9-a7d9-80e10f42da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92" y="1225296"/>
            <a:ext cx="5271168" cy="4736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6035040"/>
            <a:ext cx="5312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WBS-002: paquetes de trabajo, entregables esperados y estado del corte.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492240" y="1463040"/>
            <a:ext cx="4709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463040"/>
            <a:ext cx="73152" cy="3429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1609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Lectura de la EDT/WBS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75120" y="1938528"/>
            <a:ext cx="438912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La EDT organiza el expediente completo desde inicio y formalización hasta validación y cierre PM.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Su valor práctico es que permite ubicar con claridad qué entregables ya tienen evidencia y cuáles aún dependen de correcciones o revisión técnica. En este caso, los paquetes 1.1 a 1.7 cuentan con evidencia, pero D2–D5 permanecen en revisión y D6–D8 siguen pendientes.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Alondra · GANTT-002 y estado del expediente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real en ProcesMuebles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0432"/>
            <a:ext cx="5687568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794d5344-8fce-4dae-8ab9-7782524680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10558"/>
            <a:ext cx="5577840" cy="25660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6035040"/>
            <a:ext cx="5468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GANTT-002: cronograma y seguimiento con desviaciones por entregable.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437376" y="1170432"/>
            <a:ext cx="489204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9" name="Image 1" descr="/mnt/data/f97f6a44-d83e-4ed9-9b52-b098a7bfb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233" y="1225296"/>
            <a:ext cx="4346326" cy="2798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47104" y="4096512"/>
            <a:ext cx="467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Estado del expediente: recuperación, correcciones D2–D5 y cierre pendiente.</a:t>
            </a:r>
            <a:endParaRPr lang="en-US" sz="720" dirty="0"/>
          </a:p>
        </p:txBody>
      </p:sp>
      <p:sp>
        <p:nvSpPr>
          <p:cNvPr id="11" name="Shape 7"/>
          <p:cNvSpPr/>
          <p:nvPr/>
        </p:nvSpPr>
        <p:spPr>
          <a:xfrm>
            <a:off x="6437376" y="4709160"/>
            <a:ext cx="4892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0" y="4828032"/>
            <a:ext cx="4599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Al corte, el expediente requiere corrección y recuperación. D6–D8 no se cierran porque dependen de la aprobación de una nueva línea base y de la evidencia técnica final.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de seguimiento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Trello y ClickUp como evidencias de control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5559552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6" name="Image 0" descr="/mnt/data/32f4eca4-0a42-4529-914a-551fe7e314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897322"/>
            <a:ext cx="5449824" cy="33285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934456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Trello: tablero público de seguimiento; la actividad 3.1 aparece en revisión y los entregables de Aarón en completado.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400800" y="1207008"/>
            <a:ext cx="5193792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pic>
        <p:nvPicPr>
          <p:cNvPr id="9" name="Image 1" descr="/mnt/data/94b1df48-a063-406b-b2e3-402832acf9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194434"/>
            <a:ext cx="5084064" cy="27343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0528" y="5934456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ClickUp: seguimiento del expediente de Alondra con tareas en curso y pendientes.</a:t>
            </a:r>
            <a:endParaRPr lang="en-US" sz="720" dirty="0"/>
          </a:p>
        </p:txBody>
      </p:sp>
      <p:sp>
        <p:nvSpPr>
          <p:cNvPr id="13" name="Text 9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Comparación: fechas planeadas vs. avance real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línea base y desviaciones al corte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2286000" cy="457200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356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Proyecto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944368" y="1371600"/>
            <a:ext cx="1874520" cy="457200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8376" y="143560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Periodo planeado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818888" y="1371600"/>
            <a:ext cx="2834640" cy="457200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143560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Estado real al corte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653528" y="1371600"/>
            <a:ext cx="4023360" cy="457200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7536" y="1435608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Desviación / lectura PM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58368" y="2121408"/>
            <a:ext cx="2286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18541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Aarón · Fast Burger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44368" y="2121408"/>
            <a:ext cx="1874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8376" y="2185416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27–30 ago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18888" y="2121408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185416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D1–D8 cerrados; revisión final 03–06 sep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53528" y="212140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7536" y="2185416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Hubo cierre posterior con correcciones en D6–D7. Expediente validado.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" y="2871216"/>
            <a:ext cx="2286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293522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Ángel · Industria Bloquera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44368" y="2871216"/>
            <a:ext cx="1874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08376" y="2935224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22–30 ago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18888" y="2871216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935224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D1–D5 completados; D6 en proceso; D7–D8 pendientes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653528" y="2871216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2935224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La mejora técnica condiciona el informe y la entrega final.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" y="3621024"/>
            <a:ext cx="2286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368503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Alondra · ProcesMuebles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44368" y="3621024"/>
            <a:ext cx="1874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8376" y="3685032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22–30 ago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18888" y="362102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3685032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D2–D5 en revisión/corrección; D6–D8 pendientes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53528" y="3621024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17536" y="3685032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Se activa recuperación y ajuste de línea base el 16/09/2026.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3232" y="5138928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" y="5257800"/>
            <a:ext cx="1031443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La comparación no busca “forzar” cierres. Sirve para mostrar qué se planeó, qué se recibió y qué decisión tomó el Project Manager ante cada evidencia.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Desviaciones detectadas y decisiones tomadas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práctica del rol de Project Manager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34440"/>
            <a:ext cx="91440" cy="1828800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3807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1 · Retraso inicial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1691640"/>
            <a:ext cx="30815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En Fast Burger se documentó una incidencia de retraso. La decisión fue emitir PLAN-003 y concentrar el trabajo en una recuperación con fecha final.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23444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3807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2 · Dependencias técnicas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1691640"/>
            <a:ext cx="30815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En Industria Bloquera, D7 y D8 dependen del resultado de D6. Por eso no se registra cierre sin terminar la comparación 1 vs. 2 revolvedoras.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19872" y="12344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234440"/>
            <a:ext cx="91440" cy="18288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3807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</a:rPr>
              <a:t>3 · Línea base incompleta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1691640"/>
            <a:ext cx="30815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3440"/>
                </a:solidFill>
              </a:rPr>
              <a:t>En ProcesMuebles se detectó que D2–D5 requieren corrección. La decisión fue recuperar, ajustar la base y controlar la calidad antes de continuar.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10378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749040"/>
            <a:ext cx="73152" cy="14630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89534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Criterio usado para tomar decisiones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224528"/>
            <a:ext cx="100584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El criterio principal fue mantener trazabilidad y evidencia verificable: si el entregable estaba aprobado, se consideró completado; si necesitaba revisión, permaneció en proceso; y si dependía de una corrección anterior, se dejó pendiente. Esta lógica evita presentar avances irreales y fortalece la credibilidad del expediente.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 y costos registrados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planificación con la evidencia disponible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016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353312"/>
            <a:ext cx="2011680" cy="438912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Proyecto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450592" y="1353312"/>
            <a:ext cx="2743200" cy="438912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4173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Recursos humanos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193792" y="1353312"/>
            <a:ext cx="2743200" cy="438912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4173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Herramienta / tecnología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936992" y="1353312"/>
            <a:ext cx="3840480" cy="438912"/>
          </a:xfrm>
          <a:prstGeom prst="rect">
            <a:avLst/>
          </a:prstGeom>
          <a:solidFill>
            <a:srgbClr val="0B4F71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4173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Materiales / costos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8912" y="21031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671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Fast Burger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0592" y="21031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167128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Project Manager y ejecutor: Aarón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93792" y="21031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167128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Bizagi Modeler, Excel, Trello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36992" y="2103120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2167128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Costo académico: esfuerzo y tiempo de seguimiento; recursos técnicos documentados en PLAN/GANTT.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" y="285292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16936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Industria Bloquera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50592" y="285292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916936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Project Manager y ejecutor: Ángel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93792" y="285292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916936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Bizagi Modeler, documentos PLAN-001 y acta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936992" y="2852928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2916936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Costo académico: planeación, simulación y análisis técnico de revolvedoras.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8912" y="3602736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66744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ProcesMuebles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50592" y="3602736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666744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Project Manager y ejecutora: Alondra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93792" y="3602736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666744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Bizagi Modeler, Excel, ClickUp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36992" y="3602736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3666744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E3440"/>
                </a:solidFill>
              </a:rPr>
              <a:t>Costo académico: recuperación, correcciones, seguimiento y validación PM.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y conclusión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" cy="38862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80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Resultados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5029200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La práctica permitió comprobar que la planificación no es solo elaborar documentos. En los tres expedientes se aplicó una secuencia concreta: definir alcance, dividir el trabajo, ordenar actividades, calendarizar entregables, registrar evidencias y tomar decisiones según el estado real.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El resultado más sólido es Fast Burger, porque cuenta con cierre y correcciones documentadas. Industria Bloquera y ProcesMuebles muestran la utilidad del seguimiento porque permiten identificar tareas pendientes, dependencias y recuperación.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0160">
            <a:solidFill>
              <a:srgbClr val="D6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234440"/>
            <a:ext cx="73152" cy="3886200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380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Conclusión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1709928"/>
            <a:ext cx="5029200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Como Project Manager, la aplicación de herramientas de planificación permitió pasar de solicitudes generales a expedientes controlables. La WBS ayudó a delimitar entregables; el Gantt permitió visualizar fechas y dependencias; y los tableros facilitaron observar el avance real.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2E3440"/>
                </a:solidFill>
              </a:rPr>
              <a:t>La principal lección es que un proyecto no debe cerrarse por calendario, sino por evidencia. Cuando existe desviación, el cierre responsable exige corrección, validación y trazabilidad.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información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73152" cy="73152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0759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Project Management Institute. (2021). A guide to the Project Management Body of Knowledge (PMBOK® Guide) (7th ed.). Project Management Institute.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993392"/>
            <a:ext cx="73152" cy="73152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29384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Project Management Institute. (s. f.). Applying work breakdown structure to project lifecycle. https://www.pmi.org/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615184"/>
            <a:ext cx="73152" cy="73152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51176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Atlassian. (s. f.). Trello 101: How to use Trello boards and cards. https://trello.com/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236976"/>
            <a:ext cx="73152" cy="73152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72968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Atlassian Support. (s. f.). Add and customize cards and lists. https://support.atlassian.com/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858768"/>
            <a:ext cx="73152" cy="73152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94760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ClickUp. (s. f.). How to use Gantt charts for project planning. https://help.clickup.com/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4480560"/>
            <a:ext cx="73152" cy="73152"/>
          </a:xfrm>
          <a:prstGeom prst="rect">
            <a:avLst/>
          </a:prstGeom>
          <a:solidFill>
            <a:srgbClr val="1E6FB7"/>
          </a:solidFill>
          <a:ln w="12700">
            <a:solidFill>
              <a:srgbClr val="1E6FB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41655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</a:rPr>
              <a:t>Evidencia propia del expediente PM: capturas de PLAN-001, PLAN-002, PLAN-003, WBS-002, WBS-003, GANTT-002, GANTT-003, Trello, ClickUp y validaciones recibidas al 16/09/2026.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29284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2025</Words>
  <Application>Microsoft Office PowerPoint</Application>
  <PresentationFormat>Panorámica</PresentationFormat>
  <Paragraphs>238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-apple-system</vt:lpstr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TecNM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3.2 — Aplicación de herramientas de planificación</dc:title>
  <dc:subject>Actividad 3.2 — Reporte de práctica: Aplicación de herramientas de planificación</dc:subject>
  <dc:creator>Amaury Jahaziel Gordillo Hernández</dc:creator>
  <cp:lastModifiedBy>AMAURY JAHAZIEL GORDILLO HERNANDEZ</cp:lastModifiedBy>
  <cp:revision>5</cp:revision>
  <dcterms:created xsi:type="dcterms:W3CDTF">2026-09-16T22:12:13Z</dcterms:created>
  <dcterms:modified xsi:type="dcterms:W3CDTF">2026-09-22T07:10:36Z</dcterms:modified>
</cp:coreProperties>
</file>