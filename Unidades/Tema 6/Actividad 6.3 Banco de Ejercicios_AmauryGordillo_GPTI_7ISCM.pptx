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69" r:id="rId16"/>
    <p:sldId id="270" r:id="rId17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matriz de evaluación de la instrumentación asigna 40% al banco de ejercicios.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tabla D5 reporta pruebas funcionales correctas; no se deben inventar cantidades de producción o tiempos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69458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79779E09-8C11-4C71-8EA4-20DA16C92393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9F52110-6BC0-412B-8583-4A083135E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ADE7D8E-9ABD-4A2A-A198-1DCEF26E4D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A6090961-7477-462A-81CD-6016CAE80021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46EAB721-6400-4EDE-9578-63DDA029A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B35C9503-7723-45F3-9A0B-E9E36D31502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2369DF3-5D59-4B03-B8F3-2AA952127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67D636DD-DBB7-4B38-BB14-8AB6A1384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B99FED0D-BD07-4B3A-83A2-5A4A53CEC436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515E361-C550-4B2F-B255-FF8C7B0D8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D05DF20C-2971-43AF-B19C-C44AD3ED1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8217AD8B-7FD1-497F-AB23-AA49FE7C3B9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78FE8D7E-AF6A-4680-B2E2-2883CC4AD5D2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7761EC0-981F-463B-87C1-9DDD34D79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8AC07CBD-4A6E-4FDE-86B9-0FAAE304D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maurycolochos-cpu/Gesti-n-de-proyectos-de-TI/tree/main/Proyectos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s.ugto.mx/rea/clase-digital-6-cierre-de-proyecto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pressbooks.ulib.csuohio.edu/projectmanagement2ndedition/chapter/13-1-closing-the-projec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n 4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280834" y="0"/>
            <a:ext cx="11911166" cy="6858000"/>
          </a:xfrm>
          <a:prstGeom prst="rect">
            <a:avLst/>
          </a:prstGeom>
        </p:spPr>
      </p:pic>
      <p:sp>
        <p:nvSpPr>
          <p:cNvPr id="2" name="institutional-navy-band">
            <a:extLst>
              <a:ext uri="{FF2B5EF4-FFF2-40B4-BE49-F238E27FC236}">
                <a16:creationId xmlns:a16="http://schemas.microsoft.com/office/drawing/2014/main" id="{3AE6E076-F470-4AFA-B05E-BB577D99A602}"/>
              </a:ext>
            </a:extLst>
          </p:cNvPr>
          <p:cNvSpPr>
            <a:spLocks noGrp="1"/>
          </p:cNvSpPr>
          <p:nvPr/>
        </p:nvSpPr>
        <p:spPr>
          <a:xfrm>
            <a:off x="-47626" y="0"/>
            <a:ext cx="328459" cy="6858000"/>
          </a:xfrm>
          <a:prstGeom prst="rect">
            <a:avLst/>
          </a:prstGeom>
          <a:solidFill>
            <a:srgbClr val="082958"/>
          </a:solidFill>
          <a:ln w="0">
            <a:noFill/>
            <a:prstDash val="solid"/>
          </a:ln>
        </p:spPr>
      </p:sp>
      <p:sp>
        <p:nvSpPr>
          <p:cNvPr id="3" name="institutional-gold-accent">
            <a:extLst>
              <a:ext uri="{FF2B5EF4-FFF2-40B4-BE49-F238E27FC236}">
                <a16:creationId xmlns:a16="http://schemas.microsoft.com/office/drawing/2014/main" id="{511065C0-35AD-4DAE-B610-DF6B7F488372}"/>
              </a:ext>
            </a:extLst>
          </p:cNvPr>
          <p:cNvSpPr>
            <a:spLocks noGrp="1"/>
          </p:cNvSpPr>
          <p:nvPr/>
        </p:nvSpPr>
        <p:spPr>
          <a:xfrm>
            <a:off x="280987" y="47625"/>
            <a:ext cx="28575" cy="643890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4" name="top-rule">
            <a:extLst>
              <a:ext uri="{FF2B5EF4-FFF2-40B4-BE49-F238E27FC236}">
                <a16:creationId xmlns:a16="http://schemas.microsoft.com/office/drawing/2014/main" id="{A402DA1E-9E80-4154-8892-48887862CA94}"/>
              </a:ext>
            </a:extLst>
          </p:cNvPr>
          <p:cNvSpPr>
            <a:spLocks noGrp="1"/>
          </p:cNvSpPr>
          <p:nvPr/>
        </p:nvSpPr>
        <p:spPr>
          <a:xfrm>
            <a:off x="838200" y="1009650"/>
            <a:ext cx="10515600" cy="0"/>
          </a:xfrm>
          <a:prstGeom prst="line">
            <a:avLst/>
          </a:prstGeom>
          <a:noFill/>
          <a:ln w="11430">
            <a:solidFill>
              <a:srgbClr val="DCEBFA"/>
            </a:solidFill>
            <a:prstDash val="solid"/>
          </a:ln>
        </p:spPr>
      </p:sp>
      <p:sp>
        <p:nvSpPr>
          <p:cNvPr id="6" name="institution-name">
            <a:extLst>
              <a:ext uri="{FF2B5EF4-FFF2-40B4-BE49-F238E27FC236}">
                <a16:creationId xmlns:a16="http://schemas.microsoft.com/office/drawing/2014/main" id="{E0E92947-86F7-4A12-A128-7B0159F83BDC}"/>
              </a:ext>
            </a:extLst>
          </p:cNvPr>
          <p:cNvSpPr>
            <a:spLocks noGrp="1"/>
          </p:cNvSpPr>
          <p:nvPr/>
        </p:nvSpPr>
        <p:spPr>
          <a:xfrm>
            <a:off x="3641008" y="892277"/>
            <a:ext cx="5464892" cy="6667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5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5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TECNOLÓGICO NACIONAL DE MÉXICO</a:t>
            </a:r>
          </a:p>
        </p:txBody>
      </p:sp>
      <p:sp>
        <p:nvSpPr>
          <p:cNvPr id="9" name="degree-title">
            <a:extLst>
              <a:ext uri="{FF2B5EF4-FFF2-40B4-BE49-F238E27FC236}">
                <a16:creationId xmlns:a16="http://schemas.microsoft.com/office/drawing/2014/main" id="{897E2AE5-15D9-4AB6-9730-7184F55D8F9A}"/>
              </a:ext>
            </a:extLst>
          </p:cNvPr>
          <p:cNvSpPr>
            <a:spLocks noGrp="1"/>
          </p:cNvSpPr>
          <p:nvPr/>
        </p:nvSpPr>
        <p:spPr>
          <a:xfrm>
            <a:off x="3429000" y="1454252"/>
            <a:ext cx="5524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23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INGENIERÍA EN</a:t>
            </a:r>
          </a:p>
          <a:p>
            <a:pPr algn="ctr">
              <a:lnSpc>
                <a:spcPct val="92000"/>
              </a:lnSpc>
              <a:buNone/>
              <a:defRPr sz="23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SISTEMAS COMPUTACIONALES</a:t>
            </a:r>
          </a:p>
        </p:txBody>
      </p:sp>
      <p:sp>
        <p:nvSpPr>
          <p:cNvPr id="10" name="degree-gold-rule-left">
            <a:extLst>
              <a:ext uri="{FF2B5EF4-FFF2-40B4-BE49-F238E27FC236}">
                <a16:creationId xmlns:a16="http://schemas.microsoft.com/office/drawing/2014/main" id="{C8050B62-10E2-4D95-BEEE-6E1978022F99}"/>
              </a:ext>
            </a:extLst>
          </p:cNvPr>
          <p:cNvSpPr>
            <a:spLocks noGrp="1"/>
          </p:cNvSpPr>
          <p:nvPr/>
        </p:nvSpPr>
        <p:spPr>
          <a:xfrm>
            <a:off x="4848225" y="2209800"/>
            <a:ext cx="990600" cy="0"/>
          </a:xfrm>
          <a:prstGeom prst="line">
            <a:avLst/>
          </a:prstGeom>
          <a:noFill/>
          <a:ln w="15240">
            <a:solidFill>
              <a:srgbClr val="C8972C"/>
            </a:solidFill>
            <a:prstDash val="solid"/>
          </a:ln>
        </p:spPr>
      </p:sp>
      <p:sp>
        <p:nvSpPr>
          <p:cNvPr id="11" name="degree-gold-rule-right">
            <a:extLst>
              <a:ext uri="{FF2B5EF4-FFF2-40B4-BE49-F238E27FC236}">
                <a16:creationId xmlns:a16="http://schemas.microsoft.com/office/drawing/2014/main" id="{12397A49-149B-4ECA-A15E-F885934091D1}"/>
              </a:ext>
            </a:extLst>
          </p:cNvPr>
          <p:cNvSpPr>
            <a:spLocks noGrp="1"/>
          </p:cNvSpPr>
          <p:nvPr/>
        </p:nvSpPr>
        <p:spPr>
          <a:xfrm>
            <a:off x="6353175" y="2209800"/>
            <a:ext cx="990600" cy="0"/>
          </a:xfrm>
          <a:prstGeom prst="line">
            <a:avLst/>
          </a:prstGeom>
          <a:noFill/>
          <a:ln w="15240">
            <a:solidFill>
              <a:srgbClr val="C8972C"/>
            </a:solidFill>
            <a:prstDash val="solid"/>
          </a:ln>
        </p:spPr>
      </p:sp>
      <p:sp>
        <p:nvSpPr>
          <p:cNvPr id="13" name="course-title-line-1">
            <a:extLst>
              <a:ext uri="{FF2B5EF4-FFF2-40B4-BE49-F238E27FC236}">
                <a16:creationId xmlns:a16="http://schemas.microsoft.com/office/drawing/2014/main" id="{24A5C187-BE41-45B6-8BF3-A2878D2FD52B}"/>
              </a:ext>
            </a:extLst>
          </p:cNvPr>
          <p:cNvSpPr>
            <a:spLocks noGrp="1"/>
          </p:cNvSpPr>
          <p:nvPr/>
        </p:nvSpPr>
        <p:spPr>
          <a:xfrm>
            <a:off x="2362199" y="2633663"/>
            <a:ext cx="74676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1561" lnSpcReduction="20000"/>
          </a:bodyPr>
          <a:lstStyle/>
          <a:p>
            <a:pPr algn="ctr">
              <a:buNone/>
              <a:defRPr sz="41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41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GESTIÓN DE PROYECTOS DE TI</a:t>
            </a:r>
          </a:p>
        </p:txBody>
      </p:sp>
      <p:sp>
        <p:nvSpPr>
          <p:cNvPr id="15" name="activity-left-trace-1">
            <a:extLst>
              <a:ext uri="{FF2B5EF4-FFF2-40B4-BE49-F238E27FC236}">
                <a16:creationId xmlns:a16="http://schemas.microsoft.com/office/drawing/2014/main" id="{7D063C37-CCC4-4D1E-800C-E1EC27DFD060}"/>
              </a:ext>
            </a:extLst>
          </p:cNvPr>
          <p:cNvSpPr>
            <a:spLocks noGrp="1"/>
          </p:cNvSpPr>
          <p:nvPr/>
        </p:nvSpPr>
        <p:spPr>
          <a:xfrm>
            <a:off x="2038350" y="377190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6" name="activity-left-trace-2">
            <a:extLst>
              <a:ext uri="{FF2B5EF4-FFF2-40B4-BE49-F238E27FC236}">
                <a16:creationId xmlns:a16="http://schemas.microsoft.com/office/drawing/2014/main" id="{3CFD8881-ED44-45BD-9DF0-783461E898DA}"/>
              </a:ext>
            </a:extLst>
          </p:cNvPr>
          <p:cNvSpPr>
            <a:spLocks noGrp="1"/>
          </p:cNvSpPr>
          <p:nvPr/>
        </p:nvSpPr>
        <p:spPr>
          <a:xfrm>
            <a:off x="2552700" y="3676650"/>
            <a:ext cx="0" cy="9525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7" name="activity-left-trace-3">
            <a:extLst>
              <a:ext uri="{FF2B5EF4-FFF2-40B4-BE49-F238E27FC236}">
                <a16:creationId xmlns:a16="http://schemas.microsoft.com/office/drawing/2014/main" id="{40CE4708-D5C7-40D2-BE07-C709D6A81A4E}"/>
              </a:ext>
            </a:extLst>
          </p:cNvPr>
          <p:cNvSpPr>
            <a:spLocks noGrp="1"/>
          </p:cNvSpPr>
          <p:nvPr/>
        </p:nvSpPr>
        <p:spPr>
          <a:xfrm>
            <a:off x="2552700" y="367665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8" name="activity-left-node">
            <a:extLst>
              <a:ext uri="{FF2B5EF4-FFF2-40B4-BE49-F238E27FC236}">
                <a16:creationId xmlns:a16="http://schemas.microsoft.com/office/drawing/2014/main" id="{61DC4950-E910-4AA5-840B-B61E8D5D8C11}"/>
              </a:ext>
            </a:extLst>
          </p:cNvPr>
          <p:cNvSpPr>
            <a:spLocks noGrp="1"/>
          </p:cNvSpPr>
          <p:nvPr/>
        </p:nvSpPr>
        <p:spPr>
          <a:xfrm>
            <a:off x="3086100" y="363855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  <p:sp>
        <p:nvSpPr>
          <p:cNvPr id="19" name="activity-right-node">
            <a:extLst>
              <a:ext uri="{FF2B5EF4-FFF2-40B4-BE49-F238E27FC236}">
                <a16:creationId xmlns:a16="http://schemas.microsoft.com/office/drawing/2014/main" id="{825A2979-FD3A-4780-A5BF-2B891AF31213}"/>
              </a:ext>
            </a:extLst>
          </p:cNvPr>
          <p:cNvSpPr>
            <a:spLocks noGrp="1"/>
          </p:cNvSpPr>
          <p:nvPr/>
        </p:nvSpPr>
        <p:spPr>
          <a:xfrm>
            <a:off x="9020175" y="363855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  <p:sp>
        <p:nvSpPr>
          <p:cNvPr id="20" name="activity-right-trace-1">
            <a:extLst>
              <a:ext uri="{FF2B5EF4-FFF2-40B4-BE49-F238E27FC236}">
                <a16:creationId xmlns:a16="http://schemas.microsoft.com/office/drawing/2014/main" id="{38B16BE7-5C8D-4EAB-B2EE-18E787DD60AA}"/>
              </a:ext>
            </a:extLst>
          </p:cNvPr>
          <p:cNvSpPr>
            <a:spLocks noGrp="1"/>
          </p:cNvSpPr>
          <p:nvPr/>
        </p:nvSpPr>
        <p:spPr>
          <a:xfrm>
            <a:off x="9105900" y="367665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1" name="activity-right-trace-2">
            <a:extLst>
              <a:ext uri="{FF2B5EF4-FFF2-40B4-BE49-F238E27FC236}">
                <a16:creationId xmlns:a16="http://schemas.microsoft.com/office/drawing/2014/main" id="{B0073C7F-4C58-47DE-BB0A-AFC31EDFE384}"/>
              </a:ext>
            </a:extLst>
          </p:cNvPr>
          <p:cNvSpPr>
            <a:spLocks noGrp="1"/>
          </p:cNvSpPr>
          <p:nvPr/>
        </p:nvSpPr>
        <p:spPr>
          <a:xfrm>
            <a:off x="9620250" y="3676650"/>
            <a:ext cx="0" cy="9525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2" name="activity-right-trace-3">
            <a:extLst>
              <a:ext uri="{FF2B5EF4-FFF2-40B4-BE49-F238E27FC236}">
                <a16:creationId xmlns:a16="http://schemas.microsoft.com/office/drawing/2014/main" id="{0A4D59B6-4962-4FEF-A21B-2AF53EF32F99}"/>
              </a:ext>
            </a:extLst>
          </p:cNvPr>
          <p:cNvSpPr>
            <a:spLocks noGrp="1"/>
          </p:cNvSpPr>
          <p:nvPr/>
        </p:nvSpPr>
        <p:spPr>
          <a:xfrm>
            <a:off x="9620250" y="377190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3" name="activity-title">
            <a:extLst>
              <a:ext uri="{FF2B5EF4-FFF2-40B4-BE49-F238E27FC236}">
                <a16:creationId xmlns:a16="http://schemas.microsoft.com/office/drawing/2014/main" id="{F746EC2E-9743-49CF-891C-11DBE19DF422}"/>
              </a:ext>
            </a:extLst>
          </p:cNvPr>
          <p:cNvSpPr>
            <a:spLocks noGrp="1"/>
          </p:cNvSpPr>
          <p:nvPr/>
        </p:nvSpPr>
        <p:spPr>
          <a:xfrm>
            <a:off x="3238500" y="3581400"/>
            <a:ext cx="571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>
                <a:solidFill>
                  <a:srgbClr val="2862A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ACTIVIDAD 6.3 — BANCO DE EJERCICIOS</a:t>
            </a:r>
          </a:p>
        </p:txBody>
      </p:sp>
      <p:sp>
        <p:nvSpPr>
          <p:cNvPr id="24" name="students-heading">
            <a:extLst>
              <a:ext uri="{FF2B5EF4-FFF2-40B4-BE49-F238E27FC236}">
                <a16:creationId xmlns:a16="http://schemas.microsoft.com/office/drawing/2014/main" id="{B3090DA1-DD45-4D5A-810A-68C80D1D5495}"/>
              </a:ext>
            </a:extLst>
          </p:cNvPr>
          <p:cNvSpPr>
            <a:spLocks noGrp="1"/>
          </p:cNvSpPr>
          <p:nvPr/>
        </p:nvSpPr>
        <p:spPr>
          <a:xfrm>
            <a:off x="2857500" y="4143375"/>
            <a:ext cx="4667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PRESENTA</a:t>
            </a:r>
          </a:p>
        </p:txBody>
      </p:sp>
      <p:sp>
        <p:nvSpPr>
          <p:cNvPr id="25" name="enrollment-heading">
            <a:extLst>
              <a:ext uri="{FF2B5EF4-FFF2-40B4-BE49-F238E27FC236}">
                <a16:creationId xmlns:a16="http://schemas.microsoft.com/office/drawing/2014/main" id="{8497282D-0F32-46CC-9BD6-A908719C1476}"/>
              </a:ext>
            </a:extLst>
          </p:cNvPr>
          <p:cNvSpPr>
            <a:spLocks noGrp="1"/>
          </p:cNvSpPr>
          <p:nvPr/>
        </p:nvSpPr>
        <p:spPr>
          <a:xfrm>
            <a:off x="7715250" y="4143375"/>
            <a:ext cx="1619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MATRÍCULA</a:t>
            </a:r>
          </a:p>
        </p:txBody>
      </p:sp>
      <p:sp>
        <p:nvSpPr>
          <p:cNvPr id="26" name="students-top-rule">
            <a:extLst>
              <a:ext uri="{FF2B5EF4-FFF2-40B4-BE49-F238E27FC236}">
                <a16:creationId xmlns:a16="http://schemas.microsoft.com/office/drawing/2014/main" id="{A7922C15-D34B-4B95-9915-A3A8D77C7F79}"/>
              </a:ext>
            </a:extLst>
          </p:cNvPr>
          <p:cNvSpPr>
            <a:spLocks noGrp="1"/>
          </p:cNvSpPr>
          <p:nvPr/>
        </p:nvSpPr>
        <p:spPr>
          <a:xfrm>
            <a:off x="2857500" y="4381500"/>
            <a:ext cx="6477000" cy="0"/>
          </a:xfrm>
          <a:prstGeom prst="line">
            <a:avLst/>
          </a:prstGeom>
          <a:noFill/>
          <a:ln w="14288">
            <a:solidFill>
              <a:srgbClr val="0B3473"/>
            </a:solidFill>
            <a:prstDash val="solid"/>
          </a:ln>
        </p:spPr>
      </p:sp>
      <p:sp>
        <p:nvSpPr>
          <p:cNvPr id="28" name="students-row-divider">
            <a:extLst>
              <a:ext uri="{FF2B5EF4-FFF2-40B4-BE49-F238E27FC236}">
                <a16:creationId xmlns:a16="http://schemas.microsoft.com/office/drawing/2014/main" id="{0EBB92DB-59C3-4BDC-99A0-F2F4D93B78A4}"/>
              </a:ext>
            </a:extLst>
          </p:cNvPr>
          <p:cNvSpPr>
            <a:spLocks noGrp="1"/>
          </p:cNvSpPr>
          <p:nvPr/>
        </p:nvSpPr>
        <p:spPr>
          <a:xfrm>
            <a:off x="2857500" y="4800600"/>
            <a:ext cx="6477000" cy="0"/>
          </a:xfrm>
          <a:prstGeom prst="line">
            <a:avLst/>
          </a:prstGeom>
          <a:noFill/>
          <a:ln w="9525">
            <a:solidFill>
              <a:srgbClr val="DCEBFA"/>
            </a:solidFill>
            <a:prstDash val="solid"/>
          </a:ln>
        </p:spPr>
      </p:sp>
      <p:sp>
        <p:nvSpPr>
          <p:cNvPr id="29" name="students-column-divider">
            <a:extLst>
              <a:ext uri="{FF2B5EF4-FFF2-40B4-BE49-F238E27FC236}">
                <a16:creationId xmlns:a16="http://schemas.microsoft.com/office/drawing/2014/main" id="{D19BD447-A808-4FDA-A54C-331FE02FEA74}"/>
              </a:ext>
            </a:extLst>
          </p:cNvPr>
          <p:cNvSpPr>
            <a:spLocks noGrp="1"/>
          </p:cNvSpPr>
          <p:nvPr/>
        </p:nvSpPr>
        <p:spPr>
          <a:xfrm>
            <a:off x="7639050" y="4476750"/>
            <a:ext cx="0" cy="647700"/>
          </a:xfrm>
          <a:prstGeom prst="line">
            <a:avLst/>
          </a:prstGeom>
          <a:noFill/>
          <a:ln w="9525">
            <a:solidFill>
              <a:srgbClr val="9DB9DB"/>
            </a:solidFill>
            <a:prstDash val="solid"/>
          </a:ln>
        </p:spPr>
      </p:sp>
      <p:sp>
        <p:nvSpPr>
          <p:cNvPr id="30" name="student-row-one-marker">
            <a:extLst>
              <a:ext uri="{FF2B5EF4-FFF2-40B4-BE49-F238E27FC236}">
                <a16:creationId xmlns:a16="http://schemas.microsoft.com/office/drawing/2014/main" id="{4F497FA1-C313-4F3D-9493-840BF4D89598}"/>
              </a:ext>
            </a:extLst>
          </p:cNvPr>
          <p:cNvSpPr>
            <a:spLocks noGrp="1"/>
          </p:cNvSpPr>
          <p:nvPr/>
        </p:nvSpPr>
        <p:spPr>
          <a:xfrm>
            <a:off x="2876550" y="4486275"/>
            <a:ext cx="38100" cy="20955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34" name="student-two-name">
            <a:extLst>
              <a:ext uri="{FF2B5EF4-FFF2-40B4-BE49-F238E27FC236}">
                <a16:creationId xmlns:a16="http://schemas.microsoft.com/office/drawing/2014/main" id="{3EF7C761-CF7A-4E70-9E2B-16269734FC91}"/>
              </a:ext>
            </a:extLst>
          </p:cNvPr>
          <p:cNvSpPr>
            <a:spLocks noGrp="1"/>
          </p:cNvSpPr>
          <p:nvPr/>
        </p:nvSpPr>
        <p:spPr>
          <a:xfrm>
            <a:off x="3056554" y="4467225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>
                <a:solidFill>
                  <a:srgbClr val="102B5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B5C"/>
                </a:solidFill>
                <a:latin typeface="Aptos"/>
                <a:ea typeface="Aptos"/>
                <a:cs typeface="Aptos"/>
              </a:rPr>
              <a:t>Amaury Jahaziel Gordillo Hernández</a:t>
            </a:r>
          </a:p>
        </p:txBody>
      </p:sp>
      <p:sp>
        <p:nvSpPr>
          <p:cNvPr id="35" name="student-two-id">
            <a:extLst>
              <a:ext uri="{FF2B5EF4-FFF2-40B4-BE49-F238E27FC236}">
                <a16:creationId xmlns:a16="http://schemas.microsoft.com/office/drawing/2014/main" id="{05E44B11-B863-4ECE-A2F6-C9964031DF71}"/>
              </a:ext>
            </a:extLst>
          </p:cNvPr>
          <p:cNvSpPr>
            <a:spLocks noGrp="1"/>
          </p:cNvSpPr>
          <p:nvPr/>
        </p:nvSpPr>
        <p:spPr>
          <a:xfrm>
            <a:off x="7791450" y="4438649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425" b="0">
                <a:solidFill>
                  <a:srgbClr val="102B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B5C"/>
                </a:solidFill>
                <a:latin typeface="Aptos"/>
                <a:ea typeface="Aptos"/>
                <a:cs typeface="Aptos"/>
              </a:rPr>
              <a:t>231260074</a:t>
            </a:r>
          </a:p>
        </p:txBody>
      </p:sp>
      <p:sp>
        <p:nvSpPr>
          <p:cNvPr id="36" name="teacher-heading">
            <a:extLst>
              <a:ext uri="{FF2B5EF4-FFF2-40B4-BE49-F238E27FC236}">
                <a16:creationId xmlns:a16="http://schemas.microsoft.com/office/drawing/2014/main" id="{F388D88D-A3F7-4DA5-9D23-808A58C08C1E}"/>
              </a:ext>
            </a:extLst>
          </p:cNvPr>
          <p:cNvSpPr>
            <a:spLocks noGrp="1"/>
          </p:cNvSpPr>
          <p:nvPr/>
        </p:nvSpPr>
        <p:spPr>
          <a:xfrm>
            <a:off x="4191000" y="5467350"/>
            <a:ext cx="3810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>
                <a:solidFill>
                  <a:srgbClr val="55739E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55739E"/>
                </a:solidFill>
                <a:latin typeface="Aptos Display"/>
                <a:ea typeface="Aptos Display"/>
                <a:cs typeface="Aptos Display"/>
              </a:rPr>
              <a:t>DOCENTE</a:t>
            </a:r>
          </a:p>
        </p:txBody>
      </p:sp>
      <p:sp>
        <p:nvSpPr>
          <p:cNvPr id="37" name="teacher-name">
            <a:extLst>
              <a:ext uri="{FF2B5EF4-FFF2-40B4-BE49-F238E27FC236}">
                <a16:creationId xmlns:a16="http://schemas.microsoft.com/office/drawing/2014/main" id="{AA678B21-6A90-4BCE-8092-FF0E0979DE5C}"/>
              </a:ext>
            </a:extLst>
          </p:cNvPr>
          <p:cNvSpPr>
            <a:spLocks noGrp="1"/>
          </p:cNvSpPr>
          <p:nvPr/>
        </p:nvSpPr>
        <p:spPr>
          <a:xfrm>
            <a:off x="2857500" y="5705475"/>
            <a:ext cx="6477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800" b="1">
                <a:latin typeface="Aptos Display"/>
                <a:ea typeface="Aptos Display"/>
                <a:cs typeface="Aptos Display"/>
              </a:rPr>
              <a:t>ING. FRANCISCO JAVIER MINGO VELAZQUEZ</a:t>
            </a: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38" name="footer-rule">
            <a:extLst>
              <a:ext uri="{FF2B5EF4-FFF2-40B4-BE49-F238E27FC236}">
                <a16:creationId xmlns:a16="http://schemas.microsoft.com/office/drawing/2014/main" id="{7C40688F-E9E3-4093-9368-ADED90666EB5}"/>
              </a:ext>
            </a:extLst>
          </p:cNvPr>
          <p:cNvSpPr>
            <a:spLocks noGrp="1"/>
          </p:cNvSpPr>
          <p:nvPr/>
        </p:nvSpPr>
        <p:spPr>
          <a:xfrm>
            <a:off x="1943100" y="6191250"/>
            <a:ext cx="8305800" cy="0"/>
          </a:xfrm>
          <a:prstGeom prst="line">
            <a:avLst/>
          </a:prstGeom>
          <a:noFill/>
          <a:ln w="11430">
            <a:solidFill>
              <a:srgbClr val="9DB9DB"/>
            </a:solidFill>
            <a:prstDash val="solid"/>
          </a:ln>
        </p:spPr>
      </p:sp>
      <p:sp>
        <p:nvSpPr>
          <p:cNvPr id="39" name="footer-rule-accent">
            <a:extLst>
              <a:ext uri="{FF2B5EF4-FFF2-40B4-BE49-F238E27FC236}">
                <a16:creationId xmlns:a16="http://schemas.microsoft.com/office/drawing/2014/main" id="{AA9604F1-D818-4EDE-AFC0-507B4EE53347}"/>
              </a:ext>
            </a:extLst>
          </p:cNvPr>
          <p:cNvSpPr>
            <a:spLocks noGrp="1"/>
          </p:cNvSpPr>
          <p:nvPr/>
        </p:nvSpPr>
        <p:spPr>
          <a:xfrm>
            <a:off x="5829300" y="6172200"/>
            <a:ext cx="533400" cy="3810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40" name="date-location">
            <a:extLst>
              <a:ext uri="{FF2B5EF4-FFF2-40B4-BE49-F238E27FC236}">
                <a16:creationId xmlns:a16="http://schemas.microsoft.com/office/drawing/2014/main" id="{8EF49A72-4459-4AD1-9919-B580F4EB3D0A}"/>
              </a:ext>
            </a:extLst>
          </p:cNvPr>
          <p:cNvSpPr>
            <a:spLocks noGrp="1"/>
          </p:cNvSpPr>
          <p:nvPr/>
        </p:nvSpPr>
        <p:spPr>
          <a:xfrm>
            <a:off x="2476500" y="637222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0">
                <a:solidFill>
                  <a:srgbClr val="0B34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3473"/>
                </a:solidFill>
                <a:latin typeface="Aptos"/>
                <a:ea typeface="Aptos"/>
                <a:cs typeface="Aptos"/>
              </a:rPr>
              <a:t>04 DE OCTUBRE DE 2026  ·  VENUSTIANO CARRANZA, CHIAPAS</a:t>
            </a:r>
          </a:p>
        </p:txBody>
      </p:sp>
      <p:pic>
        <p:nvPicPr>
          <p:cNvPr id="75" name="Imagen 4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1576" y="128441"/>
            <a:ext cx="1834529" cy="809723"/>
          </a:xfrm>
          <a:prstGeom prst="rect">
            <a:avLst/>
          </a:prstGeom>
          <a:ln>
            <a:noFill/>
          </a:ln>
        </p:spPr>
      </p:pic>
      <p:pic>
        <p:nvPicPr>
          <p:cNvPr id="76" name="Imagen 42"/>
          <p:cNvPicPr>
            <a:picLocks noChangeAspect="1"/>
          </p:cNvPicPr>
          <p:nvPr/>
        </p:nvPicPr>
        <p:blipFill rotWithShape="1">
          <a:blip r:embed="rId5"/>
          <a:srcRect/>
          <a:stretch/>
        </p:blipFill>
        <p:spPr>
          <a:xfrm>
            <a:off x="10619686" y="11882"/>
            <a:ext cx="1289022" cy="926282"/>
          </a:xfrm>
          <a:prstGeom prst="rect">
            <a:avLst/>
          </a:prstGeom>
          <a:ln>
            <a:noFill/>
          </a:ln>
        </p:spPr>
      </p:pic>
      <p:sp>
        <p:nvSpPr>
          <p:cNvPr id="5" name="activity-left-node">
            <a:extLst>
              <a:ext uri="{FF2B5EF4-FFF2-40B4-BE49-F238E27FC236}">
                <a16:creationId xmlns:a16="http://schemas.microsoft.com/office/drawing/2014/main" id="{AB38A2EA-B133-B170-0BFA-9B5674F0137F}"/>
              </a:ext>
            </a:extLst>
          </p:cNvPr>
          <p:cNvSpPr>
            <a:spLocks noGrp="1"/>
          </p:cNvSpPr>
          <p:nvPr/>
        </p:nvSpPr>
        <p:spPr>
          <a:xfrm>
            <a:off x="6053137" y="214850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4056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028A80E5-1233-42BB-BDF1-B04FC803AE43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10668000" cy="619125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Introducción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7D02E79-1CF3-466A-9B1D-55DEEF9B0EC5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1B7E79"/>
          </a:solidFill>
          <a:ln w="0">
            <a:noFill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A82D95D-5185-40AA-921D-1F7E74608B18}"/>
              </a:ext>
            </a:extLst>
          </p:cNvPr>
          <p:cNvSpPr>
            <a:spLocks noGrp="1"/>
          </p:cNvSpPr>
          <p:nvPr/>
        </p:nvSpPr>
        <p:spPr>
          <a:xfrm>
            <a:off x="666750" y="1495425"/>
            <a:ext cx="10477500" cy="78105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2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Cerrar un proyecto implica revisar resultados, aprender de lo ocurrido y dejar evidencia ordenada.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55C4B59-BE16-4B97-9ADA-2E91F2128E82}"/>
              </a:ext>
            </a:extLst>
          </p:cNvPr>
          <p:cNvSpPr>
            <a:spLocks noGrp="1"/>
          </p:cNvSpPr>
          <p:nvPr/>
        </p:nvSpPr>
        <p:spPr>
          <a:xfrm>
            <a:off x="666750" y="2647950"/>
            <a:ext cx="47625" cy="2724150"/>
          </a:xfrm>
          <a:prstGeom prst="rect">
            <a:avLst/>
          </a:prstGeom>
          <a:solidFill>
            <a:srgbClr val="1B7E79"/>
          </a:solidFill>
          <a:ln w="0">
            <a:noFill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56168B4-38BC-4652-A57E-CCE61A665305}"/>
              </a:ext>
            </a:extLst>
          </p:cNvPr>
          <p:cNvSpPr>
            <a:spLocks noGrp="1"/>
          </p:cNvSpPr>
          <p:nvPr/>
        </p:nvSpPr>
        <p:spPr>
          <a:xfrm>
            <a:off x="971550" y="2638425"/>
            <a:ext cx="10001250" cy="8382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80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Este banco propone ejercicios para aplicar los contenidos de la Unidad 6 a situaciones reales de gestión de proyectos de TI.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D631542-F2B9-4E7E-9A08-9F49C732B032}"/>
              </a:ext>
            </a:extLst>
          </p:cNvPr>
          <p:cNvSpPr>
            <a:spLocks noGrp="1"/>
          </p:cNvSpPr>
          <p:nvPr/>
        </p:nvSpPr>
        <p:spPr>
          <a:xfrm>
            <a:off x="971550" y="3695700"/>
            <a:ext cx="10001250" cy="89535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80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Los casos de Bloquera, Fast Burger y ProcesMuebles permiten distinguir entre un entregable recibido, un resultado comprobado y un dato que todavía hace falta.</a:t>
            </a:r>
          </a:p>
        </p:txBody>
      </p:sp>
    </p:spTree>
    <p:extLst>
      <p:ext uri="{BB962C8B-B14F-4D97-AF65-F5344CB8AC3E}">
        <p14:creationId xmlns:p14="http://schemas.microsoft.com/office/powerpoint/2010/main" val="2047297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65DB1207-67D8-47BA-A0F0-19FDAAC00142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10668000" cy="619125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Justificación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B893E35-796A-4987-9E00-765E8731AF23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CC8A46"/>
          </a:solidFill>
          <a:ln w="0">
            <a:noFill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FC748F6-00BE-42A3-B658-7BB5A800098E}"/>
              </a:ext>
            </a:extLst>
          </p:cNvPr>
          <p:cNvSpPr>
            <a:spLocks noGrp="1"/>
          </p:cNvSpPr>
          <p:nvPr/>
        </p:nvSpPr>
        <p:spPr>
          <a:xfrm>
            <a:off x="666750" y="1788857"/>
            <a:ext cx="10286999" cy="1809750"/>
          </a:xfrm>
          <a:prstGeom prst="rect">
            <a:avLst/>
          </a:prstGeom>
          <a:ln w="0">
            <a:noFill/>
          </a:ln>
        </p:spPr>
        <p:txBody>
          <a:bodyPr anchor="ctr">
            <a:normAutofit lnSpcReduction="10000"/>
          </a:bodyPr>
          <a:lstStyle/>
          <a:p>
            <a:pPr algn="l">
              <a:buNone/>
              <a:defRPr sz="180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00"/>
              <a:t>Realicé</a:t>
            </a:r>
            <a:r>
              <a:rPr sz="2000" dirty="0"/>
              <a:t> </a:t>
            </a:r>
            <a:r>
              <a:rPr sz="2000" dirty="0" err="1"/>
              <a:t>esta</a:t>
            </a:r>
            <a:r>
              <a:rPr sz="2000" dirty="0"/>
              <a:t> </a:t>
            </a:r>
            <a:r>
              <a:rPr sz="2000" dirty="0" err="1"/>
              <a:t>actividad</a:t>
            </a:r>
            <a:r>
              <a:rPr sz="2000" dirty="0"/>
              <a:t> para </a:t>
            </a:r>
            <a:r>
              <a:rPr sz="2000" dirty="0" err="1"/>
              <a:t>practicar</a:t>
            </a:r>
            <a:r>
              <a:rPr sz="2000" dirty="0"/>
              <a:t> </a:t>
            </a:r>
            <a:r>
              <a:rPr sz="2000" dirty="0" err="1"/>
              <a:t>los</a:t>
            </a:r>
            <a:r>
              <a:rPr sz="2000" dirty="0"/>
              <a:t> </a:t>
            </a:r>
            <a:r>
              <a:rPr sz="2000" dirty="0" err="1"/>
              <a:t>conceptos</a:t>
            </a:r>
            <a:r>
              <a:rPr sz="2000" dirty="0"/>
              <a:t> de </a:t>
            </a:r>
            <a:r>
              <a:rPr sz="2000" dirty="0" err="1"/>
              <a:t>gestión</a:t>
            </a:r>
            <a:r>
              <a:rPr sz="2000" dirty="0"/>
              <a:t> de </a:t>
            </a:r>
            <a:r>
              <a:rPr sz="2000" dirty="0" err="1"/>
              <a:t>proyectos</a:t>
            </a:r>
            <a:r>
              <a:rPr sz="2000" dirty="0"/>
              <a:t> </a:t>
            </a:r>
            <a:r>
              <a:rPr sz="2000" dirty="0" err="1"/>
              <a:t>mediante</a:t>
            </a:r>
            <a:r>
              <a:rPr sz="2000" dirty="0"/>
              <a:t> </a:t>
            </a:r>
            <a:r>
              <a:rPr sz="2000" dirty="0" err="1"/>
              <a:t>ejercicios</a:t>
            </a:r>
            <a:r>
              <a:rPr sz="2000" dirty="0"/>
              <a:t> y </a:t>
            </a:r>
            <a:r>
              <a:rPr sz="2000" dirty="0" err="1"/>
              <a:t>situaciones</a:t>
            </a:r>
            <a:r>
              <a:rPr sz="2000" dirty="0"/>
              <a:t> </a:t>
            </a:r>
            <a:r>
              <a:rPr sz="2000" dirty="0" err="1"/>
              <a:t>concretas</a:t>
            </a:r>
            <a:r>
              <a:rPr sz="2000" dirty="0"/>
              <a:t>. </a:t>
            </a:r>
            <a:r>
              <a:rPr sz="2000" dirty="0" err="1"/>
              <a:t>Resolverlos</a:t>
            </a:r>
            <a:r>
              <a:rPr sz="2000" dirty="0"/>
              <a:t> me </a:t>
            </a:r>
            <a:r>
              <a:rPr sz="2000" dirty="0" err="1"/>
              <a:t>permitió</a:t>
            </a:r>
            <a:r>
              <a:rPr sz="2000" dirty="0"/>
              <a:t> </a:t>
            </a:r>
            <a:r>
              <a:rPr sz="2000" dirty="0" err="1"/>
              <a:t>ejercitar</a:t>
            </a:r>
            <a:r>
              <a:rPr sz="2000" dirty="0"/>
              <a:t> </a:t>
            </a:r>
            <a:r>
              <a:rPr sz="2000" dirty="0" err="1"/>
              <a:t>el</a:t>
            </a:r>
            <a:r>
              <a:rPr sz="2000" dirty="0"/>
              <a:t> </a:t>
            </a:r>
            <a:r>
              <a:rPr sz="2000" dirty="0" err="1"/>
              <a:t>análisis</a:t>
            </a:r>
            <a:r>
              <a:rPr sz="2000" dirty="0"/>
              <a:t> y la </a:t>
            </a:r>
            <a:r>
              <a:rPr sz="2000" dirty="0" err="1"/>
              <a:t>toma</a:t>
            </a:r>
            <a:r>
              <a:rPr sz="2000" dirty="0"/>
              <a:t> de </a:t>
            </a:r>
            <a:r>
              <a:rPr sz="2000" dirty="0" err="1"/>
              <a:t>decisiones</a:t>
            </a:r>
            <a:r>
              <a:rPr sz="2000" dirty="0"/>
              <a:t>, </a:t>
            </a:r>
            <a:r>
              <a:rPr sz="2000" dirty="0" err="1"/>
              <a:t>relacionar</a:t>
            </a:r>
            <a:r>
              <a:rPr sz="2000" dirty="0"/>
              <a:t> la </a:t>
            </a:r>
            <a:r>
              <a:rPr sz="2000" dirty="0" err="1"/>
              <a:t>teoría</a:t>
            </a:r>
            <a:r>
              <a:rPr sz="2000" dirty="0"/>
              <a:t> con </a:t>
            </a:r>
            <a:r>
              <a:rPr sz="2000" dirty="0" err="1"/>
              <a:t>casos</a:t>
            </a:r>
            <a:r>
              <a:rPr sz="2000" dirty="0"/>
              <a:t> </a:t>
            </a:r>
            <a:r>
              <a:rPr sz="2000" dirty="0" err="1"/>
              <a:t>prácticos</a:t>
            </a:r>
            <a:r>
              <a:rPr sz="2000" dirty="0"/>
              <a:t> e </a:t>
            </a:r>
            <a:r>
              <a:rPr sz="2000" dirty="0" err="1"/>
              <a:t>identificar</a:t>
            </a:r>
            <a:r>
              <a:rPr sz="2000" dirty="0"/>
              <a:t> </a:t>
            </a:r>
            <a:r>
              <a:rPr sz="2000" dirty="0" err="1"/>
              <a:t>qué</a:t>
            </a:r>
            <a:r>
              <a:rPr sz="2000" dirty="0"/>
              <a:t> </a:t>
            </a:r>
            <a:r>
              <a:rPr sz="2000" dirty="0" err="1"/>
              <a:t>aspectos</a:t>
            </a:r>
            <a:r>
              <a:rPr sz="2000" dirty="0"/>
              <a:t> </a:t>
            </a:r>
            <a:r>
              <a:rPr sz="2000" dirty="0" err="1"/>
              <a:t>conviene</a:t>
            </a:r>
            <a:r>
              <a:rPr sz="2000" dirty="0"/>
              <a:t> </a:t>
            </a:r>
            <a:r>
              <a:rPr sz="2000" dirty="0" err="1"/>
              <a:t>revisar</a:t>
            </a:r>
            <a:r>
              <a:rPr sz="2000" dirty="0"/>
              <a:t> </a:t>
            </a:r>
            <a:r>
              <a:rPr sz="2000" dirty="0" err="1"/>
              <a:t>durante</a:t>
            </a:r>
            <a:r>
              <a:rPr sz="2000" dirty="0"/>
              <a:t> la </a:t>
            </a:r>
            <a:r>
              <a:rPr sz="2000" dirty="0" err="1"/>
              <a:t>planificación</a:t>
            </a:r>
            <a:r>
              <a:rPr sz="2000" dirty="0"/>
              <a:t>, </a:t>
            </a:r>
            <a:r>
              <a:rPr sz="2000" dirty="0" err="1"/>
              <a:t>el</a:t>
            </a:r>
            <a:r>
              <a:rPr sz="2000" dirty="0"/>
              <a:t> </a:t>
            </a:r>
            <a:r>
              <a:rPr sz="2000" dirty="0" err="1"/>
              <a:t>seguimiento</a:t>
            </a:r>
            <a:r>
              <a:rPr sz="2000" dirty="0"/>
              <a:t> y </a:t>
            </a:r>
            <a:r>
              <a:rPr sz="2000" dirty="0" err="1"/>
              <a:t>el</a:t>
            </a:r>
            <a:r>
              <a:rPr sz="2000" dirty="0"/>
              <a:t> </a:t>
            </a:r>
            <a:r>
              <a:rPr sz="2000" dirty="0" err="1"/>
              <a:t>cierre</a:t>
            </a:r>
            <a:r>
              <a:rPr sz="2000" dirty="0"/>
              <a:t> de un </a:t>
            </a:r>
            <a:r>
              <a:rPr sz="2000" dirty="0" err="1"/>
              <a:t>proyecto</a:t>
            </a:r>
            <a:r>
              <a:rPr sz="2000" dirty="0"/>
              <a:t>. El banco de </a:t>
            </a:r>
            <a:r>
              <a:rPr sz="2000" dirty="0" err="1"/>
              <a:t>ejercicios</a:t>
            </a:r>
            <a:r>
              <a:rPr sz="2000" dirty="0"/>
              <a:t> </a:t>
            </a:r>
            <a:r>
              <a:rPr sz="2000" dirty="0" err="1"/>
              <a:t>también</a:t>
            </a:r>
            <a:r>
              <a:rPr sz="2000" dirty="0"/>
              <a:t> me </a:t>
            </a:r>
            <a:r>
              <a:rPr sz="2000" dirty="0" err="1"/>
              <a:t>sirve</a:t>
            </a:r>
            <a:r>
              <a:rPr sz="2000" dirty="0"/>
              <a:t> para </a:t>
            </a:r>
            <a:r>
              <a:rPr sz="2000" dirty="0" err="1"/>
              <a:t>comprobar</a:t>
            </a:r>
            <a:r>
              <a:rPr sz="2000" dirty="0"/>
              <a:t> lo </a:t>
            </a:r>
            <a:r>
              <a:rPr sz="2000" dirty="0" err="1"/>
              <a:t>aprendido</a:t>
            </a:r>
            <a:r>
              <a:rPr sz="2000" dirty="0"/>
              <a:t> y </a:t>
            </a:r>
            <a:r>
              <a:rPr sz="2000" dirty="0" err="1"/>
              <a:t>detectar</a:t>
            </a:r>
            <a:r>
              <a:rPr sz="2000" dirty="0"/>
              <a:t> </a:t>
            </a:r>
            <a:r>
              <a:rPr sz="2000" dirty="0" err="1"/>
              <a:t>dudas</a:t>
            </a:r>
            <a:r>
              <a:rPr sz="2000" dirty="0"/>
              <a:t> antes de </a:t>
            </a:r>
            <a:r>
              <a:rPr sz="2000" dirty="0" err="1"/>
              <a:t>aplicar</a:t>
            </a:r>
            <a:r>
              <a:rPr sz="2000" dirty="0"/>
              <a:t> </a:t>
            </a:r>
            <a:r>
              <a:rPr sz="2000" dirty="0" err="1"/>
              <a:t>esos</a:t>
            </a:r>
            <a:r>
              <a:rPr sz="2000" dirty="0"/>
              <a:t> </a:t>
            </a:r>
            <a:r>
              <a:rPr sz="2000" dirty="0" err="1"/>
              <a:t>conocimientos</a:t>
            </a:r>
            <a:r>
              <a:rPr sz="2000" dirty="0"/>
              <a:t> </a:t>
            </a:r>
            <a:r>
              <a:rPr sz="2000" dirty="0" err="1"/>
              <a:t>en</a:t>
            </a:r>
            <a:r>
              <a:rPr sz="2000" dirty="0"/>
              <a:t> </a:t>
            </a:r>
            <a:r>
              <a:rPr sz="2000" dirty="0" err="1"/>
              <a:t>otros</a:t>
            </a:r>
            <a:r>
              <a:rPr sz="2000" dirty="0"/>
              <a:t> </a:t>
            </a:r>
            <a:r>
              <a:rPr sz="2000" dirty="0" err="1"/>
              <a:t>proyectos</a:t>
            </a:r>
            <a:endParaRPr sz="2000" b="0" i="0" dirty="0">
              <a:solidFill>
                <a:srgbClr val="172A3A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800999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24486E2C-902A-4012-B0A0-20D09C6BC412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10668000" cy="619125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Ejercicio 1 · Indicadores de éxito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85D64B7-B404-4E81-AF03-77F8F9B08BCD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1B7E79"/>
          </a:solidFill>
          <a:ln w="0">
            <a:noFill/>
          </a:ln>
        </p:spPr>
      </p:sp>
      <p:pic>
        <p:nvPicPr>
          <p:cNvPr id="12" name="Imagen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2503850"/>
            <a:ext cx="4714875" cy="1374049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B037D927-DBF9-4988-836E-35FEDA73BB79}"/>
              </a:ext>
            </a:extLst>
          </p:cNvPr>
          <p:cNvSpPr>
            <a:spLocks noGrp="1"/>
          </p:cNvSpPr>
          <p:nvPr/>
        </p:nvSpPr>
        <p:spPr>
          <a:xfrm>
            <a:off x="833437" y="3961478"/>
            <a:ext cx="2190750" cy="28575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CASO · BLOQUERA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573AF28-1940-4C50-ACC1-36C5F29C522E}"/>
              </a:ext>
            </a:extLst>
          </p:cNvPr>
          <p:cNvSpPr>
            <a:spLocks noGrp="1"/>
          </p:cNvSpPr>
          <p:nvPr/>
        </p:nvSpPr>
        <p:spPr>
          <a:xfrm>
            <a:off x="5905500" y="1619250"/>
            <a:ext cx="5334000" cy="1095375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7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En el informe D5 se describen cuatro pruebas marcadas como correctas. El proceso considera dos cuadrillas y una revolvedora compartida.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669E7F7-9CB2-4827-9D6C-4257C43CB067}"/>
              </a:ext>
            </a:extLst>
          </p:cNvPr>
          <p:cNvSpPr>
            <a:spLocks noGrp="1"/>
          </p:cNvSpPr>
          <p:nvPr/>
        </p:nvSpPr>
        <p:spPr>
          <a:xfrm>
            <a:off x="5905500" y="2971800"/>
            <a:ext cx="4762500" cy="36195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650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 dirty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Mis </a:t>
            </a:r>
            <a:r>
              <a:rPr sz="1650" b="1" i="0" dirty="0" err="1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respuestas</a:t>
            </a:r>
            <a:endParaRPr sz="1650" b="1" i="0" dirty="0">
              <a:solidFill>
                <a:srgbClr val="1B7E79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AD3DE6A-DB25-4353-B525-B30B504BB51B}"/>
              </a:ext>
            </a:extLst>
          </p:cNvPr>
          <p:cNvSpPr>
            <a:spLocks noGrp="1"/>
          </p:cNvSpPr>
          <p:nvPr/>
        </p:nvSpPr>
        <p:spPr>
          <a:xfrm>
            <a:off x="5905499" y="3097161"/>
            <a:ext cx="6089855" cy="3303638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r>
              <a:rPr sz="1200" b="1" dirty="0"/>
              <a:t>a) </a:t>
            </a:r>
            <a:r>
              <a:rPr sz="1200" b="1" dirty="0" err="1"/>
              <a:t>Indicadores</a:t>
            </a:r>
            <a:r>
              <a:rPr sz="1200" b="1" dirty="0"/>
              <a:t> para </a:t>
            </a:r>
            <a:r>
              <a:rPr sz="1200" b="1" dirty="0" err="1"/>
              <a:t>medir</a:t>
            </a:r>
            <a:r>
              <a:rPr sz="1200" b="1" dirty="0"/>
              <a:t> </a:t>
            </a:r>
            <a:r>
              <a:rPr sz="1200" b="1" dirty="0" err="1"/>
              <a:t>el</a:t>
            </a:r>
            <a:r>
              <a:rPr sz="1200" b="1" dirty="0"/>
              <a:t> </a:t>
            </a:r>
            <a:r>
              <a:rPr sz="1200" b="1" dirty="0" err="1"/>
              <a:t>éxito</a:t>
            </a:r>
            <a:endParaRPr sz="1200" dirty="0"/>
          </a:p>
          <a:p>
            <a:pPr>
              <a:buFont typeface="+mj-lt"/>
              <a:buAutoNum type="arabicPeriod"/>
            </a:pPr>
            <a:r>
              <a:rPr sz="1200" b="1" dirty="0" err="1"/>
              <a:t>Producción</a:t>
            </a:r>
            <a:r>
              <a:rPr sz="1200" b="1" dirty="0"/>
              <a:t>:</a:t>
            </a:r>
            <a:r>
              <a:rPr sz="1200" dirty="0"/>
              <a:t> </a:t>
            </a:r>
            <a:r>
              <a:rPr sz="1200" dirty="0" err="1"/>
              <a:t>cantidad</a:t>
            </a:r>
            <a:r>
              <a:rPr sz="1200" dirty="0"/>
              <a:t> de </a:t>
            </a:r>
            <a:r>
              <a:rPr sz="1200" dirty="0" err="1"/>
              <a:t>bloques</a:t>
            </a:r>
            <a:r>
              <a:rPr sz="1200" dirty="0"/>
              <a:t> </a:t>
            </a:r>
            <a:r>
              <a:rPr sz="1200" dirty="0" err="1"/>
              <a:t>fabricados</a:t>
            </a:r>
            <a:r>
              <a:rPr sz="1200" dirty="0"/>
              <a:t> </a:t>
            </a:r>
            <a:r>
              <a:rPr sz="1200" dirty="0" err="1"/>
              <a:t>por</a:t>
            </a:r>
            <a:r>
              <a:rPr sz="1200" dirty="0"/>
              <a:t> jornada, </a:t>
            </a:r>
            <a:r>
              <a:rPr sz="1200" dirty="0" err="1"/>
              <a:t>comparada</a:t>
            </a:r>
            <a:r>
              <a:rPr sz="1200" dirty="0"/>
              <a:t> con la meta </a:t>
            </a:r>
            <a:r>
              <a:rPr sz="1200" dirty="0" err="1"/>
              <a:t>establecida</a:t>
            </a:r>
            <a:r>
              <a:rPr sz="1200" dirty="0"/>
              <a:t>. </a:t>
            </a:r>
          </a:p>
          <a:p>
            <a:pPr>
              <a:buFont typeface="+mj-lt"/>
              <a:buAutoNum type="arabicPeriod"/>
            </a:pPr>
            <a:r>
              <a:rPr sz="1200" b="1" dirty="0"/>
              <a:t>Calidad:</a:t>
            </a:r>
            <a:r>
              <a:rPr sz="1200" dirty="0"/>
              <a:t> </a:t>
            </a:r>
            <a:r>
              <a:rPr sz="1200" dirty="0" err="1"/>
              <a:t>porcentaje</a:t>
            </a:r>
            <a:r>
              <a:rPr sz="1200" dirty="0"/>
              <a:t> de </a:t>
            </a:r>
            <a:r>
              <a:rPr sz="1200" dirty="0" err="1"/>
              <a:t>bloques</a:t>
            </a:r>
            <a:r>
              <a:rPr sz="1200" dirty="0"/>
              <a:t> que </a:t>
            </a:r>
            <a:r>
              <a:rPr sz="1200" dirty="0" err="1"/>
              <a:t>aprueban</a:t>
            </a:r>
            <a:r>
              <a:rPr sz="1200" dirty="0"/>
              <a:t> la </a:t>
            </a:r>
            <a:r>
              <a:rPr sz="1200" dirty="0" err="1"/>
              <a:t>inspección</a:t>
            </a:r>
            <a:r>
              <a:rPr sz="1200" dirty="0"/>
              <a:t> sin </a:t>
            </a:r>
            <a:r>
              <a:rPr sz="1200" dirty="0" err="1"/>
              <a:t>necesitar</a:t>
            </a:r>
            <a:r>
              <a:rPr sz="1200" dirty="0"/>
              <a:t> </a:t>
            </a:r>
            <a:r>
              <a:rPr sz="1200" dirty="0" err="1"/>
              <a:t>retrabajo</a:t>
            </a:r>
            <a:r>
              <a:rPr sz="1200" dirty="0"/>
              <a:t>. </a:t>
            </a:r>
          </a:p>
          <a:p>
            <a:pPr>
              <a:buFont typeface="+mj-lt"/>
              <a:buAutoNum type="arabicPeriod"/>
            </a:pPr>
            <a:r>
              <a:rPr sz="1200" b="1" dirty="0" err="1"/>
              <a:t>Tiempo</a:t>
            </a:r>
            <a:r>
              <a:rPr sz="1200" b="1" dirty="0"/>
              <a:t> del </a:t>
            </a:r>
            <a:r>
              <a:rPr sz="1200" b="1" dirty="0" err="1"/>
              <a:t>proceso</a:t>
            </a:r>
            <a:r>
              <a:rPr sz="1200" b="1" dirty="0"/>
              <a:t>:</a:t>
            </a:r>
            <a:r>
              <a:rPr sz="1200" dirty="0"/>
              <a:t> </a:t>
            </a:r>
            <a:r>
              <a:rPr sz="1200" dirty="0" err="1"/>
              <a:t>duración</a:t>
            </a:r>
            <a:r>
              <a:rPr sz="1200" dirty="0"/>
              <a:t> </a:t>
            </a:r>
            <a:r>
              <a:rPr sz="1200" dirty="0" err="1"/>
              <a:t>desde</a:t>
            </a:r>
            <a:r>
              <a:rPr sz="1200" dirty="0"/>
              <a:t> la </a:t>
            </a:r>
            <a:r>
              <a:rPr sz="1200" dirty="0" err="1"/>
              <a:t>preparación</a:t>
            </a:r>
            <a:r>
              <a:rPr sz="1200" dirty="0"/>
              <a:t> de la </a:t>
            </a:r>
            <a:r>
              <a:rPr sz="1200" dirty="0" err="1"/>
              <a:t>mezcla</a:t>
            </a:r>
            <a:r>
              <a:rPr sz="1200" dirty="0"/>
              <a:t> hasta que </a:t>
            </a:r>
            <a:r>
              <a:rPr sz="1200" dirty="0" err="1"/>
              <a:t>los</a:t>
            </a:r>
            <a:r>
              <a:rPr sz="1200" dirty="0"/>
              <a:t> </a:t>
            </a:r>
            <a:r>
              <a:rPr sz="1200" dirty="0" err="1"/>
              <a:t>bloques</a:t>
            </a:r>
            <a:r>
              <a:rPr sz="1200" dirty="0"/>
              <a:t> </a:t>
            </a:r>
            <a:r>
              <a:rPr sz="1200" dirty="0" err="1"/>
              <a:t>quedan</a:t>
            </a:r>
            <a:r>
              <a:rPr sz="1200" dirty="0"/>
              <a:t> </a:t>
            </a:r>
            <a:r>
              <a:rPr sz="1200" dirty="0" err="1"/>
              <a:t>almacenados</a:t>
            </a:r>
            <a:r>
              <a:rPr sz="1200" dirty="0"/>
              <a:t>, </a:t>
            </a:r>
            <a:r>
              <a:rPr sz="1200" dirty="0" err="1"/>
              <a:t>comparada</a:t>
            </a:r>
            <a:r>
              <a:rPr sz="1200" dirty="0"/>
              <a:t> con </a:t>
            </a:r>
            <a:r>
              <a:rPr sz="1200" dirty="0" err="1"/>
              <a:t>el</a:t>
            </a:r>
            <a:r>
              <a:rPr sz="1200" dirty="0"/>
              <a:t> </a:t>
            </a:r>
            <a:r>
              <a:rPr sz="1200" dirty="0" err="1"/>
              <a:t>tiempo</a:t>
            </a:r>
            <a:r>
              <a:rPr sz="1200" dirty="0"/>
              <a:t> </a:t>
            </a:r>
            <a:r>
              <a:rPr sz="1200" dirty="0" err="1"/>
              <a:t>planeado</a:t>
            </a:r>
            <a:r>
              <a:rPr sz="1200" dirty="0"/>
              <a:t>.</a:t>
            </a:r>
          </a:p>
          <a:p>
            <a:r>
              <a:rPr sz="1200" b="1" dirty="0"/>
              <a:t>b) </a:t>
            </a:r>
            <a:r>
              <a:rPr sz="1200" b="1" dirty="0" err="1"/>
              <a:t>Evidencias</a:t>
            </a:r>
            <a:r>
              <a:rPr sz="1200" b="1" dirty="0"/>
              <a:t> </a:t>
            </a:r>
            <a:r>
              <a:rPr sz="1200" b="1" dirty="0" err="1"/>
              <a:t>necesarias</a:t>
            </a:r>
            <a:endParaRPr sz="1200" dirty="0"/>
          </a:p>
          <a:p>
            <a:r>
              <a:rPr sz="1200" dirty="0"/>
              <a:t>Para </a:t>
            </a:r>
            <a:r>
              <a:rPr sz="1200" dirty="0" err="1"/>
              <a:t>revisar</a:t>
            </a:r>
            <a:r>
              <a:rPr sz="1200" dirty="0"/>
              <a:t> </a:t>
            </a:r>
            <a:r>
              <a:rPr sz="1200" dirty="0" err="1"/>
              <a:t>estos</a:t>
            </a:r>
            <a:r>
              <a:rPr sz="1200" dirty="0"/>
              <a:t> </a:t>
            </a:r>
            <a:r>
              <a:rPr sz="1200" dirty="0" err="1"/>
              <a:t>indicadores</a:t>
            </a:r>
            <a:r>
              <a:rPr sz="1200" dirty="0"/>
              <a:t> </a:t>
            </a:r>
            <a:r>
              <a:rPr sz="1200" dirty="0" err="1"/>
              <a:t>utilizaría</a:t>
            </a:r>
            <a:r>
              <a:rPr sz="1200" dirty="0"/>
              <a:t> </a:t>
            </a:r>
            <a:r>
              <a:rPr sz="1200" dirty="0" err="1"/>
              <a:t>los</a:t>
            </a:r>
            <a:r>
              <a:rPr sz="1200" dirty="0"/>
              <a:t> </a:t>
            </a:r>
            <a:r>
              <a:rPr sz="1200" dirty="0" err="1"/>
              <a:t>registros</a:t>
            </a:r>
            <a:r>
              <a:rPr sz="1200" dirty="0"/>
              <a:t> de </a:t>
            </a:r>
            <a:r>
              <a:rPr sz="1200" dirty="0" err="1"/>
              <a:t>producción</a:t>
            </a:r>
            <a:r>
              <a:rPr sz="1200" dirty="0"/>
              <a:t> </a:t>
            </a:r>
            <a:r>
              <a:rPr sz="1200" dirty="0" err="1"/>
              <a:t>por</a:t>
            </a:r>
            <a:r>
              <a:rPr sz="1200" dirty="0"/>
              <a:t> jornada, las hojas de </a:t>
            </a:r>
            <a:r>
              <a:rPr sz="1200" dirty="0" err="1"/>
              <a:t>inspección</a:t>
            </a:r>
            <a:r>
              <a:rPr sz="1200" dirty="0"/>
              <a:t> de </a:t>
            </a:r>
            <a:r>
              <a:rPr sz="1200" dirty="0" err="1"/>
              <a:t>calidad</a:t>
            </a:r>
            <a:r>
              <a:rPr sz="1200" dirty="0"/>
              <a:t> y </a:t>
            </a:r>
            <a:r>
              <a:rPr sz="1200" dirty="0" err="1"/>
              <a:t>los</a:t>
            </a:r>
            <a:r>
              <a:rPr sz="1200" dirty="0"/>
              <a:t> </a:t>
            </a:r>
            <a:r>
              <a:rPr sz="1200" dirty="0" err="1"/>
              <a:t>tiempos</a:t>
            </a:r>
            <a:r>
              <a:rPr sz="1200" dirty="0"/>
              <a:t> </a:t>
            </a:r>
            <a:r>
              <a:rPr sz="1200" dirty="0" err="1"/>
              <a:t>anotados</a:t>
            </a:r>
            <a:r>
              <a:rPr sz="1200" dirty="0"/>
              <a:t> </a:t>
            </a:r>
            <a:r>
              <a:rPr sz="1200" dirty="0" err="1"/>
              <a:t>en</a:t>
            </a:r>
            <a:r>
              <a:rPr sz="1200" dirty="0"/>
              <a:t> </a:t>
            </a:r>
            <a:r>
              <a:rPr sz="1200" dirty="0" err="1"/>
              <a:t>cada</a:t>
            </a:r>
            <a:r>
              <a:rPr sz="1200" dirty="0"/>
              <a:t> </a:t>
            </a:r>
            <a:r>
              <a:rPr sz="1200" dirty="0" err="1"/>
              <a:t>etapa</a:t>
            </a:r>
            <a:r>
              <a:rPr sz="1200" dirty="0"/>
              <a:t> del </a:t>
            </a:r>
            <a:r>
              <a:rPr sz="1200" dirty="0" err="1"/>
              <a:t>proceso</a:t>
            </a:r>
            <a:r>
              <a:rPr sz="1200" dirty="0"/>
              <a:t>.</a:t>
            </a:r>
          </a:p>
          <a:p>
            <a:r>
              <a:rPr sz="1200" b="1" dirty="0"/>
              <a:t>c) </a:t>
            </a:r>
            <a:r>
              <a:rPr sz="1200" b="1" dirty="0" err="1"/>
              <a:t>Análisis</a:t>
            </a:r>
            <a:endParaRPr sz="1200" dirty="0"/>
          </a:p>
          <a:p>
            <a:r>
              <a:rPr sz="1200" dirty="0" err="1"/>
              <a:t>Considero</a:t>
            </a:r>
            <a:r>
              <a:rPr sz="1200" dirty="0"/>
              <a:t> que las cuatro </a:t>
            </a:r>
            <a:r>
              <a:rPr sz="1200" dirty="0" err="1"/>
              <a:t>pruebas</a:t>
            </a:r>
            <a:r>
              <a:rPr sz="1200" dirty="0"/>
              <a:t> </a:t>
            </a:r>
            <a:r>
              <a:rPr sz="1200" dirty="0" err="1"/>
              <a:t>reportadas</a:t>
            </a:r>
            <a:r>
              <a:rPr sz="1200" dirty="0"/>
              <a:t> </a:t>
            </a:r>
            <a:r>
              <a:rPr sz="1200" dirty="0" err="1"/>
              <a:t>como</a:t>
            </a:r>
            <a:r>
              <a:rPr sz="1200" dirty="0"/>
              <a:t> </a:t>
            </a:r>
            <a:r>
              <a:rPr sz="1200" dirty="0" err="1"/>
              <a:t>correctas</a:t>
            </a:r>
            <a:r>
              <a:rPr sz="1200" dirty="0"/>
              <a:t> </a:t>
            </a:r>
            <a:r>
              <a:rPr sz="1200" dirty="0" err="1"/>
              <a:t>demuestran</a:t>
            </a:r>
            <a:r>
              <a:rPr sz="1200" dirty="0"/>
              <a:t> que </a:t>
            </a:r>
            <a:r>
              <a:rPr sz="1200" dirty="0" err="1"/>
              <a:t>ciertas</a:t>
            </a:r>
            <a:r>
              <a:rPr sz="1200" dirty="0"/>
              <a:t> </a:t>
            </a:r>
            <a:r>
              <a:rPr sz="1200" dirty="0" err="1"/>
              <a:t>funciones</a:t>
            </a:r>
            <a:r>
              <a:rPr sz="1200" dirty="0"/>
              <a:t> del </a:t>
            </a:r>
            <a:r>
              <a:rPr sz="1200" dirty="0" err="1"/>
              <a:t>proceso</a:t>
            </a:r>
            <a:r>
              <a:rPr sz="1200" dirty="0"/>
              <a:t> </a:t>
            </a:r>
            <a:r>
              <a:rPr sz="1200" dirty="0" err="1"/>
              <a:t>operan</a:t>
            </a:r>
            <a:r>
              <a:rPr sz="1200" dirty="0"/>
              <a:t> </a:t>
            </a:r>
            <a:r>
              <a:rPr sz="1200" dirty="0" err="1"/>
              <a:t>como</a:t>
            </a:r>
            <a:r>
              <a:rPr sz="1200" dirty="0"/>
              <a:t> se </a:t>
            </a:r>
            <a:r>
              <a:rPr sz="1200" dirty="0" err="1"/>
              <a:t>esperaba</a:t>
            </a:r>
            <a:r>
              <a:rPr sz="1200" dirty="0"/>
              <a:t>. Sin embargo, </a:t>
            </a:r>
            <a:r>
              <a:rPr sz="1200" dirty="0" err="1"/>
              <a:t>por</a:t>
            </a:r>
            <a:r>
              <a:rPr sz="1200" dirty="0"/>
              <a:t> </a:t>
            </a:r>
            <a:r>
              <a:rPr sz="1200" dirty="0" err="1"/>
              <a:t>sí</a:t>
            </a:r>
            <a:r>
              <a:rPr sz="1200" dirty="0"/>
              <a:t> </a:t>
            </a:r>
            <a:r>
              <a:rPr sz="1200" dirty="0" err="1"/>
              <a:t>solas</a:t>
            </a:r>
            <a:r>
              <a:rPr sz="1200" dirty="0"/>
              <a:t> no </a:t>
            </a:r>
            <a:r>
              <a:rPr sz="1200" dirty="0" err="1"/>
              <a:t>comprueban</a:t>
            </a:r>
            <a:r>
              <a:rPr sz="1200" dirty="0"/>
              <a:t> que </a:t>
            </a:r>
            <a:r>
              <a:rPr sz="1200" dirty="0" err="1"/>
              <a:t>el</a:t>
            </a:r>
            <a:r>
              <a:rPr sz="1200" dirty="0"/>
              <a:t> </a:t>
            </a:r>
            <a:r>
              <a:rPr sz="1200" dirty="0" err="1"/>
              <a:t>proyecto</a:t>
            </a:r>
            <a:r>
              <a:rPr sz="1200" dirty="0"/>
              <a:t> </a:t>
            </a:r>
            <a:r>
              <a:rPr sz="1200" dirty="0" err="1"/>
              <a:t>haya</a:t>
            </a:r>
            <a:r>
              <a:rPr sz="1200" dirty="0"/>
              <a:t> </a:t>
            </a:r>
            <a:r>
              <a:rPr sz="1200" dirty="0" err="1"/>
              <a:t>alcanzado</a:t>
            </a:r>
            <a:r>
              <a:rPr sz="1200" dirty="0"/>
              <a:t> </a:t>
            </a:r>
            <a:r>
              <a:rPr sz="1200" dirty="0" err="1"/>
              <a:t>todos</a:t>
            </a:r>
            <a:r>
              <a:rPr sz="1200" dirty="0"/>
              <a:t> sus </a:t>
            </a:r>
            <a:r>
              <a:rPr sz="1200" dirty="0" err="1"/>
              <a:t>objetivos</a:t>
            </a:r>
            <a:r>
              <a:rPr sz="1200" dirty="0"/>
              <a:t>. </a:t>
            </a:r>
            <a:r>
              <a:rPr sz="1200" dirty="0" err="1"/>
              <a:t>También</a:t>
            </a:r>
            <a:r>
              <a:rPr sz="1200" dirty="0"/>
              <a:t> es </a:t>
            </a:r>
            <a:r>
              <a:rPr sz="1200" dirty="0" err="1"/>
              <a:t>necesario</a:t>
            </a:r>
            <a:r>
              <a:rPr sz="1200" dirty="0"/>
              <a:t> </a:t>
            </a:r>
            <a:r>
              <a:rPr sz="1200" dirty="0" err="1"/>
              <a:t>comparar</a:t>
            </a:r>
            <a:r>
              <a:rPr sz="1200" dirty="0"/>
              <a:t> la </a:t>
            </a:r>
            <a:r>
              <a:rPr sz="1200" dirty="0" err="1"/>
              <a:t>producción</a:t>
            </a:r>
            <a:r>
              <a:rPr sz="1200" dirty="0"/>
              <a:t>, la </a:t>
            </a:r>
            <a:r>
              <a:rPr sz="1200" dirty="0" err="1"/>
              <a:t>calidad</a:t>
            </a:r>
            <a:r>
              <a:rPr sz="1200" dirty="0"/>
              <a:t> y </a:t>
            </a:r>
            <a:r>
              <a:rPr sz="1200" dirty="0" err="1"/>
              <a:t>los</a:t>
            </a:r>
            <a:r>
              <a:rPr sz="1200" dirty="0"/>
              <a:t> </a:t>
            </a:r>
            <a:r>
              <a:rPr sz="1200" dirty="0" err="1"/>
              <a:t>tiempos</a:t>
            </a:r>
            <a:r>
              <a:rPr sz="1200" dirty="0"/>
              <a:t> </a:t>
            </a:r>
            <a:r>
              <a:rPr sz="1200" dirty="0" err="1"/>
              <a:t>reales</a:t>
            </a:r>
            <a:r>
              <a:rPr sz="1200" dirty="0"/>
              <a:t> con las </a:t>
            </a:r>
            <a:r>
              <a:rPr sz="1200" dirty="0" err="1"/>
              <a:t>metas</a:t>
            </a:r>
            <a:r>
              <a:rPr sz="1200" dirty="0"/>
              <a:t> </a:t>
            </a:r>
            <a:r>
              <a:rPr sz="1200" dirty="0" err="1"/>
              <a:t>establecidas</a:t>
            </a:r>
            <a:r>
              <a:rPr sz="1200" dirty="0"/>
              <a:t>, </a:t>
            </a:r>
            <a:r>
              <a:rPr sz="1200" dirty="0" err="1"/>
              <a:t>usando</a:t>
            </a:r>
            <a:r>
              <a:rPr sz="1200" dirty="0"/>
              <a:t> </a:t>
            </a:r>
            <a:r>
              <a:rPr sz="1200" dirty="0" err="1"/>
              <a:t>evidencias</a:t>
            </a:r>
            <a:r>
              <a:rPr sz="1200" dirty="0"/>
              <a:t> del </a:t>
            </a:r>
            <a:r>
              <a:rPr sz="1200" dirty="0" err="1"/>
              <a:t>proceso</a:t>
            </a:r>
            <a:r>
              <a:rPr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8542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60627E77-05EB-4A25-BF19-C6BD287F16E8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10668000" cy="619125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Ejercicio 2 · Comparación de escenarios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CEB5669-BE32-4367-991F-F0EA221DBA72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4F77A2"/>
          </a:solidFill>
          <a:ln w="0">
            <a:noFill/>
          </a:ln>
        </p:spPr>
      </p:sp>
      <p:pic>
        <p:nvPicPr>
          <p:cNvPr id="14" name="Imagen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13268" y="1562100"/>
            <a:ext cx="4317089" cy="2476500"/>
          </a:xfrm>
          <a:prstGeom prst="rect">
            <a:avLst/>
          </a:prstGeom>
        </p:spPr>
      </p:pic>
      <p:pic>
        <p:nvPicPr>
          <p:cNvPr id="15" name="Imagen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191250" y="1622056"/>
            <a:ext cx="4810125" cy="235658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E9E377D-FB52-4385-A031-62A40769C38C}"/>
              </a:ext>
            </a:extLst>
          </p:cNvPr>
          <p:cNvSpPr>
            <a:spLocks noGrp="1"/>
          </p:cNvSpPr>
          <p:nvPr/>
        </p:nvSpPr>
        <p:spPr>
          <a:xfrm>
            <a:off x="666750" y="4143375"/>
            <a:ext cx="4810125" cy="28575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200" b="1" i="0">
                <a:solidFill>
                  <a:srgbClr val="4F77A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4F77A2"/>
                </a:solidFill>
                <a:latin typeface="Bitstream Charter"/>
                <a:ea typeface="Bitstream Charter"/>
                <a:cs typeface="Bitstream Charter"/>
              </a:rPr>
              <a:t>ESCENARIO BASE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81F5467-B312-4723-A2E2-66494ECB6870}"/>
              </a:ext>
            </a:extLst>
          </p:cNvPr>
          <p:cNvSpPr>
            <a:spLocks noGrp="1"/>
          </p:cNvSpPr>
          <p:nvPr/>
        </p:nvSpPr>
        <p:spPr>
          <a:xfrm>
            <a:off x="6191250" y="4143375"/>
            <a:ext cx="4810125" cy="28575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200" b="1" i="0">
                <a:solidFill>
                  <a:srgbClr val="4F77A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4F77A2"/>
                </a:solidFill>
                <a:latin typeface="Bitstream Charter"/>
                <a:ea typeface="Bitstream Charter"/>
                <a:cs typeface="Bitstream Charter"/>
              </a:rPr>
              <a:t>ALTA DEMANDA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F024DFB-CDB8-4965-8C83-9DF557044E14}"/>
              </a:ext>
            </a:extLst>
          </p:cNvPr>
          <p:cNvSpPr>
            <a:spLocks noGrp="1"/>
          </p:cNvSpPr>
          <p:nvPr/>
        </p:nvSpPr>
        <p:spPr>
          <a:xfrm>
            <a:off x="666750" y="4619625"/>
            <a:ext cx="10287000" cy="5715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6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 dirty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Las </a:t>
            </a:r>
            <a:r>
              <a:rPr sz="1650" b="1" i="0" dirty="0" err="1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capturas</a:t>
            </a:r>
            <a:r>
              <a:rPr sz="1650" b="1" i="0" dirty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650" b="1" i="0" dirty="0" err="1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muestran</a:t>
            </a:r>
            <a:r>
              <a:rPr sz="1650" b="1" i="0" dirty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 dos </a:t>
            </a:r>
            <a:r>
              <a:rPr sz="1650" b="1" i="0" dirty="0" err="1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configuraciones</a:t>
            </a:r>
            <a:r>
              <a:rPr sz="1650" b="1" i="0" dirty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650" b="1" i="0" dirty="0" err="1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pero</a:t>
            </a:r>
            <a:r>
              <a:rPr sz="1650" b="1" i="0" dirty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 no </a:t>
            </a:r>
            <a:r>
              <a:rPr sz="1650" b="1" i="0" dirty="0" err="1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presentan</a:t>
            </a:r>
            <a:r>
              <a:rPr sz="1650" b="1" i="0" dirty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650" b="1" i="0" dirty="0" err="1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métricas</a:t>
            </a:r>
            <a:r>
              <a:rPr sz="1650" b="1" i="0" dirty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 de </a:t>
            </a:r>
            <a:r>
              <a:rPr sz="1650" b="1" i="0" dirty="0" err="1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salida</a:t>
            </a:r>
            <a:r>
              <a:rPr sz="1650" b="1" i="0" dirty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650" b="1" i="0" dirty="0" err="1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legibles</a:t>
            </a:r>
            <a:r>
              <a:rPr sz="1650" b="1" i="0" dirty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75089EE-E7C2-4A2D-901B-CA7FCF229A84}"/>
              </a:ext>
            </a:extLst>
          </p:cNvPr>
          <p:cNvSpPr>
            <a:spLocks noGrp="1"/>
          </p:cNvSpPr>
          <p:nvPr/>
        </p:nvSpPr>
        <p:spPr>
          <a:xfrm>
            <a:off x="1238250" y="5448300"/>
            <a:ext cx="9525000" cy="6096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65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63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Compararía producción por jornada, espera promedio, longitud de fila y uso de la revolvedora. Mantendría iguales la duración y las reglas del modelo, y cambiaría solo la demanda.</a:t>
            </a:r>
          </a:p>
        </p:txBody>
      </p:sp>
    </p:spTree>
    <p:extLst>
      <p:ext uri="{BB962C8B-B14F-4D97-AF65-F5344CB8AC3E}">
        <p14:creationId xmlns:p14="http://schemas.microsoft.com/office/powerpoint/2010/main" val="1599206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BEF50744-D400-47FE-9BDC-D42F904C30F8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10668000" cy="619125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Ejercicio 3 · Lecciones aprendidas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601E483-2197-466B-B3D2-D49756781177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1B7E79"/>
          </a:solidFill>
          <a:ln w="0">
            <a:noFill/>
          </a:ln>
        </p:spPr>
      </p:sp>
      <p:pic>
        <p:nvPicPr>
          <p:cNvPr id="11" name="Imagen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2470105"/>
            <a:ext cx="4619625" cy="1346291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3B92912F-FC05-4F4E-925F-5A7AC7DD7494}"/>
              </a:ext>
            </a:extLst>
          </p:cNvPr>
          <p:cNvSpPr>
            <a:spLocks noGrp="1"/>
          </p:cNvSpPr>
          <p:nvPr/>
        </p:nvSpPr>
        <p:spPr>
          <a:xfrm>
            <a:off x="5810250" y="1619250"/>
            <a:ext cx="5334000" cy="12192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7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En Bloquera se ajustó el alcance para representar dos cuadrillas y una revolvedora compartida. Además, el informe y el ZIP describen tecnologías distintas.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7F5D007-F31E-434C-BF83-924ACD47955A}"/>
              </a:ext>
            </a:extLst>
          </p:cNvPr>
          <p:cNvSpPr>
            <a:spLocks noGrp="1"/>
          </p:cNvSpPr>
          <p:nvPr/>
        </p:nvSpPr>
        <p:spPr>
          <a:xfrm>
            <a:off x="5810250" y="3095625"/>
            <a:ext cx="5334000" cy="40005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650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Mis lecciones aprendidas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8A1A5F5-BD0A-44FB-AE15-7EBE926B3C84}"/>
              </a:ext>
            </a:extLst>
          </p:cNvPr>
          <p:cNvSpPr>
            <a:spLocks noGrp="1"/>
          </p:cNvSpPr>
          <p:nvPr/>
        </p:nvSpPr>
        <p:spPr>
          <a:xfrm>
            <a:off x="5810250" y="3543300"/>
            <a:ext cx="5334000" cy="1952625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65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1. </a:t>
            </a:r>
            <a:r>
              <a:rPr lang="es-MX"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A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prendí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que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debo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definir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validar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los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recursos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límites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del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proceso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antes de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modelarlo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porque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un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cambio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posterior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modifica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la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simulación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.</a:t>
            </a:r>
          </a:p>
          <a:p>
            <a:pPr algn="l">
              <a:buNone/>
              <a:defRPr sz="165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endParaRPr sz="1425" b="0" i="0" dirty="0">
              <a:solidFill>
                <a:srgbClr val="172A3A"/>
              </a:solidFill>
              <a:latin typeface="Bitstream Charter"/>
              <a:ea typeface="Bitstream Charter"/>
              <a:cs typeface="Bitstream Charter"/>
            </a:endParaRPr>
          </a:p>
          <a:p>
            <a:pPr algn="l">
              <a:buNone/>
              <a:defRPr sz="165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2.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Versiones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: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debo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mantener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el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BPMN,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el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informe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el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programa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y las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pruebas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alineados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en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una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misma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versión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antes de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entregar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287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530C47B4-FBD9-483E-BAB7-3E68C7E3E91D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10668000" cy="619125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Ejercicio 4 · Estado de la evidencia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355C18F-A982-4517-AD85-A20CE72FA376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76669B"/>
          </a:solidFill>
          <a:ln w="0">
            <a:noFill/>
          </a:ln>
        </p:spPr>
      </p:sp>
      <p:pic>
        <p:nvPicPr>
          <p:cNvPr id="11" name="Imagen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815499"/>
            <a:ext cx="5095875" cy="3007926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C41B139F-628E-4973-9489-0AC461296CA4}"/>
              </a:ext>
            </a:extLst>
          </p:cNvPr>
          <p:cNvSpPr>
            <a:spLocks noGrp="1"/>
          </p:cNvSpPr>
          <p:nvPr/>
        </p:nvSpPr>
        <p:spPr>
          <a:xfrm>
            <a:off x="6334125" y="1619250"/>
            <a:ext cx="4810125" cy="11811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7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El expediente ProcesMuebles incluye un BPMN y correcciones de D2 a D5. El índice del expediente aún marca D6–D8 y la validación final como pendientes.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7C56671-B8E1-4032-A1B3-8F69D08C5B89}"/>
              </a:ext>
            </a:extLst>
          </p:cNvPr>
          <p:cNvSpPr>
            <a:spLocks noGrp="1"/>
          </p:cNvSpPr>
          <p:nvPr/>
        </p:nvSpPr>
        <p:spPr>
          <a:xfrm>
            <a:off x="6334125" y="3076575"/>
            <a:ext cx="4762500" cy="3810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650" b="1" i="0">
                <a:solidFill>
                  <a:srgbClr val="76669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76669B"/>
                </a:solidFill>
                <a:latin typeface="Bitstream Charter"/>
                <a:ea typeface="Bitstream Charter"/>
                <a:cs typeface="Bitstream Charter"/>
              </a:rPr>
              <a:t>Mi clasificación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2EE10E7-8AB6-4BEE-8BF7-879538EC0F53}"/>
              </a:ext>
            </a:extLst>
          </p:cNvPr>
          <p:cNvSpPr>
            <a:spLocks noGrp="1"/>
          </p:cNvSpPr>
          <p:nvPr/>
        </p:nvSpPr>
        <p:spPr>
          <a:xfrm>
            <a:off x="6334125" y="3505200"/>
            <a:ext cx="4762500" cy="1857375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65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88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Recibido y verificable: BPMN.</a:t>
            </a:r>
          </a:p>
          <a:p>
            <a:pPr algn="l">
              <a:buNone/>
              <a:defRPr sz="165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88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Recibidos, requieren revisión: correcciones D2–D5.</a:t>
            </a:r>
          </a:p>
          <a:p>
            <a:pPr algn="l">
              <a:buNone/>
              <a:defRPr sz="165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88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Pendientes según el índice: D6–D8 y validación final.</a:t>
            </a:r>
          </a:p>
          <a:p>
            <a:endParaRPr sz="1650" b="0" i="0">
              <a:solidFill>
                <a:srgbClr val="172A3A"/>
              </a:solidFill>
              <a:latin typeface="Bitstream Charter"/>
              <a:ea typeface="Bitstream Charter"/>
              <a:cs typeface="Bitstream Charter"/>
            </a:endParaRPr>
          </a:p>
          <a:p>
            <a:pPr algn="l">
              <a:buNone/>
              <a:defRPr sz="165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88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Concluyo que hay avance documentado; todavía no puedo afirmar el cierre integral.</a:t>
            </a:r>
          </a:p>
        </p:txBody>
      </p:sp>
    </p:spTree>
    <p:extLst>
      <p:ext uri="{BB962C8B-B14F-4D97-AF65-F5344CB8AC3E}">
        <p14:creationId xmlns:p14="http://schemas.microsoft.com/office/powerpoint/2010/main" val="983284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E10D42F4-EEDC-4CF4-8A05-152093F3D543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10668000" cy="619125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Ejercicio 5 · Revisión de cierre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A4195B4-A3E3-4D4D-89AB-B8DD8C08C09A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CC8A46"/>
          </a:solidFill>
          <a:ln w="0">
            <a:noFill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576F8D4-972D-4EBE-AFB0-72ABC0736795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10287000" cy="51435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10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Apliqué la lista de cierre al expediente de ProcesMuebles: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B824B75-7BD0-4DCD-801B-78D4B703B090}"/>
              </a:ext>
            </a:extLst>
          </p:cNvPr>
          <p:cNvSpPr>
            <a:spLocks noGrp="1"/>
          </p:cNvSpPr>
          <p:nvPr/>
        </p:nvSpPr>
        <p:spPr>
          <a:xfrm>
            <a:off x="762000" y="2247900"/>
            <a:ext cx="476250" cy="4191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800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7809B3F-A8E2-4B03-A7A3-60DCBD93FD21}"/>
              </a:ext>
            </a:extLst>
          </p:cNvPr>
          <p:cNvSpPr>
            <a:spLocks noGrp="1"/>
          </p:cNvSpPr>
          <p:nvPr/>
        </p:nvSpPr>
        <p:spPr>
          <a:xfrm>
            <a:off x="1381125" y="2247900"/>
            <a:ext cx="2000250" cy="4191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72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Entregables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E1DFD4F-AC51-4D35-AC0A-2E8EBA304810}"/>
              </a:ext>
            </a:extLst>
          </p:cNvPr>
          <p:cNvSpPr>
            <a:spLocks noGrp="1"/>
          </p:cNvSpPr>
          <p:nvPr/>
        </p:nvSpPr>
        <p:spPr>
          <a:xfrm>
            <a:off x="3524250" y="2247900"/>
            <a:ext cx="7524750" cy="5334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BPMN y correcciones D2–D5 recibidos; D6–D8 siguen pendientes según el índice.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27407C2-7AB0-41C4-ACB1-4BD67BE67F9A}"/>
              </a:ext>
            </a:extLst>
          </p:cNvPr>
          <p:cNvSpPr>
            <a:spLocks noGrp="1"/>
          </p:cNvSpPr>
          <p:nvPr/>
        </p:nvSpPr>
        <p:spPr>
          <a:xfrm>
            <a:off x="1381125" y="2905125"/>
            <a:ext cx="9572625" cy="9525"/>
          </a:xfrm>
          <a:prstGeom prst="rect">
            <a:avLst/>
          </a:prstGeom>
          <a:solidFill>
            <a:srgbClr val="D8D9D5"/>
          </a:solidFill>
          <a:ln w="0">
            <a:noFill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2D89AC8-4ACB-47E5-8C6F-0166289012C0}"/>
              </a:ext>
            </a:extLst>
          </p:cNvPr>
          <p:cNvSpPr>
            <a:spLocks noGrp="1"/>
          </p:cNvSpPr>
          <p:nvPr/>
        </p:nvSpPr>
        <p:spPr>
          <a:xfrm>
            <a:off x="762000" y="3057525"/>
            <a:ext cx="476250" cy="4191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800" b="1" i="0">
                <a:solidFill>
                  <a:srgbClr val="4F77A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 i="0">
                <a:solidFill>
                  <a:srgbClr val="4F77A2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4061E4F-2328-47C9-AA66-7DC75A0B8C87}"/>
              </a:ext>
            </a:extLst>
          </p:cNvPr>
          <p:cNvSpPr>
            <a:spLocks noGrp="1"/>
          </p:cNvSpPr>
          <p:nvPr/>
        </p:nvSpPr>
        <p:spPr>
          <a:xfrm>
            <a:off x="1381125" y="3057525"/>
            <a:ext cx="2000250" cy="4191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72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Validación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09DCEEE-1B2E-46E5-A5E9-FCAE2DF67846}"/>
              </a:ext>
            </a:extLst>
          </p:cNvPr>
          <p:cNvSpPr>
            <a:spLocks noGrp="1"/>
          </p:cNvSpPr>
          <p:nvPr/>
        </p:nvSpPr>
        <p:spPr>
          <a:xfrm>
            <a:off x="3524250" y="3057525"/>
            <a:ext cx="7524750" cy="5334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El índice mantiene pendiente la validación final; no puedo darla por comprobada.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11743BE-8CEC-4E3E-AEBB-D607AFA5B0DC}"/>
              </a:ext>
            </a:extLst>
          </p:cNvPr>
          <p:cNvSpPr>
            <a:spLocks noGrp="1"/>
          </p:cNvSpPr>
          <p:nvPr/>
        </p:nvSpPr>
        <p:spPr>
          <a:xfrm>
            <a:off x="1381125" y="3714750"/>
            <a:ext cx="9572625" cy="9525"/>
          </a:xfrm>
          <a:prstGeom prst="rect">
            <a:avLst/>
          </a:prstGeom>
          <a:solidFill>
            <a:srgbClr val="D8D9D5"/>
          </a:solidFill>
          <a:ln w="0">
            <a:noFill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D8A3C37-C552-4DA6-8EBC-6E351746E9A7}"/>
              </a:ext>
            </a:extLst>
          </p:cNvPr>
          <p:cNvSpPr>
            <a:spLocks noGrp="1"/>
          </p:cNvSpPr>
          <p:nvPr/>
        </p:nvSpPr>
        <p:spPr>
          <a:xfrm>
            <a:off x="762000" y="3867150"/>
            <a:ext cx="476250" cy="4191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800" b="1" i="0">
                <a:solidFill>
                  <a:srgbClr val="CC8A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 i="0">
                <a:solidFill>
                  <a:srgbClr val="CC8A46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17895A7-2215-48E3-970F-E5FCEA6E41D8}"/>
              </a:ext>
            </a:extLst>
          </p:cNvPr>
          <p:cNvSpPr>
            <a:spLocks noGrp="1"/>
          </p:cNvSpPr>
          <p:nvPr/>
        </p:nvSpPr>
        <p:spPr>
          <a:xfrm>
            <a:off x="1381125" y="3867150"/>
            <a:ext cx="2000250" cy="4191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72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Aceptación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48BA930-7925-49FF-A688-406BBAAA711F}"/>
              </a:ext>
            </a:extLst>
          </p:cNvPr>
          <p:cNvSpPr>
            <a:spLocks noGrp="1"/>
          </p:cNvSpPr>
          <p:nvPr/>
        </p:nvSpPr>
        <p:spPr>
          <a:xfrm>
            <a:off x="3524250" y="3867150"/>
            <a:ext cx="7524750" cy="5334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No identifiqué un registro de aceptación o decisión formal de cierre.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7771FE3-1109-4543-BD9E-92D7C70DC3B3}"/>
              </a:ext>
            </a:extLst>
          </p:cNvPr>
          <p:cNvSpPr>
            <a:spLocks noGrp="1"/>
          </p:cNvSpPr>
          <p:nvPr/>
        </p:nvSpPr>
        <p:spPr>
          <a:xfrm>
            <a:off x="1381125" y="4524375"/>
            <a:ext cx="9572625" cy="9525"/>
          </a:xfrm>
          <a:prstGeom prst="rect">
            <a:avLst/>
          </a:prstGeom>
          <a:solidFill>
            <a:srgbClr val="D8D9D5"/>
          </a:solidFill>
          <a:ln w="0">
            <a:noFill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EC3296E-072A-404A-8170-F759D85D6B8C}"/>
              </a:ext>
            </a:extLst>
          </p:cNvPr>
          <p:cNvSpPr>
            <a:spLocks noGrp="1"/>
          </p:cNvSpPr>
          <p:nvPr/>
        </p:nvSpPr>
        <p:spPr>
          <a:xfrm>
            <a:off x="762000" y="4676775"/>
            <a:ext cx="476250" cy="4191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800" b="1" i="0">
                <a:solidFill>
                  <a:srgbClr val="76669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 i="0">
                <a:solidFill>
                  <a:srgbClr val="76669B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71EFF85-6221-490F-8434-54B92F2CDAAE}"/>
              </a:ext>
            </a:extLst>
          </p:cNvPr>
          <p:cNvSpPr>
            <a:spLocks noGrp="1"/>
          </p:cNvSpPr>
          <p:nvPr/>
        </p:nvSpPr>
        <p:spPr>
          <a:xfrm>
            <a:off x="1381125" y="4676775"/>
            <a:ext cx="2000250" cy="4191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72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Lecciones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51437D0-BC64-4D35-B5DA-6184AA12814C}"/>
              </a:ext>
            </a:extLst>
          </p:cNvPr>
          <p:cNvSpPr>
            <a:spLocks noGrp="1"/>
          </p:cNvSpPr>
          <p:nvPr/>
        </p:nvSpPr>
        <p:spPr>
          <a:xfrm>
            <a:off x="3524250" y="4676775"/>
            <a:ext cx="7524750" cy="5334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No identifiqué un registro final de lecciones aprendidas en los materiales revisados.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42ED12C-F722-4B54-8844-BE6D9B8A8B2C}"/>
              </a:ext>
            </a:extLst>
          </p:cNvPr>
          <p:cNvSpPr>
            <a:spLocks noGrp="1"/>
          </p:cNvSpPr>
          <p:nvPr/>
        </p:nvSpPr>
        <p:spPr>
          <a:xfrm>
            <a:off x="1381125" y="5334000"/>
            <a:ext cx="9572625" cy="9525"/>
          </a:xfrm>
          <a:prstGeom prst="rect">
            <a:avLst/>
          </a:prstGeom>
          <a:solidFill>
            <a:srgbClr val="D8D9D5"/>
          </a:solidFill>
          <a:ln w="0">
            <a:noFill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F6592C4-A219-42D9-97D4-5E7C27FBE347}"/>
              </a:ext>
            </a:extLst>
          </p:cNvPr>
          <p:cNvSpPr>
            <a:spLocks noGrp="1"/>
          </p:cNvSpPr>
          <p:nvPr/>
        </p:nvSpPr>
        <p:spPr>
          <a:xfrm>
            <a:off x="762000" y="5486400"/>
            <a:ext cx="476250" cy="4191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800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E6C2AB8-E0BF-4DEC-BBA1-A29E1884C6CD}"/>
              </a:ext>
            </a:extLst>
          </p:cNvPr>
          <p:cNvSpPr>
            <a:spLocks noGrp="1"/>
          </p:cNvSpPr>
          <p:nvPr/>
        </p:nvSpPr>
        <p:spPr>
          <a:xfrm>
            <a:off x="1381125" y="5486400"/>
            <a:ext cx="2000250" cy="4191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72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Archivo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594FA82-F75B-47EF-BE1B-3A3D3C8021D0}"/>
              </a:ext>
            </a:extLst>
          </p:cNvPr>
          <p:cNvSpPr>
            <a:spLocks noGrp="1"/>
          </p:cNvSpPr>
          <p:nvPr/>
        </p:nvSpPr>
        <p:spPr>
          <a:xfrm>
            <a:off x="3524250" y="5486400"/>
            <a:ext cx="7524750" cy="5334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Conservo el BPMN y D2–D5; falta confirmar D6–D8 y el archivo final.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D96E8A0-8013-4CDA-AC7D-AAB311146B38}"/>
              </a:ext>
            </a:extLst>
          </p:cNvPr>
          <p:cNvSpPr>
            <a:spLocks noGrp="1"/>
          </p:cNvSpPr>
          <p:nvPr/>
        </p:nvSpPr>
        <p:spPr>
          <a:xfrm>
            <a:off x="1381125" y="6143625"/>
            <a:ext cx="9572625" cy="9525"/>
          </a:xfrm>
          <a:prstGeom prst="rect">
            <a:avLst/>
          </a:prstGeom>
          <a:solidFill>
            <a:srgbClr val="D8D9D5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138310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223AA876-6326-489F-962D-C0F25BC4C73D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10668000" cy="619125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Ejercicio 6 · Estado de cierre por caso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5A8EB60-4B81-49A0-B40F-A3E76229D563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4F77A2"/>
          </a:solidFill>
          <a:ln w="0">
            <a:noFill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390F313-EECE-4B11-9E1D-A6DEDF3A03C7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3333750" cy="47625"/>
          </a:xfrm>
          <a:prstGeom prst="rect">
            <a:avLst/>
          </a:prstGeom>
          <a:solidFill>
            <a:srgbClr val="1B7E79"/>
          </a:solidFill>
          <a:ln w="0">
            <a:noFill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0AB49AB-B76B-4CB8-98FC-70241E4743A9}"/>
              </a:ext>
            </a:extLst>
          </p:cNvPr>
          <p:cNvSpPr>
            <a:spLocks noGrp="1"/>
          </p:cNvSpPr>
          <p:nvPr/>
        </p:nvSpPr>
        <p:spPr>
          <a:xfrm>
            <a:off x="666750" y="1924050"/>
            <a:ext cx="3333750" cy="3810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650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BLOQUERA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95B90A8-D379-4670-82C7-AAB7F7E20AAE}"/>
              </a:ext>
            </a:extLst>
          </p:cNvPr>
          <p:cNvSpPr>
            <a:spLocks noGrp="1"/>
          </p:cNvSpPr>
          <p:nvPr/>
        </p:nvSpPr>
        <p:spPr>
          <a:xfrm>
            <a:off x="781050" y="2381250"/>
            <a:ext cx="3105150" cy="1190625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50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Avance documentado. D5 reporta cuatro pruebas correctas, pero hay una diferencia entre versiones. Falta confirmar la versión final.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BBEECE0-6B80-4C69-9C82-79CCCAEF9312}"/>
              </a:ext>
            </a:extLst>
          </p:cNvPr>
          <p:cNvSpPr>
            <a:spLocks noGrp="1"/>
          </p:cNvSpPr>
          <p:nvPr/>
        </p:nvSpPr>
        <p:spPr>
          <a:xfrm>
            <a:off x="4429125" y="1714500"/>
            <a:ext cx="3333750" cy="47625"/>
          </a:xfrm>
          <a:prstGeom prst="rect">
            <a:avLst/>
          </a:prstGeom>
          <a:solidFill>
            <a:srgbClr val="4F77A2"/>
          </a:solidFill>
          <a:ln w="0">
            <a:noFill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BB958D1-2C3B-4988-83CC-1A5DC05B921A}"/>
              </a:ext>
            </a:extLst>
          </p:cNvPr>
          <p:cNvSpPr>
            <a:spLocks noGrp="1"/>
          </p:cNvSpPr>
          <p:nvPr/>
        </p:nvSpPr>
        <p:spPr>
          <a:xfrm>
            <a:off x="4429125" y="1924050"/>
            <a:ext cx="3333750" cy="3810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650" b="1" i="0">
                <a:solidFill>
                  <a:srgbClr val="4F77A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4F77A2"/>
                </a:solidFill>
                <a:latin typeface="Bitstream Charter"/>
                <a:ea typeface="Bitstream Charter"/>
                <a:cs typeface="Bitstream Charter"/>
              </a:rPr>
              <a:t>FAST BURGER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E968BC6-A4FE-4EA8-87A5-A1A35BAFEC94}"/>
              </a:ext>
            </a:extLst>
          </p:cNvPr>
          <p:cNvSpPr>
            <a:spLocks noGrp="1"/>
          </p:cNvSpPr>
          <p:nvPr/>
        </p:nvSpPr>
        <p:spPr>
          <a:xfrm>
            <a:off x="4543425" y="2381250"/>
            <a:ext cx="3105150" cy="1190625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50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Avance documentado. Las capturas muestran dos escenarios, pero no incluyen métricas de salida para comparar su impacto.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4D6AD42-5316-4EAE-AB73-80A2E244C355}"/>
              </a:ext>
            </a:extLst>
          </p:cNvPr>
          <p:cNvSpPr>
            <a:spLocks noGrp="1"/>
          </p:cNvSpPr>
          <p:nvPr/>
        </p:nvSpPr>
        <p:spPr>
          <a:xfrm>
            <a:off x="8191500" y="1714500"/>
            <a:ext cx="3333750" cy="47625"/>
          </a:xfrm>
          <a:prstGeom prst="rect">
            <a:avLst/>
          </a:prstGeom>
          <a:solidFill>
            <a:srgbClr val="76669B"/>
          </a:solidFill>
          <a:ln w="0">
            <a:noFill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F4038C7-3C7D-4C50-865D-176645C52939}"/>
              </a:ext>
            </a:extLst>
          </p:cNvPr>
          <p:cNvSpPr>
            <a:spLocks noGrp="1"/>
          </p:cNvSpPr>
          <p:nvPr/>
        </p:nvSpPr>
        <p:spPr>
          <a:xfrm>
            <a:off x="8191500" y="1924050"/>
            <a:ext cx="3333750" cy="3810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650" b="1" i="0">
                <a:solidFill>
                  <a:srgbClr val="76669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76669B"/>
                </a:solidFill>
                <a:latin typeface="Bitstream Charter"/>
                <a:ea typeface="Bitstream Charter"/>
                <a:cs typeface="Bitstream Charter"/>
              </a:rPr>
              <a:t>PROCESMUEBLES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1063E32-BB85-4241-9187-AD48E1B44F96}"/>
              </a:ext>
            </a:extLst>
          </p:cNvPr>
          <p:cNvSpPr>
            <a:spLocks noGrp="1"/>
          </p:cNvSpPr>
          <p:nvPr/>
        </p:nvSpPr>
        <p:spPr>
          <a:xfrm>
            <a:off x="8305800" y="2381250"/>
            <a:ext cx="3105150" cy="1190625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50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Cierre pendiente. Se recibieron el BPMN y D2–D5; el índice marca D6–D8 y la validación final como pendientes.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0642BBD-82A9-40D0-BD2D-27F157A01512}"/>
              </a:ext>
            </a:extLst>
          </p:cNvPr>
          <p:cNvSpPr>
            <a:spLocks noGrp="1"/>
          </p:cNvSpPr>
          <p:nvPr/>
        </p:nvSpPr>
        <p:spPr>
          <a:xfrm>
            <a:off x="857250" y="4000500"/>
            <a:ext cx="10287000" cy="1000125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8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Mi decisión: con la evidencia revisada no afirmo el éxito integral de ninguno de los tres casos.</a:t>
            </a:r>
          </a:p>
        </p:txBody>
      </p:sp>
    </p:spTree>
    <p:extLst>
      <p:ext uri="{BB962C8B-B14F-4D97-AF65-F5344CB8AC3E}">
        <p14:creationId xmlns:p14="http://schemas.microsoft.com/office/powerpoint/2010/main" val="37585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 28">
            <a:extLst>
              <a:ext uri="{FF2B5EF4-FFF2-40B4-BE49-F238E27FC236}">
                <a16:creationId xmlns:a16="http://schemas.microsoft.com/office/drawing/2014/main" id="{2B47284B-1D6C-4073-9201-87ABA0D8C495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10668000" cy="619125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Ejercicio 7 · Registro de lecciones aprendidas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50CE532-1457-4D91-B3DE-9C8B876C26CD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1B7E79"/>
          </a:solidFill>
          <a:ln w="0">
            <a:noFill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4853BE0-3808-4FBD-B24E-FE1C8092C9AB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0477500" cy="4572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9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Registré los hechos y las recomendaciones que puedo respaldar con los materiales revisados.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3788359-9AA8-42F5-9E8C-0B26E6EAD5F8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10477500" cy="514350"/>
          </a:xfrm>
          <a:prstGeom prst="rect">
            <a:avLst/>
          </a:prstGeom>
          <a:solidFill>
            <a:srgbClr val="132338"/>
          </a:solidFill>
          <a:ln w="0">
            <a:noFill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A59638E-E8F6-4F1C-9680-27380D771418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1390650" cy="40005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9CFF26D-D3A4-4C41-990D-927E01B1CAD1}"/>
              </a:ext>
            </a:extLst>
          </p:cNvPr>
          <p:cNvSpPr>
            <a:spLocks noGrp="1"/>
          </p:cNvSpPr>
          <p:nvPr/>
        </p:nvSpPr>
        <p:spPr>
          <a:xfrm>
            <a:off x="2266950" y="2171700"/>
            <a:ext cx="2533650" cy="40005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Qué ocurrió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4EBD937-3948-49C4-88D5-ACDE0B1C3A39}"/>
              </a:ext>
            </a:extLst>
          </p:cNvPr>
          <p:cNvSpPr>
            <a:spLocks noGrp="1"/>
          </p:cNvSpPr>
          <p:nvPr/>
        </p:nvSpPr>
        <p:spPr>
          <a:xfrm>
            <a:off x="4933950" y="2171700"/>
            <a:ext cx="2343150" cy="40005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Evidencia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021C368-86F1-42F8-81ED-A03F43D9F9FF}"/>
              </a:ext>
            </a:extLst>
          </p:cNvPr>
          <p:cNvSpPr>
            <a:spLocks noGrp="1"/>
          </p:cNvSpPr>
          <p:nvPr/>
        </p:nvSpPr>
        <p:spPr>
          <a:xfrm>
            <a:off x="7410450" y="2171700"/>
            <a:ext cx="1962150" cy="40005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Lección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C64D65C-635D-441B-8CCD-A2FC47258D7F}"/>
              </a:ext>
            </a:extLst>
          </p:cNvPr>
          <p:cNvSpPr>
            <a:spLocks noGrp="1"/>
          </p:cNvSpPr>
          <p:nvPr/>
        </p:nvSpPr>
        <p:spPr>
          <a:xfrm>
            <a:off x="9505950" y="2171700"/>
            <a:ext cx="1771650" cy="400050"/>
          </a:xfrm>
          <a:prstGeom prst="rect">
            <a:avLst/>
          </a:prstGeom>
          <a:ln w="0">
            <a:noFill/>
          </a:ln>
        </p:spPr>
        <p:txBody>
          <a:bodyPr anchor="ctr">
            <a:normAutofit fontScale="88938"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Acción para otro proyecto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9A098F8-F26F-424D-95A3-789ECB0D6C79}"/>
              </a:ext>
            </a:extLst>
          </p:cNvPr>
          <p:cNvSpPr>
            <a:spLocks noGrp="1"/>
          </p:cNvSpPr>
          <p:nvPr/>
        </p:nvSpPr>
        <p:spPr>
          <a:xfrm>
            <a:off x="666750" y="2628900"/>
            <a:ext cx="10477500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9D5"/>
            </a:solidFill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D1B4277-DC10-4963-9BB3-3B3A2EC8572A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1381125" cy="7620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350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Bloquera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D8CC130-AB4D-4D0D-AF7D-A69B30216EB9}"/>
              </a:ext>
            </a:extLst>
          </p:cNvPr>
          <p:cNvSpPr>
            <a:spLocks noGrp="1"/>
          </p:cNvSpPr>
          <p:nvPr/>
        </p:nvSpPr>
        <p:spPr>
          <a:xfrm>
            <a:off x="2190750" y="2628900"/>
            <a:ext cx="9525" cy="904875"/>
          </a:xfrm>
          <a:prstGeom prst="rect">
            <a:avLst/>
          </a:prstGeom>
          <a:solidFill>
            <a:srgbClr val="D8D9D5"/>
          </a:solidFill>
          <a:ln w="0">
            <a:noFill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D0F7818-C24F-44F0-872B-CFF53ABDF694}"/>
              </a:ext>
            </a:extLst>
          </p:cNvPr>
          <p:cNvSpPr>
            <a:spLocks noGrp="1"/>
          </p:cNvSpPr>
          <p:nvPr/>
        </p:nvSpPr>
        <p:spPr>
          <a:xfrm>
            <a:off x="4857750" y="2628900"/>
            <a:ext cx="9525" cy="904875"/>
          </a:xfrm>
          <a:prstGeom prst="rect">
            <a:avLst/>
          </a:prstGeom>
          <a:solidFill>
            <a:srgbClr val="D8D9D5"/>
          </a:solidFill>
          <a:ln w="0">
            <a:noFill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CB56861-03EC-41C5-929C-BD6F348E7ADC}"/>
              </a:ext>
            </a:extLst>
          </p:cNvPr>
          <p:cNvSpPr>
            <a:spLocks noGrp="1"/>
          </p:cNvSpPr>
          <p:nvPr/>
        </p:nvSpPr>
        <p:spPr>
          <a:xfrm>
            <a:off x="7334250" y="2628900"/>
            <a:ext cx="9525" cy="904875"/>
          </a:xfrm>
          <a:prstGeom prst="rect">
            <a:avLst/>
          </a:prstGeom>
          <a:solidFill>
            <a:srgbClr val="D8D9D5"/>
          </a:solidFill>
          <a:ln w="0">
            <a:noFill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EB5D8AD-8A81-4BB2-9E85-3BD7BFEC53BB}"/>
              </a:ext>
            </a:extLst>
          </p:cNvPr>
          <p:cNvSpPr>
            <a:spLocks noGrp="1"/>
          </p:cNvSpPr>
          <p:nvPr/>
        </p:nvSpPr>
        <p:spPr>
          <a:xfrm>
            <a:off x="9429750" y="2628900"/>
            <a:ext cx="9525" cy="904875"/>
          </a:xfrm>
          <a:prstGeom prst="rect">
            <a:avLst/>
          </a:prstGeom>
          <a:solidFill>
            <a:srgbClr val="D8D9D5"/>
          </a:solidFill>
          <a:ln w="0">
            <a:noFill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1890558-31BD-48A8-A089-0CBF705399FE}"/>
              </a:ext>
            </a:extLst>
          </p:cNvPr>
          <p:cNvSpPr>
            <a:spLocks noGrp="1"/>
          </p:cNvSpPr>
          <p:nvPr/>
        </p:nvSpPr>
        <p:spPr>
          <a:xfrm>
            <a:off x="666750" y="3533775"/>
            <a:ext cx="10477500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9D5"/>
            </a:solidFill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1BA81EB-5B49-4C85-B65F-709FC461F5EB}"/>
              </a:ext>
            </a:extLst>
          </p:cNvPr>
          <p:cNvSpPr>
            <a:spLocks noGrp="1"/>
          </p:cNvSpPr>
          <p:nvPr/>
        </p:nvSpPr>
        <p:spPr>
          <a:xfrm>
            <a:off x="742950" y="3590925"/>
            <a:ext cx="1381125" cy="7620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350" b="1" i="0">
                <a:solidFill>
                  <a:srgbClr val="4F77A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 i="0">
                <a:solidFill>
                  <a:srgbClr val="4F77A2"/>
                </a:solidFill>
                <a:latin typeface="Bitstream Charter"/>
                <a:ea typeface="Bitstream Charter"/>
                <a:cs typeface="Bitstream Charter"/>
              </a:rPr>
              <a:t>Fast Burger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5D80C0A-8818-4EB0-8A53-420BC2E3156A}"/>
              </a:ext>
            </a:extLst>
          </p:cNvPr>
          <p:cNvSpPr>
            <a:spLocks noGrp="1"/>
          </p:cNvSpPr>
          <p:nvPr/>
        </p:nvSpPr>
        <p:spPr>
          <a:xfrm>
            <a:off x="2190750" y="3533775"/>
            <a:ext cx="9525" cy="904875"/>
          </a:xfrm>
          <a:prstGeom prst="rect">
            <a:avLst/>
          </a:prstGeom>
          <a:solidFill>
            <a:srgbClr val="D8D9D5"/>
          </a:solidFill>
          <a:ln w="0">
            <a:noFill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406F738-C949-4BED-8CFD-FC34A0B9D25C}"/>
              </a:ext>
            </a:extLst>
          </p:cNvPr>
          <p:cNvSpPr>
            <a:spLocks noGrp="1"/>
          </p:cNvSpPr>
          <p:nvPr/>
        </p:nvSpPr>
        <p:spPr>
          <a:xfrm>
            <a:off x="4857750" y="3533775"/>
            <a:ext cx="9525" cy="904875"/>
          </a:xfrm>
          <a:prstGeom prst="rect">
            <a:avLst/>
          </a:prstGeom>
          <a:solidFill>
            <a:srgbClr val="D8D9D5"/>
          </a:solidFill>
          <a:ln w="0">
            <a:noFill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D4042004-F65E-43D3-B07A-E919CD7A9F69}"/>
              </a:ext>
            </a:extLst>
          </p:cNvPr>
          <p:cNvSpPr>
            <a:spLocks noGrp="1"/>
          </p:cNvSpPr>
          <p:nvPr/>
        </p:nvSpPr>
        <p:spPr>
          <a:xfrm>
            <a:off x="7334250" y="3533775"/>
            <a:ext cx="9525" cy="904875"/>
          </a:xfrm>
          <a:prstGeom prst="rect">
            <a:avLst/>
          </a:prstGeom>
          <a:solidFill>
            <a:srgbClr val="D8D9D5"/>
          </a:solidFill>
          <a:ln w="0">
            <a:noFill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2B24B74-1CC5-4818-8778-ADA6712F5244}"/>
              </a:ext>
            </a:extLst>
          </p:cNvPr>
          <p:cNvSpPr>
            <a:spLocks noGrp="1"/>
          </p:cNvSpPr>
          <p:nvPr/>
        </p:nvSpPr>
        <p:spPr>
          <a:xfrm>
            <a:off x="9429750" y="3533775"/>
            <a:ext cx="9525" cy="904875"/>
          </a:xfrm>
          <a:prstGeom prst="rect">
            <a:avLst/>
          </a:prstGeom>
          <a:solidFill>
            <a:srgbClr val="D8D9D5"/>
          </a:solidFill>
          <a:ln w="0">
            <a:noFill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8BA9174-B780-4445-A7B6-A2BB72E65767}"/>
              </a:ext>
            </a:extLst>
          </p:cNvPr>
          <p:cNvSpPr>
            <a:spLocks noGrp="1"/>
          </p:cNvSpPr>
          <p:nvPr/>
        </p:nvSpPr>
        <p:spPr>
          <a:xfrm>
            <a:off x="666750" y="4438650"/>
            <a:ext cx="10477500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9D5"/>
            </a:solidFill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C77480E2-1F2C-4371-8CBA-87736111D947}"/>
              </a:ext>
            </a:extLst>
          </p:cNvPr>
          <p:cNvSpPr>
            <a:spLocks noGrp="1"/>
          </p:cNvSpPr>
          <p:nvPr/>
        </p:nvSpPr>
        <p:spPr>
          <a:xfrm>
            <a:off x="742950" y="4495800"/>
            <a:ext cx="1381125" cy="7620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350" b="1" i="0">
                <a:solidFill>
                  <a:srgbClr val="76669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 i="0">
                <a:solidFill>
                  <a:srgbClr val="76669B"/>
                </a:solidFill>
                <a:latin typeface="Bitstream Charter"/>
                <a:ea typeface="Bitstream Charter"/>
                <a:cs typeface="Bitstream Charter"/>
              </a:rPr>
              <a:t>ProcesMuebles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35240A2-1B3B-48E8-93F9-F20407092C79}"/>
              </a:ext>
            </a:extLst>
          </p:cNvPr>
          <p:cNvSpPr>
            <a:spLocks noGrp="1"/>
          </p:cNvSpPr>
          <p:nvPr/>
        </p:nvSpPr>
        <p:spPr>
          <a:xfrm>
            <a:off x="2190750" y="4438650"/>
            <a:ext cx="9525" cy="904875"/>
          </a:xfrm>
          <a:prstGeom prst="rect">
            <a:avLst/>
          </a:prstGeom>
          <a:solidFill>
            <a:srgbClr val="D8D9D5"/>
          </a:solidFill>
          <a:ln w="0">
            <a:noFill/>
          </a:ln>
        </p:spPr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AB7BAA3-EC63-426B-9F4F-844374553478}"/>
              </a:ext>
            </a:extLst>
          </p:cNvPr>
          <p:cNvSpPr>
            <a:spLocks noGrp="1"/>
          </p:cNvSpPr>
          <p:nvPr/>
        </p:nvSpPr>
        <p:spPr>
          <a:xfrm>
            <a:off x="4857750" y="4438650"/>
            <a:ext cx="9525" cy="904875"/>
          </a:xfrm>
          <a:prstGeom prst="rect">
            <a:avLst/>
          </a:prstGeom>
          <a:solidFill>
            <a:srgbClr val="D8D9D5"/>
          </a:solidFill>
          <a:ln w="0">
            <a:noFill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FC540D6-DF99-4635-93B7-FEBC922A5D28}"/>
              </a:ext>
            </a:extLst>
          </p:cNvPr>
          <p:cNvSpPr>
            <a:spLocks noGrp="1"/>
          </p:cNvSpPr>
          <p:nvPr/>
        </p:nvSpPr>
        <p:spPr>
          <a:xfrm>
            <a:off x="7334250" y="4438650"/>
            <a:ext cx="9525" cy="904875"/>
          </a:xfrm>
          <a:prstGeom prst="rect">
            <a:avLst/>
          </a:prstGeom>
          <a:solidFill>
            <a:srgbClr val="D8D9D5"/>
          </a:solidFill>
          <a:ln w="0">
            <a:noFill/>
          </a:ln>
        </p:spPr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E967141F-2B7E-4D17-A94A-013F4F938C0E}"/>
              </a:ext>
            </a:extLst>
          </p:cNvPr>
          <p:cNvSpPr>
            <a:spLocks noGrp="1"/>
          </p:cNvSpPr>
          <p:nvPr/>
        </p:nvSpPr>
        <p:spPr>
          <a:xfrm>
            <a:off x="9429750" y="4438650"/>
            <a:ext cx="9525" cy="904875"/>
          </a:xfrm>
          <a:prstGeom prst="rect">
            <a:avLst/>
          </a:prstGeom>
          <a:solidFill>
            <a:srgbClr val="D8D9D5"/>
          </a:solidFill>
          <a:ln w="0">
            <a:noFill/>
          </a:ln>
        </p:spPr>
      </p:sp>
      <p:sp>
        <p:nvSpPr>
          <p:cNvPr id="30" name="respuesta-tabla-1">
            <a:extLst>
              <a:ext uri="{FF2B5EF4-FFF2-40B4-BE49-F238E27FC236}">
                <a16:creationId xmlns:a16="http://schemas.microsoft.com/office/drawing/2014/main" id="{4F6368CB-DA20-45B0-99C8-1365D19CF889}"/>
              </a:ext>
            </a:extLst>
          </p:cNvPr>
          <p:cNvSpPr>
            <a:spLocks noGrp="1"/>
          </p:cNvSpPr>
          <p:nvPr/>
        </p:nvSpPr>
        <p:spPr>
          <a:xfrm>
            <a:off x="2266950" y="2686050"/>
            <a:ext cx="25336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 anchor="ctr">
            <a:normAutofit/>
          </a:bodyPr>
          <a:lstStyle/>
          <a:p>
            <a:pPr algn="l">
              <a:defRPr sz="1163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63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Dos cuadrillas comparten una revolvedora; hay diferencias entre versiones.</a:t>
            </a:r>
          </a:p>
        </p:txBody>
      </p:sp>
      <p:sp>
        <p:nvSpPr>
          <p:cNvPr id="31" name="respuesta-tabla-2">
            <a:extLst>
              <a:ext uri="{FF2B5EF4-FFF2-40B4-BE49-F238E27FC236}">
                <a16:creationId xmlns:a16="http://schemas.microsoft.com/office/drawing/2014/main" id="{1866771C-CDE2-4D73-B539-680BD50DD789}"/>
              </a:ext>
            </a:extLst>
          </p:cNvPr>
          <p:cNvSpPr>
            <a:spLocks noGrp="1"/>
          </p:cNvSpPr>
          <p:nvPr/>
        </p:nvSpPr>
        <p:spPr>
          <a:xfrm>
            <a:off x="4933950" y="2686050"/>
            <a:ext cx="23431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 anchor="ctr">
            <a:normAutofit/>
          </a:bodyPr>
          <a:lstStyle/>
          <a:p>
            <a:pPr algn="l">
              <a:defRPr sz="1163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63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Informe D5 y ZIP del modelo.</a:t>
            </a:r>
          </a:p>
        </p:txBody>
      </p:sp>
      <p:sp>
        <p:nvSpPr>
          <p:cNvPr id="32" name="respuesta-tabla-3">
            <a:extLst>
              <a:ext uri="{FF2B5EF4-FFF2-40B4-BE49-F238E27FC236}">
                <a16:creationId xmlns:a16="http://schemas.microsoft.com/office/drawing/2014/main" id="{B6F54159-6F9B-4210-8184-7E4CC370E148}"/>
              </a:ext>
            </a:extLst>
          </p:cNvPr>
          <p:cNvSpPr>
            <a:spLocks noGrp="1"/>
          </p:cNvSpPr>
          <p:nvPr/>
        </p:nvSpPr>
        <p:spPr>
          <a:xfrm>
            <a:off x="7410450" y="2686050"/>
            <a:ext cx="19621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 anchor="ctr">
            <a:normAutofit/>
          </a:bodyPr>
          <a:lstStyle/>
          <a:p>
            <a:pPr algn="l">
              <a:defRPr sz="1163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63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Las pruebas deben corresponder a la versión final.</a:t>
            </a:r>
          </a:p>
        </p:txBody>
      </p:sp>
      <p:sp>
        <p:nvSpPr>
          <p:cNvPr id="33" name="respuesta-tabla-4">
            <a:extLst>
              <a:ext uri="{FF2B5EF4-FFF2-40B4-BE49-F238E27FC236}">
                <a16:creationId xmlns:a16="http://schemas.microsoft.com/office/drawing/2014/main" id="{B41AD0E0-E632-4BF8-88F5-D08343DD46C2}"/>
              </a:ext>
            </a:extLst>
          </p:cNvPr>
          <p:cNvSpPr>
            <a:spLocks noGrp="1"/>
          </p:cNvSpPr>
          <p:nvPr/>
        </p:nvSpPr>
        <p:spPr>
          <a:xfrm>
            <a:off x="9505950" y="2686050"/>
            <a:ext cx="15811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 anchor="ctr">
            <a:normAutofit/>
          </a:bodyPr>
          <a:lstStyle/>
          <a:p>
            <a:pPr algn="l">
              <a:defRPr sz="1163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63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Alinear BPMN, informe, programa y evidencias.</a:t>
            </a:r>
          </a:p>
        </p:txBody>
      </p:sp>
      <p:sp>
        <p:nvSpPr>
          <p:cNvPr id="34" name="respuesta-tabla-5">
            <a:extLst>
              <a:ext uri="{FF2B5EF4-FFF2-40B4-BE49-F238E27FC236}">
                <a16:creationId xmlns:a16="http://schemas.microsoft.com/office/drawing/2014/main" id="{82B06874-8FAD-480C-93A1-CCFFB14F43C4}"/>
              </a:ext>
            </a:extLst>
          </p:cNvPr>
          <p:cNvSpPr>
            <a:spLocks noGrp="1"/>
          </p:cNvSpPr>
          <p:nvPr/>
        </p:nvSpPr>
        <p:spPr>
          <a:xfrm>
            <a:off x="2266950" y="3590925"/>
            <a:ext cx="25336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 anchor="ctr">
            <a:normAutofit/>
          </a:bodyPr>
          <a:lstStyle/>
          <a:p>
            <a:pPr algn="l">
              <a:defRPr sz="1163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63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Se configuraron los escenarios base y de alta demanda.</a:t>
            </a:r>
          </a:p>
        </p:txBody>
      </p:sp>
      <p:sp>
        <p:nvSpPr>
          <p:cNvPr id="35" name="respuesta-tabla-6">
            <a:extLst>
              <a:ext uri="{FF2B5EF4-FFF2-40B4-BE49-F238E27FC236}">
                <a16:creationId xmlns:a16="http://schemas.microsoft.com/office/drawing/2014/main" id="{5A394FFB-A2EF-4F29-843F-AAE8752DFEEE}"/>
              </a:ext>
            </a:extLst>
          </p:cNvPr>
          <p:cNvSpPr>
            <a:spLocks noGrp="1"/>
          </p:cNvSpPr>
          <p:nvPr/>
        </p:nvSpPr>
        <p:spPr>
          <a:xfrm>
            <a:off x="4933950" y="3590925"/>
            <a:ext cx="23431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 anchor="ctr">
            <a:normAutofit/>
          </a:bodyPr>
          <a:lstStyle/>
          <a:p>
            <a:pPr algn="l">
              <a:defRPr sz="1163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63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Capturas de ambas configuraciones.</a:t>
            </a:r>
          </a:p>
        </p:txBody>
      </p:sp>
      <p:sp>
        <p:nvSpPr>
          <p:cNvPr id="36" name="respuesta-tabla-7">
            <a:extLst>
              <a:ext uri="{FF2B5EF4-FFF2-40B4-BE49-F238E27FC236}">
                <a16:creationId xmlns:a16="http://schemas.microsoft.com/office/drawing/2014/main" id="{330F52AC-1C4B-4720-9048-1AB175CAE377}"/>
              </a:ext>
            </a:extLst>
          </p:cNvPr>
          <p:cNvSpPr>
            <a:spLocks noGrp="1"/>
          </p:cNvSpPr>
          <p:nvPr/>
        </p:nvSpPr>
        <p:spPr>
          <a:xfrm>
            <a:off x="7410450" y="3590925"/>
            <a:ext cx="19621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 anchor="ctr">
            <a:normAutofit/>
          </a:bodyPr>
          <a:lstStyle/>
          <a:p>
            <a:pPr algn="l">
              <a:defRPr sz="1163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63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La configuración sola no demuestra el rendimiento.</a:t>
            </a:r>
          </a:p>
        </p:txBody>
      </p:sp>
      <p:sp>
        <p:nvSpPr>
          <p:cNvPr id="37" name="respuesta-tabla-8">
            <a:extLst>
              <a:ext uri="{FF2B5EF4-FFF2-40B4-BE49-F238E27FC236}">
                <a16:creationId xmlns:a16="http://schemas.microsoft.com/office/drawing/2014/main" id="{9F153E7B-D1DD-401E-851A-AA141D244E3A}"/>
              </a:ext>
            </a:extLst>
          </p:cNvPr>
          <p:cNvSpPr>
            <a:spLocks noGrp="1"/>
          </p:cNvSpPr>
          <p:nvPr/>
        </p:nvSpPr>
        <p:spPr>
          <a:xfrm>
            <a:off x="9505950" y="3590925"/>
            <a:ext cx="15811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 anchor="ctr">
            <a:normAutofit/>
          </a:bodyPr>
          <a:lstStyle/>
          <a:p>
            <a:pPr algn="l">
              <a:defRPr sz="1163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63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Registrar métricas con iguales reglas y duración.</a:t>
            </a:r>
          </a:p>
        </p:txBody>
      </p:sp>
      <p:sp>
        <p:nvSpPr>
          <p:cNvPr id="38" name="respuesta-tabla-9">
            <a:extLst>
              <a:ext uri="{FF2B5EF4-FFF2-40B4-BE49-F238E27FC236}">
                <a16:creationId xmlns:a16="http://schemas.microsoft.com/office/drawing/2014/main" id="{07CF80CC-479C-48CF-8583-64E3461870BD}"/>
              </a:ext>
            </a:extLst>
          </p:cNvPr>
          <p:cNvSpPr>
            <a:spLocks noGrp="1"/>
          </p:cNvSpPr>
          <p:nvPr/>
        </p:nvSpPr>
        <p:spPr>
          <a:xfrm>
            <a:off x="2266950" y="4495800"/>
            <a:ext cx="25336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 anchor="ctr">
            <a:normAutofit/>
          </a:bodyPr>
          <a:lstStyle/>
          <a:p>
            <a:pPr algn="l">
              <a:defRPr sz="1163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63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Se recibieron BPMN y ajustes D2–D5; D6–D8 figuran pendientes.</a:t>
            </a:r>
          </a:p>
        </p:txBody>
      </p:sp>
      <p:sp>
        <p:nvSpPr>
          <p:cNvPr id="39" name="respuesta-tabla-10">
            <a:extLst>
              <a:ext uri="{FF2B5EF4-FFF2-40B4-BE49-F238E27FC236}">
                <a16:creationId xmlns:a16="http://schemas.microsoft.com/office/drawing/2014/main" id="{02E43D74-09F4-48C4-8274-53CC47F87E79}"/>
              </a:ext>
            </a:extLst>
          </p:cNvPr>
          <p:cNvSpPr>
            <a:spLocks noGrp="1"/>
          </p:cNvSpPr>
          <p:nvPr/>
        </p:nvSpPr>
        <p:spPr>
          <a:xfrm>
            <a:off x="4933950" y="4495800"/>
            <a:ext cx="23431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 anchor="ctr">
            <a:normAutofit/>
          </a:bodyPr>
          <a:lstStyle/>
          <a:p>
            <a:pPr algn="l">
              <a:defRPr sz="1163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63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BPMN, documentos D2–D5 e índice.</a:t>
            </a:r>
          </a:p>
        </p:txBody>
      </p:sp>
      <p:sp>
        <p:nvSpPr>
          <p:cNvPr id="40" name="respuesta-tabla-11">
            <a:extLst>
              <a:ext uri="{FF2B5EF4-FFF2-40B4-BE49-F238E27FC236}">
                <a16:creationId xmlns:a16="http://schemas.microsoft.com/office/drawing/2014/main" id="{33F8B9AA-A504-44BF-A508-AD5F90725193}"/>
              </a:ext>
            </a:extLst>
          </p:cNvPr>
          <p:cNvSpPr>
            <a:spLocks noGrp="1"/>
          </p:cNvSpPr>
          <p:nvPr/>
        </p:nvSpPr>
        <p:spPr>
          <a:xfrm>
            <a:off x="7410450" y="4495800"/>
            <a:ext cx="19621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 anchor="ctr">
            <a:normAutofit/>
          </a:bodyPr>
          <a:lstStyle/>
          <a:p>
            <a:pPr algn="l">
              <a:defRPr sz="1163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63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El estado de cierre debe coincidir con el expediente.</a:t>
            </a:r>
          </a:p>
        </p:txBody>
      </p:sp>
      <p:sp>
        <p:nvSpPr>
          <p:cNvPr id="41" name="respuesta-tabla-12">
            <a:extLst>
              <a:ext uri="{FF2B5EF4-FFF2-40B4-BE49-F238E27FC236}">
                <a16:creationId xmlns:a16="http://schemas.microsoft.com/office/drawing/2014/main" id="{1C3E6755-70A9-4DB5-A532-81D946F3A163}"/>
              </a:ext>
            </a:extLst>
          </p:cNvPr>
          <p:cNvSpPr>
            <a:spLocks noGrp="1"/>
          </p:cNvSpPr>
          <p:nvPr/>
        </p:nvSpPr>
        <p:spPr>
          <a:xfrm>
            <a:off x="9505950" y="4495800"/>
            <a:ext cx="15811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 anchor="ctr">
            <a:normAutofit/>
          </a:bodyPr>
          <a:lstStyle/>
          <a:p>
            <a:pPr algn="l">
              <a:defRPr sz="1163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63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Actualizar el índice y documentar validación y aceptación.</a:t>
            </a:r>
          </a:p>
        </p:txBody>
      </p:sp>
    </p:spTree>
    <p:extLst>
      <p:ext uri="{BB962C8B-B14F-4D97-AF65-F5344CB8AC3E}">
        <p14:creationId xmlns:p14="http://schemas.microsoft.com/office/powerpoint/2010/main" val="853245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F76C977C-65A9-4B10-8320-B575F7B29E82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10668000" cy="619125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Ejercicio 8 · Nota de cierre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714777C-0BB9-4F6C-B546-9B5FB262C906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CC8A46"/>
          </a:solidFill>
          <a:ln w="0">
            <a:noFill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58FA299-7E7D-475C-8F89-CEE8AF7C3980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10287000" cy="7239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10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Redacté esta nota para el expediente de ProcesMuebles, con base en los archivos revisados.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287F18C-D065-49A8-8811-B533A2ECF64C}"/>
              </a:ext>
            </a:extLst>
          </p:cNvPr>
          <p:cNvSpPr>
            <a:spLocks noGrp="1"/>
          </p:cNvSpPr>
          <p:nvPr/>
        </p:nvSpPr>
        <p:spPr>
          <a:xfrm>
            <a:off x="809625" y="2524125"/>
            <a:ext cx="523875" cy="3810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875" b="1" i="0">
                <a:solidFill>
                  <a:srgbClr val="CC8A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 i="0">
                <a:solidFill>
                  <a:srgbClr val="CC8A46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A902F74-56F2-4CE0-9CB2-642C1B915D6D}"/>
              </a:ext>
            </a:extLst>
          </p:cNvPr>
          <p:cNvSpPr>
            <a:spLocks noGrp="1"/>
          </p:cNvSpPr>
          <p:nvPr/>
        </p:nvSpPr>
        <p:spPr>
          <a:xfrm>
            <a:off x="1476375" y="2524125"/>
            <a:ext cx="3048000" cy="40005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72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Alcance revisado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F577542-F5DB-4C3D-94CF-B6BB43769315}"/>
              </a:ext>
            </a:extLst>
          </p:cNvPr>
          <p:cNvSpPr>
            <a:spLocks noGrp="1"/>
          </p:cNvSpPr>
          <p:nvPr/>
        </p:nvSpPr>
        <p:spPr>
          <a:xfrm>
            <a:off x="4762500" y="2524125"/>
            <a:ext cx="6191250" cy="43815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Revisé el BPMN y los entregables D2–D5 disponibles.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3B81038-708C-41B0-9AB6-C18D9DCE2238}"/>
              </a:ext>
            </a:extLst>
          </p:cNvPr>
          <p:cNvSpPr>
            <a:spLocks noGrp="1"/>
          </p:cNvSpPr>
          <p:nvPr/>
        </p:nvSpPr>
        <p:spPr>
          <a:xfrm>
            <a:off x="809625" y="3267075"/>
            <a:ext cx="523875" cy="3810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875" b="1" i="0">
                <a:solidFill>
                  <a:srgbClr val="CC8A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 i="0">
                <a:solidFill>
                  <a:srgbClr val="CC8A46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435382D-74F1-4994-97CA-D4C6C42BF937}"/>
              </a:ext>
            </a:extLst>
          </p:cNvPr>
          <p:cNvSpPr>
            <a:spLocks noGrp="1"/>
          </p:cNvSpPr>
          <p:nvPr/>
        </p:nvSpPr>
        <p:spPr>
          <a:xfrm>
            <a:off x="1476375" y="3267075"/>
            <a:ext cx="3048000" cy="40005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72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Resultado con evidencia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6DE2ABE-F1A0-4F2B-B3B8-BACA14296402}"/>
              </a:ext>
            </a:extLst>
          </p:cNvPr>
          <p:cNvSpPr>
            <a:spLocks noGrp="1"/>
          </p:cNvSpPr>
          <p:nvPr/>
        </p:nvSpPr>
        <p:spPr>
          <a:xfrm>
            <a:off x="4762500" y="3267075"/>
            <a:ext cx="6191250" cy="43815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Confirmé que el BPMN y las correcciones D2–D5 fueron recibidos.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CEA29FF-A3B2-4D03-A590-3C14E2310384}"/>
              </a:ext>
            </a:extLst>
          </p:cNvPr>
          <p:cNvSpPr>
            <a:spLocks noGrp="1"/>
          </p:cNvSpPr>
          <p:nvPr/>
        </p:nvSpPr>
        <p:spPr>
          <a:xfrm>
            <a:off x="809625" y="4010025"/>
            <a:ext cx="523875" cy="3810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875" b="1" i="0">
                <a:solidFill>
                  <a:srgbClr val="CC8A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 i="0">
                <a:solidFill>
                  <a:srgbClr val="CC8A46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B82C4E4-CA57-4AB6-BBFC-205B0BF9B012}"/>
              </a:ext>
            </a:extLst>
          </p:cNvPr>
          <p:cNvSpPr>
            <a:spLocks noGrp="1"/>
          </p:cNvSpPr>
          <p:nvPr/>
        </p:nvSpPr>
        <p:spPr>
          <a:xfrm>
            <a:off x="1476375" y="4010025"/>
            <a:ext cx="3048000" cy="40005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72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Límite o pendiente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33D8F3E-35EF-41CF-9C55-7999E1AF81CE}"/>
              </a:ext>
            </a:extLst>
          </p:cNvPr>
          <p:cNvSpPr>
            <a:spLocks noGrp="1"/>
          </p:cNvSpPr>
          <p:nvPr/>
        </p:nvSpPr>
        <p:spPr>
          <a:xfrm>
            <a:off x="4762500" y="4010025"/>
            <a:ext cx="6191250" cy="43815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El índice marca D6–D8 y la validación final como pendientes.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9A57929-B421-42D2-9BE3-92112AEF9DFB}"/>
              </a:ext>
            </a:extLst>
          </p:cNvPr>
          <p:cNvSpPr>
            <a:spLocks noGrp="1"/>
          </p:cNvSpPr>
          <p:nvPr/>
        </p:nvSpPr>
        <p:spPr>
          <a:xfrm>
            <a:off x="809625" y="4752975"/>
            <a:ext cx="523875" cy="3810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875" b="1" i="0">
                <a:solidFill>
                  <a:srgbClr val="CC8A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 i="0">
                <a:solidFill>
                  <a:srgbClr val="CC8A46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438FF2A-7C6A-4EC4-9C75-5C98063AEF06}"/>
              </a:ext>
            </a:extLst>
          </p:cNvPr>
          <p:cNvSpPr>
            <a:spLocks noGrp="1"/>
          </p:cNvSpPr>
          <p:nvPr/>
        </p:nvSpPr>
        <p:spPr>
          <a:xfrm>
            <a:off x="1476375" y="4752975"/>
            <a:ext cx="3048000" cy="40005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72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Disposición final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A73957A-36EB-4E55-87C1-7069BC9B2D96}"/>
              </a:ext>
            </a:extLst>
          </p:cNvPr>
          <p:cNvSpPr>
            <a:spLocks noGrp="1"/>
          </p:cNvSpPr>
          <p:nvPr/>
        </p:nvSpPr>
        <p:spPr>
          <a:xfrm>
            <a:off x="4762500" y="4752975"/>
            <a:ext cx="6191250" cy="43815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Archivo</a:t>
            </a:r>
            <a:r>
              <a:rPr sz="157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57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recibido</a:t>
            </a:r>
            <a:r>
              <a:rPr sz="157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57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como</a:t>
            </a:r>
            <a:r>
              <a:rPr sz="157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57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avance</a:t>
            </a:r>
            <a:r>
              <a:rPr sz="157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57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reporto</a:t>
            </a:r>
            <a:r>
              <a:rPr sz="157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57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el</a:t>
            </a:r>
            <a:r>
              <a:rPr sz="157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57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cierre</a:t>
            </a:r>
            <a:r>
              <a:rPr sz="157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57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como</a:t>
            </a:r>
            <a:r>
              <a:rPr sz="157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57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pendiente</a:t>
            </a:r>
            <a:r>
              <a:rPr sz="157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0734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03116571-D0A3-4CFB-A2C9-6EFE4D56EFAC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10668000" cy="619125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Síntesis de mis respuestas · 1 a 4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5D5139A-0283-4B87-A4E3-150A99EEC78E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1B7E79"/>
          </a:solidFill>
          <a:ln w="0">
            <a:noFill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81A644B-FA53-4C46-91AC-2455F5DDF6DD}"/>
              </a:ext>
            </a:extLst>
          </p:cNvPr>
          <p:cNvSpPr>
            <a:spLocks noGrp="1"/>
          </p:cNvSpPr>
          <p:nvPr/>
        </p:nvSpPr>
        <p:spPr>
          <a:xfrm>
            <a:off x="714375" y="1447800"/>
            <a:ext cx="1809750" cy="428625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575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1 · Éxito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9771D51-B27B-4989-8131-9736679D28F3}"/>
              </a:ext>
            </a:extLst>
          </p:cNvPr>
          <p:cNvSpPr>
            <a:spLocks noGrp="1"/>
          </p:cNvSpPr>
          <p:nvPr/>
        </p:nvSpPr>
        <p:spPr>
          <a:xfrm>
            <a:off x="2619375" y="1447800"/>
            <a:ext cx="8429625" cy="7239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Propongo medir producción, tiempo de ciclo y esperas frente a metas definidas. Las cuatro pruebas verifican funciones específicas, no el cumplimiento global.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3FD5595-A495-4DEA-BB62-3118A6DD6FE6}"/>
              </a:ext>
            </a:extLst>
          </p:cNvPr>
          <p:cNvSpPr>
            <a:spLocks noGrp="1"/>
          </p:cNvSpPr>
          <p:nvPr/>
        </p:nvSpPr>
        <p:spPr>
          <a:xfrm>
            <a:off x="714375" y="2228850"/>
            <a:ext cx="10287000" cy="9525"/>
          </a:xfrm>
          <a:prstGeom prst="rect">
            <a:avLst/>
          </a:prstGeom>
          <a:solidFill>
            <a:srgbClr val="D8D9D5"/>
          </a:solidFill>
          <a:ln w="0">
            <a:noFill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8546509-97DA-4837-A76D-A3955FB7F829}"/>
              </a:ext>
            </a:extLst>
          </p:cNvPr>
          <p:cNvSpPr>
            <a:spLocks noGrp="1"/>
          </p:cNvSpPr>
          <p:nvPr/>
        </p:nvSpPr>
        <p:spPr>
          <a:xfrm>
            <a:off x="714375" y="2638425"/>
            <a:ext cx="1809750" cy="428625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575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2 · Escenarios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0D623BE-FEB6-4E03-BCF7-6BA3B8458C53}"/>
              </a:ext>
            </a:extLst>
          </p:cNvPr>
          <p:cNvSpPr>
            <a:spLocks noGrp="1"/>
          </p:cNvSpPr>
          <p:nvPr/>
        </p:nvSpPr>
        <p:spPr>
          <a:xfrm>
            <a:off x="2619375" y="2638425"/>
            <a:ext cx="8429625" cy="7239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Comparo espera promedio, longitud de fila, producción y uso de recursos. Mantengo iguales duración y reglas, y cambio únicamente la demanda.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8CFC7BD-BF5D-4283-957A-86C87713CDD2}"/>
              </a:ext>
            </a:extLst>
          </p:cNvPr>
          <p:cNvSpPr>
            <a:spLocks noGrp="1"/>
          </p:cNvSpPr>
          <p:nvPr/>
        </p:nvSpPr>
        <p:spPr>
          <a:xfrm>
            <a:off x="714375" y="3419475"/>
            <a:ext cx="10287000" cy="9525"/>
          </a:xfrm>
          <a:prstGeom prst="rect">
            <a:avLst/>
          </a:prstGeom>
          <a:solidFill>
            <a:srgbClr val="D8D9D5"/>
          </a:solidFill>
          <a:ln w="0">
            <a:noFill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DAA9973-D8D0-487C-BDFD-9F0DB3B906F5}"/>
              </a:ext>
            </a:extLst>
          </p:cNvPr>
          <p:cNvSpPr>
            <a:spLocks noGrp="1"/>
          </p:cNvSpPr>
          <p:nvPr/>
        </p:nvSpPr>
        <p:spPr>
          <a:xfrm>
            <a:off x="714375" y="3829050"/>
            <a:ext cx="1809750" cy="428625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575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3 · Lecciones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B61C566-B810-40B8-ACC3-E679999FA3AD}"/>
              </a:ext>
            </a:extLst>
          </p:cNvPr>
          <p:cNvSpPr>
            <a:spLocks noGrp="1"/>
          </p:cNvSpPr>
          <p:nvPr/>
        </p:nvSpPr>
        <p:spPr>
          <a:xfrm>
            <a:off x="2619375" y="3829050"/>
            <a:ext cx="8429625" cy="7239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Aprendí a definir el alcance antes de modelar y a mantener BPMN, informe, programa y pruebas en la misma versión.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A03B3DD-77B6-411A-AFD6-1452CEDB2A4C}"/>
              </a:ext>
            </a:extLst>
          </p:cNvPr>
          <p:cNvSpPr>
            <a:spLocks noGrp="1"/>
          </p:cNvSpPr>
          <p:nvPr/>
        </p:nvSpPr>
        <p:spPr>
          <a:xfrm>
            <a:off x="714375" y="4610100"/>
            <a:ext cx="10287000" cy="9525"/>
          </a:xfrm>
          <a:prstGeom prst="rect">
            <a:avLst/>
          </a:prstGeom>
          <a:solidFill>
            <a:srgbClr val="D8D9D5"/>
          </a:solidFill>
          <a:ln w="0">
            <a:noFill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D3ADA60-6803-448B-A5E9-2E98F1DF6234}"/>
              </a:ext>
            </a:extLst>
          </p:cNvPr>
          <p:cNvSpPr>
            <a:spLocks noGrp="1"/>
          </p:cNvSpPr>
          <p:nvPr/>
        </p:nvSpPr>
        <p:spPr>
          <a:xfrm>
            <a:off x="714375" y="5019675"/>
            <a:ext cx="1809750" cy="428625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575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4 · Evidencia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DC7C5EA-9B4A-4789-8FBF-F0AD70FA851F}"/>
              </a:ext>
            </a:extLst>
          </p:cNvPr>
          <p:cNvSpPr>
            <a:spLocks noGrp="1"/>
          </p:cNvSpPr>
          <p:nvPr/>
        </p:nvSpPr>
        <p:spPr>
          <a:xfrm>
            <a:off x="2619375" y="5019675"/>
            <a:ext cx="8429625" cy="7239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Identifiqué BPMN y D2–D5 como recibidos. El índice marca D6–D8 y validación final pendientes, así que reporto avance documentado.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C7E1096-F114-4732-939A-99498642ED7D}"/>
              </a:ext>
            </a:extLst>
          </p:cNvPr>
          <p:cNvSpPr>
            <a:spLocks noGrp="1"/>
          </p:cNvSpPr>
          <p:nvPr/>
        </p:nvSpPr>
        <p:spPr>
          <a:xfrm>
            <a:off x="714375" y="5800725"/>
            <a:ext cx="10287000" cy="9525"/>
          </a:xfrm>
          <a:prstGeom prst="rect">
            <a:avLst/>
          </a:prstGeom>
          <a:solidFill>
            <a:srgbClr val="D8D9D5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914166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BD45FA68-ED99-4916-8374-E529A2951D14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10668000" cy="619125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Síntesis de mis respuestas · 5 a 8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3A2745A-B172-459D-ACE9-ED60B75B8AF7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4F77A2"/>
          </a:solidFill>
          <a:ln w="0">
            <a:noFill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2AC13AE-D0D4-4DF5-A3E3-A6B69A2CC3DC}"/>
              </a:ext>
            </a:extLst>
          </p:cNvPr>
          <p:cNvSpPr>
            <a:spLocks noGrp="1"/>
          </p:cNvSpPr>
          <p:nvPr/>
        </p:nvSpPr>
        <p:spPr>
          <a:xfrm>
            <a:off x="714375" y="1447800"/>
            <a:ext cx="1809750" cy="428625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575" b="1" i="0">
                <a:solidFill>
                  <a:srgbClr val="4F77A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4F77A2"/>
                </a:solidFill>
                <a:latin typeface="Bitstream Charter"/>
                <a:ea typeface="Bitstream Charter"/>
                <a:cs typeface="Bitstream Charter"/>
              </a:rPr>
              <a:t>5 · Lista de cierre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5507036-72B3-4641-95E6-FAEF1BF78DA0}"/>
              </a:ext>
            </a:extLst>
          </p:cNvPr>
          <p:cNvSpPr>
            <a:spLocks noGrp="1"/>
          </p:cNvSpPr>
          <p:nvPr/>
        </p:nvSpPr>
        <p:spPr>
          <a:xfrm>
            <a:off x="2619375" y="1447800"/>
            <a:ext cx="8429625" cy="7239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Verifiqué BPMN y D2–D5 como recibidos. Aún debo confirmar versiones, pruebas, aceptación y archivo final; D6–D8 siguen pendientes según el índice.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C70EECF-B8A3-426E-B79B-46070D33F442}"/>
              </a:ext>
            </a:extLst>
          </p:cNvPr>
          <p:cNvSpPr>
            <a:spLocks noGrp="1"/>
          </p:cNvSpPr>
          <p:nvPr/>
        </p:nvSpPr>
        <p:spPr>
          <a:xfrm>
            <a:off x="714375" y="2228850"/>
            <a:ext cx="10287000" cy="9525"/>
          </a:xfrm>
          <a:prstGeom prst="rect">
            <a:avLst/>
          </a:prstGeom>
          <a:solidFill>
            <a:srgbClr val="D8D9D5"/>
          </a:solidFill>
          <a:ln w="0">
            <a:noFill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45DFBE9-A9DF-4758-BBE2-BA683C35EE18}"/>
              </a:ext>
            </a:extLst>
          </p:cNvPr>
          <p:cNvSpPr>
            <a:spLocks noGrp="1"/>
          </p:cNvSpPr>
          <p:nvPr/>
        </p:nvSpPr>
        <p:spPr>
          <a:xfrm>
            <a:off x="714375" y="2638425"/>
            <a:ext cx="1809750" cy="428625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575" b="1" i="0">
                <a:solidFill>
                  <a:srgbClr val="4F77A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4F77A2"/>
                </a:solidFill>
                <a:latin typeface="Bitstream Charter"/>
                <a:ea typeface="Bitstream Charter"/>
                <a:cs typeface="Bitstream Charter"/>
              </a:rPr>
              <a:t>6 · Decisión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D524905-CA08-46C3-8E5A-6B604A0F5272}"/>
              </a:ext>
            </a:extLst>
          </p:cNvPr>
          <p:cNvSpPr>
            <a:spLocks noGrp="1"/>
          </p:cNvSpPr>
          <p:nvPr/>
        </p:nvSpPr>
        <p:spPr>
          <a:xfrm>
            <a:off x="2619375" y="2638425"/>
            <a:ext cx="8429625" cy="7239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Bloquera: avance documentado; falta aclarar versión. Fast Burger: escenarios configurados; faltan métricas. ProcesMuebles: D2–D5 recibidos; cierre pendiente.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95F4700-2BA0-4B8A-A882-76F754F72D0E}"/>
              </a:ext>
            </a:extLst>
          </p:cNvPr>
          <p:cNvSpPr>
            <a:spLocks noGrp="1"/>
          </p:cNvSpPr>
          <p:nvPr/>
        </p:nvSpPr>
        <p:spPr>
          <a:xfrm>
            <a:off x="714375" y="3419475"/>
            <a:ext cx="10287000" cy="9525"/>
          </a:xfrm>
          <a:prstGeom prst="rect">
            <a:avLst/>
          </a:prstGeom>
          <a:solidFill>
            <a:srgbClr val="D8D9D5"/>
          </a:solidFill>
          <a:ln w="0">
            <a:noFill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FFD6781-F1BC-44F9-9999-5D08885EC4D1}"/>
              </a:ext>
            </a:extLst>
          </p:cNvPr>
          <p:cNvSpPr>
            <a:spLocks noGrp="1"/>
          </p:cNvSpPr>
          <p:nvPr/>
        </p:nvSpPr>
        <p:spPr>
          <a:xfrm>
            <a:off x="714375" y="3829050"/>
            <a:ext cx="1809750" cy="428625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575" b="1" i="0">
                <a:solidFill>
                  <a:srgbClr val="4F77A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4F77A2"/>
                </a:solidFill>
                <a:latin typeface="Bitstream Charter"/>
                <a:ea typeface="Bitstream Charter"/>
                <a:cs typeface="Bitstream Charter"/>
              </a:rPr>
              <a:t>7 · Lecciones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C286D1D-4FFC-484C-88E1-DB4822E1D8E1}"/>
              </a:ext>
            </a:extLst>
          </p:cNvPr>
          <p:cNvSpPr>
            <a:spLocks noGrp="1"/>
          </p:cNvSpPr>
          <p:nvPr/>
        </p:nvSpPr>
        <p:spPr>
          <a:xfrm>
            <a:off x="2619375" y="3829050"/>
            <a:ext cx="8429625" cy="7239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Registré un hecho y su evidencia por caso. Mis acciones son alinear versiones, guardar métricas y actualizar el índice del expediente.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B37E169-53C4-4918-80A8-5410BBACFFB5}"/>
              </a:ext>
            </a:extLst>
          </p:cNvPr>
          <p:cNvSpPr>
            <a:spLocks noGrp="1"/>
          </p:cNvSpPr>
          <p:nvPr/>
        </p:nvSpPr>
        <p:spPr>
          <a:xfrm>
            <a:off x="714375" y="4610100"/>
            <a:ext cx="10287000" cy="9525"/>
          </a:xfrm>
          <a:prstGeom prst="rect">
            <a:avLst/>
          </a:prstGeom>
          <a:solidFill>
            <a:srgbClr val="D8D9D5"/>
          </a:solidFill>
          <a:ln w="0">
            <a:noFill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9B82B9D-38A4-43E7-AE07-219C821D2E21}"/>
              </a:ext>
            </a:extLst>
          </p:cNvPr>
          <p:cNvSpPr>
            <a:spLocks noGrp="1"/>
          </p:cNvSpPr>
          <p:nvPr/>
        </p:nvSpPr>
        <p:spPr>
          <a:xfrm>
            <a:off x="714375" y="5019675"/>
            <a:ext cx="1809750" cy="428625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575" b="1" i="0">
                <a:solidFill>
                  <a:srgbClr val="4F77A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4F77A2"/>
                </a:solidFill>
                <a:latin typeface="Bitstream Charter"/>
                <a:ea typeface="Bitstream Charter"/>
                <a:cs typeface="Bitstream Charter"/>
              </a:rPr>
              <a:t>8 · Cierre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8FF0989-656D-48C5-82F9-F4C60274C52D}"/>
              </a:ext>
            </a:extLst>
          </p:cNvPr>
          <p:cNvSpPr>
            <a:spLocks noGrp="1"/>
          </p:cNvSpPr>
          <p:nvPr/>
        </p:nvSpPr>
        <p:spPr>
          <a:xfrm>
            <a:off x="2619375" y="5019675"/>
            <a:ext cx="8429625" cy="7239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Concluyo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que hay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avances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documentados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.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Conservo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lo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recibido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reporto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los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pendientes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hasta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contar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con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validación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aceptación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0C266BE-EB57-4012-AE6C-279EBF8FBAD9}"/>
              </a:ext>
            </a:extLst>
          </p:cNvPr>
          <p:cNvSpPr>
            <a:spLocks noGrp="1"/>
          </p:cNvSpPr>
          <p:nvPr/>
        </p:nvSpPr>
        <p:spPr>
          <a:xfrm>
            <a:off x="714375" y="5800725"/>
            <a:ext cx="10287000" cy="9525"/>
          </a:xfrm>
          <a:prstGeom prst="rect">
            <a:avLst/>
          </a:prstGeom>
          <a:solidFill>
            <a:srgbClr val="D8D9D5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21502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BD45FA68-ED99-4916-8374-E529A2951D14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10668000" cy="619125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s-MX" sz="3150" b="1" i="0" dirty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Link de Git de proyectos Gestionados</a:t>
            </a:r>
            <a:endParaRPr sz="3150" b="1" i="0" dirty="0">
              <a:solidFill>
                <a:srgbClr val="132338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3A2745A-B172-459D-ACE9-ED60B75B8AF7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4F77A2"/>
          </a:solidFill>
          <a:ln w="0">
            <a:noFill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5507036-72B3-4641-95E6-FAEF1BF78DA0}"/>
              </a:ext>
            </a:extLst>
          </p:cNvPr>
          <p:cNvSpPr>
            <a:spLocks noGrp="1"/>
          </p:cNvSpPr>
          <p:nvPr/>
        </p:nvSpPr>
        <p:spPr>
          <a:xfrm>
            <a:off x="853563" y="1713269"/>
            <a:ext cx="9647289" cy="1542743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s-MX" sz="1600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  <a:hlinkClick r:id="rId3"/>
              </a:rPr>
              <a:t>https://github.com/amaurycolochos-cpu/Gesti-n-de-proyectos-de-TI/tree/main/Proyectos</a:t>
            </a:r>
            <a:endParaRPr lang="es-MX" sz="1600" b="0" i="0" dirty="0">
              <a:solidFill>
                <a:srgbClr val="172A3A"/>
              </a:solidFill>
              <a:latin typeface="Bitstream Charter"/>
              <a:ea typeface="Bitstream Charter"/>
              <a:cs typeface="Bitstream Charter"/>
            </a:endParaRPr>
          </a:p>
          <a:p>
            <a:pPr algn="l">
              <a:buNone/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endParaRPr sz="1600" b="0" i="0" dirty="0">
              <a:solidFill>
                <a:srgbClr val="172A3A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2584780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165CAFE-AE56-431A-830B-429DE60FBEC3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10668000" cy="619125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Conclusión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3E1DB00-F8C3-498F-82D2-7DBD96B9209C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1B7E79"/>
          </a:solidFill>
          <a:ln w="0">
            <a:noFill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AA55A25-74F3-40EC-A72B-637CBFE97F6D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477500" cy="8763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32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Evaluar y cerrar requiere mostrar qué se logró, con qué evidencia y qué aprendizaje deja el trabajo.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96253DC-A4AF-4783-BD70-CDA4B4212F21}"/>
              </a:ext>
            </a:extLst>
          </p:cNvPr>
          <p:cNvSpPr>
            <a:spLocks noGrp="1"/>
          </p:cNvSpPr>
          <p:nvPr/>
        </p:nvSpPr>
        <p:spPr>
          <a:xfrm>
            <a:off x="666750" y="2952750"/>
            <a:ext cx="10191750" cy="13335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8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Los ejercicios aplican estos criterios a procesos y simulaciones reales. Las capturas ayudan a plantear casos; los resultados deben apoyarse en datos verificables y documentos que correspondan a la misma versión.</a:t>
            </a:r>
          </a:p>
        </p:txBody>
      </p:sp>
    </p:spTree>
    <p:extLst>
      <p:ext uri="{BB962C8B-B14F-4D97-AF65-F5344CB8AC3E}">
        <p14:creationId xmlns:p14="http://schemas.microsoft.com/office/powerpoint/2010/main" val="1790557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5218D170-8C39-47EF-B320-580C364BCF22}"/>
              </a:ext>
            </a:extLst>
          </p:cNvPr>
          <p:cNvSpPr>
            <a:spLocks noGrp="1"/>
          </p:cNvSpPr>
          <p:nvPr/>
        </p:nvSpPr>
        <p:spPr>
          <a:xfrm>
            <a:off x="666750" y="361950"/>
            <a:ext cx="10668000" cy="619125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Fuentes de información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F569CD6-8D0E-4B93-A2E1-7B7D56C8CEA2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CC8A46"/>
          </a:solidFill>
          <a:ln w="0">
            <a:noFill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EAA85FC-5A64-43FD-8E81-8898B450955E}"/>
              </a:ext>
            </a:extLst>
          </p:cNvPr>
          <p:cNvSpPr>
            <a:spLocks noGrp="1"/>
          </p:cNvSpPr>
          <p:nvPr/>
        </p:nvSpPr>
        <p:spPr>
          <a:xfrm>
            <a:off x="781050" y="1524000"/>
            <a:ext cx="10334625" cy="8763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Tecnológico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Nacional de México. (2026).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Instrumentación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didáctica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para la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formación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desarrollo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de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competencias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profesionales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: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Gestión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de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proyectos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de TI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05BB43F-7F97-4835-B640-2315932AFAD5}"/>
              </a:ext>
            </a:extLst>
          </p:cNvPr>
          <p:cNvSpPr>
            <a:spLocks noGrp="1"/>
          </p:cNvSpPr>
          <p:nvPr/>
        </p:nvSpPr>
        <p:spPr>
          <a:xfrm>
            <a:off x="781050" y="2714625"/>
            <a:ext cx="10334625" cy="8763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Universidad de Guanajuato. (2025).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Clase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digital 6.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Cierre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de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proyecto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.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Recursos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Educativos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Abiertos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. 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  <a:hlinkClick r:id="rId3"/>
              </a:rPr>
              <a:t>https://blogs.ugto.mx/rea/clase-digital-6-cierre-de-proyecto/</a:t>
            </a:r>
            <a:endParaRPr lang="es-MX" sz="1425" b="0" i="0" dirty="0">
              <a:solidFill>
                <a:srgbClr val="172A3A"/>
              </a:solidFill>
              <a:latin typeface="Bitstream Charter"/>
              <a:ea typeface="Bitstream Charter"/>
              <a:cs typeface="Bitstream Charter"/>
            </a:endParaRPr>
          </a:p>
          <a:p>
            <a:pPr algn="l">
              <a:buNone/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endParaRPr sz="1425" b="0" i="0" dirty="0">
              <a:solidFill>
                <a:srgbClr val="172A3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A605C10-12CC-4CC1-B45B-4BCD3EE55E79}"/>
              </a:ext>
            </a:extLst>
          </p:cNvPr>
          <p:cNvSpPr>
            <a:spLocks noGrp="1"/>
          </p:cNvSpPr>
          <p:nvPr/>
        </p:nvSpPr>
        <p:spPr>
          <a:xfrm>
            <a:off x="781050" y="3905250"/>
            <a:ext cx="10334625" cy="876300"/>
          </a:xfrm>
          <a:prstGeom prst="rect">
            <a:avLst/>
          </a:prstGeom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Oguz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, A. (2025). Project management (2nd ed.). MSL Academic Endeavors.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Capítulo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13: Closing the Project. 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  <a:hlinkClick r:id="rId4"/>
              </a:rPr>
              <a:t>https://pressbooks.ulib.csuohio.edu/projectmanagement2ndedition/chapter/13-1-closing-the-project/</a:t>
            </a:r>
            <a:endParaRPr lang="es-MX" sz="1425" b="0" i="0" dirty="0">
              <a:solidFill>
                <a:srgbClr val="172A3A"/>
              </a:solidFill>
              <a:latin typeface="Bitstream Charter"/>
              <a:ea typeface="Bitstream Charter"/>
              <a:cs typeface="Bitstream Charter"/>
            </a:endParaRPr>
          </a:p>
          <a:p>
            <a:pPr algn="l">
              <a:buNone/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endParaRPr sz="1425" b="0" i="0" dirty="0">
              <a:solidFill>
                <a:srgbClr val="172A3A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5011436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1474</Words>
  <Application>Microsoft Office PowerPoint</Application>
  <DocSecurity>0</DocSecurity>
  <PresentationFormat>Panorámica</PresentationFormat>
  <Paragraphs>139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Bitstream Charter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AMAURY JAHAZIEL GORDILLO HERNANDEZ</cp:lastModifiedBy>
  <cp:revision>2</cp:revision>
  <dcterms:created xsi:type="dcterms:W3CDTF">2026-10-03T07:27:56Z</dcterms:created>
  <dcterms:modified xsi:type="dcterms:W3CDTF">2026-10-04T02:42:04Z</dcterms:modified>
</cp:coreProperties>
</file>