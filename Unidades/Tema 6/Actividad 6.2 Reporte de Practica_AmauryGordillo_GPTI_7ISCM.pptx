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error </a:t>
            </a:r>
            <a:r>
              <a:rPr dirty="0" err="1"/>
              <a:t>funcional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fuentes de gestión de proyectos y cierre se complementan con los expedientes y capturas originales compartidos por el estudiante para Bloquera, Fast Burger y ProcesMuebles.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4312032-937E-4A43-97BD-09B626092C4E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CF732-D9B0-4DFA-8042-4EFCBB32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BAD670E-5BFB-4694-A977-DF60DA9F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898010BC-1C0C-41FB-B733-528E1E99CDE1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BE45962F-793D-488E-A46C-2A9FC591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D96BBC9-A1E6-4B90-96C8-00A46A149AA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ABE37D-3C99-4587-8A50-73618B9B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01C4E129-2BB8-4759-9024-A88B5A5B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6C4FB118-3EFF-405D-90FC-586DFC850C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6557D8-57D9-4E07-B6C8-A05E3B1B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E47BC976-FA0B-4320-83C1-D81095071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CF611549-6FA8-4D9B-B3E7-C12F64E003B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FDAB022-003E-44A8-AF0E-A74B24C74E9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8CD4E3-3EB4-49FC-9448-02802E43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6599C2E-C2BF-4432-9319-6077ECB40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71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ugto.mx/rea/clase-digital-6-cierre-de-proyecto/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ressbooks.ulib.csuohio.edu/projectmanagement2ndedition/chapter/13-1-closing-the-project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03 DE OCTUBRE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D2E287F-497B-4DEA-9D77-F24A103B4EF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6A58C0-0795-4D99-8C38-B019C09E50C8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33A11C-C6E5-4595-9931-46CD3B34A282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3822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Evaluar un proyecto permite distinguir el avance real de lo que todavía necesita evidencia.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ABD9E0-8DE7-4EA0-9A6B-1DEBECB9FD9B}"/>
              </a:ext>
            </a:extLst>
          </p:cNvPr>
          <p:cNvSpPr>
            <a:spLocks noGrp="1"/>
          </p:cNvSpPr>
          <p:nvPr/>
        </p:nvSpPr>
        <p:spPr>
          <a:xfrm>
            <a:off x="666750" y="2733675"/>
            <a:ext cx="47625" cy="264795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259BB0-C05D-41EB-9FE9-D6D9D323DE70}"/>
              </a:ext>
            </a:extLst>
          </p:cNvPr>
          <p:cNvSpPr>
            <a:spLocks noGrp="1"/>
          </p:cNvSpPr>
          <p:nvPr/>
        </p:nvSpPr>
        <p:spPr>
          <a:xfrm>
            <a:off x="971550" y="2714625"/>
            <a:ext cx="10096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 esta práctica revisé entregables, modelos de proceso, escenarios y resultados de pruebas de tres proyectos de TI: Industria Bloquera, Fast Burger y ProcesMuebles.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B228AC-C20E-4C88-91C4-F649CFC2847B}"/>
              </a:ext>
            </a:extLst>
          </p:cNvPr>
          <p:cNvSpPr>
            <a:spLocks noGrp="1"/>
          </p:cNvSpPr>
          <p:nvPr/>
        </p:nvSpPr>
        <p:spPr>
          <a:xfrm>
            <a:off x="971550" y="3943350"/>
            <a:ext cx="100965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evaluación se basa en los archivos y capturas disponibles al 3 de octubre de 2026. Para cada caso se identifica qué resultado puede confirmarse, qué aprendizaje deja y qué aspecto requiere una validación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24469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DAB7D74-C7D9-4B72-AE7A-99046B861B3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D6117F6-C23E-4A96-A6E9-F257D04D36FC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AE3991-A41A-4F25-B57C-397C41AFDCFD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 cierre necesita comparar resultados con objetivos y conservar las lecciones que pueden mejorar futuros proyectos.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5419BD-6E4E-4194-8574-CAD2E9A1BB54}"/>
              </a:ext>
            </a:extLst>
          </p:cNvPr>
          <p:cNvSpPr>
            <a:spLocks noGrp="1"/>
          </p:cNvSpPr>
          <p:nvPr/>
        </p:nvSpPr>
        <p:spPr>
          <a:xfrm>
            <a:off x="666750" y="2790825"/>
            <a:ext cx="869356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Esta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práctica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aplica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subtemas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la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unidad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6: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medición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éxito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lecciones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aprendidas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documentación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final.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Revisar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proyectos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reales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permite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observar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cómo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se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conectan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alcance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las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pruebas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escenarios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la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decisión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43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8C345CF5-D489-4F90-B9AA-F8240877DFE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Método de evaluación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314A83D-E90A-4370-88E8-E800E9A59728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5796B6A-D677-420D-A11C-F40A1D1BBABC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572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Revisé los expedientes y comparé cada afirmación con un archivo, una captura o un resultado verificable.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70C1F39-1FE9-4D89-A7EB-AD83B6F5925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47625" cy="196215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70C678-584D-433B-87DC-091E6141ECF7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Alcance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2875F2-43A4-4F36-95D9-D6C0021ACAE0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3000375" cy="1390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Identifiqué el proceso representado y revisé si el modelo coincide con el límite de trabajo definido.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1EF1C0-3A11-46F7-BD13-BDB792D4869E}"/>
              </a:ext>
            </a:extLst>
          </p:cNvPr>
          <p:cNvSpPr>
            <a:spLocks noGrp="1"/>
          </p:cNvSpPr>
          <p:nvPr/>
        </p:nvSpPr>
        <p:spPr>
          <a:xfrm>
            <a:off x="4381500" y="2857500"/>
            <a:ext cx="47625" cy="1962150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D81D703-E9EE-4CA4-81AE-C29A4A1333DD}"/>
              </a:ext>
            </a:extLst>
          </p:cNvPr>
          <p:cNvSpPr>
            <a:spLocks noGrp="1"/>
          </p:cNvSpPr>
          <p:nvPr/>
        </p:nvSpPr>
        <p:spPr>
          <a:xfrm>
            <a:off x="4610100" y="28575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Resultados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6F317C-BB38-4C29-81D9-EC416F334181}"/>
              </a:ext>
            </a:extLst>
          </p:cNvPr>
          <p:cNvSpPr>
            <a:spLocks noGrp="1"/>
          </p:cNvSpPr>
          <p:nvPr/>
        </p:nvSpPr>
        <p:spPr>
          <a:xfrm>
            <a:off x="4610100" y="3371850"/>
            <a:ext cx="3000375" cy="1390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Contrasté resultados esperados con pruebas, escenarios o datos visibles en la evidencia.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6C6401-4493-4740-9218-4A7787A13397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47625" cy="1962150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37943EB-98E4-448B-9226-7A1DE9FD5D4E}"/>
              </a:ext>
            </a:extLst>
          </p:cNvPr>
          <p:cNvSpPr>
            <a:spLocks noGrp="1"/>
          </p:cNvSpPr>
          <p:nvPr/>
        </p:nvSpPr>
        <p:spPr>
          <a:xfrm>
            <a:off x="8324850" y="28575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FDE6F29-9CBD-435E-9691-ECB96D595BC6}"/>
              </a:ext>
            </a:extLst>
          </p:cNvPr>
          <p:cNvSpPr>
            <a:spLocks noGrp="1"/>
          </p:cNvSpPr>
          <p:nvPr/>
        </p:nvSpPr>
        <p:spPr>
          <a:xfrm>
            <a:off x="8324850" y="3371850"/>
            <a:ext cx="3000375" cy="1390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Separé entregables recibidos, verificaciones documentadas y decisiones que aún requieren respaldo.</a:t>
            </a:r>
          </a:p>
        </p:txBody>
      </p:sp>
    </p:spTree>
    <p:extLst>
      <p:ext uri="{BB962C8B-B14F-4D97-AF65-F5344CB8AC3E}">
        <p14:creationId xmlns:p14="http://schemas.microsoft.com/office/powerpoint/2010/main" val="204357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9D226063-39D0-43B6-B63E-890123A9263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Bloquera: ajuste de alcance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715C1B1-E13F-437C-8B3C-5A7849E125C4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1172" y="1457325"/>
            <a:ext cx="3107781" cy="44767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D26F494-E0E6-4806-9687-DA093BDF1FF2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D1 inicial del expediente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C37483-B6E9-4AD3-8837-6FECA4A89119}"/>
              </a:ext>
            </a:extLst>
          </p:cNvPr>
          <p:cNvSpPr>
            <a:spLocks noGrp="1"/>
          </p:cNvSpPr>
          <p:nvPr/>
        </p:nvSpPr>
        <p:spPr>
          <a:xfrm>
            <a:off x="4572000" y="1571625"/>
            <a:ext cx="6477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modelo inicial incluía el trayecto hasta el cliente. El reporte D5 explica que extracción, transporte de caliche y entrega al cliente quedaron fuera de la simulación de planta.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5761D43-499C-4A56-BA57-9CD172C4F827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6477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versión actual de “Diagrama Bloquera.bpmn” y el reporte D5 describen el flujo de producción que se evaluó: mezcla, transporte en carretilla, moldeo, secado y almacén.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28ED7A-3347-4623-9E6A-613AAE262175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47625" cy="123825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3AAD14-6610-4B9F-B51E-37F33BFE23F8}"/>
              </a:ext>
            </a:extLst>
          </p:cNvPr>
          <p:cNvSpPr>
            <a:spLocks noGrp="1"/>
          </p:cNvSpPr>
          <p:nvPr/>
        </p:nvSpPr>
        <p:spPr>
          <a:xfrm>
            <a:off x="4838700" y="4448175"/>
            <a:ext cx="6191250" cy="1219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Lección: los cambios de alcance deben reflejarse en el diagrama, el programa y el informe para que todos documenten la misma línea base.</a:t>
            </a:r>
          </a:p>
        </p:txBody>
      </p:sp>
    </p:spTree>
    <p:extLst>
      <p:ext uri="{BB962C8B-B14F-4D97-AF65-F5344CB8AC3E}">
        <p14:creationId xmlns:p14="http://schemas.microsoft.com/office/powerpoint/2010/main" val="213410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89B27F8E-A285-4A97-9B44-E91C4E05697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Bloquera: resultados documentados en D5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F25551-47D5-4670-9A59-860C3E1DFB78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6351"/>
            <a:ext cx="6096000" cy="177654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DAACD25-8968-4051-9A4F-6A56287D95B1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609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Cuatro pruebas reportadas como correctas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C54C76-5726-4A97-8D04-5736303EC944}"/>
              </a:ext>
            </a:extLst>
          </p:cNvPr>
          <p:cNvSpPr>
            <a:spLocks noGrp="1"/>
          </p:cNvSpPr>
          <p:nvPr/>
        </p:nvSpPr>
        <p:spPr>
          <a:xfrm>
            <a:off x="7239000" y="156210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FD254A-173E-40DA-840E-5341A9B50BF6}"/>
              </a:ext>
            </a:extLst>
          </p:cNvPr>
          <p:cNvSpPr>
            <a:spLocks noGrp="1"/>
          </p:cNvSpPr>
          <p:nvPr/>
        </p:nvSpPr>
        <p:spPr>
          <a:xfrm>
            <a:off x="7858125" y="15621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Ejecución automática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A4FB15-0BC4-4880-BFA5-82DFE049A033}"/>
              </a:ext>
            </a:extLst>
          </p:cNvPr>
          <p:cNvSpPr>
            <a:spLocks noGrp="1"/>
          </p:cNvSpPr>
          <p:nvPr/>
        </p:nvSpPr>
        <p:spPr>
          <a:xfrm>
            <a:off x="7924800" y="2000250"/>
            <a:ext cx="3467100" cy="1390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flujo continúa al terminar cada bolsa.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A4C187-C4AE-4506-8117-DA46F36707FB}"/>
              </a:ext>
            </a:extLst>
          </p:cNvPr>
          <p:cNvSpPr>
            <a:spLocks noGrp="1"/>
          </p:cNvSpPr>
          <p:nvPr/>
        </p:nvSpPr>
        <p:spPr>
          <a:xfrm>
            <a:off x="7239000" y="30670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C2666E-7389-41CC-B914-B1F0718A45F0}"/>
              </a:ext>
            </a:extLst>
          </p:cNvPr>
          <p:cNvSpPr>
            <a:spLocks noGrp="1"/>
          </p:cNvSpPr>
          <p:nvPr/>
        </p:nvSpPr>
        <p:spPr>
          <a:xfrm>
            <a:off x="7858125" y="306705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Recursos compartidos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B8862D-DF2D-4208-A43D-E947953A6B3D}"/>
              </a:ext>
            </a:extLst>
          </p:cNvPr>
          <p:cNvSpPr>
            <a:spLocks noGrp="1"/>
          </p:cNvSpPr>
          <p:nvPr/>
        </p:nvSpPr>
        <p:spPr>
          <a:xfrm>
            <a:off x="7924800" y="3505200"/>
            <a:ext cx="3467100" cy="1390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revolvedora representa la espera entre cuadrillas.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6AD609-E478-44CB-9C40-2067E8869B53}"/>
              </a:ext>
            </a:extLst>
          </p:cNvPr>
          <p:cNvSpPr>
            <a:spLocks noGrp="1"/>
          </p:cNvSpPr>
          <p:nvPr/>
        </p:nvSpPr>
        <p:spPr>
          <a:xfrm>
            <a:off x="3921760" y="4667250"/>
            <a:ext cx="750824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También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se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reportan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correctos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aviso de almuerzo y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proceso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secado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500" b="1" i="0" dirty="0" err="1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almacén</a:t>
            </a:r>
            <a:r>
              <a:rPr sz="1500" b="1" i="0" dirty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7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F1E512B-925B-4F42-86F9-D8BA0AF3A4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Fast Burger: flujo y puntos de espera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8244F8-D3FC-4764-916D-CCF17891029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52026"/>
            <a:ext cx="5715000" cy="312529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39DD626-D4FF-4755-A423-6F8DA68DF9FE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D1: modelo con puntos de fila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7A64F9-D51A-49DD-AD04-6CB8434CE332}"/>
              </a:ext>
            </a:extLst>
          </p:cNvPr>
          <p:cNvSpPr>
            <a:spLocks noGrp="1"/>
          </p:cNvSpPr>
          <p:nvPr/>
        </p:nvSpPr>
        <p:spPr>
          <a:xfrm>
            <a:off x="6953250" y="1657350"/>
            <a:ext cx="4286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 flujo representa llegada del cliente, toma del pedido y pago, preparación, entrega y salida.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B37842-7ED8-410E-9FCB-BCEC0C2558B8}"/>
              </a:ext>
            </a:extLst>
          </p:cNvPr>
          <p:cNvSpPr>
            <a:spLocks noGrp="1"/>
          </p:cNvSpPr>
          <p:nvPr/>
        </p:nvSpPr>
        <p:spPr>
          <a:xfrm>
            <a:off x="6953250" y="2952750"/>
            <a:ext cx="47625" cy="212407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7AA894-6642-456C-B5F0-6D4E62C88D23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4000500" cy="2019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modelo identifica dos esperas: antes de ordenar y antes de recibir el pedido. Estas etapas permiten enfocar la revisión del servicio en la experiencia del cliente y la carga del personal.</a:t>
            </a:r>
          </a:p>
        </p:txBody>
      </p:sp>
    </p:spTree>
    <p:extLst>
      <p:ext uri="{BB962C8B-B14F-4D97-AF65-F5344CB8AC3E}">
        <p14:creationId xmlns:p14="http://schemas.microsoft.com/office/powerpoint/2010/main" val="1085276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1AE69F18-F99D-474F-A2DC-42FC06F7EE1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Fast Burger: comparación de escenarios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FB5FCB-A5A5-415D-BB74-133E929B7A1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4633" y="1524000"/>
            <a:ext cx="4400109" cy="252412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133A500-E439-46A9-A234-FFDBBF6A516C}"/>
              </a:ext>
            </a:extLst>
          </p:cNvPr>
          <p:cNvSpPr>
            <a:spLocks noGrp="1"/>
          </p:cNvSpPr>
          <p:nvPr/>
        </p:nvSpPr>
        <p:spPr>
          <a:xfrm>
            <a:off x="666750" y="412432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algn="ctr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Escenario base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816A43-F36D-4476-BE3C-838E22E5E63C}"/>
              </a:ext>
            </a:extLst>
          </p:cNvPr>
          <p:cNvSpPr>
            <a:spLocks noGrp="1"/>
          </p:cNvSpPr>
          <p:nvPr/>
        </p:nvSpPr>
        <p:spPr>
          <a:xfrm>
            <a:off x="876300" y="4733925"/>
            <a:ext cx="10382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Las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capturas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confirman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que se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configuraron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escenarios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conservan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puntos de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espera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proceso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 En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material visible no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aparecen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valores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tiempo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promedio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longitud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fila o </a:t>
            </a:r>
            <a:r>
              <a:rPr sz="17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producción</a:t>
            </a:r>
            <a:r>
              <a:rPr sz="17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7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744EB38-D343-4B64-94E8-B76F218A98C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ProcesMuebles: proceso y estado del expediente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D52118-B4C8-42AF-9F65-60D01FFF0D6D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79924"/>
            <a:ext cx="5619750" cy="331715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8BB0BA9-0EDA-41FC-9377-5AC17543FE54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Proceso productivo con inspección, retrabajo y entrega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15B63D-7F23-42C5-996B-6CC3EC3C4390}"/>
              </a:ext>
            </a:extLst>
          </p:cNvPr>
          <p:cNvSpPr>
            <a:spLocks noGrp="1"/>
          </p:cNvSpPr>
          <p:nvPr/>
        </p:nvSpPr>
        <p:spPr>
          <a:xfrm>
            <a:off x="6762750" y="1600200"/>
            <a:ext cx="4572000" cy="1362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diagrama recorre diseño, producción, inspección, gestión de pedidos, almacén y distribución. El expediente incluye ajustes D2–D5 y el paquete de Bizagi.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378132-F3DC-4151-B441-1FE6BF27C4FC}"/>
              </a:ext>
            </a:extLst>
          </p:cNvPr>
          <p:cNvSpPr>
            <a:spLocks noGrp="1"/>
          </p:cNvSpPr>
          <p:nvPr/>
        </p:nvSpPr>
        <p:spPr>
          <a:xfrm>
            <a:off x="6762750" y="3286125"/>
            <a:ext cx="47625" cy="1981200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26FD44-3768-4EE6-ADA2-ADD2C2B22276}"/>
              </a:ext>
            </a:extLst>
          </p:cNvPr>
          <p:cNvSpPr>
            <a:spLocks noGrp="1"/>
          </p:cNvSpPr>
          <p:nvPr/>
        </p:nvSpPr>
        <p:spPr>
          <a:xfrm>
            <a:off x="7048500" y="3276600"/>
            <a:ext cx="4286250" cy="1971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Al corte del archivo de control, D6, D7 y D8 y la validación final siguen pendientes. La evidencia permite evaluar el proceso y el trabajo recibido hasta D5, pero no declarar validado todo el proyecto.</a:t>
            </a:r>
          </a:p>
        </p:txBody>
      </p:sp>
    </p:spTree>
    <p:extLst>
      <p:ext uri="{BB962C8B-B14F-4D97-AF65-F5344CB8AC3E}">
        <p14:creationId xmlns:p14="http://schemas.microsoft.com/office/powerpoint/2010/main" val="157711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1D4CCB9-5B4B-4E9B-87E6-162B716042B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Evaluación comparativa al corte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CA30D0-44DF-48D8-93C6-E5B4880E03BE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CFAFA5D-91A6-44BF-A51D-07714A84BE9B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13"/>
          </a:bodyPr>
          <a:lstStyle/>
          <a:p>
            <a:pPr algn="l">
              <a:def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 evidencia permite cerrar la revisión de práctica y delimitar el estado técnico de cada caso.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66750" y="2200275"/>
          <a:ext cx="10858500" cy="3505200"/>
        </p:xfrm>
        <a:graphic>
          <a:graphicData uri="http://schemas.openxmlformats.org/drawingml/2006/table">
            <a:tbl>
              <a:tblPr firstRow="1" bandRow="1"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Proyecto</a:t>
                      </a:r>
                    </a:p>
                  </a:txBody>
                  <a:tcPr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Evidencia confirmada</a:t>
                      </a:r>
                    </a:p>
                  </a:txBody>
                  <a:tcPr>
                    <a:solidFill>
                      <a:srgbClr val="1323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Límite de cierre al corte</a:t>
                      </a:r>
                    </a:p>
                  </a:txBody>
                  <a:tcPr>
                    <a:solidFill>
                      <a:srgbClr val="13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Bloquera</a:t>
                      </a:r>
                    </a:p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(Ángel)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Diagrama BPMN actualizado y tabla D5 con cuatro pruebas “Correcto”.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La versión del código y el informe D5 no coinciden en tecnología. D6–D8 no se confirman en el expediente revisado.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Fast Burger</a:t>
                      </a:r>
                    </a:p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(Aarón)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Modelo del proceso y capturas de escenario base y alta demanda.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No se adjuntan resultados numéricos para comparar tiempo, filas o producción.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ProcesMuebles</a:t>
                      </a:r>
                    </a:p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(Alondra)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Flujo BPMN y archivos corregidos D2–D5.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A3A"/>
                          </a:solidFill>
                        </a:rPr>
                        <a:t>El control del expediente deja D6–D8 y validación final pendientes.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1A6C7319-A8EB-4DE4-A566-6BC930E404B1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 cierre administrativo del acompañamiento registra lo recibido y conserva los límites técnicos que todavía no tienen evidencia.</a:t>
            </a:r>
          </a:p>
        </p:txBody>
      </p:sp>
    </p:spTree>
    <p:extLst>
      <p:ext uri="{BB962C8B-B14F-4D97-AF65-F5344CB8AC3E}">
        <p14:creationId xmlns:p14="http://schemas.microsoft.com/office/powerpoint/2010/main" val="41265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FEC0148-3068-4391-A636-EFEE79A543D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Lecciones aprendidas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2F40F1-B6AE-4439-A375-48418A0C034B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B68E79-96B3-4615-83F5-2EA093F9A18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7E16F0-4C0E-4F99-894E-BFA94C82E08D}"/>
              </a:ext>
            </a:extLst>
          </p:cNvPr>
          <p:cNvSpPr>
            <a:spLocks noGrp="1"/>
          </p:cNvSpPr>
          <p:nvPr/>
        </p:nvSpPr>
        <p:spPr>
          <a:xfrm>
            <a:off x="1476375" y="152400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Alinear versiones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EA0B02-8361-4EF9-8695-0E8E5BF84BDF}"/>
              </a:ext>
            </a:extLst>
          </p:cNvPr>
          <p:cNvSpPr>
            <a:spLocks noGrp="1"/>
          </p:cNvSpPr>
          <p:nvPr/>
        </p:nvSpPr>
        <p:spPr>
          <a:xfrm>
            <a:off x="4762500" y="152400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93"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 diagrama, el código y el informe deben describir la misma solución.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26B6774-CBB3-4806-8CEC-B058FC7D47AE}"/>
              </a:ext>
            </a:extLst>
          </p:cNvPr>
          <p:cNvSpPr>
            <a:spLocks noGrp="1"/>
          </p:cNvSpPr>
          <p:nvPr/>
        </p:nvSpPr>
        <p:spPr>
          <a:xfrm>
            <a:off x="1476375" y="2219325"/>
            <a:ext cx="942975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A0AD14-697B-4B3E-964A-F0D0E30117D2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F66FBE5-93EB-41FA-94B5-A7BD4B59412B}"/>
              </a:ext>
            </a:extLst>
          </p:cNvPr>
          <p:cNvSpPr>
            <a:spLocks noGrp="1"/>
          </p:cNvSpPr>
          <p:nvPr/>
        </p:nvSpPr>
        <p:spPr>
          <a:xfrm>
            <a:off x="1476375" y="270510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Definir alcance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1B38F47-F4F5-48C3-876F-B44AEE4D504B}"/>
              </a:ext>
            </a:extLst>
          </p:cNvPr>
          <p:cNvSpPr>
            <a:spLocks noGrp="1"/>
          </p:cNvSpPr>
          <p:nvPr/>
        </p:nvSpPr>
        <p:spPr>
          <a:xfrm>
            <a:off x="4762500" y="270510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 límites del proceso deben quedar acordados antes de modelar y probar.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8ECA7A-2DAF-4D75-95BC-39ACBFCBA165}"/>
              </a:ext>
            </a:extLst>
          </p:cNvPr>
          <p:cNvSpPr>
            <a:spLocks noGrp="1"/>
          </p:cNvSpPr>
          <p:nvPr/>
        </p:nvSpPr>
        <p:spPr>
          <a:xfrm>
            <a:off x="1476375" y="3400425"/>
            <a:ext cx="942975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DB80599-8494-4C4D-8BCD-0CC055B621F4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59C85B0-462B-4718-8200-D4A3D36CB361}"/>
              </a:ext>
            </a:extLst>
          </p:cNvPr>
          <p:cNvSpPr>
            <a:spLocks noGrp="1"/>
          </p:cNvSpPr>
          <p:nvPr/>
        </p:nvSpPr>
        <p:spPr>
          <a:xfrm>
            <a:off x="1476375" y="388620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Guardar resultados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7B0BE2-B1C4-4345-AA05-D7710A004DE4}"/>
              </a:ext>
            </a:extLst>
          </p:cNvPr>
          <p:cNvSpPr>
            <a:spLocks noGrp="1"/>
          </p:cNvSpPr>
          <p:nvPr/>
        </p:nvSpPr>
        <p:spPr>
          <a:xfrm>
            <a:off x="4762500" y="388620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Las capturas del escenario muestran configuración; una comparación requiere métricas observadas.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87A270-31B5-4469-B7DA-9E970A0A20B2}"/>
              </a:ext>
            </a:extLst>
          </p:cNvPr>
          <p:cNvSpPr>
            <a:spLocks noGrp="1"/>
          </p:cNvSpPr>
          <p:nvPr/>
        </p:nvSpPr>
        <p:spPr>
          <a:xfrm>
            <a:off x="1476375" y="4581525"/>
            <a:ext cx="942975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99B2B5-6093-483F-871C-3AB24964CE8C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477C6B-E832-46FF-B392-C930E76BCE00}"/>
              </a:ext>
            </a:extLst>
          </p:cNvPr>
          <p:cNvSpPr>
            <a:spLocks noGrp="1"/>
          </p:cNvSpPr>
          <p:nvPr/>
        </p:nvSpPr>
        <p:spPr>
          <a:xfrm>
            <a:off x="1476375" y="506730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Cerrar con evidencia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299A9D-16B6-4B70-94ED-65DDE5B40BBE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aceptación y el archivo final deben quedar vinculados a criterios verificables.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1C1C8A-AF32-471B-AC5F-8F0D36A81B07}"/>
              </a:ext>
            </a:extLst>
          </p:cNvPr>
          <p:cNvSpPr>
            <a:spLocks noGrp="1"/>
          </p:cNvSpPr>
          <p:nvPr/>
        </p:nvSpPr>
        <p:spPr>
          <a:xfrm>
            <a:off x="1476375" y="5762625"/>
            <a:ext cx="9429750" cy="9525"/>
          </a:xfrm>
          <a:prstGeom prst="rect">
            <a:avLst/>
          </a:prstGeom>
          <a:solidFill>
            <a:srgbClr val="D8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83841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9A4327F-5AB1-45F3-9BF9-AD0384ABFA0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Cierre de la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3B8B2C-D5CE-483B-AC3A-C526739D5E27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51960C4-ACF9-4090-B874-543B483556D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 revisión queda documentada al 3 de octubre de 2026 con estados distintos para cada proyecto.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F283FC-5E0F-4CE5-BA39-1C5BEFD5C57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333750" cy="3810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C75EF7-8F8B-45AF-8102-A4D2E8E4100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02E620-3ED1-4AA9-8008-445EEFDB7D49}"/>
              </a:ext>
            </a:extLst>
          </p:cNvPr>
          <p:cNvSpPr>
            <a:spLocks noGrp="1"/>
          </p:cNvSpPr>
          <p:nvPr/>
        </p:nvSpPr>
        <p:spPr>
          <a:xfrm>
            <a:off x="1162050" y="2857500"/>
            <a:ext cx="2714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Bloquera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56C99C-A56C-41EA-83B0-B435FBD523DE}"/>
              </a:ext>
            </a:extLst>
          </p:cNvPr>
          <p:cNvSpPr>
            <a:spLocks noGrp="1"/>
          </p:cNvSpPr>
          <p:nvPr/>
        </p:nvSpPr>
        <p:spPr>
          <a:xfrm>
            <a:off x="1162050" y="3381375"/>
            <a:ext cx="2714625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3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D5 reporta cuatro pruebas correctas. Hay una diferencia de versión entre el informe Python/Tkinter y el ZIP JavaFX/Maven.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C3CDF7-A800-41F6-9197-00C0753BFA08}"/>
              </a:ext>
            </a:extLst>
          </p:cNvPr>
          <p:cNvSpPr>
            <a:spLocks noGrp="1"/>
          </p:cNvSpPr>
          <p:nvPr/>
        </p:nvSpPr>
        <p:spPr>
          <a:xfrm>
            <a:off x="4429125" y="2619375"/>
            <a:ext cx="3333750" cy="38100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D9200-55CC-4657-9F6A-74C2A220D3D8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EE7DD-5F22-4A5E-B5F4-E38A1390F9B4}"/>
              </a:ext>
            </a:extLst>
          </p:cNvPr>
          <p:cNvSpPr>
            <a:spLocks noGrp="1"/>
          </p:cNvSpPr>
          <p:nvPr/>
        </p:nvSpPr>
        <p:spPr>
          <a:xfrm>
            <a:off x="4924425" y="2857500"/>
            <a:ext cx="2714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Fast Burger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DFF5EDC-6D7C-4A13-8892-8472A529CB00}"/>
              </a:ext>
            </a:extLst>
          </p:cNvPr>
          <p:cNvSpPr>
            <a:spLocks noGrp="1"/>
          </p:cNvSpPr>
          <p:nvPr/>
        </p:nvSpPr>
        <p:spPr>
          <a:xfrm>
            <a:off x="4924425" y="3381375"/>
            <a:ext cx="2714625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345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recibieron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modelo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base y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escenario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alta</a:t>
            </a:r>
            <a:r>
              <a:rPr sz="1425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425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demanda</a:t>
            </a:r>
            <a:endParaRPr sz="1425" b="0" i="0" dirty="0">
              <a:solidFill>
                <a:srgbClr val="172A3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AFABD6-AD10-4F37-A403-392614CD43AB}"/>
              </a:ext>
            </a:extLst>
          </p:cNvPr>
          <p:cNvSpPr>
            <a:spLocks noGrp="1"/>
          </p:cNvSpPr>
          <p:nvPr/>
        </p:nvSpPr>
        <p:spPr>
          <a:xfrm>
            <a:off x="8191500" y="2619375"/>
            <a:ext cx="3333750" cy="38100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34BEA4-FB6A-4CC3-9EB7-3ED66729C7DD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1013A91-5971-4B2C-A674-2789B36D97E1}"/>
              </a:ext>
            </a:extLst>
          </p:cNvPr>
          <p:cNvSpPr>
            <a:spLocks noGrp="1"/>
          </p:cNvSpPr>
          <p:nvPr/>
        </p:nvSpPr>
        <p:spPr>
          <a:xfrm>
            <a:off x="8686800" y="2857500"/>
            <a:ext cx="2714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ProcesMuebles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95785E-03F2-4E41-AFC9-C0834307822A}"/>
              </a:ext>
            </a:extLst>
          </p:cNvPr>
          <p:cNvSpPr>
            <a:spLocks noGrp="1"/>
          </p:cNvSpPr>
          <p:nvPr/>
        </p:nvSpPr>
        <p:spPr>
          <a:xfrm>
            <a:off x="8686800" y="3381375"/>
            <a:ext cx="2714625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 recibieron BPMN y correcciones D2–D5. El índice conserva D6–D8 y la validación final como pendientes.</a:t>
            </a:r>
          </a:p>
        </p:txBody>
      </p:sp>
    </p:spTree>
    <p:extLst>
      <p:ext uri="{BB962C8B-B14F-4D97-AF65-F5344CB8AC3E}">
        <p14:creationId xmlns:p14="http://schemas.microsoft.com/office/powerpoint/2010/main" val="109345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86E16A2-A4DD-48F0-B537-2E73D1E7704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94C4F8-F3B9-41BD-A7BB-0DAEB0372FA4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FEE122-4612-4FA0-B001-B78583701B23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 evaluación de cierre convirtió archivos dispersos en un registro verificable de resultados y aprendizajes.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B4A94A-C80A-49E8-B9E1-23CD78436787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00012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Los casos muestran que un modelo de proceso y una simulación ayudan a revisar cómo opera una solución. Para medir su éxito también se necesitan criterios acordados, resultados observados y archivos que correspondan a la misma versión.</a:t>
            </a:r>
          </a:p>
        </p:txBody>
      </p:sp>
    </p:spTree>
    <p:extLst>
      <p:ext uri="{BB962C8B-B14F-4D97-AF65-F5344CB8AC3E}">
        <p14:creationId xmlns:p14="http://schemas.microsoft.com/office/powerpoint/2010/main" val="308101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3BDA523-84E1-4AD0-8592-93B0C90F436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Fuentes de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CA6DAA-35AD-482D-95E2-98BA48CE8B52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FF89B1-A2B6-47D5-A309-2D956640613B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103822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MX" dirty="0"/>
              <a:t>Universidad de Guanajuato. (2025). </a:t>
            </a:r>
            <a:r>
              <a:rPr lang="es-MX" i="1" dirty="0"/>
              <a:t>Clase digital 6. Cierre de proyecto</a:t>
            </a:r>
            <a:r>
              <a:rPr lang="es-MX" dirty="0"/>
              <a:t>. Recursos Educativos Abiertos. </a:t>
            </a:r>
            <a:r>
              <a:rPr lang="es-MX" dirty="0">
                <a:hlinkClick r:id="rId3"/>
              </a:rPr>
              <a:t>https://blogs.ugto.mx/rea/clase-digital-6-cierre-de-proyecto/</a:t>
            </a:r>
            <a:r>
              <a:rPr lang="es-MX" dirty="0"/>
              <a:t> 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D4E817-CCA4-4320-A2A6-98CB2D32BAE1}"/>
              </a:ext>
            </a:extLst>
          </p:cNvPr>
          <p:cNvSpPr>
            <a:spLocks noGrp="1"/>
          </p:cNvSpPr>
          <p:nvPr/>
        </p:nvSpPr>
        <p:spPr>
          <a:xfrm>
            <a:off x="781050" y="2638425"/>
            <a:ext cx="103822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dirty="0" err="1"/>
              <a:t>Oguz</a:t>
            </a:r>
            <a:r>
              <a:rPr lang="en-US" dirty="0"/>
              <a:t>, A. (2025). </a:t>
            </a:r>
            <a:r>
              <a:rPr lang="en-US" i="1" dirty="0"/>
              <a:t>Project management</a:t>
            </a:r>
            <a:r>
              <a:rPr lang="en-US" dirty="0"/>
              <a:t> (2.ª ed.). MSL Academic Endeavors. </a:t>
            </a:r>
            <a:r>
              <a:rPr lang="en-US" dirty="0" err="1"/>
              <a:t>Capítulo</a:t>
            </a:r>
            <a:r>
              <a:rPr lang="en-US" dirty="0"/>
              <a:t> 13: “Closing the Project”. </a:t>
            </a:r>
            <a:r>
              <a:rPr lang="en-US" dirty="0">
                <a:hlinkClick r:id="rId4"/>
              </a:rPr>
              <a:t>https://pressbooks.ulib.csuohio.edu/projectmanagement2ndedition/chapter/13-1-closing-the-project/</a:t>
            </a:r>
            <a:r>
              <a:rPr lang="en-US" dirty="0"/>
              <a:t> 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13618F5-A10D-401E-83C7-9E9762E78868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103822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 err="1"/>
              <a:t>Tecnológico</a:t>
            </a:r>
            <a:r>
              <a:rPr dirty="0"/>
              <a:t> Nacional de México. (2026). </a:t>
            </a:r>
            <a:r>
              <a:rPr i="1" dirty="0" err="1"/>
              <a:t>Instrumentación</a:t>
            </a:r>
            <a:r>
              <a:rPr i="1" dirty="0"/>
              <a:t> </a:t>
            </a:r>
            <a:r>
              <a:rPr i="1" dirty="0" err="1"/>
              <a:t>didáctica</a:t>
            </a:r>
            <a:r>
              <a:rPr i="1" dirty="0"/>
              <a:t> para la </a:t>
            </a:r>
            <a:r>
              <a:rPr i="1" dirty="0" err="1"/>
              <a:t>formación</a:t>
            </a:r>
            <a:r>
              <a:rPr i="1" dirty="0"/>
              <a:t> y </a:t>
            </a:r>
            <a:r>
              <a:rPr i="1" dirty="0" err="1"/>
              <a:t>desarrollo</a:t>
            </a:r>
            <a:r>
              <a:rPr i="1" dirty="0"/>
              <a:t> de </a:t>
            </a:r>
            <a:r>
              <a:rPr i="1" dirty="0" err="1"/>
              <a:t>competencias</a:t>
            </a:r>
            <a:r>
              <a:rPr i="1" dirty="0"/>
              <a:t> </a:t>
            </a:r>
            <a:r>
              <a:rPr i="1" dirty="0" err="1"/>
              <a:t>profesionales</a:t>
            </a:r>
            <a:r>
              <a:rPr i="1" dirty="0"/>
              <a:t>: </a:t>
            </a:r>
            <a:r>
              <a:rPr i="1" dirty="0" err="1"/>
              <a:t>Gestión</a:t>
            </a:r>
            <a:r>
              <a:rPr i="1" dirty="0"/>
              <a:t> de </a:t>
            </a:r>
            <a:r>
              <a:rPr i="1" dirty="0" err="1"/>
              <a:t>proyectos</a:t>
            </a:r>
            <a:r>
              <a:rPr i="1" dirty="0"/>
              <a:t> de TI</a:t>
            </a:r>
            <a:r>
              <a:rPr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59714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Microsoft Office PowerPoint</Application>
  <DocSecurity>0</DocSecurity>
  <PresentationFormat>Panorámica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Bitstream Charter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JAHAZIEL GORDILLO HERNANDEZ</cp:lastModifiedBy>
  <cp:revision>3</cp:revision>
  <dcterms:created xsi:type="dcterms:W3CDTF">2026-10-03T06:27:14Z</dcterms:created>
  <dcterms:modified xsi:type="dcterms:W3CDTF">2026-10-03T19:55:32Z</dcterms:modified>
</cp:coreProperties>
</file>