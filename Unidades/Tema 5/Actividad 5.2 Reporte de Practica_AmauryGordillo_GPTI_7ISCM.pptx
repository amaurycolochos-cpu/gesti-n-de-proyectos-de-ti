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83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63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MX"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GESTION DE PROYECTOS DE TI</a:t>
            </a:r>
            <a:endParaRPr sz="4125" b="1" dirty="0">
              <a:solidFill>
                <a:srgbClr val="0B347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5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.2 — </a:t>
            </a:r>
            <a:r>
              <a:rPr b="0" i="0" dirty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REPORTE DE PRACTICA</a:t>
            </a: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26 DE SEPTIEMBRE 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561320" cy="1417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esta práctica se trabajó el uso de herramientas tecnológicas aplicadas a la gestión de proyectos de TI. La actividad parte de la Unidad 5, donde se revisan plataformas para organizar tareas, dar seguimiento al avance y controlar cambios dentro de un proyecto.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0561320" cy="1325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el reporte no quedara solo como teoría, se utilizaron proyectos académicos reales que se están gestionando actualmente. Cada herramienta se aplicó a un caso distinto, de acuerdo con el estado del proyecto y el tipo de seguimiento que necesitaba.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Justificación de la actividad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260137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5AA6"/>
                </a:solidFill>
              </a:rPr>
              <a:t>Necesidad académica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5166360" cy="3383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5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instrumentación solicita elaborar un reporte de práctica sobre herramientas de gestión de proyectos de TI.</a:t>
            </a:r>
            <a:endParaRPr lang="en-US" sz="1500" dirty="0"/>
          </a:p>
          <a:p>
            <a:r>
              <a:rPr lang="en-US" sz="15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práctica permite pasar de la explicación teórica al uso real de plataformas de seguimiento.</a:t>
            </a:r>
            <a:endParaRPr lang="en-US" sz="1500" dirty="0"/>
          </a:p>
          <a:p>
            <a:r>
              <a:rPr lang="en-US" sz="15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ayuda a evidenciar comunicación, organización, control de avances y toma de decisiones.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90488" y="260137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5AA6"/>
                </a:solidFill>
              </a:rPr>
              <a:t>Necesidad del proyecto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190488" y="1874520"/>
            <a:ext cx="5166360" cy="3383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5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tres proyectos no se encuentran en el mismo estado: uno está cerrado, uno en seguimiento y otro en recuperación.</a:t>
            </a:r>
            <a:endParaRPr lang="en-US" sz="1500" dirty="0"/>
          </a:p>
          <a:p>
            <a:r>
              <a:rPr lang="en-US" sz="15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se decidió usar una herramienta diferente para cada caso.</a:t>
            </a:r>
            <a:endParaRPr lang="en-US" sz="1500" dirty="0"/>
          </a:p>
          <a:p>
            <a:r>
              <a:rPr lang="en-US" sz="15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Así se observa qué herramienta funciona mejor según el problema que se debe controlar.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Contenido de la práctica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AA6"/>
                </a:solidFill>
              </a:rPr>
              <a:t>Proyecto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91840" y="1417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AA6"/>
                </a:solidFill>
              </a:rPr>
              <a:t>Herramienta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AA6"/>
                </a:solidFill>
              </a:rPr>
              <a:t>Propósito de uso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0" y="1417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AA6"/>
                </a:solidFill>
              </a:rPr>
              <a:t>Estado trabajado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Aarón — Fast Burger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Trello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Seguimiento visual por tarjetas, listas y control de cambios.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19202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Proyecto cerrado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25786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Ángel — Industria Bloquera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25786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Notion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2578608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Base central para evidencias, prioridades, estados y próximos pasos.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35440" y="25786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Proyecto en seguimiento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323697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Alondra — ProcesMuebles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91840" y="323697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Jira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3236976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Registro de tareas, incidencias y actividades de recuperación.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35440" y="323697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64152"/>
                </a:solidFill>
              </a:rPr>
              <a:t>Proyecto en recuperación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1783080"/>
            <a:ext cx="10789920" cy="0"/>
          </a:xfrm>
          <a:prstGeom prst="line">
            <a:avLst/>
          </a:prstGeom>
          <a:noFill/>
          <a:ln w="12700">
            <a:solidFill>
              <a:srgbClr val="CAD3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657600"/>
            <a:ext cx="10789920" cy="0"/>
          </a:xfrm>
          <a:prstGeom prst="line">
            <a:avLst/>
          </a:prstGeom>
          <a:noFill/>
          <a:ln w="12700">
            <a:solidFill>
              <a:srgbClr val="CAD3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15968"/>
            <a:ext cx="9966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</a:rPr>
              <a:t>La práctica se diseñó como una comparación aplicada: cada herramienta se utilizó donde tenía más sentido según el avance real del proyecto.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88720" y="5166360"/>
            <a:ext cx="950976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45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Trello evidencia un flujo Kanban ya completado.</a:t>
            </a:r>
            <a:endParaRPr lang="en-US" sz="1450" dirty="0"/>
          </a:p>
          <a:p>
            <a:r>
              <a:rPr lang="en-US" sz="145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Notion concentra información y decisiones de seguimiento.</a:t>
            </a:r>
            <a:endParaRPr lang="en-US" sz="1450" dirty="0"/>
          </a:p>
          <a:p>
            <a:r>
              <a:rPr lang="en-US" sz="145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permite representar actividades pendientes, revisión y recuperación.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Desarrollo de la práctica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389888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538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508760" y="13258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Revisar el estado real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13075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364152"/>
                </a:solidFill>
              </a:rPr>
              <a:t>Se identificó qué estaba terminado, en seguimiento o pendiente.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777240" y="2505456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569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2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Asignar herramienta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24231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364152"/>
                </a:solidFill>
              </a:rPr>
              <a:t>Se eligió Trello, Notion o Jira según el tipo de control requerido.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77240" y="3621024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6850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3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508760" y="35570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Registrar tareas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353872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364152"/>
                </a:solidFill>
              </a:rPr>
              <a:t>Se cargaron entregables, evidencias, estado y próximo paso.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777240" y="4736592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80060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4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508760" y="4672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Interpretar resultados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465429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364152"/>
                </a:solidFill>
              </a:rPr>
              <a:t>Se comparó cómo cada herramienta ayuda a tomar decisiones.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960120" y="6080760"/>
            <a:ext cx="10287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</a:rPr>
              <a:t>El resultado fue una práctica documentada con evidencia visual de las plataformas y con una explicación de la utilidad de cada una.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1 — Trello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Proyecto: Aarón — Fast Burger</a:t>
            </a:r>
            <a:endParaRPr lang="en-US" sz="1050" dirty="0"/>
          </a:p>
        </p:txBody>
      </p:sp>
      <p:pic>
        <p:nvPicPr>
          <p:cNvPr id="5" name="Image 0" descr="/mnt/data/image(20260930-192138).png"/>
          <p:cNvPicPr>
            <a:picLocks noChangeAspect="1"/>
          </p:cNvPicPr>
          <p:nvPr/>
        </p:nvPicPr>
        <p:blipFill>
          <a:blip r:embed="rId3"/>
          <a:srcRect l="-1919" r="1316"/>
          <a:stretch/>
        </p:blipFill>
        <p:spPr>
          <a:xfrm>
            <a:off x="409615" y="2557334"/>
            <a:ext cx="6739128" cy="3459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61996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</a:rPr>
              <a:t>Figura 2. Tablero Trello con tarjetas de Aarón en la columna Completado.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7543800" y="1417320"/>
            <a:ext cx="3977640" cy="1508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Trello se utilizó para representar el avance del proyecto mediante columnas Kanban. En la evidencia se observa que el flujo tiene pendientes, proceso y revisión en cero, mientras que la columna Completado concentra las tarjetas del proyecto.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35240" y="3246120"/>
            <a:ext cx="374904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38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 el avance de forma inmediata.</a:t>
            </a:r>
            <a:endParaRPr lang="en-US" sz="1380" dirty="0"/>
          </a:p>
          <a:p>
            <a:r>
              <a:rPr lang="en-US" sz="138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 entregables y evidencias por estado.</a:t>
            </a:r>
            <a:endParaRPr lang="en-US" sz="1380" dirty="0"/>
          </a:p>
          <a:p>
            <a:r>
              <a:rPr lang="en-US" sz="138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como respaldo del seguimiento y cierre.</a:t>
            </a:r>
            <a:endParaRPr lang="en-US" sz="1380" dirty="0"/>
          </a:p>
        </p:txBody>
      </p:sp>
      <p:sp>
        <p:nvSpPr>
          <p:cNvPr id="10" name="Shape 7"/>
          <p:cNvSpPr/>
          <p:nvPr/>
        </p:nvSpPr>
        <p:spPr>
          <a:xfrm>
            <a:off x="7635240" y="4864608"/>
            <a:ext cx="3611880" cy="320040"/>
          </a:xfrm>
          <a:prstGeom prst="roundRect">
            <a:avLst>
              <a:gd name="adj" fmla="val 22857"/>
            </a:avLst>
          </a:prstGeom>
          <a:solidFill>
            <a:srgbClr val="267A4A"/>
          </a:solidFill>
          <a:ln w="12700">
            <a:solidFill>
              <a:srgbClr val="267A4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08392" y="4928616"/>
            <a:ext cx="3465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Uso principal: seguimiento visual y cierre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2 — Control de cambios en Trello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Tarjeta CC-003 del proyecto Fast Burger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4343400" cy="1463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Además del avance general, se documentó una tarjeta específica de control de cambios. Esta tarjeta deja claro qué ajustes se hicieron, por qué fueron necesarios y cómo se verificó la corrección.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4160520" cy="1325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4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la incidencia o cambio detectado.</a:t>
            </a:r>
            <a:endParaRPr lang="en-US" sz="1400" dirty="0"/>
          </a:p>
          <a:p>
            <a:r>
              <a:rPr lang="en-US" sz="14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acciones correctivas aplicadas.</a:t>
            </a:r>
            <a:endParaRPr lang="en-US" sz="1400" dirty="0"/>
          </a:p>
          <a:p>
            <a:r>
              <a:rPr lang="en-US" sz="14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trazabilidad entre revisión, corrección y aprobación final.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489204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495604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Caso: corrección D6–D7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71800" y="48920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267A4A"/>
          </a:solidFill>
          <a:ln w="12700">
            <a:solidFill>
              <a:srgbClr val="267A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49560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Estado: completado</a:t>
            </a:r>
            <a:endParaRPr lang="en-US" sz="880" dirty="0"/>
          </a:p>
        </p:txBody>
      </p:sp>
      <p:pic>
        <p:nvPicPr>
          <p:cNvPr id="11" name="Image 0" descr="/mnt/data/image(8).png"/>
          <p:cNvPicPr>
            <a:picLocks noChangeAspect="1"/>
          </p:cNvPicPr>
          <p:nvPr/>
        </p:nvPicPr>
        <p:blipFill>
          <a:blip r:embed="rId3"/>
          <a:srcRect l="18470" r="18470"/>
          <a:stretch/>
        </p:blipFill>
        <p:spPr>
          <a:xfrm>
            <a:off x="5303520" y="1298448"/>
            <a:ext cx="6172200" cy="49194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03520" y="1298448"/>
            <a:ext cx="6172200" cy="4919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6364224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</a:rPr>
              <a:t>Figura 3. Tarjeta de control de cambios CC-003 en Trello.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3 — Notion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Proyecto: Ángel — Industria Bloquera</a:t>
            </a:r>
            <a:endParaRPr lang="en-US" sz="1050" dirty="0"/>
          </a:p>
        </p:txBody>
      </p:sp>
      <p:pic>
        <p:nvPicPr>
          <p:cNvPr id="5" name="Image 0" descr="/mnt/data/image(10).png"/>
          <p:cNvPicPr>
            <a:picLocks noChangeAspect="1"/>
          </p:cNvPicPr>
          <p:nvPr/>
        </p:nvPicPr>
        <p:blipFill>
          <a:blip r:embed="rId3"/>
          <a:srcRect l="-1413" r="-846"/>
          <a:stretch/>
        </p:blipFill>
        <p:spPr>
          <a:xfrm>
            <a:off x="354563" y="2194560"/>
            <a:ext cx="6036906" cy="297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5435" y="5239512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</a:rPr>
              <a:t>Figura 4. Base de seguimiento de Ángel en Notion.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7726680" y="1325880"/>
            <a:ext cx="3749040" cy="1325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Notion se usó como espacio central de seguimiento para Ángel. La base permite ver entregables, estado, fecha, evidencia, prioridad y estado Kanban.</a:t>
            </a:r>
            <a:endParaRPr lang="en-US" sz="1470" dirty="0"/>
          </a:p>
        </p:txBody>
      </p:sp>
      <p:sp>
        <p:nvSpPr>
          <p:cNvPr id="9" name="Text 6"/>
          <p:cNvSpPr/>
          <p:nvPr/>
        </p:nvSpPr>
        <p:spPr>
          <a:xfrm>
            <a:off x="7772400" y="2926080"/>
            <a:ext cx="356616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36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D1–D4 aparecen recibidos o en revisión.</a:t>
            </a:r>
            <a:endParaRPr lang="en-US" sz="1360" dirty="0"/>
          </a:p>
          <a:p>
            <a:r>
              <a:rPr lang="en-US" sz="136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D5 está en proceso por pruebas y validación.</a:t>
            </a:r>
            <a:endParaRPr lang="en-US" sz="1360" dirty="0"/>
          </a:p>
          <a:p>
            <a:r>
              <a:rPr lang="en-US" sz="136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D6–D8 permanecen pendientes por secuencia.</a:t>
            </a:r>
            <a:endParaRPr lang="en-US" sz="1360" dirty="0"/>
          </a:p>
          <a:p>
            <a:r>
              <a:rPr lang="en-US" sz="136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seguimiento conserva notas de evidencia y próximos pasos.</a:t>
            </a:r>
            <a:endParaRPr lang="en-US" sz="1360" dirty="0"/>
          </a:p>
        </p:txBody>
      </p:sp>
      <p:sp>
        <p:nvSpPr>
          <p:cNvPr id="10" name="Shape 7"/>
          <p:cNvSpPr/>
          <p:nvPr/>
        </p:nvSpPr>
        <p:spPr>
          <a:xfrm>
            <a:off x="7772400" y="5349240"/>
            <a:ext cx="3200400" cy="320040"/>
          </a:xfrm>
          <a:prstGeom prst="roundRect">
            <a:avLst>
              <a:gd name="adj" fmla="val 22857"/>
            </a:avLst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45552" y="5413248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Uso principal: seguimiento centralizado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4 — Jira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Proyecto: Alondra — ProcesMuebles</a:t>
            </a:r>
            <a:endParaRPr lang="en-US" sz="1050" dirty="0"/>
          </a:p>
        </p:txBody>
      </p:sp>
      <p:pic>
        <p:nvPicPr>
          <p:cNvPr id="5" name="Image 0" descr="/mnt/data/image(20260930-192122).png"/>
          <p:cNvPicPr>
            <a:picLocks noChangeAspect="1"/>
          </p:cNvPicPr>
          <p:nvPr/>
        </p:nvPicPr>
        <p:blipFill>
          <a:blip r:embed="rId3"/>
          <a:srcRect t="4877" b="4877"/>
          <a:stretch/>
        </p:blipFill>
        <p:spPr>
          <a:xfrm>
            <a:off x="640080" y="1124712"/>
            <a:ext cx="5532120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124712"/>
            <a:ext cx="5532120" cy="24871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703320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</a:rPr>
              <a:t>Figura 5. Lista de actividades de Alondra en Jira.</a:t>
            </a:r>
            <a:endParaRPr lang="en-US" sz="880" dirty="0"/>
          </a:p>
        </p:txBody>
      </p:sp>
      <p:pic>
        <p:nvPicPr>
          <p:cNvPr id="8" name="Image 1" descr="/mnt/data/image(20260930-192157).png"/>
          <p:cNvPicPr>
            <a:picLocks noChangeAspect="1"/>
          </p:cNvPicPr>
          <p:nvPr/>
        </p:nvPicPr>
        <p:blipFill>
          <a:blip r:embed="rId4"/>
          <a:srcRect t="2331" b="2331"/>
          <a:stretch/>
        </p:blipFill>
        <p:spPr>
          <a:xfrm>
            <a:off x="6355080" y="1124712"/>
            <a:ext cx="5166360" cy="2487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55080" y="1124712"/>
            <a:ext cx="5166360" cy="24871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55080" y="37033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</a:rPr>
              <a:t>Figura 6. Detalle de una tarea de Jira con descripción y etiquetas.</a:t>
            </a:r>
            <a:endParaRPr lang="en-US" sz="880" dirty="0"/>
          </a:p>
        </p:txBody>
      </p:sp>
      <p:sp>
        <p:nvSpPr>
          <p:cNvPr id="11" name="Text 7"/>
          <p:cNvSpPr/>
          <p:nvPr/>
        </p:nvSpPr>
        <p:spPr>
          <a:xfrm>
            <a:off x="777240" y="4343400"/>
            <a:ext cx="5394960" cy="10515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se utilizó para convertir el estado de recuperación de ProcesMuebles en actividades rastreables. Las tareas representan entregables pendientes o en revisión, lo que facilita controlar qué debe corregirse antes de avanzar.</a:t>
            </a:r>
            <a:endParaRPr lang="en-US" sz="1420" dirty="0"/>
          </a:p>
        </p:txBody>
      </p:sp>
      <p:sp>
        <p:nvSpPr>
          <p:cNvPr id="12" name="Text 8"/>
          <p:cNvSpPr/>
          <p:nvPr/>
        </p:nvSpPr>
        <p:spPr>
          <a:xfrm>
            <a:off x="6446520" y="4315968"/>
            <a:ext cx="4846320" cy="1234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38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 y D3 se registraron como revisión de datos y diseño.</a:t>
            </a:r>
            <a:endParaRPr lang="en-US" sz="1380" dirty="0"/>
          </a:p>
          <a:p>
            <a:r>
              <a:rPr lang="en-US" sz="138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D4 y D5 concentran correcciones del modelo y simulación.</a:t>
            </a:r>
            <a:endParaRPr lang="en-US" sz="1380" dirty="0"/>
          </a:p>
          <a:p>
            <a:r>
              <a:rPr lang="en-US" sz="138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línea base y D6 dependen de cerrar las correcciones previas.</a:t>
            </a:r>
            <a:endParaRPr lang="en-US" sz="1380" dirty="0"/>
          </a:p>
        </p:txBody>
      </p:sp>
      <p:sp>
        <p:nvSpPr>
          <p:cNvPr id="13" name="Shape 9"/>
          <p:cNvSpPr/>
          <p:nvPr/>
        </p:nvSpPr>
        <p:spPr>
          <a:xfrm>
            <a:off x="4206240" y="5961888"/>
            <a:ext cx="3886200" cy="320040"/>
          </a:xfrm>
          <a:prstGeom prst="roundRect">
            <a:avLst>
              <a:gd name="adj" fmla="val 22857"/>
            </a:avLst>
          </a:prstGeom>
          <a:solidFill>
            <a:srgbClr val="B54646"/>
          </a:solidFill>
          <a:ln w="12700">
            <a:solidFill>
              <a:srgbClr val="B54646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79392" y="6025896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Uso principal: recuperación y control de pendientes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de la práctica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Comparación del uso de herramientas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F5AA6"/>
                </a:solidFill>
              </a:rPr>
              <a:t>Herramienta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2423160" y="13258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F5AA6"/>
                </a:solidFill>
              </a:rPr>
              <a:t>Fortaleza observada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6949440" y="13258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F5AA6"/>
                </a:solidFill>
              </a:rPr>
              <a:t>Limitación o cuidado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64152"/>
                </a:solidFill>
              </a:rPr>
              <a:t>Trello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2423160" y="182880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64152"/>
                </a:solidFill>
              </a:rPr>
              <a:t>Muy claro para visualizar avances, tarjetas terminadas y control simple.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6949440" y="182880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64152"/>
                </a:solidFill>
              </a:rPr>
              <a:t>Puede quedarse corto si se requiere más detalle técnico o dependencias complejas.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64152"/>
                </a:solidFill>
              </a:rPr>
              <a:t>Notion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2423160" y="260604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64152"/>
                </a:solidFill>
              </a:rPr>
              <a:t>Permite centralizar evidencias, estados, fechas, prioridades y notas.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949440" y="260604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64152"/>
                </a:solidFill>
              </a:rPr>
              <a:t>Requiere buena organización para no mezclar documentación con tareas.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64152"/>
                </a:solidFill>
              </a:rPr>
              <a:t>Jira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423160" y="338328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64152"/>
                </a:solidFill>
              </a:rPr>
              <a:t>Ayuda a registrar tareas, incidencias y recuperación con mayor formalidad.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949440" y="338328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64152"/>
                </a:solidFill>
              </a:rPr>
              <a:t>Debe configurarse con cuidado para que el flujo refleje el proyecto real.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731520" y="1682496"/>
            <a:ext cx="10652760" cy="0"/>
          </a:xfrm>
          <a:prstGeom prst="line">
            <a:avLst/>
          </a:prstGeom>
          <a:noFill/>
          <a:ln w="12700">
            <a:solidFill>
              <a:srgbClr val="CAD3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94760"/>
            <a:ext cx="10652760" cy="0"/>
          </a:xfrm>
          <a:prstGeom prst="line">
            <a:avLst/>
          </a:prstGeom>
          <a:noFill/>
          <a:ln w="12700">
            <a:solidFill>
              <a:srgbClr val="CAD3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617720"/>
            <a:ext cx="10149840" cy="8686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práctica permitió comprobar que no existe una sola herramienta ideal para todo. La utilidad depende del nivel de avance, el tipo de evidencia y el grado de control que requiere cada proyecto.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71600" y="580644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267A4A"/>
          </a:solidFill>
          <a:ln w="12700">
            <a:solidFill>
              <a:srgbClr val="267A4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587044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Aarón: cierre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617720" y="580644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587044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Ángel: seguimiento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138160" y="5806440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B54646"/>
          </a:solidFill>
          <a:ln w="12700">
            <a:solidFill>
              <a:srgbClr val="B5464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5870448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Alondra: recuperación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561320" cy="1828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esta actividad se logró aplicar herramientas tecnológicas de gestión a proyectos reales, no solamente explicarlas de forma teórica. Trello permitió evidenciar el cierre del proyecto Fast Burger; Notion sirvió para mantener el seguimiento centralizado de Industria Bloquera; y Jira ayudó a organizar la recuperación de ProcesMuebles mediante tareas e incidencias.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816352"/>
            <a:ext cx="10561320" cy="1645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6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práctica también mostró que el Project Manager debe elegir la herramienta según la necesidad del proyecto. Cuando el objetivo es visualizar avance, Trello funciona bien; cuando se requiere concentrar información y decisiones, Notion es útil; y cuando hay correcciones y actividades por controlar, Jira permite estructurar mejor el seguimiento.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05840" cy="0"/>
          </a:xfrm>
          <a:prstGeom prst="line">
            <a:avLst/>
          </a:prstGeom>
          <a:noFill/>
          <a:ln w="381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de información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64152"/>
                </a:solidFill>
              </a:rPr>
              <a:t>Atlassian. (s. f.). Create a board. Trello Support. https://support.atlassian.com/trello/docs/creating-a-new-board/</a:t>
            </a:r>
            <a:endParaRPr lang="en-US" sz="118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64152"/>
                </a:solidFill>
              </a:rPr>
              <a:t>Atlassian. (s. f.). Use your scrum backlog. Jira Cloud Support. https://support.atlassian.com/jira-software-cloud/docs/use-your-scrum-backlog/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64152"/>
                </a:solidFill>
              </a:rPr>
              <a:t>Atlassian. (s. f.). What is a sprint? Jira Cloud Support. https://support.atlassian.com/jira-software-cloud/docs/what-is-a-sprint/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64152"/>
                </a:solidFill>
              </a:rPr>
              <a:t>Notion Labs, Inc. (s. f.). Projects: Manage projects from beginning to end. https://www.notion.com/en-gb/product/projects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64152"/>
                </a:solidFill>
              </a:rPr>
              <a:t>Tecnológico Nacional de México. (2026). Instrumentación didáctica para la formación y desarrollo de competencias profesionales: Gestión de proyectos de TI. Documento de la asignatura.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77240" y="47548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64152"/>
                </a:solidFill>
              </a:rPr>
              <a:t>Capturas propias del estudiante. (2026). Evidencias de uso de Trello, Notion y Jira para la Actividad 5.2.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1270</Words>
  <Application>Microsoft Office PowerPoint</Application>
  <PresentationFormat>Panorámica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-apple-system</vt:lpstr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Tecnológico Nacional de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de herramientas tecnológicas para la gestión de proyectos de TI</dc:title>
  <dc:subject>Actividad 5.2 - Reporte de práctica</dc:subject>
  <dc:creator>Amaury Jaciel Ortiz Hernández</dc:creator>
  <cp:lastModifiedBy>AMAURY JAHAZIEL GORDILLO HERNANDEZ</cp:lastModifiedBy>
  <cp:revision>4</cp:revision>
  <dcterms:created xsi:type="dcterms:W3CDTF">2026-09-30T19:25:30Z</dcterms:created>
  <dcterms:modified xsi:type="dcterms:W3CDTF">2026-10-03T19:57:16Z</dcterms:modified>
</cp:coreProperties>
</file>