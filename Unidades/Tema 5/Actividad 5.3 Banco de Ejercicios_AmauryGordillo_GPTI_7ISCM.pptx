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ejercicio 10 usa Jira para dar seguimiento a la validación de una simulación y mantener evidencia en el work item. Referencia: Atlassian. (s. f.). Create and configure your work items. https://support.atlassian.com/jira-software-cloud/docs/create-and-configure-your-work-items/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Referencias consultadas para elaborar los ejercicios y documentar las funciones descritas. La instrumentación didáctica fue compartida por el estudiante. Documentación web consultada el 3 de octubre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6860A08-1E91-4849-9633-B83586B261F8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475F2E6-CD1A-4234-8336-52AA7D83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ACB9AEF-6270-4C56-8588-965BF0120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1F4FD3D-1CD2-4F1C-91BB-09B6D0A614BF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0C840BE-C036-4983-8301-0A13C32E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199D044-1DF1-498C-BE9D-0E30F433D3F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7FE9F13-20F5-49CC-B693-3A0581BD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336947E-E3D3-4E42-863E-AD96E68DB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4399BEC9-118A-4E12-B4C7-2CE0F212CDD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F80F462-4649-41E5-81B2-F1AE31DC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4C0B4C44-2222-45AF-87BF-F5DD5C2DD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1F0744BC-423F-467D-A962-65D0A9BB45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7F5D01B1-2C31-42D8-9832-B68291204B1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883C3A5-9BC2-4224-9C7F-3A3AD84B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29269929-7DE7-4A6E-AFE2-C06E43F84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076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atlassian.com/trello/docs/creating-a-new-board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notion.com/help/tasks-and-dependencies" TargetMode="External"/><Relationship Id="rId5" Type="http://schemas.openxmlformats.org/officeDocument/2006/relationships/hyperlink" Target="https://www.notion.com/help/intro-to-databases" TargetMode="External"/><Relationship Id="rId4" Type="http://schemas.openxmlformats.org/officeDocument/2006/relationships/hyperlink" Target="https://support.atlassian.com/jira-software-cloud/docs/create-and-configure-your-work-item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5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.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b="0" i="0" dirty="0">
                <a:solidFill>
                  <a:srgbClr val="212529"/>
                </a:solidFill>
                <a:latin typeface="-apple-system"/>
                <a:ea typeface="-apple-system"/>
                <a:cs typeface="-apple-system"/>
              </a:rPr>
              <a:t>REPORTE DE PRACTICA</a:t>
            </a: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lang="es-MX"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30 DE SEPTIEMBRE 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5C3ED32-67BE-4739-B97B-060643E6373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CA735D8-CD65-46CF-B24A-BC5F6EAE72C9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C62BDC-35A2-475F-BCD9-76E950A0612C}"/>
              </a:ext>
            </a:extLst>
          </p:cNvPr>
          <p:cNvSpPr>
            <a:spLocks noGrp="1"/>
          </p:cNvSpPr>
          <p:nvPr/>
        </p:nvSpPr>
        <p:spPr>
          <a:xfrm>
            <a:off x="666750" y="1504950"/>
            <a:ext cx="1057275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4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Gestionar un proyecto exige saber qué se hará, quién lo hará y qué evidencia confirma el avance.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82549AB-B52C-47E2-824E-09FCE2B34F4E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47625" cy="2533650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441F67-5B20-48D4-A011-DC1B99668BF9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0096500" cy="1171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Este banco reúne diez situaciones prácticas para usar Trello, Notion y Jira en el seguimiento de proyectos de TI. Los ejercicios parten de tareas, entregables, cambios y pruebas que pueden aparecer durante un proyecto.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47B360-97DA-4413-8392-98AB44CCEAA5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100965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Cada situación propone una decisión de gestión y presenta una resolución modelo. Las capturas muestran cómo se puede registrar el trabajo en las herramientas.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FA9686-4B63-4008-BB8F-2404255C5A8B}"/>
              </a:ext>
            </a:extLst>
          </p:cNvPr>
          <p:cNvSpPr>
            <a:spLocks noGrp="1"/>
          </p:cNvSpPr>
          <p:nvPr/>
        </p:nvSpPr>
        <p:spPr>
          <a:xfrm>
            <a:off x="971550" y="5324475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El propósito es convertir el avance en información clara, verificable y útil para tomar decisiones.</a:t>
            </a:r>
          </a:p>
        </p:txBody>
      </p:sp>
    </p:spTree>
    <p:extLst>
      <p:ext uri="{BB962C8B-B14F-4D97-AF65-F5344CB8AC3E}">
        <p14:creationId xmlns:p14="http://schemas.microsoft.com/office/powerpoint/2010/main" val="69764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EEEC693-2D19-4250-89F6-BFCE4EA0810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153D5F5-F07B-4A7D-8EEC-9A462CAF1BA1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8A9A9A6-D199-49A6-82A9-434EA3DE6516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287000" cy="933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Practicar con casos permite comparar cómo cada herramienta ayuda a organizar y dar seguimiento al trabajo.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F54F068-6F53-4D5E-8B31-1E4BA107D51F}"/>
              </a:ext>
            </a:extLst>
          </p:cNvPr>
          <p:cNvSpPr>
            <a:spLocks noGrp="1"/>
          </p:cNvSpPr>
          <p:nvPr/>
        </p:nvSpPr>
        <p:spPr>
          <a:xfrm>
            <a:off x="666749" y="2724150"/>
            <a:ext cx="9362153" cy="1952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instrumentación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curso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integra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banco de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ejercicios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como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evidencia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tema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5. La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actividad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permite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aplicar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seguimiento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tareas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control de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cambios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situaciones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concretas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además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explicar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por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qué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una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tarea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puede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avanzar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quedar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en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revisión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o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depender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800" b="0" i="0" dirty="0" err="1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otra</a:t>
            </a:r>
            <a:r>
              <a:rPr sz="1800" b="0" i="0" dirty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6E6BCB-85BB-43DD-B461-DD4EFF29AAC2}"/>
              </a:ext>
            </a:extLst>
          </p:cNvPr>
          <p:cNvSpPr>
            <a:spLocks noGrp="1"/>
          </p:cNvSpPr>
          <p:nvPr/>
        </p:nvSpPr>
        <p:spPr>
          <a:xfrm>
            <a:off x="666749" y="4581832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La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respuesta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correcta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registra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responsable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estado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,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dependencia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 y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evidencia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725" b="1" i="0" dirty="0" err="1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cierre</a:t>
            </a:r>
            <a:r>
              <a:rPr sz="1725" b="1" i="0" dirty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28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9FAC797B-D4C6-4EA7-9117-EEABAF5A6A1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Trello: organización visual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489DA4-582C-46E5-ACEC-8DD3BB51E22F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03216"/>
            <a:ext cx="4762500" cy="298479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1483F58-37CE-4376-8C29-8BE414376488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Tablero</a:t>
            </a: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de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seguimiento</a:t>
            </a:r>
            <a:r>
              <a:rPr lang="es-MX"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usado</a:t>
            </a:r>
            <a:endParaRPr sz="1275" b="0" i="1" dirty="0">
              <a:solidFill>
                <a:srgbClr val="596B7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C2C2E8-6870-4B19-996D-F3847B4738E9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49B2104-05CD-42FC-A088-FB4AEA3675B0}"/>
              </a:ext>
            </a:extLst>
          </p:cNvPr>
          <p:cNvSpPr>
            <a:spLocks noGrp="1"/>
          </p:cNvSpPr>
          <p:nvPr/>
        </p:nvSpPr>
        <p:spPr>
          <a:xfrm>
            <a:off x="6457950" y="147637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Ordenar entregables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6DA093-B523-489F-B2C3-E7EA71A39559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439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el equipo mezcla tareas pendientes y terminadas.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crear listas Pendiente, En proceso, En revisión y Completado. Cada entregable tiene su propia tarjeta.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B68778-3F63-4D7B-AF67-238B9B690ABE}"/>
              </a:ext>
            </a:extLst>
          </p:cNvPr>
          <p:cNvSpPr>
            <a:spLocks noGrp="1"/>
          </p:cNvSpPr>
          <p:nvPr/>
        </p:nvSpPr>
        <p:spPr>
          <a:xfrm>
            <a:off x="5905500" y="328612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392DB7-48EE-4947-A43D-7EF564B95AA6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Hacer visible el avance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462ADA-FF7E-4854-85BC-65908D4BCD78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una tarjeta no tiene responsable ni fecha.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asignar a una persona, fijar fecha, describir el resultado esperado y añadir una lista de verificación. Completarla al adjuntar evidencia.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B64927-C408-4FCC-AD3A-8C2053E4CB30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Trello organiza el trabajo con listas y tarjetas que se mueven conforme cambia el estado.</a:t>
            </a:r>
          </a:p>
        </p:txBody>
      </p:sp>
    </p:spTree>
    <p:extLst>
      <p:ext uri="{BB962C8B-B14F-4D97-AF65-F5344CB8AC3E}">
        <p14:creationId xmlns:p14="http://schemas.microsoft.com/office/powerpoint/2010/main" val="185971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394B50EC-6228-4066-8AA7-E283133073B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Trello: control de cambios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90B6C8-EAF9-41BE-A53D-A0FF972AE500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7375" y="1495425"/>
            <a:ext cx="4201251" cy="3000375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C63324D-9289-4179-BE2A-EB8F80086D25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Tarjeta de seguimiento de un cambio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686017-AD31-4C9C-B7EB-11F482673B3C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DE20DDD-826A-48C9-8387-E68974FEBC62}"/>
              </a:ext>
            </a:extLst>
          </p:cNvPr>
          <p:cNvSpPr>
            <a:spLocks noGrp="1"/>
          </p:cNvSpPr>
          <p:nvPr/>
        </p:nvSpPr>
        <p:spPr>
          <a:xfrm>
            <a:off x="6457950" y="147637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Registrar una solicitud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611A67-5A8C-4C5A-B782-A69F58EF1DB6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560" lnSpcReduction="10000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antes de liberar el proyecto, solicitan agregar una función.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abrir una tarjeta de cambio con solicitante, motivo, alcance, efecto en tiempo y recursos, responsable y decisión de aprobación.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C29985-27EE-4E02-B026-E2CE0F287F21}"/>
              </a:ext>
            </a:extLst>
          </p:cNvPr>
          <p:cNvSpPr>
            <a:spLocks noGrp="1"/>
          </p:cNvSpPr>
          <p:nvPr/>
        </p:nvSpPr>
        <p:spPr>
          <a:xfrm>
            <a:off x="5905500" y="328612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CC8A46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26FDEAE-EDA7-42F4-8EE3-B7336B04E138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Definir el cierre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764AB8-ACF0-4166-80CC-120F699D828F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La corrección ya se aplicó. Falta comprobarla.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mantenerla En revisión. Cerrar después de que la persona revisora confirme el criterio de aceptación y encuentre la evidencia adjunta.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A57700-3C14-48F7-8F74-1272A5CBC664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Un cambio queda trazable desde la solicitud hasta la revisión y decisión.</a:t>
            </a:r>
          </a:p>
        </p:txBody>
      </p:sp>
    </p:spTree>
    <p:extLst>
      <p:ext uri="{BB962C8B-B14F-4D97-AF65-F5344CB8AC3E}">
        <p14:creationId xmlns:p14="http://schemas.microsoft.com/office/powerpoint/2010/main" val="80420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EBC11DFA-C45E-4188-86CF-96C646B0D34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Notion: registro de entregables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70B7BC-DAFC-4EF5-AA36-32BE4AED6E25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988755"/>
            <a:ext cx="4762500" cy="201371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80E6E91-3C0E-4A0D-9B69-33E25595D665}"/>
              </a:ext>
            </a:extLst>
          </p:cNvPr>
          <p:cNvSpPr>
            <a:spLocks noGrp="1"/>
          </p:cNvSpPr>
          <p:nvPr/>
        </p:nvSpPr>
        <p:spPr>
          <a:xfrm>
            <a:off x="666750" y="406761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Base de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datos</a:t>
            </a: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para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centralizar</a:t>
            </a: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el</a:t>
            </a: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seguimiento</a:t>
            </a:r>
            <a:endParaRPr sz="1275" b="0" i="1" dirty="0">
              <a:solidFill>
                <a:srgbClr val="596B7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2DE545B-2783-4ACE-AFD0-84F99F4F3309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F46F1AC-01A7-4321-A742-A3EB3E203868}"/>
              </a:ext>
            </a:extLst>
          </p:cNvPr>
          <p:cNvSpPr>
            <a:spLocks noGrp="1"/>
          </p:cNvSpPr>
          <p:nvPr/>
        </p:nvSpPr>
        <p:spPr>
          <a:xfrm>
            <a:off x="6457950" y="147637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Diseñar el registro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8D5E254-E2BE-4989-B2F6-912B9C6FC25F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92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el equipo necesita consultar en un solo lugar qué falta.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crear propiedades Entregable, Responsable, Fecha, Estado, Prioridad, Evidencia, Próximo paso y Dependencia.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D1FA8AB-1ABA-4BD0-A792-CA541B3BD46C}"/>
              </a:ext>
            </a:extLst>
          </p:cNvPr>
          <p:cNvSpPr>
            <a:spLocks noGrp="1"/>
          </p:cNvSpPr>
          <p:nvPr/>
        </p:nvSpPr>
        <p:spPr>
          <a:xfrm>
            <a:off x="5905500" y="328612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DBEF63-4F59-4D03-98CB-46DEA63826B1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Actualizar sin asumir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A159770-66ED-46B1-BB4D-F558065F0342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07" lnSpcReduction="10000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llegan archivos de D2 a D5, pero falta revisar su contenido.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registrar cada archivo y mantenerlo En revisión. Marcarlo Completado cuando cumpla los criterios y exista evidencia verificable.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9E80E52-7C00-4171-B246-9767BD6820FB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Cada fila de la base puede abrirse como una página con detalle y evidencia.</a:t>
            </a:r>
          </a:p>
        </p:txBody>
      </p:sp>
    </p:spTree>
    <p:extLst>
      <p:ext uri="{BB962C8B-B14F-4D97-AF65-F5344CB8AC3E}">
        <p14:creationId xmlns:p14="http://schemas.microsoft.com/office/powerpoint/2010/main" val="20377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13ED69B5-D031-4884-8CE6-C5BA4D4C4822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Notion: prioridades y dependencias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9E7612-7380-4164-8B2C-3519B6D2B35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25089"/>
            <a:ext cx="4762500" cy="234104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55DBDCAD-7194-4451-9068-6EA22D1C1213}"/>
              </a:ext>
            </a:extLst>
          </p:cNvPr>
          <p:cNvSpPr>
            <a:spLocks noGrp="1"/>
          </p:cNvSpPr>
          <p:nvPr/>
        </p:nvSpPr>
        <p:spPr>
          <a:xfrm>
            <a:off x="597924" y="43624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Estados y tareas vinculadas en Notion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9702D60-EAB0-4BF6-AE4F-733F41F22EC2}"/>
              </a:ext>
            </a:extLst>
          </p:cNvPr>
          <p:cNvSpPr>
            <a:spLocks noGrp="1"/>
          </p:cNvSpPr>
          <p:nvPr/>
        </p:nvSpPr>
        <p:spPr>
          <a:xfrm>
            <a:off x="5905500" y="147637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64846B-B490-4FFE-82D7-4562E302A6DA}"/>
              </a:ext>
            </a:extLst>
          </p:cNvPr>
          <p:cNvSpPr>
            <a:spLocks noGrp="1"/>
          </p:cNvSpPr>
          <p:nvPr/>
        </p:nvSpPr>
        <p:spPr>
          <a:xfrm>
            <a:off x="6457950" y="147637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Señalar un bloqueo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D1AC8D0-0926-42CE-ACBD-04DDC7230E75}"/>
              </a:ext>
            </a:extLst>
          </p:cNvPr>
          <p:cNvSpPr>
            <a:spLocks noGrp="1"/>
          </p:cNvSpPr>
          <p:nvPr/>
        </p:nvSpPr>
        <p:spPr>
          <a:xfrm>
            <a:off x="6591300" y="188595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307" lnSpcReduction="10000"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D5 no tiene resultados de prueba y D6 requiere esa validación.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registrar D5 como En revisión, marcar prioridad alta, asignar responsable y escribir el siguiente paso: ejecutar y documentar la prueba.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4DC2F0F-9129-4823-9B13-A3B5DA7BC2FD}"/>
              </a:ext>
            </a:extLst>
          </p:cNvPr>
          <p:cNvSpPr>
            <a:spLocks noGrp="1"/>
          </p:cNvSpPr>
          <p:nvPr/>
        </p:nvSpPr>
        <p:spPr>
          <a:xfrm>
            <a:off x="5905500" y="3286125"/>
            <a:ext cx="5143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AE6C38B-C035-4DE8-967D-70C0A0E82100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667" lnSpcReduction="10000"/>
          </a:bodyPr>
          <a:lstStyle/>
          <a:p>
            <a:pPr algn="l">
              <a:def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Vincular tareas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36AF6E8-4F23-4CE5-A875-0D37C3152338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7053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D6 depende de la aprobación del conjunto D1–D5.</a:t>
            </a:r>
          </a:p>
          <a:p>
            <a:pPr algn="l">
              <a:def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Resolución: crear una dependencia entre los registros y liberar D6 cuando D1–D5 estén validados. La fecha y el responsable quedan visibles.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165E6FB-3CCC-43C4-92EC-B8BD2FC8DA3E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5238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Las dependencias hacen visible qué trabajo debe resolverse antes de iniciar otra tarea.</a:t>
            </a:r>
          </a:p>
        </p:txBody>
      </p:sp>
    </p:spTree>
    <p:extLst>
      <p:ext uri="{BB962C8B-B14F-4D97-AF65-F5344CB8AC3E}">
        <p14:creationId xmlns:p14="http://schemas.microsoft.com/office/powerpoint/2010/main" val="1937917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FCD0429-E9D9-45DE-9675-527AA2E2746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Jira: convertir pendientes en trabajo rastreable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AAAEB4-5B3B-41F0-AA28-4464F4FC7B36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56563"/>
            <a:ext cx="4762500" cy="26781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2A8E5E3-F60A-455A-B2B9-8BA8A8778ABB}"/>
              </a:ext>
            </a:extLst>
          </p:cNvPr>
          <p:cNvSpPr>
            <a:spLocks noGrp="1"/>
          </p:cNvSpPr>
          <p:nvPr/>
        </p:nvSpPr>
        <p:spPr>
          <a:xfrm>
            <a:off x="588091" y="4334663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Lista de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trabajo</a:t>
            </a:r>
            <a:r>
              <a:rPr sz="1275" b="0" i="1" dirty="0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 del </a:t>
            </a:r>
            <a:r>
              <a:rPr sz="1275" b="0" i="1" dirty="0" err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proyecto</a:t>
            </a:r>
            <a:endParaRPr sz="1275" b="0" i="1" dirty="0">
              <a:solidFill>
                <a:srgbClr val="596B79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989395-E8ED-4550-87F4-12B569508123}"/>
              </a:ext>
            </a:extLst>
          </p:cNvPr>
          <p:cNvSpPr>
            <a:spLocks noGrp="1"/>
          </p:cNvSpPr>
          <p:nvPr/>
        </p:nvSpPr>
        <p:spPr>
          <a:xfrm>
            <a:off x="5905500" y="15430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9ADB25-AF6D-413C-8D4F-7A8C9A7E8684}"/>
              </a:ext>
            </a:extLst>
          </p:cNvPr>
          <p:cNvSpPr>
            <a:spLocks noGrp="1"/>
          </p:cNvSpPr>
          <p:nvPr/>
        </p:nvSpPr>
        <p:spPr>
          <a:xfrm>
            <a:off x="6619875" y="155257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def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Crear una tarea de corrección BPMN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A4AF50-332D-4412-A5A6-3F489D33A778}"/>
              </a:ext>
            </a:extLst>
          </p:cNvPr>
          <p:cNvSpPr>
            <a:spLocks noGrp="1"/>
          </p:cNvSpPr>
          <p:nvPr/>
        </p:nvSpPr>
        <p:spPr>
          <a:xfrm>
            <a:off x="6619875" y="2143125"/>
            <a:ext cx="4524375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el diagrama requiere corregir la secuencia de inspección antes de la decisión.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CBC196-2E9C-4D74-8F6E-A5304B3DB156}"/>
              </a:ext>
            </a:extLst>
          </p:cNvPr>
          <p:cNvSpPr>
            <a:spLocks noGrp="1"/>
          </p:cNvSpPr>
          <p:nvPr/>
        </p:nvSpPr>
        <p:spPr>
          <a:xfrm>
            <a:off x="6619875" y="30861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Resolución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1539FE-DE6B-4899-82BB-7C13801DA7FD}"/>
              </a:ext>
            </a:extLst>
          </p:cNvPr>
          <p:cNvSpPr>
            <a:spLocks noGrp="1"/>
          </p:cNvSpPr>
          <p:nvPr/>
        </p:nvSpPr>
        <p:spPr>
          <a:xfrm>
            <a:off x="6619875" y="3457575"/>
            <a:ext cx="4524375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Registrar una tarea con descripción del cambio, prioridad, persona asignada, fecha objetivo y criterios de aceptación. Adjuntar el BPMN actualizado y la captura de validación.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AF2F7E0-107F-4580-96D9-4BFD59CF1185}"/>
              </a:ext>
            </a:extLst>
          </p:cNvPr>
          <p:cNvSpPr>
            <a:spLocks noGrp="1"/>
          </p:cNvSpPr>
          <p:nvPr/>
        </p:nvSpPr>
        <p:spPr>
          <a:xfrm>
            <a:off x="6619875" y="5257800"/>
            <a:ext cx="45243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La tarea debe indicar qué resultado permite cerrarla.</a:t>
            </a:r>
          </a:p>
        </p:txBody>
      </p:sp>
    </p:spTree>
    <p:extLst>
      <p:ext uri="{BB962C8B-B14F-4D97-AF65-F5344CB8AC3E}">
        <p14:creationId xmlns:p14="http://schemas.microsoft.com/office/powerpoint/2010/main" val="1932068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37B9B18A-758D-49AB-A9BD-1070176B39F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Jira: comprobar una simulación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950177-D486-4211-9BB6-90A53C771A80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09419"/>
            <a:ext cx="4762500" cy="237238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F868302-A259-46FB-8F9E-837C8E04E0B4}"/>
              </a:ext>
            </a:extLst>
          </p:cNvPr>
          <p:cNvSpPr>
            <a:spLocks noGrp="1"/>
          </p:cNvSpPr>
          <p:nvPr/>
        </p:nvSpPr>
        <p:spPr>
          <a:xfrm>
            <a:off x="666750" y="46101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1">
                <a:solidFill>
                  <a:srgbClr val="596B79"/>
                </a:solidFill>
                <a:latin typeface="Bitstream Charter"/>
                <a:ea typeface="Bitstream Charter"/>
                <a:cs typeface="Bitstream Charter"/>
              </a:rPr>
              <a:t>Detalle de una tarea y sus campos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3BEBA6-2AFD-41E8-9781-CDE51DBA1A58}"/>
              </a:ext>
            </a:extLst>
          </p:cNvPr>
          <p:cNvSpPr>
            <a:spLocks noGrp="1"/>
          </p:cNvSpPr>
          <p:nvPr/>
        </p:nvSpPr>
        <p:spPr>
          <a:xfrm>
            <a:off x="5905500" y="15430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C69CAE-9BB3-49E5-BAC2-21A3DAEB6EC5}"/>
              </a:ext>
            </a:extLst>
          </p:cNvPr>
          <p:cNvSpPr>
            <a:spLocks noGrp="1"/>
          </p:cNvSpPr>
          <p:nvPr/>
        </p:nvSpPr>
        <p:spPr>
          <a:xfrm>
            <a:off x="6619875" y="1552575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def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Documentar la simulación de D5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1935BA0-1353-4793-8539-233BCF59E2A4}"/>
              </a:ext>
            </a:extLst>
          </p:cNvPr>
          <p:cNvSpPr>
            <a:spLocks noGrp="1"/>
          </p:cNvSpPr>
          <p:nvPr/>
        </p:nvSpPr>
        <p:spPr>
          <a:xfrm>
            <a:off x="6619875" y="2143125"/>
            <a:ext cx="4524375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Situación: se necesita verificar que el proceso funciona con los datos del caso.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5F399F-1475-429F-AA17-230A696389C5}"/>
              </a:ext>
            </a:extLst>
          </p:cNvPr>
          <p:cNvSpPr>
            <a:spLocks noGrp="1"/>
          </p:cNvSpPr>
          <p:nvPr/>
        </p:nvSpPr>
        <p:spPr>
          <a:xfrm>
            <a:off x="6619875" y="30861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Resolución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0CAC228-7DA4-40D4-84F3-03375CF5940F}"/>
              </a:ext>
            </a:extLst>
          </p:cNvPr>
          <p:cNvSpPr>
            <a:spLocks noGrp="1"/>
          </p:cNvSpPr>
          <p:nvPr/>
        </p:nvSpPr>
        <p:spPr>
          <a:xfrm>
            <a:off x="6619875" y="3457575"/>
            <a:ext cx="4524375" cy="1457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Definir criterios: configurar los datos de entrada, ejecutar la simulación, comparar resultado esperado y observado, documentar errores y adjuntar capturas. Cerrar la tarea después de registrar el resultado.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D475651-0309-4B2F-997C-54888ECC2F9D}"/>
              </a:ext>
            </a:extLst>
          </p:cNvPr>
          <p:cNvSpPr>
            <a:spLocks noGrp="1"/>
          </p:cNvSpPr>
          <p:nvPr/>
        </p:nvSpPr>
        <p:spPr>
          <a:xfrm>
            <a:off x="6619875" y="5257800"/>
            <a:ext cx="4524375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El resultado y la evidencia deben quedar dentro del registro de trabajo.</a:t>
            </a:r>
          </a:p>
        </p:txBody>
      </p:sp>
    </p:spTree>
    <p:extLst>
      <p:ext uri="{BB962C8B-B14F-4D97-AF65-F5344CB8AC3E}">
        <p14:creationId xmlns:p14="http://schemas.microsoft.com/office/powerpoint/2010/main" val="146287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96F9D60-A1BF-4DC8-A39E-9A721A4BD7D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46FEC42-1396-4DB6-A5BA-7E6D9F05478A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12E6FB-2798-4948-B382-06CE02992F26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10382250" cy="971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Una herramienta aporta valor cuando el equipo registra el trabajo con claridad y actualiza su estado con evidencia.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B4A44B5-B619-4B55-A4A4-9BA1A7947216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47625" cy="1952625"/>
          </a:xfrm>
          <a:prstGeom prst="rect">
            <a:avLst/>
          </a:prstGeom>
          <a:solidFill>
            <a:srgbClr val="1B7E79"/>
          </a:solidFill>
          <a:ln w="0">
            <a:noFill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E66DE2-FEFF-40CE-B614-D1AF4E6166E1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1B7E79"/>
                </a:solidFill>
                <a:latin typeface="Bitstream Charter"/>
                <a:ea typeface="Bitstream Charter"/>
                <a:cs typeface="Bitstream Charter"/>
              </a:rPr>
              <a:t>Trello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FEA6F7-3205-43AA-8AD7-A10A8070C63A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300037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Hace visible el flujo de tareas en listas y tarjetas. Funciona bien cuando el equipo necesita revisar el avance de un vistazo.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AF97345-32C2-4E6F-B529-8A0FE3EA1384}"/>
              </a:ext>
            </a:extLst>
          </p:cNvPr>
          <p:cNvSpPr>
            <a:spLocks noGrp="1"/>
          </p:cNvSpPr>
          <p:nvPr/>
        </p:nvSpPr>
        <p:spPr>
          <a:xfrm>
            <a:off x="4381500" y="2895600"/>
            <a:ext cx="47625" cy="1952625"/>
          </a:xfrm>
          <a:prstGeom prst="rect">
            <a:avLst/>
          </a:prstGeom>
          <a:solidFill>
            <a:srgbClr val="76669B"/>
          </a:solidFill>
          <a:ln w="0">
            <a:noFill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77F8E1-2EA4-4020-93D2-5882C0753CEC}"/>
              </a:ext>
            </a:extLst>
          </p:cNvPr>
          <p:cNvSpPr>
            <a:spLocks noGrp="1"/>
          </p:cNvSpPr>
          <p:nvPr/>
        </p:nvSpPr>
        <p:spPr>
          <a:xfrm>
            <a:off x="4610100" y="28860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76669B"/>
                </a:solidFill>
                <a:latin typeface="Bitstream Charter"/>
                <a:ea typeface="Bitstream Charter"/>
                <a:cs typeface="Bitstream Charter"/>
              </a:rPr>
              <a:t>Notion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034718-49D6-4913-8D33-686EE5630FAC}"/>
              </a:ext>
            </a:extLst>
          </p:cNvPr>
          <p:cNvSpPr>
            <a:spLocks noGrp="1"/>
          </p:cNvSpPr>
          <p:nvPr/>
        </p:nvSpPr>
        <p:spPr>
          <a:xfrm>
            <a:off x="4610100" y="3390900"/>
            <a:ext cx="300037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Centraliza entregables, responsables, fechas, evidencia y dependencias en una base de datos flexible.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D442868-7978-4228-AEA6-DD6DBBC4A182}"/>
              </a:ext>
            </a:extLst>
          </p:cNvPr>
          <p:cNvSpPr>
            <a:spLocks noGrp="1"/>
          </p:cNvSpPr>
          <p:nvPr/>
        </p:nvSpPr>
        <p:spPr>
          <a:xfrm>
            <a:off x="8096250" y="2895600"/>
            <a:ext cx="47625" cy="1952625"/>
          </a:xfrm>
          <a:prstGeom prst="rect">
            <a:avLst/>
          </a:prstGeom>
          <a:solidFill>
            <a:srgbClr val="4F77A2"/>
          </a:solidFill>
          <a:ln w="0">
            <a:noFill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3016926-7F7D-4C5A-8F2A-DA38BB79BFA7}"/>
              </a:ext>
            </a:extLst>
          </p:cNvPr>
          <p:cNvSpPr>
            <a:spLocks noGrp="1"/>
          </p:cNvSpPr>
          <p:nvPr/>
        </p:nvSpPr>
        <p:spPr>
          <a:xfrm>
            <a:off x="8324850" y="288607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defRPr sz="19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 i="0">
                <a:solidFill>
                  <a:srgbClr val="4F77A2"/>
                </a:solidFill>
                <a:latin typeface="Bitstream Charter"/>
                <a:ea typeface="Bitstream Charter"/>
                <a:cs typeface="Bitstream Charter"/>
              </a:rPr>
              <a:t>Jira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8EBE9AD-489A-4A59-AA45-29D5158ECEE4}"/>
              </a:ext>
            </a:extLst>
          </p:cNvPr>
          <p:cNvSpPr>
            <a:spLocks noGrp="1"/>
          </p:cNvSpPr>
          <p:nvPr/>
        </p:nvSpPr>
        <p:spPr>
          <a:xfrm>
            <a:off x="8324850" y="3390900"/>
            <a:ext cx="3000375" cy="1371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rPr>
              <a:t>Permite registrar tareas con detalle, prioridad, responsables y criterios para revisar el resultado.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B58DC9B-79F1-40B3-AD10-016C46AEB2B7}"/>
              </a:ext>
            </a:extLst>
          </p:cNvPr>
          <p:cNvSpPr>
            <a:spLocks noGrp="1"/>
          </p:cNvSpPr>
          <p:nvPr/>
        </p:nvSpPr>
        <p:spPr>
          <a:xfrm>
            <a:off x="666750" y="53530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602"/>
          </a:bodyPr>
          <a:lstStyle/>
          <a:p>
            <a:pPr algn="l">
              <a:def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En cualquier plataforma, el cierre requiere criterio de aceptación y evidencia que permita comprobarlo.</a:t>
            </a:r>
          </a:p>
        </p:txBody>
      </p:sp>
    </p:spTree>
    <p:extLst>
      <p:ext uri="{BB962C8B-B14F-4D97-AF65-F5344CB8AC3E}">
        <p14:creationId xmlns:p14="http://schemas.microsoft.com/office/powerpoint/2010/main" val="147265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B84F78B-BADB-4632-B5B6-D6A5CC8B995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032"/>
          </a:bodyPr>
          <a:lstStyle/>
          <a:p>
            <a:pPr algn="l">
              <a:def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 i="0">
                <a:solidFill>
                  <a:srgbClr val="132338"/>
                </a:solidFill>
                <a:latin typeface="Bitstream Charter"/>
                <a:ea typeface="Bitstream Charter"/>
                <a:cs typeface="Bitstream Charter"/>
              </a:rPr>
              <a:t>Fuentes de información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BFC471-91C0-4D70-AEBD-0138E2011BD6}"/>
              </a:ext>
            </a:extLst>
          </p:cNvPr>
          <p:cNvSpPr>
            <a:spLocks noGrp="1"/>
          </p:cNvSpPr>
          <p:nvPr/>
        </p:nvSpPr>
        <p:spPr>
          <a:xfrm>
            <a:off x="666750" y="1123950"/>
            <a:ext cx="609600" cy="47625"/>
          </a:xfrm>
          <a:prstGeom prst="rect">
            <a:avLst/>
          </a:prstGeom>
          <a:solidFill>
            <a:srgbClr val="CC8A46"/>
          </a:solidFill>
          <a:ln w="0">
            <a:noFill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80CBD31-758F-433E-B911-11937CFD1837}"/>
              </a:ext>
            </a:extLst>
          </p:cNvPr>
          <p:cNvSpPr>
            <a:spLocks noGrp="1"/>
          </p:cNvSpPr>
          <p:nvPr/>
        </p:nvSpPr>
        <p:spPr>
          <a:xfrm>
            <a:off x="762000" y="1466850"/>
            <a:ext cx="10382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/>
              <a:t>Atlassian. (s. f.). </a:t>
            </a:r>
            <a:r>
              <a:rPr i="1" dirty="0"/>
              <a:t>Create a board</a:t>
            </a:r>
            <a:r>
              <a:rPr dirty="0"/>
              <a:t>. Atlassian Support. </a:t>
            </a:r>
            <a:r>
              <a:rPr dirty="0">
                <a:hlinkClick r:id="rId3"/>
              </a:rPr>
              <a:t>https://support.atlassian.com/trello/docs/creating-a-new-board/</a:t>
            </a:r>
            <a:endParaRPr lang="es-MX" dirty="0"/>
          </a:p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5028BEA-BE62-42EF-B4C4-26B496AD0BF8}"/>
              </a:ext>
            </a:extLst>
          </p:cNvPr>
          <p:cNvSpPr>
            <a:spLocks noGrp="1"/>
          </p:cNvSpPr>
          <p:nvPr/>
        </p:nvSpPr>
        <p:spPr>
          <a:xfrm>
            <a:off x="762000" y="2257425"/>
            <a:ext cx="10382250" cy="895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/>
              <a:t>Atlassian. (s. f.). </a:t>
            </a:r>
            <a:r>
              <a:rPr i="1" dirty="0"/>
              <a:t>Create and configure your work items</a:t>
            </a:r>
            <a:r>
              <a:rPr dirty="0"/>
              <a:t>. Atlassian Support. </a:t>
            </a:r>
            <a:r>
              <a:rPr dirty="0">
                <a:hlinkClick r:id="rId4"/>
              </a:rPr>
              <a:t>https://support.atlassian.com/jira-software-cloud/docs/create-and-configure-your-work-items/</a:t>
            </a:r>
            <a:endParaRPr lang="es-MX" dirty="0"/>
          </a:p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3DB2C1-EAA4-402A-B8BC-D0D52A47E976}"/>
              </a:ext>
            </a:extLst>
          </p:cNvPr>
          <p:cNvSpPr>
            <a:spLocks noGrp="1"/>
          </p:cNvSpPr>
          <p:nvPr/>
        </p:nvSpPr>
        <p:spPr>
          <a:xfrm>
            <a:off x="762000" y="3200400"/>
            <a:ext cx="10382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/>
              <a:t>Notion Labs, Inc. (s. f.). </a:t>
            </a:r>
            <a:r>
              <a:rPr i="1" dirty="0"/>
              <a:t>Intro to databases in Notion</a:t>
            </a:r>
            <a:r>
              <a:rPr dirty="0"/>
              <a:t>. Notion Help Center. </a:t>
            </a:r>
            <a:r>
              <a:rPr dirty="0">
                <a:hlinkClick r:id="rId5"/>
              </a:rPr>
              <a:t>https://www.notion.com/help/intro-to-databases</a:t>
            </a:r>
            <a:endParaRPr lang="es-MX" dirty="0"/>
          </a:p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C5C67F-2A73-4D67-A6A2-F133BF2E7275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10382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/>
              <a:t>Notion Labs, Inc. (s. f.). </a:t>
            </a:r>
            <a:r>
              <a:rPr i="1" dirty="0"/>
              <a:t>Sub-items &amp; dependencies in Notion</a:t>
            </a:r>
            <a:r>
              <a:rPr dirty="0"/>
              <a:t>. Notion Help Center. </a:t>
            </a:r>
            <a:r>
              <a:rPr dirty="0">
                <a:hlinkClick r:id="rId6"/>
              </a:rPr>
              <a:t>https://www.notion.com/help/tasks-and-dependencies</a:t>
            </a:r>
            <a:endParaRPr lang="es-MX" dirty="0"/>
          </a:p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endParaRPr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10ACC0-0E27-4FB2-A09E-58B2552DBA19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9611032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 i="0">
                <a:solidFill>
                  <a:srgbClr val="172A3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dirty="0" err="1"/>
              <a:t>Tecnológico</a:t>
            </a:r>
            <a:r>
              <a:rPr dirty="0"/>
              <a:t> Nacional de México. (2026). </a:t>
            </a:r>
            <a:r>
              <a:rPr i="1" dirty="0" err="1"/>
              <a:t>Instrumentación</a:t>
            </a:r>
            <a:r>
              <a:rPr i="1" dirty="0"/>
              <a:t> </a:t>
            </a:r>
            <a:r>
              <a:rPr i="1" dirty="0" err="1"/>
              <a:t>didáctica</a:t>
            </a:r>
            <a:r>
              <a:rPr i="1" dirty="0"/>
              <a:t> para la </a:t>
            </a:r>
            <a:r>
              <a:rPr i="1" dirty="0" err="1"/>
              <a:t>formación</a:t>
            </a:r>
            <a:r>
              <a:rPr i="1" dirty="0"/>
              <a:t> y </a:t>
            </a:r>
            <a:r>
              <a:rPr i="1" dirty="0" err="1"/>
              <a:t>desarrollo</a:t>
            </a:r>
            <a:r>
              <a:rPr i="1" dirty="0"/>
              <a:t> de </a:t>
            </a:r>
            <a:r>
              <a:rPr i="1" dirty="0" err="1"/>
              <a:t>competencias</a:t>
            </a:r>
            <a:r>
              <a:rPr i="1" dirty="0"/>
              <a:t> </a:t>
            </a:r>
            <a:r>
              <a:rPr i="1" dirty="0" err="1"/>
              <a:t>profesionales</a:t>
            </a:r>
            <a:r>
              <a:rPr i="1" dirty="0"/>
              <a:t>: </a:t>
            </a:r>
            <a:r>
              <a:rPr i="1" dirty="0" err="1"/>
              <a:t>Gestión</a:t>
            </a:r>
            <a:r>
              <a:rPr i="1" dirty="0"/>
              <a:t> de </a:t>
            </a:r>
            <a:r>
              <a:rPr i="1" dirty="0" err="1"/>
              <a:t>proyectos</a:t>
            </a:r>
            <a:r>
              <a:rPr i="1" dirty="0"/>
              <a:t> de TI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50878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DocSecurity>0</DocSecurity>
  <PresentationFormat>Panorámica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-apple-system</vt:lpstr>
      <vt:lpstr>Aptos</vt:lpstr>
      <vt:lpstr>Aptos Display</vt:lpstr>
      <vt:lpstr>Arial</vt:lpstr>
      <vt:lpstr>Bitstream Charter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AMAURY JAHAZIEL GORDILLO HERNANDEZ</cp:lastModifiedBy>
  <cp:revision>2</cp:revision>
  <dcterms:created xsi:type="dcterms:W3CDTF">2026-10-03T05:51:10Z</dcterms:created>
  <dcterms:modified xsi:type="dcterms:W3CDTF">2026-10-03T07:09:49Z</dcterms:modified>
</cp:coreProperties>
</file>