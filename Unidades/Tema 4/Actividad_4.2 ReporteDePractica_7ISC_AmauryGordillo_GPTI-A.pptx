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AD5035-B2FB-49AC-A098-509817733DE7}" type="datetimeFigureOut">
              <a:rPr lang="es-MX" smtClean="0"/>
              <a:t>22/09/2026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3B031-DF3A-460A-98A9-FC3255AEFC02}" type="slidenum">
              <a:rPr lang="es-MX" smtClean="0"/>
              <a:t>‹Nº›</a:t>
            </a:fld>
            <a:endParaRPr lang="es-MX"/>
          </a:p>
        </p:txBody>
      </p:sp>
    </p:spTree>
    <p:extLst>
      <p:ext uri="{BB962C8B-B14F-4D97-AF65-F5344CB8AC3E}">
        <p14:creationId xmlns:p14="http://schemas.microsoft.com/office/powerpoint/2010/main" val="3161760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9847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Imagen 40"/>
          <p:cNvPicPr>
            <a:picLocks noChangeAspect="1"/>
          </p:cNvPicPr>
          <p:nvPr/>
        </p:nvPicPr>
        <p:blipFill>
          <a:blip r:embed="rId3"/>
          <a:srcRect t="27" b="27"/>
          <a:stretch>
            <a:fillRect/>
          </a:stretch>
        </p:blipFill>
        <p:spPr>
          <a:xfrm>
            <a:off x="280834" y="0"/>
            <a:ext cx="11911166" cy="6858000"/>
          </a:xfrm>
          <a:prstGeom prst="rect">
            <a:avLst/>
          </a:prstGeom>
        </p:spPr>
      </p:pic>
      <p:sp>
        <p:nvSpPr>
          <p:cNvPr id="2" name="institutional-navy-band">
            <a:extLst>
              <a:ext uri="{FF2B5EF4-FFF2-40B4-BE49-F238E27FC236}">
                <a16:creationId xmlns:a16="http://schemas.microsoft.com/office/drawing/2014/main" id="{3AE6E076-F470-4AFA-B05E-BB577D99A602}"/>
              </a:ext>
            </a:extLst>
          </p:cNvPr>
          <p:cNvSpPr>
            <a:spLocks noGrp="1"/>
          </p:cNvSpPr>
          <p:nvPr/>
        </p:nvSpPr>
        <p:spPr>
          <a:xfrm>
            <a:off x="-47626" y="0"/>
            <a:ext cx="328459" cy="6858000"/>
          </a:xfrm>
          <a:prstGeom prst="rect">
            <a:avLst/>
          </a:prstGeom>
          <a:solidFill>
            <a:srgbClr val="082958"/>
          </a:solidFill>
          <a:ln w="0">
            <a:noFill/>
            <a:prstDash val="solid"/>
          </a:ln>
        </p:spPr>
      </p:sp>
      <p:sp>
        <p:nvSpPr>
          <p:cNvPr id="3" name="institutional-gold-accent">
            <a:extLst>
              <a:ext uri="{FF2B5EF4-FFF2-40B4-BE49-F238E27FC236}">
                <a16:creationId xmlns:a16="http://schemas.microsoft.com/office/drawing/2014/main" id="{511065C0-35AD-4DAE-B610-DF6B7F488372}"/>
              </a:ext>
            </a:extLst>
          </p:cNvPr>
          <p:cNvSpPr>
            <a:spLocks noGrp="1"/>
          </p:cNvSpPr>
          <p:nvPr/>
        </p:nvSpPr>
        <p:spPr>
          <a:xfrm>
            <a:off x="280987" y="47625"/>
            <a:ext cx="28575" cy="6438900"/>
          </a:xfrm>
          <a:prstGeom prst="rect">
            <a:avLst/>
          </a:prstGeom>
          <a:solidFill>
            <a:srgbClr val="C8972C"/>
          </a:solidFill>
          <a:ln w="0">
            <a:noFill/>
            <a:prstDash val="solid"/>
          </a:ln>
        </p:spPr>
      </p:sp>
      <p:sp>
        <p:nvSpPr>
          <p:cNvPr id="4" name="top-rule">
            <a:extLst>
              <a:ext uri="{FF2B5EF4-FFF2-40B4-BE49-F238E27FC236}">
                <a16:creationId xmlns:a16="http://schemas.microsoft.com/office/drawing/2014/main" id="{A402DA1E-9E80-4154-8892-48887862CA94}"/>
              </a:ext>
            </a:extLst>
          </p:cNvPr>
          <p:cNvSpPr>
            <a:spLocks noGrp="1"/>
          </p:cNvSpPr>
          <p:nvPr/>
        </p:nvSpPr>
        <p:spPr>
          <a:xfrm>
            <a:off x="838200" y="1009650"/>
            <a:ext cx="10515600" cy="0"/>
          </a:xfrm>
          <a:prstGeom prst="line">
            <a:avLst/>
          </a:prstGeom>
          <a:noFill/>
          <a:ln w="11430">
            <a:solidFill>
              <a:srgbClr val="DCEBFA"/>
            </a:solidFill>
            <a:prstDash val="solid"/>
          </a:ln>
        </p:spPr>
      </p:sp>
      <p:sp>
        <p:nvSpPr>
          <p:cNvPr id="6" name="institution-name">
            <a:extLst>
              <a:ext uri="{FF2B5EF4-FFF2-40B4-BE49-F238E27FC236}">
                <a16:creationId xmlns:a16="http://schemas.microsoft.com/office/drawing/2014/main" id="{E0E92947-86F7-4A12-A128-7B0159F83BDC}"/>
              </a:ext>
            </a:extLst>
          </p:cNvPr>
          <p:cNvSpPr>
            <a:spLocks noGrp="1"/>
          </p:cNvSpPr>
          <p:nvPr/>
        </p:nvSpPr>
        <p:spPr>
          <a:xfrm>
            <a:off x="3641008" y="892277"/>
            <a:ext cx="5464892" cy="666749"/>
          </a:xfrm>
          <a:prstGeom prst="rect">
            <a:avLst/>
          </a:prstGeom>
          <a:noFill/>
          <a:ln w="0">
            <a:noFill/>
            <a:prstDash val="solid"/>
          </a:ln>
        </p:spPr>
        <p:txBody>
          <a:bodyPr wrap="square" lIns="0" tIns="0" rIns="0" bIns="0" anchor="ctr">
            <a:noAutofit/>
          </a:bodyPr>
          <a:lstStyle/>
          <a:p>
            <a:pPr algn="l">
              <a:buNone/>
              <a:defRPr sz="1650" b="1">
                <a:solidFill>
                  <a:srgbClr val="0B3473"/>
                </a:solidFill>
                <a:latin typeface="Aptos Display"/>
                <a:ea typeface="Aptos Display"/>
                <a:cs typeface="Aptos Display"/>
              </a:defRPr>
            </a:pPr>
            <a:r>
              <a:rPr sz="2500" b="1">
                <a:solidFill>
                  <a:srgbClr val="0B3473"/>
                </a:solidFill>
                <a:latin typeface="Aptos Display"/>
                <a:ea typeface="Aptos Display"/>
                <a:cs typeface="Aptos Display"/>
              </a:rPr>
              <a:t>TECNOLÓGICO NACIONAL DE MÉXICO</a:t>
            </a:r>
          </a:p>
        </p:txBody>
      </p:sp>
      <p:sp>
        <p:nvSpPr>
          <p:cNvPr id="9" name="degree-title">
            <a:extLst>
              <a:ext uri="{FF2B5EF4-FFF2-40B4-BE49-F238E27FC236}">
                <a16:creationId xmlns:a16="http://schemas.microsoft.com/office/drawing/2014/main" id="{897E2AE5-15D9-4AB6-9730-7184F55D8F9A}"/>
              </a:ext>
            </a:extLst>
          </p:cNvPr>
          <p:cNvSpPr>
            <a:spLocks noGrp="1"/>
          </p:cNvSpPr>
          <p:nvPr/>
        </p:nvSpPr>
        <p:spPr>
          <a:xfrm>
            <a:off x="3429000" y="1454252"/>
            <a:ext cx="5524500" cy="742950"/>
          </a:xfrm>
          <a:prstGeom prst="rect">
            <a:avLst/>
          </a:prstGeom>
          <a:noFill/>
          <a:ln w="0">
            <a:noFill/>
            <a:prstDash val="solid"/>
          </a:ln>
        </p:spPr>
        <p:txBody>
          <a:bodyPr wrap="square" lIns="0" tIns="0" rIns="0" bIns="0" anchor="ctr">
            <a:normAutofit/>
          </a:bodyPr>
          <a:lstStyle/>
          <a:p>
            <a:pPr algn="ctr">
              <a:lnSpc>
                <a:spcPct val="92000"/>
              </a:lnSpc>
              <a:buNone/>
              <a:defRPr sz="2325" b="1">
                <a:solidFill>
                  <a:srgbClr val="0B3473"/>
                </a:solidFill>
                <a:latin typeface="Aptos Display"/>
                <a:ea typeface="Aptos Display"/>
                <a:cs typeface="Aptos Display"/>
              </a:defRPr>
            </a:pPr>
            <a:r>
              <a:rPr sz="2000" b="1">
                <a:solidFill>
                  <a:srgbClr val="0B3473"/>
                </a:solidFill>
                <a:latin typeface="Aptos Display"/>
                <a:ea typeface="Aptos Display"/>
                <a:cs typeface="Aptos Display"/>
              </a:rPr>
              <a:t>INGENIERÍA EN</a:t>
            </a:r>
          </a:p>
          <a:p>
            <a:pPr algn="ctr">
              <a:lnSpc>
                <a:spcPct val="92000"/>
              </a:lnSpc>
              <a:buNone/>
              <a:defRPr sz="2325" b="1">
                <a:solidFill>
                  <a:srgbClr val="0B3473"/>
                </a:solidFill>
                <a:latin typeface="Aptos Display"/>
                <a:ea typeface="Aptos Display"/>
                <a:cs typeface="Aptos Display"/>
              </a:defRPr>
            </a:pPr>
            <a:r>
              <a:rPr sz="2000" b="1">
                <a:solidFill>
                  <a:srgbClr val="0B3473"/>
                </a:solidFill>
                <a:latin typeface="Aptos Display"/>
                <a:ea typeface="Aptos Display"/>
                <a:cs typeface="Aptos Display"/>
              </a:rPr>
              <a:t>SISTEMAS COMPUTACIONALES</a:t>
            </a:r>
          </a:p>
        </p:txBody>
      </p:sp>
      <p:sp>
        <p:nvSpPr>
          <p:cNvPr id="10" name="degree-gold-rule-left">
            <a:extLst>
              <a:ext uri="{FF2B5EF4-FFF2-40B4-BE49-F238E27FC236}">
                <a16:creationId xmlns:a16="http://schemas.microsoft.com/office/drawing/2014/main" id="{C8050B62-10E2-4D95-BEEE-6E1978022F99}"/>
              </a:ext>
            </a:extLst>
          </p:cNvPr>
          <p:cNvSpPr>
            <a:spLocks noGrp="1"/>
          </p:cNvSpPr>
          <p:nvPr/>
        </p:nvSpPr>
        <p:spPr>
          <a:xfrm>
            <a:off x="4848225" y="2209800"/>
            <a:ext cx="990600" cy="0"/>
          </a:xfrm>
          <a:prstGeom prst="line">
            <a:avLst/>
          </a:prstGeom>
          <a:noFill/>
          <a:ln w="15240">
            <a:solidFill>
              <a:srgbClr val="C8972C"/>
            </a:solidFill>
            <a:prstDash val="solid"/>
          </a:ln>
        </p:spPr>
      </p:sp>
      <p:sp>
        <p:nvSpPr>
          <p:cNvPr id="11" name="degree-gold-rule-right">
            <a:extLst>
              <a:ext uri="{FF2B5EF4-FFF2-40B4-BE49-F238E27FC236}">
                <a16:creationId xmlns:a16="http://schemas.microsoft.com/office/drawing/2014/main" id="{12397A49-149B-4ECA-A15E-F885934091D1}"/>
              </a:ext>
            </a:extLst>
          </p:cNvPr>
          <p:cNvSpPr>
            <a:spLocks noGrp="1"/>
          </p:cNvSpPr>
          <p:nvPr/>
        </p:nvSpPr>
        <p:spPr>
          <a:xfrm>
            <a:off x="6353175" y="2209800"/>
            <a:ext cx="990600" cy="0"/>
          </a:xfrm>
          <a:prstGeom prst="line">
            <a:avLst/>
          </a:prstGeom>
          <a:noFill/>
          <a:ln w="15240">
            <a:solidFill>
              <a:srgbClr val="C8972C"/>
            </a:solidFill>
            <a:prstDash val="solid"/>
          </a:ln>
        </p:spPr>
      </p:sp>
      <p:sp>
        <p:nvSpPr>
          <p:cNvPr id="13" name="course-title-line-1">
            <a:extLst>
              <a:ext uri="{FF2B5EF4-FFF2-40B4-BE49-F238E27FC236}">
                <a16:creationId xmlns:a16="http://schemas.microsoft.com/office/drawing/2014/main" id="{24A5C187-BE41-45B6-8BF3-A2878D2FD52B}"/>
              </a:ext>
            </a:extLst>
          </p:cNvPr>
          <p:cNvSpPr>
            <a:spLocks noGrp="1"/>
          </p:cNvSpPr>
          <p:nvPr/>
        </p:nvSpPr>
        <p:spPr>
          <a:xfrm>
            <a:off x="2362199" y="2633663"/>
            <a:ext cx="7467600" cy="523875"/>
          </a:xfrm>
          <a:prstGeom prst="rect">
            <a:avLst/>
          </a:prstGeom>
          <a:noFill/>
          <a:ln w="0">
            <a:noFill/>
            <a:prstDash val="solid"/>
          </a:ln>
        </p:spPr>
        <p:txBody>
          <a:bodyPr wrap="square" lIns="0" tIns="0" rIns="0" bIns="0" anchor="ctr">
            <a:normAutofit fontScale="90833" lnSpcReduction="10000"/>
          </a:bodyPr>
          <a:lstStyle/>
          <a:p>
            <a:pPr algn="ctr">
              <a:buNone/>
              <a:defRPr sz="4125" b="1">
                <a:solidFill>
                  <a:srgbClr val="0B3473"/>
                </a:solidFill>
                <a:latin typeface="Aptos Display"/>
                <a:ea typeface="Aptos Display"/>
                <a:cs typeface="Aptos Display"/>
              </a:defRPr>
            </a:pPr>
            <a:r>
              <a:rPr lang="es-MX" sz="4125" b="1" dirty="0">
                <a:solidFill>
                  <a:srgbClr val="0B3473"/>
                </a:solidFill>
                <a:latin typeface="Aptos Display"/>
                <a:ea typeface="Aptos Display"/>
                <a:cs typeface="Aptos Display"/>
              </a:rPr>
              <a:t>GESTION DE PROYECTOS DE TI</a:t>
            </a:r>
            <a:endParaRPr sz="4125" b="1" dirty="0">
              <a:solidFill>
                <a:srgbClr val="0B3473"/>
              </a:solidFill>
              <a:latin typeface="Aptos Display"/>
              <a:ea typeface="Aptos Display"/>
              <a:cs typeface="Aptos Display"/>
            </a:endParaRPr>
          </a:p>
        </p:txBody>
      </p:sp>
      <p:sp>
        <p:nvSpPr>
          <p:cNvPr id="15" name="activity-left-trace-1">
            <a:extLst>
              <a:ext uri="{FF2B5EF4-FFF2-40B4-BE49-F238E27FC236}">
                <a16:creationId xmlns:a16="http://schemas.microsoft.com/office/drawing/2014/main" id="{7D063C37-CCC4-4D1E-800C-E1EC27DFD060}"/>
              </a:ext>
            </a:extLst>
          </p:cNvPr>
          <p:cNvSpPr>
            <a:spLocks noGrp="1"/>
          </p:cNvSpPr>
          <p:nvPr/>
        </p:nvSpPr>
        <p:spPr>
          <a:xfrm>
            <a:off x="2038350" y="3771900"/>
            <a:ext cx="514350" cy="0"/>
          </a:xfrm>
          <a:prstGeom prst="line">
            <a:avLst/>
          </a:prstGeom>
          <a:noFill/>
          <a:ln w="13335">
            <a:solidFill>
              <a:srgbClr val="2862AA"/>
            </a:solidFill>
            <a:prstDash val="solid"/>
          </a:ln>
        </p:spPr>
      </p:sp>
      <p:sp>
        <p:nvSpPr>
          <p:cNvPr id="16" name="activity-left-trace-2">
            <a:extLst>
              <a:ext uri="{FF2B5EF4-FFF2-40B4-BE49-F238E27FC236}">
                <a16:creationId xmlns:a16="http://schemas.microsoft.com/office/drawing/2014/main" id="{3CFD8881-ED44-45BD-9DF0-783461E898DA}"/>
              </a:ext>
            </a:extLst>
          </p:cNvPr>
          <p:cNvSpPr>
            <a:spLocks noGrp="1"/>
          </p:cNvSpPr>
          <p:nvPr/>
        </p:nvSpPr>
        <p:spPr>
          <a:xfrm>
            <a:off x="2552700" y="3676650"/>
            <a:ext cx="0" cy="95250"/>
          </a:xfrm>
          <a:prstGeom prst="line">
            <a:avLst/>
          </a:prstGeom>
          <a:noFill/>
          <a:ln w="13335">
            <a:solidFill>
              <a:srgbClr val="2862AA"/>
            </a:solidFill>
            <a:prstDash val="solid"/>
          </a:ln>
        </p:spPr>
      </p:sp>
      <p:sp>
        <p:nvSpPr>
          <p:cNvPr id="17" name="activity-left-trace-3">
            <a:extLst>
              <a:ext uri="{FF2B5EF4-FFF2-40B4-BE49-F238E27FC236}">
                <a16:creationId xmlns:a16="http://schemas.microsoft.com/office/drawing/2014/main" id="{40CE4708-D5C7-40D2-BE07-C709D6A81A4E}"/>
              </a:ext>
            </a:extLst>
          </p:cNvPr>
          <p:cNvSpPr>
            <a:spLocks noGrp="1"/>
          </p:cNvSpPr>
          <p:nvPr/>
        </p:nvSpPr>
        <p:spPr>
          <a:xfrm>
            <a:off x="2552700" y="3676650"/>
            <a:ext cx="514350" cy="0"/>
          </a:xfrm>
          <a:prstGeom prst="line">
            <a:avLst/>
          </a:prstGeom>
          <a:noFill/>
          <a:ln w="13335">
            <a:solidFill>
              <a:srgbClr val="2862AA"/>
            </a:solidFill>
            <a:prstDash val="solid"/>
          </a:ln>
        </p:spPr>
      </p:sp>
      <p:sp>
        <p:nvSpPr>
          <p:cNvPr id="18" name="activity-left-node">
            <a:extLst>
              <a:ext uri="{FF2B5EF4-FFF2-40B4-BE49-F238E27FC236}">
                <a16:creationId xmlns:a16="http://schemas.microsoft.com/office/drawing/2014/main" id="{61DC4950-E910-4AA5-840B-B61E8D5D8C11}"/>
              </a:ext>
            </a:extLst>
          </p:cNvPr>
          <p:cNvSpPr>
            <a:spLocks noGrp="1"/>
          </p:cNvSpPr>
          <p:nvPr/>
        </p:nvSpPr>
        <p:spPr>
          <a:xfrm>
            <a:off x="3086100" y="3638550"/>
            <a:ext cx="85725" cy="85725"/>
          </a:xfrm>
          <a:prstGeom prst="ellipse">
            <a:avLst/>
          </a:prstGeom>
          <a:solidFill>
            <a:srgbClr val="FFFFFF"/>
          </a:solidFill>
          <a:ln w="14288">
            <a:solidFill>
              <a:srgbClr val="C8972C"/>
            </a:solidFill>
            <a:prstDash val="solid"/>
          </a:ln>
        </p:spPr>
      </p:sp>
      <p:sp>
        <p:nvSpPr>
          <p:cNvPr id="19" name="activity-right-node">
            <a:extLst>
              <a:ext uri="{FF2B5EF4-FFF2-40B4-BE49-F238E27FC236}">
                <a16:creationId xmlns:a16="http://schemas.microsoft.com/office/drawing/2014/main" id="{825A2979-FD3A-4780-A5BF-2B891AF31213}"/>
              </a:ext>
            </a:extLst>
          </p:cNvPr>
          <p:cNvSpPr>
            <a:spLocks noGrp="1"/>
          </p:cNvSpPr>
          <p:nvPr/>
        </p:nvSpPr>
        <p:spPr>
          <a:xfrm>
            <a:off x="9020175" y="3638550"/>
            <a:ext cx="85725" cy="85725"/>
          </a:xfrm>
          <a:prstGeom prst="ellipse">
            <a:avLst/>
          </a:prstGeom>
          <a:solidFill>
            <a:srgbClr val="FFFFFF"/>
          </a:solidFill>
          <a:ln w="14288">
            <a:solidFill>
              <a:srgbClr val="C8972C"/>
            </a:solidFill>
            <a:prstDash val="solid"/>
          </a:ln>
        </p:spPr>
      </p:sp>
      <p:sp>
        <p:nvSpPr>
          <p:cNvPr id="20" name="activity-right-trace-1">
            <a:extLst>
              <a:ext uri="{FF2B5EF4-FFF2-40B4-BE49-F238E27FC236}">
                <a16:creationId xmlns:a16="http://schemas.microsoft.com/office/drawing/2014/main" id="{38B16BE7-5C8D-4EAB-B2EE-18E787DD60AA}"/>
              </a:ext>
            </a:extLst>
          </p:cNvPr>
          <p:cNvSpPr>
            <a:spLocks noGrp="1"/>
          </p:cNvSpPr>
          <p:nvPr/>
        </p:nvSpPr>
        <p:spPr>
          <a:xfrm>
            <a:off x="9105900" y="3676650"/>
            <a:ext cx="514350" cy="0"/>
          </a:xfrm>
          <a:prstGeom prst="line">
            <a:avLst/>
          </a:prstGeom>
          <a:noFill/>
          <a:ln w="13335">
            <a:solidFill>
              <a:srgbClr val="2862AA"/>
            </a:solidFill>
            <a:prstDash val="solid"/>
          </a:ln>
        </p:spPr>
      </p:sp>
      <p:sp>
        <p:nvSpPr>
          <p:cNvPr id="21" name="activity-right-trace-2">
            <a:extLst>
              <a:ext uri="{FF2B5EF4-FFF2-40B4-BE49-F238E27FC236}">
                <a16:creationId xmlns:a16="http://schemas.microsoft.com/office/drawing/2014/main" id="{B0073C7F-4C58-47DE-BB0A-AFC31EDFE384}"/>
              </a:ext>
            </a:extLst>
          </p:cNvPr>
          <p:cNvSpPr>
            <a:spLocks noGrp="1"/>
          </p:cNvSpPr>
          <p:nvPr/>
        </p:nvSpPr>
        <p:spPr>
          <a:xfrm>
            <a:off x="9620250" y="3676650"/>
            <a:ext cx="0" cy="95250"/>
          </a:xfrm>
          <a:prstGeom prst="line">
            <a:avLst/>
          </a:prstGeom>
          <a:noFill/>
          <a:ln w="13335">
            <a:solidFill>
              <a:srgbClr val="2862AA"/>
            </a:solidFill>
            <a:prstDash val="solid"/>
          </a:ln>
        </p:spPr>
      </p:sp>
      <p:sp>
        <p:nvSpPr>
          <p:cNvPr id="22" name="activity-right-trace-3">
            <a:extLst>
              <a:ext uri="{FF2B5EF4-FFF2-40B4-BE49-F238E27FC236}">
                <a16:creationId xmlns:a16="http://schemas.microsoft.com/office/drawing/2014/main" id="{0A4D59B6-4962-4FEF-A21B-2AF53EF32F99}"/>
              </a:ext>
            </a:extLst>
          </p:cNvPr>
          <p:cNvSpPr>
            <a:spLocks noGrp="1"/>
          </p:cNvSpPr>
          <p:nvPr/>
        </p:nvSpPr>
        <p:spPr>
          <a:xfrm>
            <a:off x="9620250" y="3771900"/>
            <a:ext cx="514350" cy="0"/>
          </a:xfrm>
          <a:prstGeom prst="line">
            <a:avLst/>
          </a:prstGeom>
          <a:noFill/>
          <a:ln w="13335">
            <a:solidFill>
              <a:srgbClr val="2862AA"/>
            </a:solidFill>
            <a:prstDash val="solid"/>
          </a:ln>
        </p:spPr>
      </p:sp>
      <p:sp>
        <p:nvSpPr>
          <p:cNvPr id="23" name="activity-title">
            <a:extLst>
              <a:ext uri="{FF2B5EF4-FFF2-40B4-BE49-F238E27FC236}">
                <a16:creationId xmlns:a16="http://schemas.microsoft.com/office/drawing/2014/main" id="{F746EC2E-9743-49CF-891C-11DBE19DF422}"/>
              </a:ext>
            </a:extLst>
          </p:cNvPr>
          <p:cNvSpPr>
            <a:spLocks noGrp="1"/>
          </p:cNvSpPr>
          <p:nvPr/>
        </p:nvSpPr>
        <p:spPr>
          <a:xfrm>
            <a:off x="3238500" y="3581400"/>
            <a:ext cx="5715000" cy="381000"/>
          </a:xfrm>
          <a:prstGeom prst="rect">
            <a:avLst/>
          </a:prstGeom>
          <a:noFill/>
          <a:ln w="0">
            <a:noFill/>
            <a:prstDash val="solid"/>
          </a:ln>
        </p:spPr>
        <p:txBody>
          <a:bodyPr wrap="square" lIns="0" tIns="0" rIns="0" bIns="0" anchor="ctr">
            <a:normAutofit fontScale="99498"/>
          </a:bodyPr>
          <a:lstStyle/>
          <a:p>
            <a:pPr algn="ctr">
              <a:buNone/>
              <a:defRPr sz="1875" b="1">
                <a:solidFill>
                  <a:srgbClr val="2862AA"/>
                </a:solidFill>
                <a:latin typeface="Aptos Display"/>
                <a:ea typeface="Aptos Display"/>
                <a:cs typeface="Aptos Display"/>
              </a:defRPr>
            </a:pPr>
            <a:r>
              <a:rPr sz="1875" b="1" dirty="0">
                <a:solidFill>
                  <a:srgbClr val="2862AA"/>
                </a:solidFill>
                <a:latin typeface="Aptos Display"/>
                <a:ea typeface="Aptos Display"/>
                <a:cs typeface="Aptos Display"/>
              </a:rPr>
              <a:t>ACTIVIDAD </a:t>
            </a:r>
            <a:r>
              <a:rPr lang="es-MX" sz="1875" b="1" dirty="0">
                <a:solidFill>
                  <a:srgbClr val="2862AA"/>
                </a:solidFill>
                <a:latin typeface="Aptos Display"/>
                <a:ea typeface="Aptos Display"/>
                <a:cs typeface="Aptos Display"/>
              </a:rPr>
              <a:t>4</a:t>
            </a:r>
            <a:r>
              <a:rPr sz="1875" b="1" dirty="0">
                <a:solidFill>
                  <a:srgbClr val="2862AA"/>
                </a:solidFill>
                <a:latin typeface="Aptos Display"/>
                <a:ea typeface="Aptos Display"/>
                <a:cs typeface="Aptos Display"/>
              </a:rPr>
              <a:t>.2 — </a:t>
            </a:r>
            <a:r>
              <a:rPr b="0" i="0" dirty="0">
                <a:solidFill>
                  <a:srgbClr val="212529"/>
                </a:solidFill>
                <a:latin typeface="-apple-system"/>
                <a:ea typeface="-apple-system"/>
                <a:cs typeface="-apple-system"/>
              </a:rPr>
              <a:t>REPORTE DE PRACTICA</a:t>
            </a:r>
          </a:p>
          <a:p>
            <a:pPr algn="ctr">
              <a:buNone/>
              <a:defRPr sz="1875" b="1">
                <a:solidFill>
                  <a:srgbClr val="2862AA"/>
                </a:solidFill>
                <a:latin typeface="Aptos Display"/>
                <a:ea typeface="Aptos Display"/>
                <a:cs typeface="Aptos Display"/>
              </a:defRPr>
            </a:pPr>
            <a:endParaRPr sz="1875" b="1" dirty="0">
              <a:solidFill>
                <a:srgbClr val="2862AA"/>
              </a:solidFill>
              <a:latin typeface="Aptos Display"/>
              <a:ea typeface="Aptos Display"/>
              <a:cs typeface="Aptos Display"/>
            </a:endParaRPr>
          </a:p>
        </p:txBody>
      </p:sp>
      <p:sp>
        <p:nvSpPr>
          <p:cNvPr id="24" name="students-heading">
            <a:extLst>
              <a:ext uri="{FF2B5EF4-FFF2-40B4-BE49-F238E27FC236}">
                <a16:creationId xmlns:a16="http://schemas.microsoft.com/office/drawing/2014/main" id="{B3090DA1-DD45-4D5A-810A-68C80D1D5495}"/>
              </a:ext>
            </a:extLst>
          </p:cNvPr>
          <p:cNvSpPr>
            <a:spLocks noGrp="1"/>
          </p:cNvSpPr>
          <p:nvPr/>
        </p:nvSpPr>
        <p:spPr>
          <a:xfrm>
            <a:off x="2857500" y="4143375"/>
            <a:ext cx="4667250" cy="219075"/>
          </a:xfrm>
          <a:prstGeom prst="rect">
            <a:avLst/>
          </a:prstGeom>
          <a:noFill/>
          <a:ln w="0">
            <a:noFill/>
            <a:prstDash val="solid"/>
          </a:ln>
        </p:spPr>
        <p:txBody>
          <a:bodyPr wrap="square" lIns="0" tIns="0" rIns="0" bIns="0" anchor="ctr">
            <a:normAutofit/>
          </a:bodyPr>
          <a:lstStyle/>
          <a:p>
            <a:pPr algn="l">
              <a:buNone/>
              <a:defRPr sz="1275" b="1">
                <a:solidFill>
                  <a:srgbClr val="0B3473"/>
                </a:solidFill>
                <a:latin typeface="Aptos Display"/>
                <a:ea typeface="Aptos Display"/>
                <a:cs typeface="Aptos Display"/>
              </a:defRPr>
            </a:pPr>
            <a:r>
              <a:rPr sz="1275" b="1">
                <a:solidFill>
                  <a:srgbClr val="0B3473"/>
                </a:solidFill>
                <a:latin typeface="Aptos Display"/>
                <a:ea typeface="Aptos Display"/>
                <a:cs typeface="Aptos Display"/>
              </a:rPr>
              <a:t>PRESENTA</a:t>
            </a:r>
          </a:p>
        </p:txBody>
      </p:sp>
      <p:sp>
        <p:nvSpPr>
          <p:cNvPr id="25" name="enrollment-heading">
            <a:extLst>
              <a:ext uri="{FF2B5EF4-FFF2-40B4-BE49-F238E27FC236}">
                <a16:creationId xmlns:a16="http://schemas.microsoft.com/office/drawing/2014/main" id="{8497282D-0F32-46CC-9BD6-A908719C1476}"/>
              </a:ext>
            </a:extLst>
          </p:cNvPr>
          <p:cNvSpPr>
            <a:spLocks noGrp="1"/>
          </p:cNvSpPr>
          <p:nvPr/>
        </p:nvSpPr>
        <p:spPr>
          <a:xfrm>
            <a:off x="7715250" y="4143375"/>
            <a:ext cx="1619250" cy="219075"/>
          </a:xfrm>
          <a:prstGeom prst="rect">
            <a:avLst/>
          </a:prstGeom>
          <a:noFill/>
          <a:ln w="0">
            <a:noFill/>
            <a:prstDash val="solid"/>
          </a:ln>
        </p:spPr>
        <p:txBody>
          <a:bodyPr wrap="square" lIns="0" tIns="0" rIns="0" bIns="0" anchor="ctr">
            <a:normAutofit/>
          </a:bodyPr>
          <a:lstStyle/>
          <a:p>
            <a:pPr algn="r">
              <a:buNone/>
              <a:defRPr sz="1275" b="1">
                <a:solidFill>
                  <a:srgbClr val="0B3473"/>
                </a:solidFill>
                <a:latin typeface="Aptos Display"/>
                <a:ea typeface="Aptos Display"/>
                <a:cs typeface="Aptos Display"/>
              </a:defRPr>
            </a:pPr>
            <a:r>
              <a:rPr sz="1275" b="1">
                <a:solidFill>
                  <a:srgbClr val="0B3473"/>
                </a:solidFill>
                <a:latin typeface="Aptos Display"/>
                <a:ea typeface="Aptos Display"/>
                <a:cs typeface="Aptos Display"/>
              </a:rPr>
              <a:t>MATRÍCULA</a:t>
            </a:r>
          </a:p>
        </p:txBody>
      </p:sp>
      <p:sp>
        <p:nvSpPr>
          <p:cNvPr id="26" name="students-top-rule">
            <a:extLst>
              <a:ext uri="{FF2B5EF4-FFF2-40B4-BE49-F238E27FC236}">
                <a16:creationId xmlns:a16="http://schemas.microsoft.com/office/drawing/2014/main" id="{A7922C15-D34B-4B95-9915-A3A8D77C7F79}"/>
              </a:ext>
            </a:extLst>
          </p:cNvPr>
          <p:cNvSpPr>
            <a:spLocks noGrp="1"/>
          </p:cNvSpPr>
          <p:nvPr/>
        </p:nvSpPr>
        <p:spPr>
          <a:xfrm>
            <a:off x="2857500" y="4381500"/>
            <a:ext cx="6477000" cy="0"/>
          </a:xfrm>
          <a:prstGeom prst="line">
            <a:avLst/>
          </a:prstGeom>
          <a:noFill/>
          <a:ln w="14288">
            <a:solidFill>
              <a:srgbClr val="0B3473"/>
            </a:solidFill>
            <a:prstDash val="solid"/>
          </a:ln>
        </p:spPr>
      </p:sp>
      <p:sp>
        <p:nvSpPr>
          <p:cNvPr id="28" name="students-row-divider">
            <a:extLst>
              <a:ext uri="{FF2B5EF4-FFF2-40B4-BE49-F238E27FC236}">
                <a16:creationId xmlns:a16="http://schemas.microsoft.com/office/drawing/2014/main" id="{0EBB92DB-59C3-4BDC-99A0-F2F4D93B78A4}"/>
              </a:ext>
            </a:extLst>
          </p:cNvPr>
          <p:cNvSpPr>
            <a:spLocks noGrp="1"/>
          </p:cNvSpPr>
          <p:nvPr/>
        </p:nvSpPr>
        <p:spPr>
          <a:xfrm>
            <a:off x="2857500" y="4800600"/>
            <a:ext cx="6477000" cy="0"/>
          </a:xfrm>
          <a:prstGeom prst="line">
            <a:avLst/>
          </a:prstGeom>
          <a:noFill/>
          <a:ln w="9525">
            <a:solidFill>
              <a:srgbClr val="DCEBFA"/>
            </a:solidFill>
            <a:prstDash val="solid"/>
          </a:ln>
        </p:spPr>
      </p:sp>
      <p:sp>
        <p:nvSpPr>
          <p:cNvPr id="29" name="students-column-divider">
            <a:extLst>
              <a:ext uri="{FF2B5EF4-FFF2-40B4-BE49-F238E27FC236}">
                <a16:creationId xmlns:a16="http://schemas.microsoft.com/office/drawing/2014/main" id="{D19BD447-A808-4FDA-A54C-331FE02FEA74}"/>
              </a:ext>
            </a:extLst>
          </p:cNvPr>
          <p:cNvSpPr>
            <a:spLocks noGrp="1"/>
          </p:cNvSpPr>
          <p:nvPr/>
        </p:nvSpPr>
        <p:spPr>
          <a:xfrm>
            <a:off x="7639050" y="4476750"/>
            <a:ext cx="0" cy="647700"/>
          </a:xfrm>
          <a:prstGeom prst="line">
            <a:avLst/>
          </a:prstGeom>
          <a:noFill/>
          <a:ln w="9525">
            <a:solidFill>
              <a:srgbClr val="9DB9DB"/>
            </a:solidFill>
            <a:prstDash val="solid"/>
          </a:ln>
        </p:spPr>
      </p:sp>
      <p:sp>
        <p:nvSpPr>
          <p:cNvPr id="30" name="student-row-one-marker">
            <a:extLst>
              <a:ext uri="{FF2B5EF4-FFF2-40B4-BE49-F238E27FC236}">
                <a16:creationId xmlns:a16="http://schemas.microsoft.com/office/drawing/2014/main" id="{4F497FA1-C313-4F3D-9493-840BF4D89598}"/>
              </a:ext>
            </a:extLst>
          </p:cNvPr>
          <p:cNvSpPr>
            <a:spLocks noGrp="1"/>
          </p:cNvSpPr>
          <p:nvPr/>
        </p:nvSpPr>
        <p:spPr>
          <a:xfrm>
            <a:off x="2876550" y="4486275"/>
            <a:ext cx="38100" cy="209550"/>
          </a:xfrm>
          <a:prstGeom prst="rect">
            <a:avLst/>
          </a:prstGeom>
          <a:solidFill>
            <a:srgbClr val="C8972C"/>
          </a:solidFill>
          <a:ln w="0">
            <a:noFill/>
            <a:prstDash val="solid"/>
          </a:ln>
        </p:spPr>
      </p:sp>
      <p:sp>
        <p:nvSpPr>
          <p:cNvPr id="34" name="student-two-name">
            <a:extLst>
              <a:ext uri="{FF2B5EF4-FFF2-40B4-BE49-F238E27FC236}">
                <a16:creationId xmlns:a16="http://schemas.microsoft.com/office/drawing/2014/main" id="{3EF7C761-CF7A-4E70-9E2B-16269734FC91}"/>
              </a:ext>
            </a:extLst>
          </p:cNvPr>
          <p:cNvSpPr>
            <a:spLocks noGrp="1"/>
          </p:cNvSpPr>
          <p:nvPr/>
        </p:nvSpPr>
        <p:spPr>
          <a:xfrm>
            <a:off x="3056554" y="4467225"/>
            <a:ext cx="4333875" cy="266700"/>
          </a:xfrm>
          <a:prstGeom prst="rect">
            <a:avLst/>
          </a:prstGeom>
          <a:noFill/>
          <a:ln w="0">
            <a:noFill/>
            <a:prstDash val="solid"/>
          </a:ln>
        </p:spPr>
        <p:txBody>
          <a:bodyPr wrap="square" lIns="0" tIns="0" rIns="0" bIns="0" anchor="ctr">
            <a:normAutofit/>
          </a:bodyPr>
          <a:lstStyle/>
          <a:p>
            <a:pPr algn="l">
              <a:buNone/>
              <a:defRPr sz="1500" b="0">
                <a:solidFill>
                  <a:srgbClr val="102B5C"/>
                </a:solidFill>
                <a:latin typeface="Aptos"/>
                <a:ea typeface="Aptos"/>
                <a:cs typeface="Aptos"/>
              </a:defRPr>
            </a:pPr>
            <a:r>
              <a:rPr sz="1500" b="0">
                <a:solidFill>
                  <a:srgbClr val="102B5C"/>
                </a:solidFill>
                <a:latin typeface="Aptos"/>
                <a:ea typeface="Aptos"/>
                <a:cs typeface="Aptos"/>
              </a:rPr>
              <a:t>Amaury Jahaziel Gordillo Hernández</a:t>
            </a:r>
          </a:p>
        </p:txBody>
      </p:sp>
      <p:sp>
        <p:nvSpPr>
          <p:cNvPr id="35" name="student-two-id">
            <a:extLst>
              <a:ext uri="{FF2B5EF4-FFF2-40B4-BE49-F238E27FC236}">
                <a16:creationId xmlns:a16="http://schemas.microsoft.com/office/drawing/2014/main" id="{05E44B11-B863-4ECE-A2F6-C9964031DF71}"/>
              </a:ext>
            </a:extLst>
          </p:cNvPr>
          <p:cNvSpPr>
            <a:spLocks noGrp="1"/>
          </p:cNvSpPr>
          <p:nvPr/>
        </p:nvSpPr>
        <p:spPr>
          <a:xfrm>
            <a:off x="7791450" y="4438649"/>
            <a:ext cx="1524000" cy="266700"/>
          </a:xfrm>
          <a:prstGeom prst="rect">
            <a:avLst/>
          </a:prstGeom>
          <a:noFill/>
          <a:ln w="0">
            <a:noFill/>
            <a:prstDash val="solid"/>
          </a:ln>
        </p:spPr>
        <p:txBody>
          <a:bodyPr wrap="square" lIns="0" tIns="0" rIns="0" bIns="0" anchor="ctr">
            <a:normAutofit/>
          </a:bodyPr>
          <a:lstStyle/>
          <a:p>
            <a:pPr algn="r">
              <a:buNone/>
              <a:defRPr sz="1425" b="0">
                <a:solidFill>
                  <a:srgbClr val="102B5C"/>
                </a:solidFill>
                <a:latin typeface="Aptos"/>
                <a:ea typeface="Aptos"/>
                <a:cs typeface="Aptos"/>
              </a:defRPr>
            </a:pPr>
            <a:r>
              <a:rPr sz="1425" b="0">
                <a:solidFill>
                  <a:srgbClr val="102B5C"/>
                </a:solidFill>
                <a:latin typeface="Aptos"/>
                <a:ea typeface="Aptos"/>
                <a:cs typeface="Aptos"/>
              </a:rPr>
              <a:t>231260074</a:t>
            </a:r>
          </a:p>
        </p:txBody>
      </p:sp>
      <p:sp>
        <p:nvSpPr>
          <p:cNvPr id="36" name="teacher-heading">
            <a:extLst>
              <a:ext uri="{FF2B5EF4-FFF2-40B4-BE49-F238E27FC236}">
                <a16:creationId xmlns:a16="http://schemas.microsoft.com/office/drawing/2014/main" id="{F388D88D-A3F7-4DA5-9D23-808A58C08C1E}"/>
              </a:ext>
            </a:extLst>
          </p:cNvPr>
          <p:cNvSpPr>
            <a:spLocks noGrp="1"/>
          </p:cNvSpPr>
          <p:nvPr/>
        </p:nvSpPr>
        <p:spPr>
          <a:xfrm>
            <a:off x="4191000" y="5467350"/>
            <a:ext cx="3810000" cy="219075"/>
          </a:xfrm>
          <a:prstGeom prst="rect">
            <a:avLst/>
          </a:prstGeom>
          <a:noFill/>
          <a:ln w="0">
            <a:noFill/>
            <a:prstDash val="solid"/>
          </a:ln>
        </p:spPr>
        <p:txBody>
          <a:bodyPr wrap="square" lIns="0" tIns="0" rIns="0" bIns="0" anchor="ctr">
            <a:normAutofit/>
          </a:bodyPr>
          <a:lstStyle/>
          <a:p>
            <a:pPr algn="ctr">
              <a:buNone/>
              <a:defRPr sz="1275" b="1">
                <a:solidFill>
                  <a:srgbClr val="55739E"/>
                </a:solidFill>
                <a:latin typeface="Aptos Display"/>
                <a:ea typeface="Aptos Display"/>
                <a:cs typeface="Aptos Display"/>
              </a:defRPr>
            </a:pPr>
            <a:r>
              <a:rPr sz="1275" b="1">
                <a:solidFill>
                  <a:srgbClr val="55739E"/>
                </a:solidFill>
                <a:latin typeface="Aptos Display"/>
                <a:ea typeface="Aptos Display"/>
                <a:cs typeface="Aptos Display"/>
              </a:rPr>
              <a:t>DOCENTE</a:t>
            </a:r>
          </a:p>
        </p:txBody>
      </p:sp>
      <p:sp>
        <p:nvSpPr>
          <p:cNvPr id="37" name="teacher-name">
            <a:extLst>
              <a:ext uri="{FF2B5EF4-FFF2-40B4-BE49-F238E27FC236}">
                <a16:creationId xmlns:a16="http://schemas.microsoft.com/office/drawing/2014/main" id="{AA678B21-6A90-4BCE-8092-FF0E0979DE5C}"/>
              </a:ext>
            </a:extLst>
          </p:cNvPr>
          <p:cNvSpPr>
            <a:spLocks noGrp="1"/>
          </p:cNvSpPr>
          <p:nvPr/>
        </p:nvSpPr>
        <p:spPr>
          <a:xfrm>
            <a:off x="2857500" y="5705475"/>
            <a:ext cx="6477000" cy="295275"/>
          </a:xfrm>
          <a:prstGeom prst="rect">
            <a:avLst/>
          </a:prstGeom>
          <a:noFill/>
          <a:ln w="0">
            <a:noFill/>
            <a:prstDash val="solid"/>
          </a:ln>
        </p:spPr>
        <p:txBody>
          <a:bodyPr wrap="square" lIns="0" tIns="0" rIns="0" bIns="0" anchor="ctr">
            <a:normAutofit/>
          </a:bodyPr>
          <a:lstStyle/>
          <a:p>
            <a:pPr algn="ctr">
              <a:buNone/>
            </a:pPr>
            <a:r>
              <a:rPr sz="1800" b="1">
                <a:latin typeface="Aptos Display"/>
                <a:ea typeface="Aptos Display"/>
                <a:cs typeface="Aptos Display"/>
              </a:rPr>
              <a:t>ING. FRANCISCO JAVIER MINGO VELAZQUEZ</a:t>
            </a:r>
            <a:endParaRPr sz="1800">
              <a:latin typeface="Arial"/>
              <a:ea typeface="Arial"/>
              <a:cs typeface="Arial"/>
            </a:endParaRPr>
          </a:p>
        </p:txBody>
      </p:sp>
      <p:sp>
        <p:nvSpPr>
          <p:cNvPr id="38" name="footer-rule">
            <a:extLst>
              <a:ext uri="{FF2B5EF4-FFF2-40B4-BE49-F238E27FC236}">
                <a16:creationId xmlns:a16="http://schemas.microsoft.com/office/drawing/2014/main" id="{7C40688F-E9E3-4093-9368-ADED90666EB5}"/>
              </a:ext>
            </a:extLst>
          </p:cNvPr>
          <p:cNvSpPr>
            <a:spLocks noGrp="1"/>
          </p:cNvSpPr>
          <p:nvPr/>
        </p:nvSpPr>
        <p:spPr>
          <a:xfrm>
            <a:off x="1943100" y="6191250"/>
            <a:ext cx="8305800" cy="0"/>
          </a:xfrm>
          <a:prstGeom prst="line">
            <a:avLst/>
          </a:prstGeom>
          <a:noFill/>
          <a:ln w="11430">
            <a:solidFill>
              <a:srgbClr val="9DB9DB"/>
            </a:solidFill>
            <a:prstDash val="solid"/>
          </a:ln>
        </p:spPr>
      </p:sp>
      <p:sp>
        <p:nvSpPr>
          <p:cNvPr id="39" name="footer-rule-accent">
            <a:extLst>
              <a:ext uri="{FF2B5EF4-FFF2-40B4-BE49-F238E27FC236}">
                <a16:creationId xmlns:a16="http://schemas.microsoft.com/office/drawing/2014/main" id="{AA9604F1-D818-4EDE-AFC0-507B4EE53347}"/>
              </a:ext>
            </a:extLst>
          </p:cNvPr>
          <p:cNvSpPr>
            <a:spLocks noGrp="1"/>
          </p:cNvSpPr>
          <p:nvPr/>
        </p:nvSpPr>
        <p:spPr>
          <a:xfrm>
            <a:off x="5829300" y="6172200"/>
            <a:ext cx="533400" cy="38100"/>
          </a:xfrm>
          <a:prstGeom prst="rect">
            <a:avLst/>
          </a:prstGeom>
          <a:solidFill>
            <a:srgbClr val="C8972C"/>
          </a:solidFill>
          <a:ln w="0">
            <a:noFill/>
            <a:prstDash val="solid"/>
          </a:ln>
        </p:spPr>
      </p:sp>
      <p:sp>
        <p:nvSpPr>
          <p:cNvPr id="40" name="date-location">
            <a:extLst>
              <a:ext uri="{FF2B5EF4-FFF2-40B4-BE49-F238E27FC236}">
                <a16:creationId xmlns:a16="http://schemas.microsoft.com/office/drawing/2014/main" id="{8EF49A72-4459-4AD1-9919-B580F4EB3D0A}"/>
              </a:ext>
            </a:extLst>
          </p:cNvPr>
          <p:cNvSpPr>
            <a:spLocks noGrp="1"/>
          </p:cNvSpPr>
          <p:nvPr/>
        </p:nvSpPr>
        <p:spPr>
          <a:xfrm>
            <a:off x="2476500" y="6372225"/>
            <a:ext cx="7239000" cy="228600"/>
          </a:xfrm>
          <a:prstGeom prst="rect">
            <a:avLst/>
          </a:prstGeom>
          <a:noFill/>
          <a:ln w="0">
            <a:noFill/>
            <a:prstDash val="solid"/>
          </a:ln>
        </p:spPr>
        <p:txBody>
          <a:bodyPr wrap="square" lIns="0" tIns="0" rIns="0" bIns="0" anchor="ctr">
            <a:normAutofit/>
          </a:bodyPr>
          <a:lstStyle/>
          <a:p>
            <a:pPr algn="ctr">
              <a:buNone/>
              <a:defRPr sz="1350" b="0">
                <a:solidFill>
                  <a:srgbClr val="0B3473"/>
                </a:solidFill>
                <a:latin typeface="Aptos"/>
                <a:ea typeface="Aptos"/>
                <a:cs typeface="Aptos"/>
              </a:defRPr>
            </a:pPr>
            <a:r>
              <a:rPr lang="es-MX" sz="1350" b="0" dirty="0">
                <a:solidFill>
                  <a:srgbClr val="0B3473"/>
                </a:solidFill>
                <a:latin typeface="Aptos"/>
                <a:ea typeface="Aptos"/>
                <a:cs typeface="Aptos"/>
              </a:rPr>
              <a:t>14 DE SEPTIEMBRE </a:t>
            </a:r>
            <a:r>
              <a:rPr sz="1350" b="0" dirty="0">
                <a:solidFill>
                  <a:srgbClr val="0B3473"/>
                </a:solidFill>
                <a:latin typeface="Aptos"/>
                <a:ea typeface="Aptos"/>
                <a:cs typeface="Aptos"/>
              </a:rPr>
              <a:t>DE 2026  ·  VENUSTIANO CARRANZA, CHIAPAS</a:t>
            </a:r>
          </a:p>
        </p:txBody>
      </p:sp>
      <p:pic>
        <p:nvPicPr>
          <p:cNvPr id="75" name="Imagen 41"/>
          <p:cNvPicPr>
            <a:picLocks noChangeAspect="1"/>
          </p:cNvPicPr>
          <p:nvPr/>
        </p:nvPicPr>
        <p:blipFill>
          <a:blip r:embed="rId4"/>
          <a:srcRect/>
          <a:stretch>
            <a:fillRect/>
          </a:stretch>
        </p:blipFill>
        <p:spPr>
          <a:xfrm>
            <a:off x="501576" y="128441"/>
            <a:ext cx="1834529" cy="809723"/>
          </a:xfrm>
          <a:prstGeom prst="rect">
            <a:avLst/>
          </a:prstGeom>
          <a:ln>
            <a:noFill/>
          </a:ln>
        </p:spPr>
      </p:pic>
      <p:pic>
        <p:nvPicPr>
          <p:cNvPr id="76" name="Imagen 42"/>
          <p:cNvPicPr>
            <a:picLocks noChangeAspect="1"/>
          </p:cNvPicPr>
          <p:nvPr/>
        </p:nvPicPr>
        <p:blipFill rotWithShape="1">
          <a:blip r:embed="rId5"/>
          <a:srcRect/>
          <a:stretch/>
        </p:blipFill>
        <p:spPr>
          <a:xfrm>
            <a:off x="10619686" y="11882"/>
            <a:ext cx="1289022" cy="926282"/>
          </a:xfrm>
          <a:prstGeom prst="rect">
            <a:avLst/>
          </a:prstGeom>
          <a:ln>
            <a:noFill/>
          </a:ln>
        </p:spPr>
      </p:pic>
      <p:sp>
        <p:nvSpPr>
          <p:cNvPr id="5" name="activity-left-node">
            <a:extLst>
              <a:ext uri="{FF2B5EF4-FFF2-40B4-BE49-F238E27FC236}">
                <a16:creationId xmlns:a16="http://schemas.microsoft.com/office/drawing/2014/main" id="{AB38A2EA-B133-B170-0BFA-9B5674F0137F}"/>
              </a:ext>
            </a:extLst>
          </p:cNvPr>
          <p:cNvSpPr>
            <a:spLocks noGrp="1"/>
          </p:cNvSpPr>
          <p:nvPr/>
        </p:nvSpPr>
        <p:spPr>
          <a:xfrm>
            <a:off x="6053137" y="2148500"/>
            <a:ext cx="85725" cy="85725"/>
          </a:xfrm>
          <a:prstGeom prst="ellipse">
            <a:avLst/>
          </a:prstGeom>
          <a:solidFill>
            <a:srgbClr val="FFFFFF"/>
          </a:solidFill>
          <a:ln w="14288">
            <a:solidFill>
              <a:srgbClr val="C8972C"/>
            </a:solidFill>
            <a:prstDash val="solid"/>
          </a:ln>
        </p:spPr>
      </p:sp>
    </p:spTree>
    <p:extLst>
      <p:ext uri="{BB962C8B-B14F-4D97-AF65-F5344CB8AC3E}">
        <p14:creationId xmlns:p14="http://schemas.microsoft.com/office/powerpoint/2010/main" val="1524056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Ruta de la práctica</a:t>
            </a:r>
          </a:p>
        </p:txBody>
      </p:sp>
      <p:sp>
        <p:nvSpPr>
          <p:cNvPr id="6" name="Rounded Rectangle 5"/>
          <p:cNvSpPr/>
          <p:nvPr/>
        </p:nvSpPr>
        <p:spPr>
          <a:xfrm>
            <a:off x="685800" y="1325880"/>
            <a:ext cx="47548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 y="1380744"/>
            <a:ext cx="402336" cy="164592"/>
          </a:xfrm>
          <a:prstGeom prst="rect">
            <a:avLst/>
          </a:prstGeom>
          <a:noFill/>
        </p:spPr>
        <p:txBody>
          <a:bodyPr wrap="square" lIns="27432" tIns="18288" rIns="27432" bIns="18288">
            <a:spAutoFit/>
          </a:bodyPr>
          <a:lstStyle/>
          <a:p>
            <a:pPr algn="ctr">
              <a:defRPr sz="830" b="1">
                <a:solidFill>
                  <a:srgbClr val="FFFFFF"/>
                </a:solidFill>
                <a:latin typeface="Aptos"/>
              </a:defRPr>
            </a:pPr>
            <a:r>
              <a:t>01</a:t>
            </a:r>
          </a:p>
        </p:txBody>
      </p:sp>
      <p:sp>
        <p:nvSpPr>
          <p:cNvPr id="8" name="TextBox 7"/>
          <p:cNvSpPr txBox="1"/>
          <p:nvPr/>
        </p:nvSpPr>
        <p:spPr>
          <a:xfrm>
            <a:off x="1417320" y="1371600"/>
            <a:ext cx="2926080" cy="219456"/>
          </a:xfrm>
          <a:prstGeom prst="rect">
            <a:avLst/>
          </a:prstGeom>
          <a:noFill/>
        </p:spPr>
        <p:txBody>
          <a:bodyPr wrap="square" lIns="27432" tIns="18288" rIns="27432" bIns="18288">
            <a:spAutoFit/>
          </a:bodyPr>
          <a:lstStyle/>
          <a:p>
            <a:pPr algn="l">
              <a:defRPr sz="1300" b="1">
                <a:solidFill>
                  <a:srgbClr val="111827"/>
                </a:solidFill>
                <a:latin typeface="Aptos"/>
              </a:defRPr>
            </a:pPr>
            <a:r>
              <a:t>Base de la práctica</a:t>
            </a:r>
          </a:p>
        </p:txBody>
      </p:sp>
      <p:sp>
        <p:nvSpPr>
          <p:cNvPr id="9" name="TextBox 8"/>
          <p:cNvSpPr txBox="1"/>
          <p:nvPr/>
        </p:nvSpPr>
        <p:spPr>
          <a:xfrm>
            <a:off x="4800600" y="1380744"/>
            <a:ext cx="5760720" cy="201168"/>
          </a:xfrm>
          <a:prstGeom prst="rect">
            <a:avLst/>
          </a:prstGeom>
          <a:noFill/>
        </p:spPr>
        <p:txBody>
          <a:bodyPr wrap="square" lIns="27432" tIns="18288" rIns="27432" bIns="18288">
            <a:spAutoFit/>
          </a:bodyPr>
          <a:lstStyle/>
          <a:p>
            <a:pPr algn="l">
              <a:defRPr sz="1130" b="0">
                <a:solidFill>
                  <a:srgbClr val="374151"/>
                </a:solidFill>
                <a:latin typeface="Aptos"/>
              </a:defRPr>
            </a:pPr>
            <a:r>
              <a:t>Introducción, justificación y objetivo.</a:t>
            </a:r>
          </a:p>
        </p:txBody>
      </p:sp>
      <p:cxnSp>
        <p:nvCxnSpPr>
          <p:cNvPr id="10" name="Connector 9"/>
          <p:cNvCxnSpPr/>
          <p:nvPr/>
        </p:nvCxnSpPr>
        <p:spPr>
          <a:xfrm>
            <a:off x="923544" y="1636776"/>
            <a:ext cx="0" cy="374904"/>
          </a:xfrm>
          <a:prstGeom prst="line">
            <a:avLst/>
          </a:prstGeom>
          <a:ln w="12700">
            <a:solidFill>
              <a:srgbClr val="E5E7EB"/>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85800" y="2075688"/>
            <a:ext cx="47548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6" y="2130552"/>
            <a:ext cx="402336" cy="164592"/>
          </a:xfrm>
          <a:prstGeom prst="rect">
            <a:avLst/>
          </a:prstGeom>
          <a:noFill/>
        </p:spPr>
        <p:txBody>
          <a:bodyPr wrap="square" lIns="27432" tIns="18288" rIns="27432" bIns="18288">
            <a:spAutoFit/>
          </a:bodyPr>
          <a:lstStyle/>
          <a:p>
            <a:pPr algn="ctr">
              <a:defRPr sz="830" b="1">
                <a:solidFill>
                  <a:srgbClr val="FFFFFF"/>
                </a:solidFill>
                <a:latin typeface="Aptos"/>
              </a:defRPr>
            </a:pPr>
            <a:r>
              <a:t>02</a:t>
            </a:r>
          </a:p>
        </p:txBody>
      </p:sp>
      <p:sp>
        <p:nvSpPr>
          <p:cNvPr id="13" name="TextBox 12"/>
          <p:cNvSpPr txBox="1"/>
          <p:nvPr/>
        </p:nvSpPr>
        <p:spPr>
          <a:xfrm>
            <a:off x="1417320" y="2121408"/>
            <a:ext cx="2926080" cy="219456"/>
          </a:xfrm>
          <a:prstGeom prst="rect">
            <a:avLst/>
          </a:prstGeom>
          <a:noFill/>
        </p:spPr>
        <p:txBody>
          <a:bodyPr wrap="square" lIns="27432" tIns="18288" rIns="27432" bIns="18288">
            <a:spAutoFit/>
          </a:bodyPr>
          <a:lstStyle/>
          <a:p>
            <a:pPr algn="l">
              <a:defRPr sz="1300" b="1">
                <a:solidFill>
                  <a:srgbClr val="111827"/>
                </a:solidFill>
                <a:latin typeface="Aptos"/>
              </a:defRPr>
            </a:pPr>
            <a:r>
              <a:t>Método de análisis</a:t>
            </a:r>
          </a:p>
        </p:txBody>
      </p:sp>
      <p:sp>
        <p:nvSpPr>
          <p:cNvPr id="14" name="TextBox 13"/>
          <p:cNvSpPr txBox="1"/>
          <p:nvPr/>
        </p:nvSpPr>
        <p:spPr>
          <a:xfrm>
            <a:off x="4800600" y="2130552"/>
            <a:ext cx="5760720" cy="201168"/>
          </a:xfrm>
          <a:prstGeom prst="rect">
            <a:avLst/>
          </a:prstGeom>
          <a:noFill/>
        </p:spPr>
        <p:txBody>
          <a:bodyPr wrap="square" lIns="27432" tIns="18288" rIns="27432" bIns="18288">
            <a:spAutoFit/>
          </a:bodyPr>
          <a:lstStyle/>
          <a:p>
            <a:pPr algn="l">
              <a:defRPr sz="1130" b="0">
                <a:solidFill>
                  <a:srgbClr val="374151"/>
                </a:solidFill>
                <a:latin typeface="Aptos"/>
              </a:defRPr>
            </a:pPr>
            <a:r>
              <a:t>Matriz probabilidad-impacto y criterio de priorización.</a:t>
            </a:r>
          </a:p>
        </p:txBody>
      </p:sp>
      <p:cxnSp>
        <p:nvCxnSpPr>
          <p:cNvPr id="15" name="Connector 14"/>
          <p:cNvCxnSpPr/>
          <p:nvPr/>
        </p:nvCxnSpPr>
        <p:spPr>
          <a:xfrm>
            <a:off x="923544" y="2386584"/>
            <a:ext cx="0" cy="374904"/>
          </a:xfrm>
          <a:prstGeom prst="line">
            <a:avLst/>
          </a:prstGeom>
          <a:ln w="12700">
            <a:solidFill>
              <a:srgbClr val="E5E7E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 y="2825496"/>
            <a:ext cx="47548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376" y="2880360"/>
            <a:ext cx="402336" cy="164592"/>
          </a:xfrm>
          <a:prstGeom prst="rect">
            <a:avLst/>
          </a:prstGeom>
          <a:noFill/>
        </p:spPr>
        <p:txBody>
          <a:bodyPr wrap="square" lIns="27432" tIns="18288" rIns="27432" bIns="18288">
            <a:spAutoFit/>
          </a:bodyPr>
          <a:lstStyle/>
          <a:p>
            <a:pPr algn="ctr">
              <a:defRPr sz="830" b="1">
                <a:solidFill>
                  <a:srgbClr val="FFFFFF"/>
                </a:solidFill>
                <a:latin typeface="Aptos"/>
              </a:defRPr>
            </a:pPr>
            <a:r>
              <a:t>03</a:t>
            </a:r>
          </a:p>
        </p:txBody>
      </p:sp>
      <p:sp>
        <p:nvSpPr>
          <p:cNvPr id="18" name="TextBox 17"/>
          <p:cNvSpPr txBox="1"/>
          <p:nvPr/>
        </p:nvSpPr>
        <p:spPr>
          <a:xfrm>
            <a:off x="1417320" y="2871215"/>
            <a:ext cx="2926080" cy="219456"/>
          </a:xfrm>
          <a:prstGeom prst="rect">
            <a:avLst/>
          </a:prstGeom>
          <a:noFill/>
        </p:spPr>
        <p:txBody>
          <a:bodyPr wrap="square" lIns="27432" tIns="18288" rIns="27432" bIns="18288">
            <a:spAutoFit/>
          </a:bodyPr>
          <a:lstStyle/>
          <a:p>
            <a:pPr algn="l">
              <a:defRPr sz="1300" b="1">
                <a:solidFill>
                  <a:srgbClr val="111827"/>
                </a:solidFill>
                <a:latin typeface="Aptos"/>
              </a:defRPr>
            </a:pPr>
            <a:r>
              <a:t>Casos documentados</a:t>
            </a:r>
          </a:p>
        </p:txBody>
      </p:sp>
      <p:sp>
        <p:nvSpPr>
          <p:cNvPr id="19" name="TextBox 18"/>
          <p:cNvSpPr txBox="1"/>
          <p:nvPr/>
        </p:nvSpPr>
        <p:spPr>
          <a:xfrm>
            <a:off x="4800600" y="2880360"/>
            <a:ext cx="5760720" cy="201168"/>
          </a:xfrm>
          <a:prstGeom prst="rect">
            <a:avLst/>
          </a:prstGeom>
          <a:noFill/>
        </p:spPr>
        <p:txBody>
          <a:bodyPr wrap="square" lIns="27432" tIns="18288" rIns="27432" bIns="18288">
            <a:spAutoFit/>
          </a:bodyPr>
          <a:lstStyle/>
          <a:p>
            <a:pPr algn="l">
              <a:defRPr sz="1130" b="0">
                <a:solidFill>
                  <a:srgbClr val="374151"/>
                </a:solidFill>
                <a:latin typeface="Aptos"/>
              </a:defRPr>
            </a:pPr>
            <a:r>
              <a:t>Fast Burger, ProcesMuebles e Industria Bloquera.</a:t>
            </a:r>
          </a:p>
        </p:txBody>
      </p:sp>
      <p:cxnSp>
        <p:nvCxnSpPr>
          <p:cNvPr id="20" name="Connector 19"/>
          <p:cNvCxnSpPr/>
          <p:nvPr/>
        </p:nvCxnSpPr>
        <p:spPr>
          <a:xfrm>
            <a:off x="923544" y="3136391"/>
            <a:ext cx="0" cy="374905"/>
          </a:xfrm>
          <a:prstGeom prst="line">
            <a:avLst/>
          </a:prstGeom>
          <a:ln w="12700">
            <a:solidFill>
              <a:srgbClr val="E5E7E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85800" y="3575304"/>
            <a:ext cx="47548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2376" y="3630168"/>
            <a:ext cx="402336" cy="164592"/>
          </a:xfrm>
          <a:prstGeom prst="rect">
            <a:avLst/>
          </a:prstGeom>
          <a:noFill/>
        </p:spPr>
        <p:txBody>
          <a:bodyPr wrap="square" lIns="27432" tIns="18288" rIns="27432" bIns="18288">
            <a:spAutoFit/>
          </a:bodyPr>
          <a:lstStyle/>
          <a:p>
            <a:pPr algn="ctr">
              <a:defRPr sz="830" b="1">
                <a:solidFill>
                  <a:srgbClr val="FFFFFF"/>
                </a:solidFill>
                <a:latin typeface="Aptos"/>
              </a:defRPr>
            </a:pPr>
            <a:r>
              <a:t>04</a:t>
            </a:r>
          </a:p>
        </p:txBody>
      </p:sp>
      <p:sp>
        <p:nvSpPr>
          <p:cNvPr id="23" name="TextBox 22"/>
          <p:cNvSpPr txBox="1"/>
          <p:nvPr/>
        </p:nvSpPr>
        <p:spPr>
          <a:xfrm>
            <a:off x="1417320" y="3621024"/>
            <a:ext cx="2926080" cy="219456"/>
          </a:xfrm>
          <a:prstGeom prst="rect">
            <a:avLst/>
          </a:prstGeom>
          <a:noFill/>
        </p:spPr>
        <p:txBody>
          <a:bodyPr wrap="square" lIns="27432" tIns="18288" rIns="27432" bIns="18288">
            <a:spAutoFit/>
          </a:bodyPr>
          <a:lstStyle/>
          <a:p>
            <a:pPr algn="l">
              <a:defRPr sz="1300" b="1">
                <a:solidFill>
                  <a:srgbClr val="111827"/>
                </a:solidFill>
                <a:latin typeface="Aptos"/>
              </a:defRPr>
            </a:pPr>
            <a:r>
              <a:t>Gestión aplicada</a:t>
            </a:r>
          </a:p>
        </p:txBody>
      </p:sp>
      <p:sp>
        <p:nvSpPr>
          <p:cNvPr id="24" name="TextBox 23"/>
          <p:cNvSpPr txBox="1"/>
          <p:nvPr/>
        </p:nvSpPr>
        <p:spPr>
          <a:xfrm>
            <a:off x="4800600" y="3630168"/>
            <a:ext cx="5760720" cy="201168"/>
          </a:xfrm>
          <a:prstGeom prst="rect">
            <a:avLst/>
          </a:prstGeom>
          <a:noFill/>
        </p:spPr>
        <p:txBody>
          <a:bodyPr wrap="square" lIns="27432" tIns="18288" rIns="27432" bIns="18288">
            <a:spAutoFit/>
          </a:bodyPr>
          <a:lstStyle/>
          <a:p>
            <a:pPr algn="l">
              <a:defRPr sz="1130" b="0">
                <a:solidFill>
                  <a:srgbClr val="374151"/>
                </a:solidFill>
                <a:latin typeface="Aptos"/>
              </a:defRPr>
            </a:pPr>
            <a:r>
              <a:t>Riesgo, incidencia, corrección y riesgo residual.</a:t>
            </a:r>
          </a:p>
        </p:txBody>
      </p:sp>
      <p:cxnSp>
        <p:nvCxnSpPr>
          <p:cNvPr id="25" name="Connector 24"/>
          <p:cNvCxnSpPr/>
          <p:nvPr/>
        </p:nvCxnSpPr>
        <p:spPr>
          <a:xfrm>
            <a:off x="923544" y="3886200"/>
            <a:ext cx="0" cy="374904"/>
          </a:xfrm>
          <a:prstGeom prst="line">
            <a:avLst/>
          </a:prstGeom>
          <a:ln w="12700">
            <a:solidFill>
              <a:srgbClr val="E5E7EB"/>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85800" y="4325112"/>
            <a:ext cx="47548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2376" y="4379975"/>
            <a:ext cx="402336" cy="164592"/>
          </a:xfrm>
          <a:prstGeom prst="rect">
            <a:avLst/>
          </a:prstGeom>
          <a:noFill/>
        </p:spPr>
        <p:txBody>
          <a:bodyPr wrap="square" lIns="27432" tIns="18288" rIns="27432" bIns="18288">
            <a:spAutoFit/>
          </a:bodyPr>
          <a:lstStyle/>
          <a:p>
            <a:pPr algn="ctr">
              <a:defRPr sz="830" b="1">
                <a:solidFill>
                  <a:srgbClr val="FFFFFF"/>
                </a:solidFill>
                <a:latin typeface="Aptos"/>
              </a:defRPr>
            </a:pPr>
            <a:r>
              <a:t>05</a:t>
            </a:r>
          </a:p>
        </p:txBody>
      </p:sp>
      <p:sp>
        <p:nvSpPr>
          <p:cNvPr id="28" name="TextBox 27"/>
          <p:cNvSpPr txBox="1"/>
          <p:nvPr/>
        </p:nvSpPr>
        <p:spPr>
          <a:xfrm>
            <a:off x="1417320" y="4370831"/>
            <a:ext cx="2926080" cy="219456"/>
          </a:xfrm>
          <a:prstGeom prst="rect">
            <a:avLst/>
          </a:prstGeom>
          <a:noFill/>
        </p:spPr>
        <p:txBody>
          <a:bodyPr wrap="square" lIns="27432" tIns="18288" rIns="27432" bIns="18288">
            <a:spAutoFit/>
          </a:bodyPr>
          <a:lstStyle/>
          <a:p>
            <a:pPr algn="l">
              <a:defRPr sz="1300" b="1">
                <a:solidFill>
                  <a:srgbClr val="111827"/>
                </a:solidFill>
                <a:latin typeface="Aptos"/>
              </a:defRPr>
            </a:pPr>
            <a:r>
              <a:t>Cierre</a:t>
            </a:r>
          </a:p>
        </p:txBody>
      </p:sp>
      <p:sp>
        <p:nvSpPr>
          <p:cNvPr id="29" name="TextBox 28"/>
          <p:cNvSpPr txBox="1"/>
          <p:nvPr/>
        </p:nvSpPr>
        <p:spPr>
          <a:xfrm>
            <a:off x="4800600" y="4379975"/>
            <a:ext cx="5760720" cy="201168"/>
          </a:xfrm>
          <a:prstGeom prst="rect">
            <a:avLst/>
          </a:prstGeom>
          <a:noFill/>
        </p:spPr>
        <p:txBody>
          <a:bodyPr wrap="square" lIns="27432" tIns="18288" rIns="27432" bIns="18288">
            <a:spAutoFit/>
          </a:bodyPr>
          <a:lstStyle/>
          <a:p>
            <a:pPr algn="l">
              <a:defRPr sz="1130" b="0">
                <a:solidFill>
                  <a:srgbClr val="374151"/>
                </a:solidFill>
                <a:latin typeface="Aptos"/>
              </a:defRPr>
            </a:pPr>
            <a:r>
              <a:t>Resultados, conclusión y fuentes.</a:t>
            </a:r>
          </a:p>
        </p:txBody>
      </p:sp>
      <p:sp>
        <p:nvSpPr>
          <p:cNvPr id="31" name="TextBox 30"/>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Introducción y justificación</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La teoría solo sirve como apoyo; el peso de la práctica está en la evidencia real.</a:t>
            </a:r>
          </a:p>
        </p:txBody>
      </p:sp>
      <p:sp>
        <p:nvSpPr>
          <p:cNvPr id="6" name="Rounded Rectangle 5"/>
          <p:cNvSpPr/>
          <p:nvPr/>
        </p:nvSpPr>
        <p:spPr>
          <a:xfrm>
            <a:off x="640080" y="1280160"/>
            <a:ext cx="4846320" cy="128016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1481328"/>
            <a:ext cx="114300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5256" y="1536192"/>
            <a:ext cx="1069848" cy="164592"/>
          </a:xfrm>
          <a:prstGeom prst="rect">
            <a:avLst/>
          </a:prstGeom>
          <a:noFill/>
        </p:spPr>
        <p:txBody>
          <a:bodyPr wrap="square" lIns="27432" tIns="18288" rIns="27432" bIns="18288">
            <a:spAutoFit/>
          </a:bodyPr>
          <a:lstStyle/>
          <a:p>
            <a:pPr algn="ctr">
              <a:defRPr sz="830" b="1">
                <a:solidFill>
                  <a:srgbClr val="FFFFFF"/>
                </a:solidFill>
                <a:latin typeface="Aptos"/>
              </a:defRPr>
            </a:pPr>
            <a:r>
              <a:t>Introducción</a:t>
            </a:r>
          </a:p>
        </p:txBody>
      </p:sp>
      <p:sp>
        <p:nvSpPr>
          <p:cNvPr id="9" name="TextBox 8"/>
          <p:cNvSpPr txBox="1"/>
          <p:nvPr/>
        </p:nvSpPr>
        <p:spPr>
          <a:xfrm>
            <a:off x="868680" y="1828800"/>
            <a:ext cx="4251960" cy="502920"/>
          </a:xfrm>
          <a:prstGeom prst="rect">
            <a:avLst/>
          </a:prstGeom>
          <a:noFill/>
        </p:spPr>
        <p:txBody>
          <a:bodyPr wrap="square" lIns="27432" tIns="18288" rIns="27432" bIns="18288">
            <a:spAutoFit/>
          </a:bodyPr>
          <a:lstStyle/>
          <a:p>
            <a:pPr algn="l">
              <a:defRPr sz="1280" b="0">
                <a:solidFill>
                  <a:srgbClr val="111827"/>
                </a:solidFill>
                <a:latin typeface="Aptos"/>
              </a:defRPr>
            </a:pPr>
            <a:r>
              <a:t>En los tres proyectos se revisaron entregables, fechas, evidencias y decisiones. A partir de esa revisión se identificaron riesgos, incidencias y acciones de control.</a:t>
            </a:r>
          </a:p>
        </p:txBody>
      </p:sp>
      <p:sp>
        <p:nvSpPr>
          <p:cNvPr id="10" name="Rounded Rectangle 9"/>
          <p:cNvSpPr/>
          <p:nvPr/>
        </p:nvSpPr>
        <p:spPr>
          <a:xfrm>
            <a:off x="640080" y="2834640"/>
            <a:ext cx="4846320" cy="141732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68680" y="3035808"/>
            <a:ext cx="1143000" cy="29260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5256" y="3090672"/>
            <a:ext cx="1069848" cy="164592"/>
          </a:xfrm>
          <a:prstGeom prst="rect">
            <a:avLst/>
          </a:prstGeom>
          <a:noFill/>
        </p:spPr>
        <p:txBody>
          <a:bodyPr wrap="square" lIns="27432" tIns="18288" rIns="27432" bIns="18288">
            <a:spAutoFit/>
          </a:bodyPr>
          <a:lstStyle/>
          <a:p>
            <a:pPr algn="ctr">
              <a:defRPr sz="830" b="1">
                <a:solidFill>
                  <a:srgbClr val="FFFFFF"/>
                </a:solidFill>
                <a:latin typeface="Aptos"/>
              </a:defRPr>
            </a:pPr>
            <a:r>
              <a:t>Justificación</a:t>
            </a:r>
          </a:p>
        </p:txBody>
      </p:sp>
      <p:sp>
        <p:nvSpPr>
          <p:cNvPr id="13" name="TextBox 12"/>
          <p:cNvSpPr txBox="1"/>
          <p:nvPr/>
        </p:nvSpPr>
        <p:spPr>
          <a:xfrm>
            <a:off x="868680" y="3401568"/>
            <a:ext cx="4251960" cy="594360"/>
          </a:xfrm>
          <a:prstGeom prst="rect">
            <a:avLst/>
          </a:prstGeom>
          <a:noFill/>
        </p:spPr>
        <p:txBody>
          <a:bodyPr wrap="square" lIns="27432" tIns="18288" rIns="27432" bIns="18288">
            <a:spAutoFit/>
          </a:bodyPr>
          <a:lstStyle/>
          <a:p>
            <a:pPr algn="l">
              <a:defRPr sz="1250" b="0">
                <a:solidFill>
                  <a:srgbClr val="111827"/>
                </a:solidFill>
                <a:latin typeface="Aptos"/>
              </a:defRPr>
            </a:pPr>
            <a:r>
              <a:t>La práctica se justifica porque el seguimiento PM no termina al planificar. También exige detectar señales de error, documentar respuestas y verificar si el riesgo potencial ya se convirtió en una incidencia.</a:t>
            </a:r>
          </a:p>
        </p:txBody>
      </p:sp>
      <p:sp>
        <p:nvSpPr>
          <p:cNvPr id="14" name="Rounded Rectangle 13"/>
          <p:cNvSpPr/>
          <p:nvPr/>
        </p:nvSpPr>
        <p:spPr>
          <a:xfrm>
            <a:off x="6400800" y="1325880"/>
            <a:ext cx="420624"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37376" y="1380744"/>
            <a:ext cx="347472" cy="164592"/>
          </a:xfrm>
          <a:prstGeom prst="rect">
            <a:avLst/>
          </a:prstGeom>
          <a:noFill/>
        </p:spPr>
        <p:txBody>
          <a:bodyPr wrap="square" lIns="27432" tIns="18288" rIns="27432" bIns="18288">
            <a:spAutoFit/>
          </a:bodyPr>
          <a:lstStyle/>
          <a:p>
            <a:pPr algn="ctr">
              <a:defRPr sz="830" b="1">
                <a:solidFill>
                  <a:srgbClr val="FFFFFF"/>
                </a:solidFill>
                <a:latin typeface="Aptos"/>
              </a:defRPr>
            </a:pPr>
            <a:r>
              <a:t>01</a:t>
            </a:r>
          </a:p>
        </p:txBody>
      </p:sp>
      <p:sp>
        <p:nvSpPr>
          <p:cNvPr id="16" name="TextBox 15"/>
          <p:cNvSpPr txBox="1"/>
          <p:nvPr/>
        </p:nvSpPr>
        <p:spPr>
          <a:xfrm>
            <a:off x="6967728" y="1389888"/>
            <a:ext cx="4023360" cy="182880"/>
          </a:xfrm>
          <a:prstGeom prst="rect">
            <a:avLst/>
          </a:prstGeom>
          <a:noFill/>
        </p:spPr>
        <p:txBody>
          <a:bodyPr wrap="square" lIns="27432" tIns="18288" rIns="27432" bIns="18288">
            <a:spAutoFit/>
          </a:bodyPr>
          <a:lstStyle/>
          <a:p>
            <a:pPr algn="l">
              <a:defRPr sz="1320" b="1">
                <a:solidFill>
                  <a:srgbClr val="111827"/>
                </a:solidFill>
                <a:latin typeface="Aptos"/>
              </a:defRPr>
            </a:pPr>
            <a:r>
              <a:t>Revisar expediente</a:t>
            </a:r>
          </a:p>
        </p:txBody>
      </p:sp>
      <p:sp>
        <p:nvSpPr>
          <p:cNvPr id="17" name="Rounded Rectangle 16"/>
          <p:cNvSpPr/>
          <p:nvPr/>
        </p:nvSpPr>
        <p:spPr>
          <a:xfrm>
            <a:off x="6400800" y="2075688"/>
            <a:ext cx="420624"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37376" y="2130552"/>
            <a:ext cx="347472" cy="164592"/>
          </a:xfrm>
          <a:prstGeom prst="rect">
            <a:avLst/>
          </a:prstGeom>
          <a:noFill/>
        </p:spPr>
        <p:txBody>
          <a:bodyPr wrap="square" lIns="27432" tIns="18288" rIns="27432" bIns="18288">
            <a:spAutoFit/>
          </a:bodyPr>
          <a:lstStyle/>
          <a:p>
            <a:pPr algn="ctr">
              <a:defRPr sz="830" b="1">
                <a:solidFill>
                  <a:srgbClr val="FFFFFF"/>
                </a:solidFill>
                <a:latin typeface="Aptos"/>
              </a:defRPr>
            </a:pPr>
            <a:r>
              <a:t>02</a:t>
            </a:r>
          </a:p>
        </p:txBody>
      </p:sp>
      <p:sp>
        <p:nvSpPr>
          <p:cNvPr id="19" name="TextBox 18"/>
          <p:cNvSpPr txBox="1"/>
          <p:nvPr/>
        </p:nvSpPr>
        <p:spPr>
          <a:xfrm>
            <a:off x="6967728" y="2139696"/>
            <a:ext cx="4023360" cy="182880"/>
          </a:xfrm>
          <a:prstGeom prst="rect">
            <a:avLst/>
          </a:prstGeom>
          <a:noFill/>
        </p:spPr>
        <p:txBody>
          <a:bodyPr wrap="square" lIns="27432" tIns="18288" rIns="27432" bIns="18288">
            <a:spAutoFit/>
          </a:bodyPr>
          <a:lstStyle/>
          <a:p>
            <a:pPr algn="l">
              <a:defRPr sz="1320" b="1">
                <a:solidFill>
                  <a:srgbClr val="111827"/>
                </a:solidFill>
                <a:latin typeface="Aptos"/>
              </a:defRPr>
            </a:pPr>
            <a:r>
              <a:t>Ubicar riesgo</a:t>
            </a:r>
          </a:p>
        </p:txBody>
      </p:sp>
      <p:sp>
        <p:nvSpPr>
          <p:cNvPr id="20" name="Rounded Rectangle 19"/>
          <p:cNvSpPr/>
          <p:nvPr/>
        </p:nvSpPr>
        <p:spPr>
          <a:xfrm>
            <a:off x="6400800" y="2825496"/>
            <a:ext cx="420624"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37376" y="2880360"/>
            <a:ext cx="347472" cy="164592"/>
          </a:xfrm>
          <a:prstGeom prst="rect">
            <a:avLst/>
          </a:prstGeom>
          <a:noFill/>
        </p:spPr>
        <p:txBody>
          <a:bodyPr wrap="square" lIns="27432" tIns="18288" rIns="27432" bIns="18288">
            <a:spAutoFit/>
          </a:bodyPr>
          <a:lstStyle/>
          <a:p>
            <a:pPr algn="ctr">
              <a:defRPr sz="830" b="1">
                <a:solidFill>
                  <a:srgbClr val="FFFFFF"/>
                </a:solidFill>
                <a:latin typeface="Aptos"/>
              </a:defRPr>
            </a:pPr>
            <a:r>
              <a:t>03</a:t>
            </a:r>
          </a:p>
        </p:txBody>
      </p:sp>
      <p:sp>
        <p:nvSpPr>
          <p:cNvPr id="22" name="TextBox 21"/>
          <p:cNvSpPr txBox="1"/>
          <p:nvPr/>
        </p:nvSpPr>
        <p:spPr>
          <a:xfrm>
            <a:off x="6967728" y="2889503"/>
            <a:ext cx="4023360" cy="182880"/>
          </a:xfrm>
          <a:prstGeom prst="rect">
            <a:avLst/>
          </a:prstGeom>
          <a:noFill/>
        </p:spPr>
        <p:txBody>
          <a:bodyPr wrap="square" lIns="27432" tIns="18288" rIns="27432" bIns="18288">
            <a:spAutoFit/>
          </a:bodyPr>
          <a:lstStyle/>
          <a:p>
            <a:pPr algn="l">
              <a:defRPr sz="1320" b="1">
                <a:solidFill>
                  <a:srgbClr val="111827"/>
                </a:solidFill>
                <a:latin typeface="Aptos"/>
              </a:defRPr>
            </a:pPr>
            <a:r>
              <a:t>Medir prioridad</a:t>
            </a:r>
          </a:p>
        </p:txBody>
      </p:sp>
      <p:sp>
        <p:nvSpPr>
          <p:cNvPr id="23" name="Rounded Rectangle 22"/>
          <p:cNvSpPr/>
          <p:nvPr/>
        </p:nvSpPr>
        <p:spPr>
          <a:xfrm>
            <a:off x="6400800" y="3575304"/>
            <a:ext cx="420624"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37376" y="3630168"/>
            <a:ext cx="347472" cy="164592"/>
          </a:xfrm>
          <a:prstGeom prst="rect">
            <a:avLst/>
          </a:prstGeom>
          <a:noFill/>
        </p:spPr>
        <p:txBody>
          <a:bodyPr wrap="square" lIns="27432" tIns="18288" rIns="27432" bIns="18288">
            <a:spAutoFit/>
          </a:bodyPr>
          <a:lstStyle/>
          <a:p>
            <a:pPr algn="ctr">
              <a:defRPr sz="830" b="1">
                <a:solidFill>
                  <a:srgbClr val="FFFFFF"/>
                </a:solidFill>
                <a:latin typeface="Aptos"/>
              </a:defRPr>
            </a:pPr>
            <a:r>
              <a:t>04</a:t>
            </a:r>
          </a:p>
        </p:txBody>
      </p:sp>
      <p:sp>
        <p:nvSpPr>
          <p:cNvPr id="25" name="TextBox 24"/>
          <p:cNvSpPr txBox="1"/>
          <p:nvPr/>
        </p:nvSpPr>
        <p:spPr>
          <a:xfrm>
            <a:off x="6967728" y="3639312"/>
            <a:ext cx="4023360" cy="182880"/>
          </a:xfrm>
          <a:prstGeom prst="rect">
            <a:avLst/>
          </a:prstGeom>
          <a:noFill/>
        </p:spPr>
        <p:txBody>
          <a:bodyPr wrap="square" lIns="27432" tIns="18288" rIns="27432" bIns="18288">
            <a:spAutoFit/>
          </a:bodyPr>
          <a:lstStyle/>
          <a:p>
            <a:pPr algn="l">
              <a:defRPr sz="1320" b="1">
                <a:solidFill>
                  <a:srgbClr val="111827"/>
                </a:solidFill>
                <a:latin typeface="Aptos"/>
              </a:defRPr>
            </a:pPr>
            <a:r>
              <a:t>Definir respuesta</a:t>
            </a:r>
          </a:p>
        </p:txBody>
      </p:sp>
      <p:sp>
        <p:nvSpPr>
          <p:cNvPr id="26" name="Rounded Rectangle 25"/>
          <p:cNvSpPr/>
          <p:nvPr/>
        </p:nvSpPr>
        <p:spPr>
          <a:xfrm>
            <a:off x="6400800" y="4325112"/>
            <a:ext cx="420624"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37376" y="4379975"/>
            <a:ext cx="347472" cy="164592"/>
          </a:xfrm>
          <a:prstGeom prst="rect">
            <a:avLst/>
          </a:prstGeom>
          <a:noFill/>
        </p:spPr>
        <p:txBody>
          <a:bodyPr wrap="square" lIns="27432" tIns="18288" rIns="27432" bIns="18288">
            <a:spAutoFit/>
          </a:bodyPr>
          <a:lstStyle/>
          <a:p>
            <a:pPr algn="ctr">
              <a:defRPr sz="830" b="1">
                <a:solidFill>
                  <a:srgbClr val="FFFFFF"/>
                </a:solidFill>
                <a:latin typeface="Aptos"/>
              </a:defRPr>
            </a:pPr>
            <a:r>
              <a:t>05</a:t>
            </a:r>
          </a:p>
        </p:txBody>
      </p:sp>
      <p:sp>
        <p:nvSpPr>
          <p:cNvPr id="28" name="TextBox 27"/>
          <p:cNvSpPr txBox="1"/>
          <p:nvPr/>
        </p:nvSpPr>
        <p:spPr>
          <a:xfrm>
            <a:off x="6967728" y="4389120"/>
            <a:ext cx="4023360" cy="182880"/>
          </a:xfrm>
          <a:prstGeom prst="rect">
            <a:avLst/>
          </a:prstGeom>
          <a:noFill/>
        </p:spPr>
        <p:txBody>
          <a:bodyPr wrap="square" lIns="27432" tIns="18288" rIns="27432" bIns="18288">
            <a:spAutoFit/>
          </a:bodyPr>
          <a:lstStyle/>
          <a:p>
            <a:pPr algn="l">
              <a:defRPr sz="1320" b="1">
                <a:solidFill>
                  <a:srgbClr val="111827"/>
                </a:solidFill>
                <a:latin typeface="Aptos"/>
              </a:defRPr>
            </a:pPr>
            <a:r>
              <a:t>Verificar residual</a:t>
            </a:r>
          </a:p>
        </p:txBody>
      </p:sp>
      <p:sp>
        <p:nvSpPr>
          <p:cNvPr id="30" name="TextBox 29"/>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Objetivo y método utilizado</a:t>
            </a:r>
          </a:p>
        </p:txBody>
      </p:sp>
      <p:sp>
        <p:nvSpPr>
          <p:cNvPr id="6" name="Rounded Rectangle 5"/>
          <p:cNvSpPr/>
          <p:nvPr/>
        </p:nvSpPr>
        <p:spPr>
          <a:xfrm>
            <a:off x="640080" y="1143000"/>
            <a:ext cx="10881360" cy="96012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1344168"/>
            <a:ext cx="192024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5256" y="1399032"/>
            <a:ext cx="1847088" cy="164592"/>
          </a:xfrm>
          <a:prstGeom prst="rect">
            <a:avLst/>
          </a:prstGeom>
          <a:noFill/>
        </p:spPr>
        <p:txBody>
          <a:bodyPr wrap="square" lIns="27432" tIns="18288" rIns="27432" bIns="18288">
            <a:spAutoFit/>
          </a:bodyPr>
          <a:lstStyle/>
          <a:p>
            <a:pPr algn="ctr">
              <a:defRPr sz="830" b="1">
                <a:solidFill>
                  <a:srgbClr val="FFFFFF"/>
                </a:solidFill>
                <a:latin typeface="Aptos"/>
              </a:defRPr>
            </a:pPr>
            <a:r>
              <a:t>Objetivo de la práctica</a:t>
            </a:r>
          </a:p>
        </p:txBody>
      </p:sp>
      <p:sp>
        <p:nvSpPr>
          <p:cNvPr id="9" name="TextBox 8"/>
          <p:cNvSpPr txBox="1"/>
          <p:nvPr/>
        </p:nvSpPr>
        <p:spPr>
          <a:xfrm>
            <a:off x="868680" y="1709928"/>
            <a:ext cx="10287000" cy="228600"/>
          </a:xfrm>
          <a:prstGeom prst="rect">
            <a:avLst/>
          </a:prstGeom>
          <a:noFill/>
        </p:spPr>
        <p:txBody>
          <a:bodyPr wrap="square" lIns="27432" tIns="18288" rIns="27432" bIns="18288">
            <a:spAutoFit/>
          </a:bodyPr>
          <a:lstStyle/>
          <a:p>
            <a:pPr algn="l">
              <a:defRPr sz="1220" b="0">
                <a:solidFill>
                  <a:srgbClr val="111827"/>
                </a:solidFill>
                <a:latin typeface="Aptos"/>
              </a:defRPr>
            </a:pPr>
            <a:r>
              <a:t>Demostrar cómo se identificaron, analizaron, priorizaron y atendieron riesgos reales en los proyectos supervisados, usando documentos RISK, VME, INC, controles de cambio y registros de seguimiento.</a:t>
            </a:r>
          </a:p>
        </p:txBody>
      </p:sp>
      <p:sp>
        <p:nvSpPr>
          <p:cNvPr id="10" name="Oval 9"/>
          <p:cNvSpPr/>
          <p:nvPr/>
        </p:nvSpPr>
        <p:spPr>
          <a:xfrm>
            <a:off x="822960" y="3063240"/>
            <a:ext cx="420624" cy="420624"/>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154680"/>
            <a:ext cx="201168" cy="109728"/>
          </a:xfrm>
          <a:prstGeom prst="rect">
            <a:avLst/>
          </a:prstGeom>
          <a:noFill/>
        </p:spPr>
        <p:txBody>
          <a:bodyPr wrap="square" lIns="27432" tIns="18288" rIns="27432" bIns="18288">
            <a:spAutoFit/>
          </a:bodyPr>
          <a:lstStyle/>
          <a:p>
            <a:pPr algn="ctr">
              <a:defRPr sz="1000" b="1">
                <a:solidFill>
                  <a:srgbClr val="FFFFFF"/>
                </a:solidFill>
                <a:latin typeface="Aptos"/>
              </a:defRPr>
            </a:pPr>
            <a:r>
              <a:t>1</a:t>
            </a:r>
          </a:p>
        </p:txBody>
      </p:sp>
      <p:sp>
        <p:nvSpPr>
          <p:cNvPr id="12" name="TextBox 11"/>
          <p:cNvSpPr txBox="1"/>
          <p:nvPr/>
        </p:nvSpPr>
        <p:spPr>
          <a:xfrm>
            <a:off x="594360" y="3611880"/>
            <a:ext cx="868680" cy="201168"/>
          </a:xfrm>
          <a:prstGeom prst="rect">
            <a:avLst/>
          </a:prstGeom>
          <a:noFill/>
        </p:spPr>
        <p:txBody>
          <a:bodyPr wrap="square" lIns="27432" tIns="18288" rIns="27432" bIns="18288">
            <a:spAutoFit/>
          </a:bodyPr>
          <a:lstStyle/>
          <a:p>
            <a:pPr algn="ctr">
              <a:defRPr sz="1200" b="1">
                <a:solidFill>
                  <a:srgbClr val="111827"/>
                </a:solidFill>
                <a:latin typeface="Aptos"/>
              </a:defRPr>
            </a:pPr>
            <a:r>
              <a:t>Evidencia</a:t>
            </a:r>
          </a:p>
        </p:txBody>
      </p:sp>
      <p:sp>
        <p:nvSpPr>
          <p:cNvPr id="13" name="TextBox 12"/>
          <p:cNvSpPr txBox="1"/>
          <p:nvPr/>
        </p:nvSpPr>
        <p:spPr>
          <a:xfrm>
            <a:off x="411480" y="3931920"/>
            <a:ext cx="1234440" cy="310896"/>
          </a:xfrm>
          <a:prstGeom prst="rect">
            <a:avLst/>
          </a:prstGeom>
          <a:noFill/>
        </p:spPr>
        <p:txBody>
          <a:bodyPr wrap="square" lIns="27432" tIns="18288" rIns="27432" bIns="18288">
            <a:spAutoFit/>
          </a:bodyPr>
          <a:lstStyle/>
          <a:p>
            <a:pPr algn="ctr">
              <a:defRPr sz="880" b="0">
                <a:solidFill>
                  <a:srgbClr val="6B7280"/>
                </a:solidFill>
                <a:latin typeface="Aptos"/>
              </a:defRPr>
            </a:pPr>
            <a:r>
              <a:t>Documentos y capturas</a:t>
            </a:r>
          </a:p>
        </p:txBody>
      </p:sp>
      <p:cxnSp>
        <p:nvCxnSpPr>
          <p:cNvPr id="14" name="Connector 13"/>
          <p:cNvCxnSpPr/>
          <p:nvPr/>
        </p:nvCxnSpPr>
        <p:spPr>
          <a:xfrm>
            <a:off x="1280160" y="3273552"/>
            <a:ext cx="1508760" cy="0"/>
          </a:xfrm>
          <a:prstGeom prst="line">
            <a:avLst/>
          </a:prstGeom>
          <a:ln w="25400">
            <a:solidFill>
              <a:srgbClr val="E5E7EB"/>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063240" y="3063240"/>
            <a:ext cx="420624" cy="420624"/>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172968" y="3154680"/>
            <a:ext cx="201168" cy="109728"/>
          </a:xfrm>
          <a:prstGeom prst="rect">
            <a:avLst/>
          </a:prstGeom>
          <a:noFill/>
        </p:spPr>
        <p:txBody>
          <a:bodyPr wrap="square" lIns="27432" tIns="18288" rIns="27432" bIns="18288">
            <a:spAutoFit/>
          </a:bodyPr>
          <a:lstStyle/>
          <a:p>
            <a:pPr algn="ctr">
              <a:defRPr sz="1000" b="1">
                <a:solidFill>
                  <a:srgbClr val="FFFFFF"/>
                </a:solidFill>
                <a:latin typeface="Aptos"/>
              </a:defRPr>
            </a:pPr>
            <a:r>
              <a:t>2</a:t>
            </a:r>
          </a:p>
        </p:txBody>
      </p:sp>
      <p:sp>
        <p:nvSpPr>
          <p:cNvPr id="17" name="TextBox 16"/>
          <p:cNvSpPr txBox="1"/>
          <p:nvPr/>
        </p:nvSpPr>
        <p:spPr>
          <a:xfrm>
            <a:off x="2834640" y="3611880"/>
            <a:ext cx="868680" cy="201168"/>
          </a:xfrm>
          <a:prstGeom prst="rect">
            <a:avLst/>
          </a:prstGeom>
          <a:noFill/>
        </p:spPr>
        <p:txBody>
          <a:bodyPr wrap="square" lIns="27432" tIns="18288" rIns="27432" bIns="18288">
            <a:spAutoFit/>
          </a:bodyPr>
          <a:lstStyle/>
          <a:p>
            <a:pPr algn="ctr">
              <a:defRPr sz="1200" b="1">
                <a:solidFill>
                  <a:srgbClr val="111827"/>
                </a:solidFill>
                <a:latin typeface="Aptos"/>
              </a:defRPr>
            </a:pPr>
            <a:r>
              <a:t>Riesgo</a:t>
            </a:r>
          </a:p>
        </p:txBody>
      </p:sp>
      <p:sp>
        <p:nvSpPr>
          <p:cNvPr id="18" name="TextBox 17"/>
          <p:cNvSpPr txBox="1"/>
          <p:nvPr/>
        </p:nvSpPr>
        <p:spPr>
          <a:xfrm>
            <a:off x="2651760" y="3931920"/>
            <a:ext cx="1234440" cy="310896"/>
          </a:xfrm>
          <a:prstGeom prst="rect">
            <a:avLst/>
          </a:prstGeom>
          <a:noFill/>
        </p:spPr>
        <p:txBody>
          <a:bodyPr wrap="square" lIns="27432" tIns="18288" rIns="27432" bIns="18288">
            <a:spAutoFit/>
          </a:bodyPr>
          <a:lstStyle/>
          <a:p>
            <a:pPr algn="ctr">
              <a:defRPr sz="880" b="0">
                <a:solidFill>
                  <a:srgbClr val="6B7280"/>
                </a:solidFill>
                <a:latin typeface="Aptos"/>
              </a:defRPr>
            </a:pPr>
            <a:r>
              <a:t>Evento posible</a:t>
            </a:r>
          </a:p>
        </p:txBody>
      </p:sp>
      <p:cxnSp>
        <p:nvCxnSpPr>
          <p:cNvPr id="19" name="Connector 18"/>
          <p:cNvCxnSpPr/>
          <p:nvPr/>
        </p:nvCxnSpPr>
        <p:spPr>
          <a:xfrm>
            <a:off x="3520440" y="3273552"/>
            <a:ext cx="1508760" cy="0"/>
          </a:xfrm>
          <a:prstGeom prst="line">
            <a:avLst/>
          </a:prstGeom>
          <a:ln w="25400">
            <a:solidFill>
              <a:srgbClr val="E5E7EB"/>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303520" y="3063240"/>
            <a:ext cx="420624" cy="420624"/>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13248" y="3154680"/>
            <a:ext cx="201168" cy="109728"/>
          </a:xfrm>
          <a:prstGeom prst="rect">
            <a:avLst/>
          </a:prstGeom>
          <a:noFill/>
        </p:spPr>
        <p:txBody>
          <a:bodyPr wrap="square" lIns="27432" tIns="18288" rIns="27432" bIns="18288">
            <a:spAutoFit/>
          </a:bodyPr>
          <a:lstStyle/>
          <a:p>
            <a:pPr algn="ctr">
              <a:defRPr sz="1000" b="1">
                <a:solidFill>
                  <a:srgbClr val="FFFFFF"/>
                </a:solidFill>
                <a:latin typeface="Aptos"/>
              </a:defRPr>
            </a:pPr>
            <a:r>
              <a:t>3</a:t>
            </a:r>
          </a:p>
        </p:txBody>
      </p:sp>
      <p:sp>
        <p:nvSpPr>
          <p:cNvPr id="22" name="TextBox 21"/>
          <p:cNvSpPr txBox="1"/>
          <p:nvPr/>
        </p:nvSpPr>
        <p:spPr>
          <a:xfrm>
            <a:off x="5074920" y="3611880"/>
            <a:ext cx="868680" cy="201168"/>
          </a:xfrm>
          <a:prstGeom prst="rect">
            <a:avLst/>
          </a:prstGeom>
          <a:noFill/>
        </p:spPr>
        <p:txBody>
          <a:bodyPr wrap="square" lIns="27432" tIns="18288" rIns="27432" bIns="18288">
            <a:spAutoFit/>
          </a:bodyPr>
          <a:lstStyle/>
          <a:p>
            <a:pPr algn="ctr">
              <a:defRPr sz="1200" b="1">
                <a:solidFill>
                  <a:srgbClr val="111827"/>
                </a:solidFill>
                <a:latin typeface="Aptos"/>
              </a:defRPr>
            </a:pPr>
            <a:r>
              <a:t>Impacto</a:t>
            </a:r>
          </a:p>
        </p:txBody>
      </p:sp>
      <p:sp>
        <p:nvSpPr>
          <p:cNvPr id="23" name="TextBox 22"/>
          <p:cNvSpPr txBox="1"/>
          <p:nvPr/>
        </p:nvSpPr>
        <p:spPr>
          <a:xfrm>
            <a:off x="4892040" y="3931920"/>
            <a:ext cx="1234440" cy="310896"/>
          </a:xfrm>
          <a:prstGeom prst="rect">
            <a:avLst/>
          </a:prstGeom>
          <a:noFill/>
        </p:spPr>
        <p:txBody>
          <a:bodyPr wrap="square" lIns="27432" tIns="18288" rIns="27432" bIns="18288">
            <a:spAutoFit/>
          </a:bodyPr>
          <a:lstStyle/>
          <a:p>
            <a:pPr algn="ctr">
              <a:defRPr sz="880" b="0">
                <a:solidFill>
                  <a:srgbClr val="6B7280"/>
                </a:solidFill>
                <a:latin typeface="Aptos"/>
              </a:defRPr>
            </a:pPr>
            <a:r>
              <a:t>Efecto en tiempo/calidad</a:t>
            </a:r>
          </a:p>
        </p:txBody>
      </p:sp>
      <p:cxnSp>
        <p:nvCxnSpPr>
          <p:cNvPr id="24" name="Connector 23"/>
          <p:cNvCxnSpPr/>
          <p:nvPr/>
        </p:nvCxnSpPr>
        <p:spPr>
          <a:xfrm>
            <a:off x="5760720" y="3273552"/>
            <a:ext cx="1508760" cy="0"/>
          </a:xfrm>
          <a:prstGeom prst="line">
            <a:avLst/>
          </a:prstGeom>
          <a:ln w="25400">
            <a:solidFill>
              <a:srgbClr val="E5E7EB"/>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543800" y="3063240"/>
            <a:ext cx="420624" cy="420624"/>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53527" y="3154680"/>
            <a:ext cx="201168" cy="109728"/>
          </a:xfrm>
          <a:prstGeom prst="rect">
            <a:avLst/>
          </a:prstGeom>
          <a:noFill/>
        </p:spPr>
        <p:txBody>
          <a:bodyPr wrap="square" lIns="27432" tIns="18288" rIns="27432" bIns="18288">
            <a:spAutoFit/>
          </a:bodyPr>
          <a:lstStyle/>
          <a:p>
            <a:pPr algn="ctr">
              <a:defRPr sz="1000" b="1">
                <a:solidFill>
                  <a:srgbClr val="FFFFFF"/>
                </a:solidFill>
                <a:latin typeface="Aptos"/>
              </a:defRPr>
            </a:pPr>
            <a:r>
              <a:t>4</a:t>
            </a:r>
          </a:p>
        </p:txBody>
      </p:sp>
      <p:sp>
        <p:nvSpPr>
          <p:cNvPr id="27" name="TextBox 26"/>
          <p:cNvSpPr txBox="1"/>
          <p:nvPr/>
        </p:nvSpPr>
        <p:spPr>
          <a:xfrm>
            <a:off x="7315200" y="3611880"/>
            <a:ext cx="868680" cy="201168"/>
          </a:xfrm>
          <a:prstGeom prst="rect">
            <a:avLst/>
          </a:prstGeom>
          <a:noFill/>
        </p:spPr>
        <p:txBody>
          <a:bodyPr wrap="square" lIns="27432" tIns="18288" rIns="27432" bIns="18288">
            <a:spAutoFit/>
          </a:bodyPr>
          <a:lstStyle/>
          <a:p>
            <a:pPr algn="ctr">
              <a:defRPr sz="1200" b="1">
                <a:solidFill>
                  <a:srgbClr val="111827"/>
                </a:solidFill>
                <a:latin typeface="Aptos"/>
              </a:defRPr>
            </a:pPr>
            <a:r>
              <a:t>Respuesta</a:t>
            </a:r>
          </a:p>
        </p:txBody>
      </p:sp>
      <p:sp>
        <p:nvSpPr>
          <p:cNvPr id="28" name="TextBox 27"/>
          <p:cNvSpPr txBox="1"/>
          <p:nvPr/>
        </p:nvSpPr>
        <p:spPr>
          <a:xfrm>
            <a:off x="7132320" y="3931920"/>
            <a:ext cx="1234440" cy="310896"/>
          </a:xfrm>
          <a:prstGeom prst="rect">
            <a:avLst/>
          </a:prstGeom>
          <a:noFill/>
        </p:spPr>
        <p:txBody>
          <a:bodyPr wrap="square" lIns="27432" tIns="18288" rIns="27432" bIns="18288">
            <a:spAutoFit/>
          </a:bodyPr>
          <a:lstStyle/>
          <a:p>
            <a:pPr algn="ctr">
              <a:defRPr sz="880" b="0">
                <a:solidFill>
                  <a:srgbClr val="6B7280"/>
                </a:solidFill>
                <a:latin typeface="Aptos"/>
              </a:defRPr>
            </a:pPr>
            <a:r>
              <a:t>Evitar, mitigar, aceptar</a:t>
            </a:r>
          </a:p>
        </p:txBody>
      </p:sp>
      <p:cxnSp>
        <p:nvCxnSpPr>
          <p:cNvPr id="29" name="Connector 28"/>
          <p:cNvCxnSpPr/>
          <p:nvPr/>
        </p:nvCxnSpPr>
        <p:spPr>
          <a:xfrm>
            <a:off x="8001000" y="3273552"/>
            <a:ext cx="1508760" cy="0"/>
          </a:xfrm>
          <a:prstGeom prst="line">
            <a:avLst/>
          </a:prstGeom>
          <a:ln w="25400">
            <a:solidFill>
              <a:srgbClr val="E5E7EB"/>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784080" y="3063240"/>
            <a:ext cx="420624" cy="420624"/>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93808" y="3154680"/>
            <a:ext cx="201168" cy="109728"/>
          </a:xfrm>
          <a:prstGeom prst="rect">
            <a:avLst/>
          </a:prstGeom>
          <a:noFill/>
        </p:spPr>
        <p:txBody>
          <a:bodyPr wrap="square" lIns="27432" tIns="18288" rIns="27432" bIns="18288">
            <a:spAutoFit/>
          </a:bodyPr>
          <a:lstStyle/>
          <a:p>
            <a:pPr algn="ctr">
              <a:defRPr sz="1000" b="1">
                <a:solidFill>
                  <a:srgbClr val="FFFFFF"/>
                </a:solidFill>
                <a:latin typeface="Aptos"/>
              </a:defRPr>
            </a:pPr>
            <a:r>
              <a:t>5</a:t>
            </a:r>
          </a:p>
        </p:txBody>
      </p:sp>
      <p:sp>
        <p:nvSpPr>
          <p:cNvPr id="32" name="TextBox 31"/>
          <p:cNvSpPr txBox="1"/>
          <p:nvPr/>
        </p:nvSpPr>
        <p:spPr>
          <a:xfrm>
            <a:off x="9555480" y="3611880"/>
            <a:ext cx="868680" cy="201168"/>
          </a:xfrm>
          <a:prstGeom prst="rect">
            <a:avLst/>
          </a:prstGeom>
          <a:noFill/>
        </p:spPr>
        <p:txBody>
          <a:bodyPr wrap="square" lIns="27432" tIns="18288" rIns="27432" bIns="18288">
            <a:spAutoFit/>
          </a:bodyPr>
          <a:lstStyle/>
          <a:p>
            <a:pPr algn="ctr">
              <a:defRPr sz="1200" b="1">
                <a:solidFill>
                  <a:srgbClr val="111827"/>
                </a:solidFill>
                <a:latin typeface="Aptos"/>
              </a:defRPr>
            </a:pPr>
            <a:r>
              <a:t>Seguimiento</a:t>
            </a:r>
          </a:p>
        </p:txBody>
      </p:sp>
      <p:sp>
        <p:nvSpPr>
          <p:cNvPr id="33" name="TextBox 32"/>
          <p:cNvSpPr txBox="1"/>
          <p:nvPr/>
        </p:nvSpPr>
        <p:spPr>
          <a:xfrm>
            <a:off x="9372600" y="3931920"/>
            <a:ext cx="1234440" cy="310896"/>
          </a:xfrm>
          <a:prstGeom prst="rect">
            <a:avLst/>
          </a:prstGeom>
          <a:noFill/>
        </p:spPr>
        <p:txBody>
          <a:bodyPr wrap="square" lIns="27432" tIns="18288" rIns="27432" bIns="18288">
            <a:spAutoFit/>
          </a:bodyPr>
          <a:lstStyle/>
          <a:p>
            <a:pPr algn="ctr">
              <a:defRPr sz="880" b="0">
                <a:solidFill>
                  <a:srgbClr val="6B7280"/>
                </a:solidFill>
                <a:latin typeface="Aptos"/>
              </a:defRPr>
            </a:pPr>
            <a:r>
              <a:t>Estado residual</a:t>
            </a:r>
          </a:p>
        </p:txBody>
      </p:sp>
      <p:sp>
        <p:nvSpPr>
          <p:cNvPr id="37" name="TextBox 36"/>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Matriz de probabilidad e impacto</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Criterio visual para ordenar la atención del Project Manager.</a:t>
            </a:r>
          </a:p>
        </p:txBody>
      </p:sp>
      <p:sp>
        <p:nvSpPr>
          <p:cNvPr id="6" name="TextBox 5"/>
          <p:cNvSpPr txBox="1"/>
          <p:nvPr/>
        </p:nvSpPr>
        <p:spPr>
          <a:xfrm>
            <a:off x="685800" y="1234440"/>
            <a:ext cx="3931920" cy="457200"/>
          </a:xfrm>
          <a:prstGeom prst="rect">
            <a:avLst/>
          </a:prstGeom>
          <a:noFill/>
        </p:spPr>
        <p:txBody>
          <a:bodyPr wrap="square" lIns="27432" tIns="18288" rIns="27432" bIns="18288">
            <a:spAutoFit/>
          </a:bodyPr>
          <a:lstStyle/>
          <a:p>
            <a:pPr algn="l">
              <a:defRPr sz="1500" b="1">
                <a:solidFill>
                  <a:srgbClr val="111827"/>
                </a:solidFill>
                <a:latin typeface="Aptos"/>
              </a:defRPr>
            </a:pPr>
            <a:r>
              <a:t>Escala usada</a:t>
            </a:r>
          </a:p>
        </p:txBody>
      </p:sp>
      <p:sp>
        <p:nvSpPr>
          <p:cNvPr id="7" name="TextBox 6"/>
          <p:cNvSpPr txBox="1"/>
          <p:nvPr/>
        </p:nvSpPr>
        <p:spPr>
          <a:xfrm>
            <a:off x="685800" y="1645920"/>
            <a:ext cx="2549013" cy="1144929"/>
          </a:xfrm>
          <a:prstGeom prst="rect">
            <a:avLst/>
          </a:prstGeom>
          <a:noFill/>
        </p:spPr>
        <p:txBody>
          <a:bodyPr wrap="square" lIns="27432" tIns="18288" rIns="27432" bIns="18288">
            <a:spAutoFit/>
          </a:bodyPr>
          <a:lstStyle/>
          <a:p>
            <a:pPr algn="l">
              <a:defRPr sz="1200" b="0">
                <a:solidFill>
                  <a:srgbClr val="374151"/>
                </a:solidFill>
                <a:latin typeface="Aptos"/>
              </a:defRPr>
            </a:pPr>
            <a:r>
              <a:rPr dirty="0"/>
              <a:t>La </a:t>
            </a:r>
            <a:r>
              <a:rPr dirty="0" err="1"/>
              <a:t>prioridad</a:t>
            </a:r>
            <a:r>
              <a:rPr dirty="0"/>
              <a:t> se </a:t>
            </a:r>
            <a:r>
              <a:rPr dirty="0" err="1"/>
              <a:t>estima</a:t>
            </a:r>
            <a:r>
              <a:rPr dirty="0"/>
              <a:t> </a:t>
            </a:r>
            <a:r>
              <a:rPr dirty="0" err="1"/>
              <a:t>cruzando</a:t>
            </a:r>
            <a:r>
              <a:rPr dirty="0"/>
              <a:t> </a:t>
            </a:r>
            <a:r>
              <a:rPr dirty="0" err="1"/>
              <a:t>probabilidad</a:t>
            </a:r>
            <a:r>
              <a:rPr dirty="0"/>
              <a:t> e </a:t>
            </a:r>
            <a:r>
              <a:rPr dirty="0" err="1"/>
              <a:t>impacto</a:t>
            </a:r>
            <a:r>
              <a:rPr dirty="0"/>
              <a:t>. Los </a:t>
            </a:r>
            <a:r>
              <a:rPr dirty="0" err="1"/>
              <a:t>riesgos</a:t>
            </a:r>
            <a:r>
              <a:rPr dirty="0"/>
              <a:t> con </a:t>
            </a:r>
            <a:r>
              <a:rPr dirty="0" err="1"/>
              <a:t>impacto</a:t>
            </a:r>
            <a:r>
              <a:rPr dirty="0"/>
              <a:t> alto </a:t>
            </a:r>
            <a:r>
              <a:rPr dirty="0" err="1"/>
              <a:t>en</a:t>
            </a:r>
            <a:r>
              <a:rPr dirty="0"/>
              <a:t> </a:t>
            </a:r>
            <a:r>
              <a:rPr dirty="0" err="1"/>
              <a:t>tiempo</a:t>
            </a:r>
            <a:r>
              <a:rPr dirty="0"/>
              <a:t>, </a:t>
            </a:r>
            <a:r>
              <a:rPr dirty="0" err="1"/>
              <a:t>alcance</a:t>
            </a:r>
            <a:r>
              <a:rPr dirty="0"/>
              <a:t> o </a:t>
            </a:r>
            <a:r>
              <a:rPr dirty="0" err="1"/>
              <a:t>calidad</a:t>
            </a:r>
            <a:r>
              <a:rPr dirty="0"/>
              <a:t> se </a:t>
            </a:r>
            <a:r>
              <a:rPr dirty="0" err="1"/>
              <a:t>atienden</a:t>
            </a:r>
            <a:r>
              <a:rPr dirty="0"/>
              <a:t> primero, </a:t>
            </a:r>
            <a:r>
              <a:rPr dirty="0" err="1"/>
              <a:t>aunque</a:t>
            </a:r>
            <a:r>
              <a:rPr dirty="0"/>
              <a:t> </a:t>
            </a:r>
            <a:r>
              <a:rPr dirty="0" err="1"/>
              <a:t>su</a:t>
            </a:r>
            <a:r>
              <a:rPr dirty="0"/>
              <a:t> </a:t>
            </a:r>
            <a:r>
              <a:rPr dirty="0" err="1"/>
              <a:t>costo</a:t>
            </a:r>
            <a:r>
              <a:rPr dirty="0"/>
              <a:t> real no </a:t>
            </a:r>
            <a:r>
              <a:rPr dirty="0" err="1"/>
              <a:t>esté</a:t>
            </a:r>
            <a:r>
              <a:rPr dirty="0"/>
              <a:t> </a:t>
            </a:r>
            <a:r>
              <a:rPr dirty="0" err="1"/>
              <a:t>monetizado</a:t>
            </a:r>
            <a:r>
              <a:rPr dirty="0"/>
              <a:t>.</a:t>
            </a:r>
          </a:p>
        </p:txBody>
      </p:sp>
      <p:sp>
        <p:nvSpPr>
          <p:cNvPr id="8" name="Rectangle 7"/>
          <p:cNvSpPr/>
          <p:nvPr/>
        </p:nvSpPr>
        <p:spPr>
          <a:xfrm>
            <a:off x="4709160" y="1143000"/>
            <a:ext cx="1325880" cy="786384"/>
          </a:xfrm>
          <a:prstGeom prst="rect">
            <a:avLst/>
          </a:prstGeom>
          <a:solidFill>
            <a:srgbClr val="FEF3C7"/>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82312" y="1417320"/>
            <a:ext cx="1179576" cy="137160"/>
          </a:xfrm>
          <a:prstGeom prst="rect">
            <a:avLst/>
          </a:prstGeom>
          <a:noFill/>
        </p:spPr>
        <p:txBody>
          <a:bodyPr wrap="square" lIns="27432" tIns="18288" rIns="27432" bIns="18288">
            <a:spAutoFit/>
          </a:bodyPr>
          <a:lstStyle/>
          <a:p>
            <a:pPr algn="ctr">
              <a:defRPr sz="1200" b="1">
                <a:solidFill>
                  <a:srgbClr val="F59E0B"/>
                </a:solidFill>
                <a:latin typeface="Aptos"/>
              </a:defRPr>
            </a:pPr>
            <a:r>
              <a:t>Media</a:t>
            </a:r>
          </a:p>
        </p:txBody>
      </p:sp>
      <p:sp>
        <p:nvSpPr>
          <p:cNvPr id="10" name="Rectangle 9"/>
          <p:cNvSpPr/>
          <p:nvPr/>
        </p:nvSpPr>
        <p:spPr>
          <a:xfrm>
            <a:off x="6035040" y="1143000"/>
            <a:ext cx="1325880" cy="786384"/>
          </a:xfrm>
          <a:prstGeom prst="rect">
            <a:avLst/>
          </a:prstGeom>
          <a:solidFill>
            <a:srgbClr val="F59E0B"/>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08192" y="1417320"/>
            <a:ext cx="1179576" cy="137160"/>
          </a:xfrm>
          <a:prstGeom prst="rect">
            <a:avLst/>
          </a:prstGeom>
          <a:noFill/>
        </p:spPr>
        <p:txBody>
          <a:bodyPr wrap="square" lIns="27432" tIns="18288" rIns="27432" bIns="18288">
            <a:spAutoFit/>
          </a:bodyPr>
          <a:lstStyle/>
          <a:p>
            <a:pPr algn="ctr">
              <a:defRPr sz="1200" b="1">
                <a:solidFill>
                  <a:srgbClr val="F59E0B"/>
                </a:solidFill>
                <a:latin typeface="Aptos"/>
              </a:defRPr>
            </a:pPr>
            <a:r>
              <a:t>Alta</a:t>
            </a:r>
          </a:p>
        </p:txBody>
      </p:sp>
      <p:sp>
        <p:nvSpPr>
          <p:cNvPr id="12" name="Rectangle 11"/>
          <p:cNvSpPr/>
          <p:nvPr/>
        </p:nvSpPr>
        <p:spPr>
          <a:xfrm>
            <a:off x="7360920" y="1143000"/>
            <a:ext cx="1325880" cy="786384"/>
          </a:xfrm>
          <a:prstGeom prst="rect">
            <a:avLst/>
          </a:prstGeom>
          <a:solidFill>
            <a:srgbClr val="FEE2E2"/>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34072" y="1417320"/>
            <a:ext cx="1179576" cy="137160"/>
          </a:xfrm>
          <a:prstGeom prst="rect">
            <a:avLst/>
          </a:prstGeom>
          <a:noFill/>
        </p:spPr>
        <p:txBody>
          <a:bodyPr wrap="square" lIns="27432" tIns="18288" rIns="27432" bIns="18288">
            <a:spAutoFit/>
          </a:bodyPr>
          <a:lstStyle/>
          <a:p>
            <a:pPr algn="ctr">
              <a:defRPr sz="1200" b="1">
                <a:solidFill>
                  <a:srgbClr val="EF4444"/>
                </a:solidFill>
                <a:latin typeface="Aptos"/>
              </a:defRPr>
            </a:pPr>
            <a:r>
              <a:t>Crítica</a:t>
            </a:r>
          </a:p>
        </p:txBody>
      </p:sp>
      <p:sp>
        <p:nvSpPr>
          <p:cNvPr id="14" name="Rectangle 13"/>
          <p:cNvSpPr/>
          <p:nvPr/>
        </p:nvSpPr>
        <p:spPr>
          <a:xfrm>
            <a:off x="4709160" y="1929384"/>
            <a:ext cx="1325880" cy="786384"/>
          </a:xfrm>
          <a:prstGeom prst="rect">
            <a:avLst/>
          </a:prstGeom>
          <a:solidFill>
            <a:srgbClr val="DCFCE7"/>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82312" y="2203703"/>
            <a:ext cx="1179576" cy="137160"/>
          </a:xfrm>
          <a:prstGeom prst="rect">
            <a:avLst/>
          </a:prstGeom>
          <a:noFill/>
        </p:spPr>
        <p:txBody>
          <a:bodyPr wrap="square" lIns="27432" tIns="18288" rIns="27432" bIns="18288">
            <a:spAutoFit/>
          </a:bodyPr>
          <a:lstStyle/>
          <a:p>
            <a:pPr algn="ctr">
              <a:defRPr sz="1200" b="1">
                <a:solidFill>
                  <a:srgbClr val="10B981"/>
                </a:solidFill>
                <a:latin typeface="Aptos"/>
              </a:defRPr>
            </a:pPr>
            <a:r>
              <a:t>Baja</a:t>
            </a:r>
          </a:p>
        </p:txBody>
      </p:sp>
      <p:sp>
        <p:nvSpPr>
          <p:cNvPr id="16" name="Rectangle 15"/>
          <p:cNvSpPr/>
          <p:nvPr/>
        </p:nvSpPr>
        <p:spPr>
          <a:xfrm>
            <a:off x="6035040" y="1929384"/>
            <a:ext cx="1325880" cy="786384"/>
          </a:xfrm>
          <a:prstGeom prst="rect">
            <a:avLst/>
          </a:prstGeom>
          <a:solidFill>
            <a:srgbClr val="FEF3C7"/>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08192" y="2203703"/>
            <a:ext cx="1179576" cy="137160"/>
          </a:xfrm>
          <a:prstGeom prst="rect">
            <a:avLst/>
          </a:prstGeom>
          <a:noFill/>
        </p:spPr>
        <p:txBody>
          <a:bodyPr wrap="square" lIns="27432" tIns="18288" rIns="27432" bIns="18288">
            <a:spAutoFit/>
          </a:bodyPr>
          <a:lstStyle/>
          <a:p>
            <a:pPr algn="ctr">
              <a:defRPr sz="1200" b="1">
                <a:solidFill>
                  <a:srgbClr val="F59E0B"/>
                </a:solidFill>
                <a:latin typeface="Aptos"/>
              </a:defRPr>
            </a:pPr>
            <a:r>
              <a:t>Media</a:t>
            </a:r>
          </a:p>
        </p:txBody>
      </p:sp>
      <p:sp>
        <p:nvSpPr>
          <p:cNvPr id="18" name="Rectangle 17"/>
          <p:cNvSpPr/>
          <p:nvPr/>
        </p:nvSpPr>
        <p:spPr>
          <a:xfrm>
            <a:off x="7360920" y="1929384"/>
            <a:ext cx="1325880" cy="786384"/>
          </a:xfrm>
          <a:prstGeom prst="rect">
            <a:avLst/>
          </a:prstGeom>
          <a:solidFill>
            <a:srgbClr val="F59E0B"/>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34072" y="2203703"/>
            <a:ext cx="1179576" cy="137160"/>
          </a:xfrm>
          <a:prstGeom prst="rect">
            <a:avLst/>
          </a:prstGeom>
          <a:noFill/>
        </p:spPr>
        <p:txBody>
          <a:bodyPr wrap="square" lIns="27432" tIns="18288" rIns="27432" bIns="18288">
            <a:spAutoFit/>
          </a:bodyPr>
          <a:lstStyle/>
          <a:p>
            <a:pPr algn="ctr">
              <a:defRPr sz="1200" b="1">
                <a:solidFill>
                  <a:srgbClr val="F59E0B"/>
                </a:solidFill>
                <a:latin typeface="Aptos"/>
              </a:defRPr>
            </a:pPr>
            <a:r>
              <a:t>Alta</a:t>
            </a:r>
          </a:p>
        </p:txBody>
      </p:sp>
      <p:sp>
        <p:nvSpPr>
          <p:cNvPr id="20" name="Rectangle 19"/>
          <p:cNvSpPr/>
          <p:nvPr/>
        </p:nvSpPr>
        <p:spPr>
          <a:xfrm>
            <a:off x="4709160" y="2715768"/>
            <a:ext cx="1325880" cy="786384"/>
          </a:xfrm>
          <a:prstGeom prst="rect">
            <a:avLst/>
          </a:prstGeom>
          <a:solidFill>
            <a:srgbClr val="DCFCE7"/>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82312" y="2990087"/>
            <a:ext cx="1179576" cy="137160"/>
          </a:xfrm>
          <a:prstGeom prst="rect">
            <a:avLst/>
          </a:prstGeom>
          <a:noFill/>
        </p:spPr>
        <p:txBody>
          <a:bodyPr wrap="square" lIns="27432" tIns="18288" rIns="27432" bIns="18288">
            <a:spAutoFit/>
          </a:bodyPr>
          <a:lstStyle/>
          <a:p>
            <a:pPr algn="ctr">
              <a:defRPr sz="1200" b="1">
                <a:solidFill>
                  <a:srgbClr val="10B981"/>
                </a:solidFill>
                <a:latin typeface="Aptos"/>
              </a:defRPr>
            </a:pPr>
            <a:r>
              <a:t>Baja</a:t>
            </a:r>
          </a:p>
        </p:txBody>
      </p:sp>
      <p:sp>
        <p:nvSpPr>
          <p:cNvPr id="22" name="Rectangle 21"/>
          <p:cNvSpPr/>
          <p:nvPr/>
        </p:nvSpPr>
        <p:spPr>
          <a:xfrm>
            <a:off x="6035040" y="2715768"/>
            <a:ext cx="1325880" cy="786384"/>
          </a:xfrm>
          <a:prstGeom prst="rect">
            <a:avLst/>
          </a:prstGeom>
          <a:solidFill>
            <a:srgbClr val="DCFCE7"/>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08192" y="2990087"/>
            <a:ext cx="1179576" cy="137160"/>
          </a:xfrm>
          <a:prstGeom prst="rect">
            <a:avLst/>
          </a:prstGeom>
          <a:noFill/>
        </p:spPr>
        <p:txBody>
          <a:bodyPr wrap="square" lIns="27432" tIns="18288" rIns="27432" bIns="18288">
            <a:spAutoFit/>
          </a:bodyPr>
          <a:lstStyle/>
          <a:p>
            <a:pPr algn="ctr">
              <a:defRPr sz="1200" b="1">
                <a:solidFill>
                  <a:srgbClr val="10B981"/>
                </a:solidFill>
                <a:latin typeface="Aptos"/>
              </a:defRPr>
            </a:pPr>
            <a:r>
              <a:t>Baja</a:t>
            </a:r>
          </a:p>
        </p:txBody>
      </p:sp>
      <p:sp>
        <p:nvSpPr>
          <p:cNvPr id="24" name="Rectangle 23"/>
          <p:cNvSpPr/>
          <p:nvPr/>
        </p:nvSpPr>
        <p:spPr>
          <a:xfrm>
            <a:off x="7360920" y="2715768"/>
            <a:ext cx="1325880" cy="786384"/>
          </a:xfrm>
          <a:prstGeom prst="rect">
            <a:avLst/>
          </a:prstGeom>
          <a:solidFill>
            <a:srgbClr val="FEF3C7"/>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34072" y="2990087"/>
            <a:ext cx="1179576" cy="137160"/>
          </a:xfrm>
          <a:prstGeom prst="rect">
            <a:avLst/>
          </a:prstGeom>
          <a:noFill/>
        </p:spPr>
        <p:txBody>
          <a:bodyPr wrap="square" lIns="27432" tIns="18288" rIns="27432" bIns="18288">
            <a:spAutoFit/>
          </a:bodyPr>
          <a:lstStyle/>
          <a:p>
            <a:pPr algn="ctr">
              <a:defRPr sz="1200" b="1">
                <a:solidFill>
                  <a:srgbClr val="F59E0B"/>
                </a:solidFill>
                <a:latin typeface="Aptos"/>
              </a:defRPr>
            </a:pPr>
            <a:r>
              <a:t>Media</a:t>
            </a:r>
          </a:p>
        </p:txBody>
      </p:sp>
      <p:sp>
        <p:nvSpPr>
          <p:cNvPr id="26" name="TextBox 25"/>
          <p:cNvSpPr txBox="1"/>
          <p:nvPr/>
        </p:nvSpPr>
        <p:spPr>
          <a:xfrm>
            <a:off x="4709160" y="822960"/>
            <a:ext cx="1325880" cy="164592"/>
          </a:xfrm>
          <a:prstGeom prst="rect">
            <a:avLst/>
          </a:prstGeom>
          <a:noFill/>
        </p:spPr>
        <p:txBody>
          <a:bodyPr wrap="square" lIns="27432" tIns="18288" rIns="27432" bIns="18288">
            <a:spAutoFit/>
          </a:bodyPr>
          <a:lstStyle/>
          <a:p>
            <a:pPr algn="ctr">
              <a:defRPr sz="1000" b="1">
                <a:solidFill>
                  <a:srgbClr val="374151"/>
                </a:solidFill>
                <a:latin typeface="Aptos"/>
              </a:defRPr>
            </a:pPr>
            <a:r>
              <a:t>Baja</a:t>
            </a:r>
          </a:p>
        </p:txBody>
      </p:sp>
      <p:sp>
        <p:nvSpPr>
          <p:cNvPr id="27" name="TextBox 26"/>
          <p:cNvSpPr txBox="1"/>
          <p:nvPr/>
        </p:nvSpPr>
        <p:spPr>
          <a:xfrm>
            <a:off x="6035040" y="822960"/>
            <a:ext cx="1325880" cy="164592"/>
          </a:xfrm>
          <a:prstGeom prst="rect">
            <a:avLst/>
          </a:prstGeom>
          <a:noFill/>
        </p:spPr>
        <p:txBody>
          <a:bodyPr wrap="square" lIns="27432" tIns="18288" rIns="27432" bIns="18288">
            <a:spAutoFit/>
          </a:bodyPr>
          <a:lstStyle/>
          <a:p>
            <a:pPr algn="ctr">
              <a:defRPr sz="1000" b="1">
                <a:solidFill>
                  <a:srgbClr val="374151"/>
                </a:solidFill>
                <a:latin typeface="Aptos"/>
              </a:defRPr>
            </a:pPr>
            <a:r>
              <a:t>Media</a:t>
            </a:r>
          </a:p>
        </p:txBody>
      </p:sp>
      <p:sp>
        <p:nvSpPr>
          <p:cNvPr id="28" name="TextBox 27"/>
          <p:cNvSpPr txBox="1"/>
          <p:nvPr/>
        </p:nvSpPr>
        <p:spPr>
          <a:xfrm>
            <a:off x="7360920" y="822960"/>
            <a:ext cx="1325880" cy="164592"/>
          </a:xfrm>
          <a:prstGeom prst="rect">
            <a:avLst/>
          </a:prstGeom>
          <a:noFill/>
        </p:spPr>
        <p:txBody>
          <a:bodyPr wrap="square" lIns="27432" tIns="18288" rIns="27432" bIns="18288">
            <a:spAutoFit/>
          </a:bodyPr>
          <a:lstStyle/>
          <a:p>
            <a:pPr algn="ctr">
              <a:defRPr sz="1000" b="1">
                <a:solidFill>
                  <a:srgbClr val="374151"/>
                </a:solidFill>
                <a:latin typeface="Aptos"/>
              </a:defRPr>
            </a:pPr>
            <a:r>
              <a:t>Alta</a:t>
            </a:r>
          </a:p>
        </p:txBody>
      </p:sp>
      <p:sp>
        <p:nvSpPr>
          <p:cNvPr id="29" name="TextBox 28"/>
          <p:cNvSpPr txBox="1"/>
          <p:nvPr/>
        </p:nvSpPr>
        <p:spPr>
          <a:xfrm>
            <a:off x="4023360" y="1444752"/>
            <a:ext cx="502920" cy="128016"/>
          </a:xfrm>
          <a:prstGeom prst="rect">
            <a:avLst/>
          </a:prstGeom>
          <a:noFill/>
        </p:spPr>
        <p:txBody>
          <a:bodyPr wrap="square" lIns="27432" tIns="18288" rIns="27432" bIns="18288">
            <a:spAutoFit/>
          </a:bodyPr>
          <a:lstStyle/>
          <a:p>
            <a:pPr algn="r">
              <a:defRPr sz="1000" b="1">
                <a:solidFill>
                  <a:srgbClr val="374151"/>
                </a:solidFill>
                <a:latin typeface="Aptos"/>
              </a:defRPr>
            </a:pPr>
            <a:r>
              <a:t>Alto</a:t>
            </a:r>
          </a:p>
        </p:txBody>
      </p:sp>
      <p:sp>
        <p:nvSpPr>
          <p:cNvPr id="30" name="TextBox 29"/>
          <p:cNvSpPr txBox="1"/>
          <p:nvPr/>
        </p:nvSpPr>
        <p:spPr>
          <a:xfrm>
            <a:off x="4023360" y="2231136"/>
            <a:ext cx="502920" cy="128016"/>
          </a:xfrm>
          <a:prstGeom prst="rect">
            <a:avLst/>
          </a:prstGeom>
          <a:noFill/>
        </p:spPr>
        <p:txBody>
          <a:bodyPr wrap="square" lIns="27432" tIns="18288" rIns="27432" bIns="18288">
            <a:spAutoFit/>
          </a:bodyPr>
          <a:lstStyle/>
          <a:p>
            <a:pPr algn="r">
              <a:defRPr sz="1000" b="1">
                <a:solidFill>
                  <a:srgbClr val="374151"/>
                </a:solidFill>
                <a:latin typeface="Aptos"/>
              </a:defRPr>
            </a:pPr>
            <a:r>
              <a:t>Medio</a:t>
            </a:r>
          </a:p>
        </p:txBody>
      </p:sp>
      <p:sp>
        <p:nvSpPr>
          <p:cNvPr id="31" name="TextBox 30"/>
          <p:cNvSpPr txBox="1"/>
          <p:nvPr/>
        </p:nvSpPr>
        <p:spPr>
          <a:xfrm>
            <a:off x="4023360" y="3017520"/>
            <a:ext cx="502920" cy="128016"/>
          </a:xfrm>
          <a:prstGeom prst="rect">
            <a:avLst/>
          </a:prstGeom>
          <a:noFill/>
        </p:spPr>
        <p:txBody>
          <a:bodyPr wrap="square" lIns="27432" tIns="18288" rIns="27432" bIns="18288">
            <a:spAutoFit/>
          </a:bodyPr>
          <a:lstStyle/>
          <a:p>
            <a:pPr algn="r">
              <a:defRPr sz="1000" b="1">
                <a:solidFill>
                  <a:srgbClr val="374151"/>
                </a:solidFill>
                <a:latin typeface="Aptos"/>
              </a:defRPr>
            </a:pPr>
            <a:r>
              <a:t>Bajo</a:t>
            </a:r>
          </a:p>
        </p:txBody>
      </p:sp>
      <p:sp>
        <p:nvSpPr>
          <p:cNvPr id="32" name="TextBox 31"/>
          <p:cNvSpPr txBox="1"/>
          <p:nvPr/>
        </p:nvSpPr>
        <p:spPr>
          <a:xfrm>
            <a:off x="5989320" y="3749039"/>
            <a:ext cx="1645920" cy="164592"/>
          </a:xfrm>
          <a:prstGeom prst="rect">
            <a:avLst/>
          </a:prstGeom>
          <a:noFill/>
        </p:spPr>
        <p:txBody>
          <a:bodyPr wrap="square" lIns="27432" tIns="18288" rIns="27432" bIns="18288">
            <a:spAutoFit/>
          </a:bodyPr>
          <a:lstStyle/>
          <a:p>
            <a:pPr algn="ctr">
              <a:defRPr sz="900" b="0">
                <a:solidFill>
                  <a:srgbClr val="6B7280"/>
                </a:solidFill>
                <a:latin typeface="Aptos"/>
              </a:defRPr>
            </a:pPr>
            <a:r>
              <a:t>Probabilidad</a:t>
            </a:r>
          </a:p>
        </p:txBody>
      </p:sp>
      <p:sp>
        <p:nvSpPr>
          <p:cNvPr id="34" name="Rounded Rectangle 33"/>
          <p:cNvSpPr/>
          <p:nvPr/>
        </p:nvSpPr>
        <p:spPr>
          <a:xfrm>
            <a:off x="685800" y="3886200"/>
            <a:ext cx="4572000" cy="1483258"/>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4400" y="4087368"/>
            <a:ext cx="914400" cy="201168"/>
          </a:xfrm>
          <a:prstGeom prst="rect">
            <a:avLst/>
          </a:prstGeom>
          <a:noFill/>
        </p:spPr>
        <p:txBody>
          <a:bodyPr wrap="square" lIns="27432" tIns="18288" rIns="27432" bIns="18288">
            <a:spAutoFit/>
          </a:bodyPr>
          <a:lstStyle/>
          <a:p>
            <a:pPr algn="l">
              <a:defRPr sz="1000" b="1">
                <a:solidFill>
                  <a:srgbClr val="1E40AF"/>
                </a:solidFill>
                <a:latin typeface="Aptos"/>
              </a:defRPr>
            </a:pPr>
            <a:r>
              <a:t>Nivel</a:t>
            </a:r>
          </a:p>
        </p:txBody>
      </p:sp>
      <p:sp>
        <p:nvSpPr>
          <p:cNvPr id="36" name="TextBox 35"/>
          <p:cNvSpPr txBox="1"/>
          <p:nvPr/>
        </p:nvSpPr>
        <p:spPr>
          <a:xfrm>
            <a:off x="1828800" y="4087368"/>
            <a:ext cx="1097280" cy="201168"/>
          </a:xfrm>
          <a:prstGeom prst="rect">
            <a:avLst/>
          </a:prstGeom>
          <a:noFill/>
        </p:spPr>
        <p:txBody>
          <a:bodyPr wrap="square" lIns="27432" tIns="18288" rIns="27432" bIns="18288">
            <a:spAutoFit/>
          </a:bodyPr>
          <a:lstStyle/>
          <a:p>
            <a:pPr algn="l">
              <a:defRPr sz="1000" b="1">
                <a:solidFill>
                  <a:srgbClr val="1E40AF"/>
                </a:solidFill>
                <a:latin typeface="Aptos"/>
              </a:defRPr>
            </a:pPr>
            <a:r>
              <a:t>Lectura PM</a:t>
            </a:r>
          </a:p>
        </p:txBody>
      </p:sp>
      <p:sp>
        <p:nvSpPr>
          <p:cNvPr id="37" name="TextBox 36"/>
          <p:cNvSpPr txBox="1"/>
          <p:nvPr/>
        </p:nvSpPr>
        <p:spPr>
          <a:xfrm>
            <a:off x="3108960" y="4087368"/>
            <a:ext cx="1371600" cy="201168"/>
          </a:xfrm>
          <a:prstGeom prst="rect">
            <a:avLst/>
          </a:prstGeom>
          <a:noFill/>
        </p:spPr>
        <p:txBody>
          <a:bodyPr wrap="square" lIns="27432" tIns="18288" rIns="27432" bIns="18288">
            <a:spAutoFit/>
          </a:bodyPr>
          <a:lstStyle/>
          <a:p>
            <a:pPr algn="l">
              <a:defRPr sz="1000" b="1">
                <a:solidFill>
                  <a:srgbClr val="1E40AF"/>
                </a:solidFill>
                <a:latin typeface="Aptos"/>
              </a:defRPr>
            </a:pPr>
            <a:r>
              <a:t>Respuesta base</a:t>
            </a:r>
          </a:p>
        </p:txBody>
      </p:sp>
      <p:sp>
        <p:nvSpPr>
          <p:cNvPr id="38" name="TextBox 37"/>
          <p:cNvSpPr txBox="1"/>
          <p:nvPr/>
        </p:nvSpPr>
        <p:spPr>
          <a:xfrm>
            <a:off x="914400" y="4407408"/>
            <a:ext cx="777240" cy="146304"/>
          </a:xfrm>
          <a:prstGeom prst="rect">
            <a:avLst/>
          </a:prstGeom>
          <a:noFill/>
        </p:spPr>
        <p:txBody>
          <a:bodyPr wrap="square" lIns="27432" tIns="18288" rIns="27432" bIns="18288">
            <a:spAutoFit/>
          </a:bodyPr>
          <a:lstStyle/>
          <a:p>
            <a:pPr algn="l">
              <a:defRPr sz="869" b="1">
                <a:solidFill>
                  <a:srgbClr val="374151"/>
                </a:solidFill>
                <a:latin typeface="Aptos"/>
              </a:defRPr>
            </a:pPr>
            <a:r>
              <a:t>Crítico</a:t>
            </a:r>
          </a:p>
        </p:txBody>
      </p:sp>
      <p:sp>
        <p:nvSpPr>
          <p:cNvPr id="39" name="TextBox 38"/>
          <p:cNvSpPr txBox="1"/>
          <p:nvPr/>
        </p:nvSpPr>
        <p:spPr>
          <a:xfrm>
            <a:off x="1828800" y="4407408"/>
            <a:ext cx="1280160" cy="146304"/>
          </a:xfrm>
          <a:prstGeom prst="rect">
            <a:avLst/>
          </a:prstGeom>
          <a:noFill/>
        </p:spPr>
        <p:txBody>
          <a:bodyPr wrap="square" lIns="27432" tIns="18288" rIns="27432" bIns="18288">
            <a:spAutoFit/>
          </a:bodyPr>
          <a:lstStyle/>
          <a:p>
            <a:pPr algn="l">
              <a:defRPr sz="869" b="0">
                <a:solidFill>
                  <a:srgbClr val="374151"/>
                </a:solidFill>
                <a:latin typeface="Aptos"/>
              </a:defRPr>
            </a:pPr>
            <a:r>
              <a:t>Puede frenar el proyecto</a:t>
            </a:r>
          </a:p>
        </p:txBody>
      </p:sp>
      <p:sp>
        <p:nvSpPr>
          <p:cNvPr id="40" name="TextBox 39"/>
          <p:cNvSpPr txBox="1"/>
          <p:nvPr/>
        </p:nvSpPr>
        <p:spPr>
          <a:xfrm>
            <a:off x="3108960" y="4407408"/>
            <a:ext cx="1554480" cy="146304"/>
          </a:xfrm>
          <a:prstGeom prst="rect">
            <a:avLst/>
          </a:prstGeom>
          <a:noFill/>
        </p:spPr>
        <p:txBody>
          <a:bodyPr wrap="square" lIns="27432" tIns="18288" rIns="27432" bIns="18288">
            <a:spAutoFit/>
          </a:bodyPr>
          <a:lstStyle/>
          <a:p>
            <a:pPr algn="l">
              <a:defRPr sz="869" b="0">
                <a:solidFill>
                  <a:srgbClr val="374151"/>
                </a:solidFill>
                <a:latin typeface="Aptos"/>
              </a:defRPr>
            </a:pPr>
            <a:r>
              <a:t>Acción inmediata</a:t>
            </a:r>
          </a:p>
        </p:txBody>
      </p:sp>
      <p:sp>
        <p:nvSpPr>
          <p:cNvPr id="41" name="TextBox 40"/>
          <p:cNvSpPr txBox="1"/>
          <p:nvPr/>
        </p:nvSpPr>
        <p:spPr>
          <a:xfrm>
            <a:off x="914400" y="4608576"/>
            <a:ext cx="777240" cy="146304"/>
          </a:xfrm>
          <a:prstGeom prst="rect">
            <a:avLst/>
          </a:prstGeom>
          <a:noFill/>
        </p:spPr>
        <p:txBody>
          <a:bodyPr wrap="square" lIns="27432" tIns="18288" rIns="27432" bIns="18288">
            <a:spAutoFit/>
          </a:bodyPr>
          <a:lstStyle/>
          <a:p>
            <a:pPr algn="l">
              <a:defRPr sz="869" b="1">
                <a:solidFill>
                  <a:srgbClr val="374151"/>
                </a:solidFill>
                <a:latin typeface="Aptos"/>
              </a:defRPr>
            </a:pPr>
            <a:r>
              <a:t>Alto</a:t>
            </a:r>
          </a:p>
        </p:txBody>
      </p:sp>
      <p:sp>
        <p:nvSpPr>
          <p:cNvPr id="42" name="TextBox 41"/>
          <p:cNvSpPr txBox="1"/>
          <p:nvPr/>
        </p:nvSpPr>
        <p:spPr>
          <a:xfrm>
            <a:off x="1828800" y="4608576"/>
            <a:ext cx="1280160" cy="146304"/>
          </a:xfrm>
          <a:prstGeom prst="rect">
            <a:avLst/>
          </a:prstGeom>
          <a:noFill/>
        </p:spPr>
        <p:txBody>
          <a:bodyPr wrap="square" lIns="27432" tIns="18288" rIns="27432" bIns="18288">
            <a:spAutoFit/>
          </a:bodyPr>
          <a:lstStyle/>
          <a:p>
            <a:pPr algn="l">
              <a:defRPr sz="869" b="0">
                <a:solidFill>
                  <a:srgbClr val="374151"/>
                </a:solidFill>
                <a:latin typeface="Aptos"/>
              </a:defRPr>
            </a:pPr>
            <a:r>
              <a:t>Afecta fechas o calidad</a:t>
            </a:r>
          </a:p>
        </p:txBody>
      </p:sp>
      <p:sp>
        <p:nvSpPr>
          <p:cNvPr id="43" name="TextBox 42"/>
          <p:cNvSpPr txBox="1"/>
          <p:nvPr/>
        </p:nvSpPr>
        <p:spPr>
          <a:xfrm>
            <a:off x="3108960" y="4608576"/>
            <a:ext cx="1554480" cy="146304"/>
          </a:xfrm>
          <a:prstGeom prst="rect">
            <a:avLst/>
          </a:prstGeom>
          <a:noFill/>
        </p:spPr>
        <p:txBody>
          <a:bodyPr wrap="square" lIns="27432" tIns="18288" rIns="27432" bIns="18288">
            <a:spAutoFit/>
          </a:bodyPr>
          <a:lstStyle/>
          <a:p>
            <a:pPr algn="l">
              <a:defRPr sz="869" b="0">
                <a:solidFill>
                  <a:srgbClr val="374151"/>
                </a:solidFill>
                <a:latin typeface="Aptos"/>
              </a:defRPr>
            </a:pPr>
            <a:r>
              <a:t>Mitigar y vigilar</a:t>
            </a:r>
          </a:p>
        </p:txBody>
      </p:sp>
      <p:sp>
        <p:nvSpPr>
          <p:cNvPr id="44" name="TextBox 43"/>
          <p:cNvSpPr txBox="1"/>
          <p:nvPr/>
        </p:nvSpPr>
        <p:spPr>
          <a:xfrm>
            <a:off x="914400" y="4809744"/>
            <a:ext cx="777240" cy="146304"/>
          </a:xfrm>
          <a:prstGeom prst="rect">
            <a:avLst/>
          </a:prstGeom>
          <a:noFill/>
        </p:spPr>
        <p:txBody>
          <a:bodyPr wrap="square" lIns="27432" tIns="18288" rIns="27432" bIns="18288">
            <a:spAutoFit/>
          </a:bodyPr>
          <a:lstStyle/>
          <a:p>
            <a:pPr algn="l">
              <a:defRPr sz="869" b="1">
                <a:solidFill>
                  <a:srgbClr val="374151"/>
                </a:solidFill>
                <a:latin typeface="Aptos"/>
              </a:defRPr>
            </a:pPr>
            <a:r>
              <a:t>Medio</a:t>
            </a:r>
          </a:p>
        </p:txBody>
      </p:sp>
      <p:sp>
        <p:nvSpPr>
          <p:cNvPr id="45" name="TextBox 44"/>
          <p:cNvSpPr txBox="1"/>
          <p:nvPr/>
        </p:nvSpPr>
        <p:spPr>
          <a:xfrm>
            <a:off x="1828800" y="4809744"/>
            <a:ext cx="1280160" cy="146304"/>
          </a:xfrm>
          <a:prstGeom prst="rect">
            <a:avLst/>
          </a:prstGeom>
          <a:noFill/>
        </p:spPr>
        <p:txBody>
          <a:bodyPr wrap="square" lIns="27432" tIns="18288" rIns="27432" bIns="18288">
            <a:spAutoFit/>
          </a:bodyPr>
          <a:lstStyle/>
          <a:p>
            <a:pPr algn="l">
              <a:defRPr sz="869" b="0">
                <a:solidFill>
                  <a:srgbClr val="374151"/>
                </a:solidFill>
                <a:latin typeface="Aptos"/>
              </a:defRPr>
            </a:pPr>
            <a:r>
              <a:t>Genera retrabajo limitado</a:t>
            </a:r>
          </a:p>
        </p:txBody>
      </p:sp>
      <p:sp>
        <p:nvSpPr>
          <p:cNvPr id="46" name="TextBox 45"/>
          <p:cNvSpPr txBox="1"/>
          <p:nvPr/>
        </p:nvSpPr>
        <p:spPr>
          <a:xfrm>
            <a:off x="3108960" y="4809744"/>
            <a:ext cx="1554480" cy="146304"/>
          </a:xfrm>
          <a:prstGeom prst="rect">
            <a:avLst/>
          </a:prstGeom>
          <a:noFill/>
        </p:spPr>
        <p:txBody>
          <a:bodyPr wrap="square" lIns="27432" tIns="18288" rIns="27432" bIns="18288">
            <a:spAutoFit/>
          </a:bodyPr>
          <a:lstStyle/>
          <a:p>
            <a:pPr algn="l">
              <a:defRPr sz="869" b="0">
                <a:solidFill>
                  <a:srgbClr val="374151"/>
                </a:solidFill>
                <a:latin typeface="Aptos"/>
              </a:defRPr>
            </a:pPr>
            <a:r>
              <a:t>Controlar</a:t>
            </a:r>
          </a:p>
        </p:txBody>
      </p:sp>
      <p:sp>
        <p:nvSpPr>
          <p:cNvPr id="47" name="TextBox 46"/>
          <p:cNvSpPr txBox="1"/>
          <p:nvPr/>
        </p:nvSpPr>
        <p:spPr>
          <a:xfrm>
            <a:off x="914400" y="5010912"/>
            <a:ext cx="777240" cy="146304"/>
          </a:xfrm>
          <a:prstGeom prst="rect">
            <a:avLst/>
          </a:prstGeom>
          <a:noFill/>
        </p:spPr>
        <p:txBody>
          <a:bodyPr wrap="square" lIns="27432" tIns="18288" rIns="27432" bIns="18288">
            <a:spAutoFit/>
          </a:bodyPr>
          <a:lstStyle/>
          <a:p>
            <a:pPr algn="l">
              <a:defRPr sz="869" b="1">
                <a:solidFill>
                  <a:srgbClr val="374151"/>
                </a:solidFill>
                <a:latin typeface="Aptos"/>
              </a:defRPr>
            </a:pPr>
            <a:r>
              <a:t>Bajo</a:t>
            </a:r>
          </a:p>
        </p:txBody>
      </p:sp>
      <p:sp>
        <p:nvSpPr>
          <p:cNvPr id="48" name="TextBox 47"/>
          <p:cNvSpPr txBox="1"/>
          <p:nvPr/>
        </p:nvSpPr>
        <p:spPr>
          <a:xfrm>
            <a:off x="1828800" y="5010912"/>
            <a:ext cx="1280160" cy="146304"/>
          </a:xfrm>
          <a:prstGeom prst="rect">
            <a:avLst/>
          </a:prstGeom>
          <a:noFill/>
        </p:spPr>
        <p:txBody>
          <a:bodyPr wrap="square" lIns="27432" tIns="18288" rIns="27432" bIns="18288">
            <a:spAutoFit/>
          </a:bodyPr>
          <a:lstStyle/>
          <a:p>
            <a:pPr algn="l">
              <a:defRPr sz="869" b="0">
                <a:solidFill>
                  <a:srgbClr val="374151"/>
                </a:solidFill>
                <a:latin typeface="Aptos"/>
              </a:defRPr>
            </a:pPr>
            <a:r>
              <a:t>No compromete entregables</a:t>
            </a:r>
          </a:p>
        </p:txBody>
      </p:sp>
      <p:sp>
        <p:nvSpPr>
          <p:cNvPr id="49" name="TextBox 48"/>
          <p:cNvSpPr txBox="1"/>
          <p:nvPr/>
        </p:nvSpPr>
        <p:spPr>
          <a:xfrm>
            <a:off x="3108960" y="5010912"/>
            <a:ext cx="1554480" cy="146304"/>
          </a:xfrm>
          <a:prstGeom prst="rect">
            <a:avLst/>
          </a:prstGeom>
          <a:noFill/>
        </p:spPr>
        <p:txBody>
          <a:bodyPr wrap="square" lIns="27432" tIns="18288" rIns="27432" bIns="18288">
            <a:spAutoFit/>
          </a:bodyPr>
          <a:lstStyle/>
          <a:p>
            <a:pPr algn="l">
              <a:defRPr sz="869" b="0">
                <a:solidFill>
                  <a:srgbClr val="374151"/>
                </a:solidFill>
                <a:latin typeface="Aptos"/>
              </a:defRPr>
            </a:pPr>
            <a:r>
              <a:t>Aceptar con seguimiento</a:t>
            </a:r>
          </a:p>
        </p:txBody>
      </p:sp>
      <p:sp>
        <p:nvSpPr>
          <p:cNvPr id="51" name="TextBox 50"/>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Evidencia documental utilizada</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Base real para no convertir la práctica en un ejercicio inventado.</a:t>
            </a:r>
          </a:p>
        </p:txBody>
      </p:sp>
      <p:sp>
        <p:nvSpPr>
          <p:cNvPr id="6" name="Rectangle 5"/>
          <p:cNvSpPr/>
          <p:nvPr/>
        </p:nvSpPr>
        <p:spPr>
          <a:xfrm>
            <a:off x="594360" y="1234440"/>
            <a:ext cx="10927080" cy="475488"/>
          </a:xfrm>
          <a:prstGeom prst="rect">
            <a:avLst/>
          </a:prstGeom>
          <a:solidFill>
            <a:srgbClr val="1E40AF"/>
          </a:solidFill>
          <a:ln w="1143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89888"/>
            <a:ext cx="1737360" cy="109728"/>
          </a:xfrm>
          <a:prstGeom prst="rect">
            <a:avLst/>
          </a:prstGeom>
          <a:noFill/>
        </p:spPr>
        <p:txBody>
          <a:bodyPr wrap="square" lIns="27432" tIns="18288" rIns="27432" bIns="18288">
            <a:spAutoFit/>
          </a:bodyPr>
          <a:lstStyle/>
          <a:p>
            <a:pPr algn="l">
              <a:defRPr sz="940" b="1">
                <a:solidFill>
                  <a:srgbClr val="FFFFFF"/>
                </a:solidFill>
                <a:latin typeface="Aptos"/>
              </a:defRPr>
            </a:pPr>
            <a:r>
              <a:t>Proyecto</a:t>
            </a:r>
          </a:p>
        </p:txBody>
      </p:sp>
      <p:sp>
        <p:nvSpPr>
          <p:cNvPr id="8" name="TextBox 7"/>
          <p:cNvSpPr txBox="1"/>
          <p:nvPr/>
        </p:nvSpPr>
        <p:spPr>
          <a:xfrm>
            <a:off x="2606040" y="1389888"/>
            <a:ext cx="4572000" cy="109728"/>
          </a:xfrm>
          <a:prstGeom prst="rect">
            <a:avLst/>
          </a:prstGeom>
          <a:noFill/>
        </p:spPr>
        <p:txBody>
          <a:bodyPr wrap="square" lIns="27432" tIns="18288" rIns="27432" bIns="18288">
            <a:spAutoFit/>
          </a:bodyPr>
          <a:lstStyle/>
          <a:p>
            <a:pPr algn="l">
              <a:defRPr sz="940" b="1">
                <a:solidFill>
                  <a:srgbClr val="FFFFFF"/>
                </a:solidFill>
                <a:latin typeface="Aptos"/>
              </a:defRPr>
            </a:pPr>
            <a:r>
              <a:t>Documentos usados</a:t>
            </a:r>
          </a:p>
        </p:txBody>
      </p:sp>
      <p:sp>
        <p:nvSpPr>
          <p:cNvPr id="9" name="TextBox 8"/>
          <p:cNvSpPr txBox="1"/>
          <p:nvPr/>
        </p:nvSpPr>
        <p:spPr>
          <a:xfrm>
            <a:off x="7360920" y="1389888"/>
            <a:ext cx="4069080" cy="109728"/>
          </a:xfrm>
          <a:prstGeom prst="rect">
            <a:avLst/>
          </a:prstGeom>
          <a:noFill/>
        </p:spPr>
        <p:txBody>
          <a:bodyPr wrap="square" lIns="27432" tIns="18288" rIns="27432" bIns="18288">
            <a:spAutoFit/>
          </a:bodyPr>
          <a:lstStyle/>
          <a:p>
            <a:pPr algn="l">
              <a:defRPr sz="940" b="1">
                <a:solidFill>
                  <a:srgbClr val="FFFFFF"/>
                </a:solidFill>
                <a:latin typeface="Aptos"/>
              </a:defRPr>
            </a:pPr>
            <a:r>
              <a:t>Lectura de riesgo</a:t>
            </a:r>
          </a:p>
        </p:txBody>
      </p:sp>
      <p:sp>
        <p:nvSpPr>
          <p:cNvPr id="10" name="Rectangle 9"/>
          <p:cNvSpPr/>
          <p:nvPr/>
        </p:nvSpPr>
        <p:spPr>
          <a:xfrm>
            <a:off x="594360" y="1709928"/>
            <a:ext cx="10927080" cy="475488"/>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819656"/>
            <a:ext cx="1737360" cy="237744"/>
          </a:xfrm>
          <a:prstGeom prst="rect">
            <a:avLst/>
          </a:prstGeom>
          <a:noFill/>
        </p:spPr>
        <p:txBody>
          <a:bodyPr wrap="square" lIns="27432" tIns="18288" rIns="27432" bIns="18288">
            <a:spAutoFit/>
          </a:bodyPr>
          <a:lstStyle/>
          <a:p>
            <a:pPr algn="l">
              <a:defRPr sz="860" b="1">
                <a:solidFill>
                  <a:srgbClr val="111827"/>
                </a:solidFill>
                <a:latin typeface="Aptos"/>
              </a:defRPr>
            </a:pPr>
            <a:r>
              <a:t>Fast Burger</a:t>
            </a:r>
          </a:p>
        </p:txBody>
      </p:sp>
      <p:sp>
        <p:nvSpPr>
          <p:cNvPr id="12" name="TextBox 11"/>
          <p:cNvSpPr txBox="1"/>
          <p:nvPr/>
        </p:nvSpPr>
        <p:spPr>
          <a:xfrm>
            <a:off x="2606040" y="1819656"/>
            <a:ext cx="4572000" cy="237744"/>
          </a:xfrm>
          <a:prstGeom prst="rect">
            <a:avLst/>
          </a:prstGeom>
          <a:noFill/>
        </p:spPr>
        <p:txBody>
          <a:bodyPr wrap="square" lIns="27432" tIns="18288" rIns="27432" bIns="18288">
            <a:spAutoFit/>
          </a:bodyPr>
          <a:lstStyle/>
          <a:p>
            <a:pPr algn="l">
              <a:defRPr sz="860" b="0">
                <a:solidFill>
                  <a:srgbClr val="374151"/>
                </a:solidFill>
                <a:latin typeface="Aptos"/>
              </a:defRPr>
            </a:pPr>
            <a:r>
              <a:t>RISK-003, VME-003, INC-003-01, CC-003, REV-003</a:t>
            </a:r>
          </a:p>
        </p:txBody>
      </p:sp>
      <p:sp>
        <p:nvSpPr>
          <p:cNvPr id="13" name="TextBox 12"/>
          <p:cNvSpPr txBox="1"/>
          <p:nvPr/>
        </p:nvSpPr>
        <p:spPr>
          <a:xfrm>
            <a:off x="7360920" y="1819656"/>
            <a:ext cx="4069080" cy="237744"/>
          </a:xfrm>
          <a:prstGeom prst="rect">
            <a:avLst/>
          </a:prstGeom>
          <a:noFill/>
        </p:spPr>
        <p:txBody>
          <a:bodyPr wrap="square" lIns="27432" tIns="18288" rIns="27432" bIns="18288">
            <a:spAutoFit/>
          </a:bodyPr>
          <a:lstStyle/>
          <a:p>
            <a:pPr algn="l">
              <a:defRPr sz="860" b="0">
                <a:solidFill>
                  <a:srgbClr val="374151"/>
                </a:solidFill>
                <a:latin typeface="Aptos"/>
              </a:defRPr>
            </a:pPr>
            <a:r>
              <a:t>Retraso materializado y corrección de D6-D7</a:t>
            </a:r>
          </a:p>
        </p:txBody>
      </p:sp>
      <p:sp>
        <p:nvSpPr>
          <p:cNvPr id="14" name="Rectangle 13"/>
          <p:cNvSpPr/>
          <p:nvPr/>
        </p:nvSpPr>
        <p:spPr>
          <a:xfrm>
            <a:off x="594360" y="2185416"/>
            <a:ext cx="10927080" cy="475488"/>
          </a:xfrm>
          <a:prstGeom prst="rect">
            <a:avLst/>
          </a:prstGeom>
          <a:solidFill>
            <a:srgbClr val="F3F4F6"/>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2295144"/>
            <a:ext cx="1737360" cy="237744"/>
          </a:xfrm>
          <a:prstGeom prst="rect">
            <a:avLst/>
          </a:prstGeom>
          <a:noFill/>
        </p:spPr>
        <p:txBody>
          <a:bodyPr wrap="square" lIns="27432" tIns="18288" rIns="27432" bIns="18288">
            <a:spAutoFit/>
          </a:bodyPr>
          <a:lstStyle/>
          <a:p>
            <a:pPr algn="l">
              <a:defRPr sz="860" b="1">
                <a:solidFill>
                  <a:srgbClr val="111827"/>
                </a:solidFill>
                <a:latin typeface="Aptos"/>
              </a:defRPr>
            </a:pPr>
            <a:r>
              <a:t>ProcesMuebles</a:t>
            </a:r>
          </a:p>
        </p:txBody>
      </p:sp>
      <p:sp>
        <p:nvSpPr>
          <p:cNvPr id="16" name="TextBox 15"/>
          <p:cNvSpPr txBox="1"/>
          <p:nvPr/>
        </p:nvSpPr>
        <p:spPr>
          <a:xfrm>
            <a:off x="2606040" y="2295144"/>
            <a:ext cx="4572000" cy="237744"/>
          </a:xfrm>
          <a:prstGeom prst="rect">
            <a:avLst/>
          </a:prstGeom>
          <a:noFill/>
        </p:spPr>
        <p:txBody>
          <a:bodyPr wrap="square" lIns="27432" tIns="18288" rIns="27432" bIns="18288">
            <a:spAutoFit/>
          </a:bodyPr>
          <a:lstStyle/>
          <a:p>
            <a:pPr algn="l">
              <a:defRPr sz="860" b="0">
                <a:solidFill>
                  <a:srgbClr val="374151"/>
                </a:solidFill>
                <a:latin typeface="Aptos"/>
              </a:defRPr>
            </a:pPr>
            <a:r>
              <a:t>RISK-002, VME-002, INC-002-01, CC-002, SEG-002</a:t>
            </a:r>
          </a:p>
        </p:txBody>
      </p:sp>
      <p:sp>
        <p:nvSpPr>
          <p:cNvPr id="17" name="TextBox 16"/>
          <p:cNvSpPr txBox="1"/>
          <p:nvPr/>
        </p:nvSpPr>
        <p:spPr>
          <a:xfrm>
            <a:off x="7360920" y="2295144"/>
            <a:ext cx="4069080" cy="237744"/>
          </a:xfrm>
          <a:prstGeom prst="rect">
            <a:avLst/>
          </a:prstGeom>
          <a:noFill/>
        </p:spPr>
        <p:txBody>
          <a:bodyPr wrap="square" lIns="27432" tIns="18288" rIns="27432" bIns="18288">
            <a:spAutoFit/>
          </a:bodyPr>
          <a:lstStyle/>
          <a:p>
            <a:pPr algn="l">
              <a:defRPr sz="860" b="0">
                <a:solidFill>
                  <a:srgbClr val="374151"/>
                </a:solidFill>
                <a:latin typeface="Aptos"/>
              </a:defRPr>
            </a:pPr>
            <a:r>
              <a:t>Inconsistencia D2-D5 y recuperación de línea base</a:t>
            </a:r>
          </a:p>
        </p:txBody>
      </p:sp>
      <p:sp>
        <p:nvSpPr>
          <p:cNvPr id="18" name="Rectangle 17"/>
          <p:cNvSpPr/>
          <p:nvPr/>
        </p:nvSpPr>
        <p:spPr>
          <a:xfrm>
            <a:off x="594360" y="2660904"/>
            <a:ext cx="10927080" cy="475488"/>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2770632"/>
            <a:ext cx="1737360" cy="237744"/>
          </a:xfrm>
          <a:prstGeom prst="rect">
            <a:avLst/>
          </a:prstGeom>
          <a:noFill/>
        </p:spPr>
        <p:txBody>
          <a:bodyPr wrap="square" lIns="27432" tIns="18288" rIns="27432" bIns="18288">
            <a:spAutoFit/>
          </a:bodyPr>
          <a:lstStyle/>
          <a:p>
            <a:pPr algn="l">
              <a:defRPr sz="860" b="1">
                <a:solidFill>
                  <a:srgbClr val="111827"/>
                </a:solidFill>
                <a:latin typeface="Aptos"/>
              </a:defRPr>
            </a:pPr>
            <a:r>
              <a:t>Industria Bloquera</a:t>
            </a:r>
          </a:p>
        </p:txBody>
      </p:sp>
      <p:sp>
        <p:nvSpPr>
          <p:cNvPr id="20" name="TextBox 19"/>
          <p:cNvSpPr txBox="1"/>
          <p:nvPr/>
        </p:nvSpPr>
        <p:spPr>
          <a:xfrm>
            <a:off x="2606040" y="2770632"/>
            <a:ext cx="4572000" cy="237744"/>
          </a:xfrm>
          <a:prstGeom prst="rect">
            <a:avLst/>
          </a:prstGeom>
          <a:noFill/>
        </p:spPr>
        <p:txBody>
          <a:bodyPr wrap="square" lIns="27432" tIns="18288" rIns="27432" bIns="18288">
            <a:spAutoFit/>
          </a:bodyPr>
          <a:lstStyle/>
          <a:p>
            <a:pPr algn="l">
              <a:defRPr sz="860" b="0">
                <a:solidFill>
                  <a:srgbClr val="374151"/>
                </a:solidFill>
                <a:latin typeface="Aptos"/>
              </a:defRPr>
            </a:pPr>
            <a:r>
              <a:t>ACTA-001, PLAN-001, D5 y evidencia de aprobación</a:t>
            </a:r>
          </a:p>
        </p:txBody>
      </p:sp>
      <p:sp>
        <p:nvSpPr>
          <p:cNvPr id="21" name="TextBox 20"/>
          <p:cNvSpPr txBox="1"/>
          <p:nvPr/>
        </p:nvSpPr>
        <p:spPr>
          <a:xfrm>
            <a:off x="7360920" y="2770632"/>
            <a:ext cx="4069080" cy="237744"/>
          </a:xfrm>
          <a:prstGeom prst="rect">
            <a:avLst/>
          </a:prstGeom>
          <a:noFill/>
        </p:spPr>
        <p:txBody>
          <a:bodyPr wrap="square" lIns="27432" tIns="18288" rIns="27432" bIns="18288">
            <a:spAutoFit/>
          </a:bodyPr>
          <a:lstStyle/>
          <a:p>
            <a:pPr algn="l">
              <a:defRPr sz="860" b="0">
                <a:solidFill>
                  <a:srgbClr val="374151"/>
                </a:solidFill>
                <a:latin typeface="Aptos"/>
              </a:defRPr>
            </a:pPr>
            <a:r>
              <a:t>Riesgo medido con evidencia, sin RISK/VME formal</a:t>
            </a:r>
          </a:p>
        </p:txBody>
      </p:sp>
      <p:sp>
        <p:nvSpPr>
          <p:cNvPr id="22" name="Rounded Rectangle 21"/>
          <p:cNvSpPr/>
          <p:nvPr/>
        </p:nvSpPr>
        <p:spPr>
          <a:xfrm>
            <a:off x="685800" y="3429000"/>
            <a:ext cx="5074920" cy="233172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22960" y="3538728"/>
            <a:ext cx="1947672"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9536" y="3593592"/>
            <a:ext cx="1874519" cy="164592"/>
          </a:xfrm>
          <a:prstGeom prst="rect">
            <a:avLst/>
          </a:prstGeom>
          <a:noFill/>
        </p:spPr>
        <p:txBody>
          <a:bodyPr wrap="square" lIns="27432" tIns="18288" rIns="27432" bIns="18288">
            <a:spAutoFit/>
          </a:bodyPr>
          <a:lstStyle/>
          <a:p>
            <a:pPr algn="ctr">
              <a:defRPr sz="830" b="1">
                <a:solidFill>
                  <a:srgbClr val="FFFFFF"/>
                </a:solidFill>
                <a:latin typeface="Aptos"/>
              </a:defRPr>
            </a:pPr>
            <a:r>
              <a:t>Tablero Trello</a:t>
            </a:r>
          </a:p>
        </p:txBody>
      </p:sp>
      <p:pic>
        <p:nvPicPr>
          <p:cNvPr id="25" name="Picture 24" descr="32f4eca4-0a42-4529-914a-551fe7e3141d.png"/>
          <p:cNvPicPr>
            <a:picLocks noChangeAspect="1"/>
          </p:cNvPicPr>
          <p:nvPr/>
        </p:nvPicPr>
        <p:blipFill>
          <a:blip r:embed="rId2"/>
          <a:stretch>
            <a:fillRect/>
          </a:stretch>
        </p:blipFill>
        <p:spPr>
          <a:xfrm>
            <a:off x="1950680" y="3886200"/>
            <a:ext cx="2545158" cy="1554479"/>
          </a:xfrm>
          <a:prstGeom prst="rect">
            <a:avLst/>
          </a:prstGeom>
        </p:spPr>
      </p:pic>
      <p:sp>
        <p:nvSpPr>
          <p:cNvPr id="26" name="TextBox 25"/>
          <p:cNvSpPr txBox="1"/>
          <p:nvPr/>
        </p:nvSpPr>
        <p:spPr>
          <a:xfrm>
            <a:off x="850392" y="5440680"/>
            <a:ext cx="4745736" cy="201168"/>
          </a:xfrm>
          <a:prstGeom prst="rect">
            <a:avLst/>
          </a:prstGeom>
          <a:noFill/>
        </p:spPr>
        <p:txBody>
          <a:bodyPr wrap="square" lIns="27432" tIns="18288" rIns="27432" bIns="18288">
            <a:spAutoFit/>
          </a:bodyPr>
          <a:lstStyle/>
          <a:p>
            <a:pPr algn="l">
              <a:defRPr sz="819" b="0">
                <a:solidFill>
                  <a:srgbClr val="6B7280"/>
                </a:solidFill>
                <a:latin typeface="Aptos"/>
              </a:defRPr>
            </a:pPr>
            <a:r>
              <a:t>Seguimiento general de tarjetas y avance registrado.</a:t>
            </a:r>
          </a:p>
        </p:txBody>
      </p:sp>
      <p:sp>
        <p:nvSpPr>
          <p:cNvPr id="27" name="Rounded Rectangle 26"/>
          <p:cNvSpPr/>
          <p:nvPr/>
        </p:nvSpPr>
        <p:spPr>
          <a:xfrm>
            <a:off x="6263640" y="3429000"/>
            <a:ext cx="5074920" cy="233172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00800" y="3538728"/>
            <a:ext cx="2715768"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3593592"/>
            <a:ext cx="2642616" cy="164592"/>
          </a:xfrm>
          <a:prstGeom prst="rect">
            <a:avLst/>
          </a:prstGeom>
          <a:noFill/>
        </p:spPr>
        <p:txBody>
          <a:bodyPr wrap="square" lIns="27432" tIns="18288" rIns="27432" bIns="18288">
            <a:spAutoFit/>
          </a:bodyPr>
          <a:lstStyle/>
          <a:p>
            <a:pPr algn="ctr">
              <a:defRPr sz="830" b="1">
                <a:solidFill>
                  <a:srgbClr val="FFFFFF"/>
                </a:solidFill>
                <a:latin typeface="Aptos"/>
              </a:defRPr>
            </a:pPr>
            <a:r>
              <a:t>ClickUp ProcesMuebles</a:t>
            </a:r>
          </a:p>
        </p:txBody>
      </p:sp>
      <p:pic>
        <p:nvPicPr>
          <p:cNvPr id="30" name="Picture 29" descr="94b1df48-a063-406b-b2e3-402832acf9a6.png"/>
          <p:cNvPicPr>
            <a:picLocks noChangeAspect="1"/>
          </p:cNvPicPr>
          <p:nvPr/>
        </p:nvPicPr>
        <p:blipFill>
          <a:blip r:embed="rId3"/>
          <a:stretch>
            <a:fillRect/>
          </a:stretch>
        </p:blipFill>
        <p:spPr>
          <a:xfrm>
            <a:off x="7355931" y="3886200"/>
            <a:ext cx="2890337" cy="1554479"/>
          </a:xfrm>
          <a:prstGeom prst="rect">
            <a:avLst/>
          </a:prstGeom>
        </p:spPr>
      </p:pic>
      <p:sp>
        <p:nvSpPr>
          <p:cNvPr id="31" name="TextBox 30"/>
          <p:cNvSpPr txBox="1"/>
          <p:nvPr/>
        </p:nvSpPr>
        <p:spPr>
          <a:xfrm>
            <a:off x="6428231" y="5440680"/>
            <a:ext cx="4745736" cy="201168"/>
          </a:xfrm>
          <a:prstGeom prst="rect">
            <a:avLst/>
          </a:prstGeom>
          <a:noFill/>
        </p:spPr>
        <p:txBody>
          <a:bodyPr wrap="square" lIns="27432" tIns="18288" rIns="27432" bIns="18288">
            <a:spAutoFit/>
          </a:bodyPr>
          <a:lstStyle/>
          <a:p>
            <a:pPr algn="l">
              <a:defRPr sz="819" b="0">
                <a:solidFill>
                  <a:srgbClr val="6B7280"/>
                </a:solidFill>
                <a:latin typeface="Aptos"/>
              </a:defRPr>
            </a:pPr>
            <a:r>
              <a:t>Lista de tareas, estados y elementos pendientes.</a:t>
            </a:r>
          </a:p>
        </p:txBody>
      </p:sp>
      <p:sp>
        <p:nvSpPr>
          <p:cNvPr id="33" name="TextBox 32"/>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Caso 1: Fast Burger — matriz de riesgos</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Aarón · RISK-003, VME-003, INC-003-01 y seguimiento.</a:t>
            </a:r>
          </a:p>
        </p:txBody>
      </p:sp>
      <p:sp>
        <p:nvSpPr>
          <p:cNvPr id="6" name="Rounded Rectangle 5"/>
          <p:cNvSpPr/>
          <p:nvPr/>
        </p:nvSpPr>
        <p:spPr>
          <a:xfrm>
            <a:off x="388620" y="1124712"/>
            <a:ext cx="4046220" cy="5049946"/>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344168"/>
            <a:ext cx="1289304"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399032"/>
            <a:ext cx="1216151" cy="164592"/>
          </a:xfrm>
          <a:prstGeom prst="rect">
            <a:avLst/>
          </a:prstGeom>
          <a:noFill/>
        </p:spPr>
        <p:txBody>
          <a:bodyPr wrap="square" lIns="27432" tIns="18288" rIns="27432" bIns="18288">
            <a:spAutoFit/>
          </a:bodyPr>
          <a:lstStyle/>
          <a:p>
            <a:pPr algn="ctr">
              <a:defRPr sz="830" b="1">
                <a:solidFill>
                  <a:srgbClr val="FFFFFF"/>
                </a:solidFill>
                <a:latin typeface="Aptos"/>
              </a:defRPr>
            </a:pPr>
            <a:r>
              <a:t>RISK-003</a:t>
            </a:r>
          </a:p>
        </p:txBody>
      </p:sp>
      <p:pic>
        <p:nvPicPr>
          <p:cNvPr id="9" name="Picture 8" descr="RISK-003_Matriz_Riesgos_Aaron.png"/>
          <p:cNvPicPr>
            <a:picLocks noChangeAspect="1"/>
          </p:cNvPicPr>
          <p:nvPr/>
        </p:nvPicPr>
        <p:blipFill>
          <a:blip r:embed="rId2"/>
          <a:stretch>
            <a:fillRect/>
          </a:stretch>
        </p:blipFill>
        <p:spPr>
          <a:xfrm>
            <a:off x="1030778" y="1691640"/>
            <a:ext cx="2967643" cy="3840480"/>
          </a:xfrm>
          <a:prstGeom prst="rect">
            <a:avLst/>
          </a:prstGeom>
        </p:spPr>
      </p:pic>
      <p:sp>
        <p:nvSpPr>
          <p:cNvPr id="10" name="TextBox 9"/>
          <p:cNvSpPr txBox="1"/>
          <p:nvPr/>
        </p:nvSpPr>
        <p:spPr>
          <a:xfrm>
            <a:off x="758952" y="5532120"/>
            <a:ext cx="3511296" cy="201168"/>
          </a:xfrm>
          <a:prstGeom prst="rect">
            <a:avLst/>
          </a:prstGeom>
          <a:noFill/>
        </p:spPr>
        <p:txBody>
          <a:bodyPr wrap="square" lIns="27432" tIns="18288" rIns="27432" bIns="18288">
            <a:spAutoFit/>
          </a:bodyPr>
          <a:lstStyle/>
          <a:p>
            <a:pPr algn="l">
              <a:defRPr sz="819" b="0">
                <a:solidFill>
                  <a:srgbClr val="6B7280"/>
                </a:solidFill>
                <a:latin typeface="Aptos"/>
              </a:defRPr>
            </a:pPr>
            <a:r>
              <a:t>Matriz con probabilidad, impacto, nivel y respuesta.</a:t>
            </a:r>
          </a:p>
        </p:txBody>
      </p:sp>
      <p:sp>
        <p:nvSpPr>
          <p:cNvPr id="11" name="TextBox 10"/>
          <p:cNvSpPr txBox="1"/>
          <p:nvPr/>
        </p:nvSpPr>
        <p:spPr>
          <a:xfrm>
            <a:off x="4663440" y="1234440"/>
            <a:ext cx="2377440" cy="228600"/>
          </a:xfrm>
          <a:prstGeom prst="rect">
            <a:avLst/>
          </a:prstGeom>
          <a:noFill/>
        </p:spPr>
        <p:txBody>
          <a:bodyPr wrap="square" lIns="27432" tIns="18288" rIns="27432" bIns="18288">
            <a:spAutoFit/>
          </a:bodyPr>
          <a:lstStyle/>
          <a:p>
            <a:pPr algn="l">
              <a:defRPr sz="1500" b="1">
                <a:solidFill>
                  <a:srgbClr val="111827"/>
                </a:solidFill>
                <a:latin typeface="Aptos"/>
              </a:defRPr>
            </a:pPr>
            <a:r>
              <a:t>Riesgos principales</a:t>
            </a:r>
          </a:p>
        </p:txBody>
      </p:sp>
      <p:sp>
        <p:nvSpPr>
          <p:cNvPr id="12" name="Rounded Rectangle 11"/>
          <p:cNvSpPr/>
          <p:nvPr/>
        </p:nvSpPr>
        <p:spPr>
          <a:xfrm>
            <a:off x="4663440" y="1783080"/>
            <a:ext cx="6720840" cy="768096"/>
          </a:xfrm>
          <a:prstGeom prst="roundRect">
            <a:avLst/>
          </a:prstGeom>
          <a:solidFill>
            <a:srgbClr val="FEE2E2"/>
          </a:solidFill>
          <a:ln w="1143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92040" y="1929384"/>
            <a:ext cx="2560320" cy="146304"/>
          </a:xfrm>
          <a:prstGeom prst="rect">
            <a:avLst/>
          </a:prstGeom>
          <a:noFill/>
        </p:spPr>
        <p:txBody>
          <a:bodyPr wrap="square" lIns="27432" tIns="18288" rIns="27432" bIns="18288">
            <a:spAutoFit/>
          </a:bodyPr>
          <a:lstStyle/>
          <a:p>
            <a:pPr algn="l">
              <a:defRPr sz="1050" b="1">
                <a:solidFill>
                  <a:srgbClr val="EF4444"/>
                </a:solidFill>
                <a:latin typeface="Aptos"/>
              </a:defRPr>
            </a:pPr>
            <a:r>
              <a:t>R1 · Retraso por disponibilidad limitada</a:t>
            </a:r>
          </a:p>
        </p:txBody>
      </p:sp>
      <p:sp>
        <p:nvSpPr>
          <p:cNvPr id="14" name="TextBox 13"/>
          <p:cNvSpPr txBox="1"/>
          <p:nvPr/>
        </p:nvSpPr>
        <p:spPr>
          <a:xfrm>
            <a:off x="4892040" y="2167128"/>
            <a:ext cx="6035040" cy="164592"/>
          </a:xfrm>
          <a:prstGeom prst="rect">
            <a:avLst/>
          </a:prstGeom>
          <a:noFill/>
        </p:spPr>
        <p:txBody>
          <a:bodyPr wrap="square" lIns="27432" tIns="18288" rIns="27432" bIns="18288">
            <a:spAutoFit/>
          </a:bodyPr>
          <a:lstStyle/>
          <a:p>
            <a:pPr algn="l">
              <a:defRPr sz="940" b="0">
                <a:solidFill>
                  <a:srgbClr val="374151"/>
                </a:solidFill>
                <a:latin typeface="Aptos"/>
              </a:defRPr>
            </a:pPr>
            <a:r>
              <a:t>Nivel crítico. Se materializó y se controló con PLAN-003.</a:t>
            </a:r>
          </a:p>
        </p:txBody>
      </p:sp>
      <p:sp>
        <p:nvSpPr>
          <p:cNvPr id="15" name="Rounded Rectangle 14"/>
          <p:cNvSpPr/>
          <p:nvPr/>
        </p:nvSpPr>
        <p:spPr>
          <a:xfrm>
            <a:off x="4663440" y="2743200"/>
            <a:ext cx="6720840" cy="768096"/>
          </a:xfrm>
          <a:prstGeom prst="roundRect">
            <a:avLst/>
          </a:prstGeom>
          <a:solidFill>
            <a:srgbClr val="FEF3C7"/>
          </a:solidFill>
          <a:ln w="11430">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92040" y="2889504"/>
            <a:ext cx="2560320" cy="146304"/>
          </a:xfrm>
          <a:prstGeom prst="rect">
            <a:avLst/>
          </a:prstGeom>
          <a:noFill/>
        </p:spPr>
        <p:txBody>
          <a:bodyPr wrap="square" lIns="27432" tIns="18288" rIns="27432" bIns="18288">
            <a:spAutoFit/>
          </a:bodyPr>
          <a:lstStyle/>
          <a:p>
            <a:pPr algn="l">
              <a:defRPr sz="1050" b="1">
                <a:solidFill>
                  <a:srgbClr val="F59E0B"/>
                </a:solidFill>
                <a:latin typeface="Aptos"/>
              </a:defRPr>
            </a:pPr>
            <a:r>
              <a:t>R2 · Herramienta no definida</a:t>
            </a:r>
          </a:p>
        </p:txBody>
      </p:sp>
      <p:sp>
        <p:nvSpPr>
          <p:cNvPr id="17" name="TextBox 16"/>
          <p:cNvSpPr txBox="1"/>
          <p:nvPr/>
        </p:nvSpPr>
        <p:spPr>
          <a:xfrm>
            <a:off x="4892040" y="3127248"/>
            <a:ext cx="6035040" cy="164592"/>
          </a:xfrm>
          <a:prstGeom prst="rect">
            <a:avLst/>
          </a:prstGeom>
          <a:noFill/>
        </p:spPr>
        <p:txBody>
          <a:bodyPr wrap="square" lIns="27432" tIns="18288" rIns="27432" bIns="18288">
            <a:spAutoFit/>
          </a:bodyPr>
          <a:lstStyle/>
          <a:p>
            <a:pPr algn="l">
              <a:defRPr sz="940" b="0">
                <a:solidFill>
                  <a:srgbClr val="374151"/>
                </a:solidFill>
                <a:latin typeface="Aptos"/>
              </a:defRPr>
            </a:pPr>
            <a:r>
              <a:t>Se controló al concentrar el trabajo en Bizagi Modeler.</a:t>
            </a:r>
          </a:p>
        </p:txBody>
      </p:sp>
      <p:sp>
        <p:nvSpPr>
          <p:cNvPr id="18" name="Rounded Rectangle 17"/>
          <p:cNvSpPr/>
          <p:nvPr/>
        </p:nvSpPr>
        <p:spPr>
          <a:xfrm>
            <a:off x="4663440" y="3703320"/>
            <a:ext cx="6720840" cy="768096"/>
          </a:xfrm>
          <a:prstGeom prst="roundRect">
            <a:avLst/>
          </a:prstGeom>
          <a:solidFill>
            <a:srgbClr val="FEF3C7"/>
          </a:solidFill>
          <a:ln w="11430">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92040" y="3849624"/>
            <a:ext cx="2560320" cy="146304"/>
          </a:xfrm>
          <a:prstGeom prst="rect">
            <a:avLst/>
          </a:prstGeom>
          <a:noFill/>
        </p:spPr>
        <p:txBody>
          <a:bodyPr wrap="square" lIns="27432" tIns="18288" rIns="27432" bIns="18288">
            <a:spAutoFit/>
          </a:bodyPr>
          <a:lstStyle/>
          <a:p>
            <a:pPr algn="l">
              <a:defRPr sz="1050" b="1">
                <a:solidFill>
                  <a:srgbClr val="F59E0B"/>
                </a:solidFill>
                <a:latin typeface="Aptos"/>
              </a:defRPr>
            </a:pPr>
            <a:r>
              <a:t>R5 · Inconsistencia entre resultados y reporte</a:t>
            </a:r>
          </a:p>
        </p:txBody>
      </p:sp>
      <p:sp>
        <p:nvSpPr>
          <p:cNvPr id="20" name="TextBox 19"/>
          <p:cNvSpPr txBox="1"/>
          <p:nvPr/>
        </p:nvSpPr>
        <p:spPr>
          <a:xfrm>
            <a:off x="4892040" y="4087368"/>
            <a:ext cx="6035040" cy="164592"/>
          </a:xfrm>
          <a:prstGeom prst="rect">
            <a:avLst/>
          </a:prstGeom>
          <a:noFill/>
        </p:spPr>
        <p:txBody>
          <a:bodyPr wrap="square" lIns="27432" tIns="18288" rIns="27432" bIns="18288">
            <a:spAutoFit/>
          </a:bodyPr>
          <a:lstStyle/>
          <a:p>
            <a:pPr algn="l">
              <a:defRPr sz="940" b="0">
                <a:solidFill>
                  <a:srgbClr val="374151"/>
                </a:solidFill>
                <a:latin typeface="Aptos"/>
              </a:defRPr>
            </a:pPr>
            <a:r>
              <a:t>Se detectó en revisión PM y obligó a corregir D6-D7.</a:t>
            </a:r>
          </a:p>
        </p:txBody>
      </p:sp>
      <p:sp>
        <p:nvSpPr>
          <p:cNvPr id="21" name="Rounded Rectangle 20"/>
          <p:cNvSpPr/>
          <p:nvPr/>
        </p:nvSpPr>
        <p:spPr>
          <a:xfrm>
            <a:off x="4663440" y="4892040"/>
            <a:ext cx="6720840" cy="749808"/>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2040" y="5120640"/>
            <a:ext cx="6217920" cy="201168"/>
          </a:xfrm>
          <a:prstGeom prst="rect">
            <a:avLst/>
          </a:prstGeom>
          <a:noFill/>
        </p:spPr>
        <p:txBody>
          <a:bodyPr wrap="square" lIns="27432" tIns="18288" rIns="27432" bIns="18288">
            <a:spAutoFit/>
          </a:bodyPr>
          <a:lstStyle/>
          <a:p>
            <a:pPr algn="l">
              <a:defRPr sz="1050" b="1">
                <a:solidFill>
                  <a:srgbClr val="111827"/>
                </a:solidFill>
                <a:latin typeface="Aptos"/>
              </a:defRPr>
            </a:pPr>
            <a:r>
              <a:t>Decisión PM: priorizar entregables, reducir complejidad y aprobar solo con evidencia verificable.</a:t>
            </a:r>
          </a:p>
        </p:txBody>
      </p:sp>
      <p:sp>
        <p:nvSpPr>
          <p:cNvPr id="24" name="TextBox 23"/>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Fast Burger — cuando el riesgo se convirtió en incidencia</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La diferencia clave: el riesgo era posible; la incidencia ocurrió y exigió respuesta.</a:t>
            </a:r>
          </a:p>
        </p:txBody>
      </p:sp>
      <p:sp>
        <p:nvSpPr>
          <p:cNvPr id="6" name="Rounded Rectangle 5"/>
          <p:cNvSpPr/>
          <p:nvPr/>
        </p:nvSpPr>
        <p:spPr>
          <a:xfrm>
            <a:off x="314633" y="1115568"/>
            <a:ext cx="3983047" cy="4599432"/>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344168"/>
            <a:ext cx="1508760"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399032"/>
            <a:ext cx="1435607" cy="164592"/>
          </a:xfrm>
          <a:prstGeom prst="rect">
            <a:avLst/>
          </a:prstGeom>
          <a:noFill/>
        </p:spPr>
        <p:txBody>
          <a:bodyPr wrap="square" lIns="27432" tIns="18288" rIns="27432" bIns="18288">
            <a:spAutoFit/>
          </a:bodyPr>
          <a:lstStyle/>
          <a:p>
            <a:pPr algn="ctr">
              <a:defRPr sz="830" b="1">
                <a:solidFill>
                  <a:srgbClr val="FFFFFF"/>
                </a:solidFill>
                <a:latin typeface="Aptos"/>
              </a:defRPr>
            </a:pPr>
            <a:r>
              <a:t>INC-003-01</a:t>
            </a:r>
          </a:p>
        </p:txBody>
      </p:sp>
      <p:pic>
        <p:nvPicPr>
          <p:cNvPr id="9" name="Picture 8" descr="INC-003-01_Actualizada.png"/>
          <p:cNvPicPr>
            <a:picLocks noChangeAspect="1"/>
          </p:cNvPicPr>
          <p:nvPr/>
        </p:nvPicPr>
        <p:blipFill>
          <a:blip r:embed="rId2"/>
          <a:stretch>
            <a:fillRect/>
          </a:stretch>
        </p:blipFill>
        <p:spPr>
          <a:xfrm>
            <a:off x="1015191" y="1691640"/>
            <a:ext cx="2861656" cy="3703320"/>
          </a:xfrm>
          <a:prstGeom prst="rect">
            <a:avLst/>
          </a:prstGeom>
        </p:spPr>
      </p:pic>
      <p:sp>
        <p:nvSpPr>
          <p:cNvPr id="10" name="TextBox 9"/>
          <p:cNvSpPr txBox="1"/>
          <p:nvPr/>
        </p:nvSpPr>
        <p:spPr>
          <a:xfrm>
            <a:off x="758952" y="5394960"/>
            <a:ext cx="3374136" cy="162993"/>
          </a:xfrm>
          <a:prstGeom prst="rect">
            <a:avLst/>
          </a:prstGeom>
          <a:noFill/>
        </p:spPr>
        <p:txBody>
          <a:bodyPr wrap="square" lIns="27432" tIns="18288" rIns="27432" bIns="18288">
            <a:spAutoFit/>
          </a:bodyPr>
          <a:lstStyle/>
          <a:p>
            <a:pPr algn="ctr">
              <a:defRPr sz="819" b="0">
                <a:solidFill>
                  <a:srgbClr val="6B7280"/>
                </a:solidFill>
                <a:latin typeface="Aptos"/>
              </a:defRPr>
            </a:pPr>
            <a:r>
              <a:rPr dirty="0" err="1"/>
              <a:t>Incidencia</a:t>
            </a:r>
            <a:r>
              <a:rPr dirty="0"/>
              <a:t> </a:t>
            </a:r>
            <a:r>
              <a:rPr dirty="0" err="1"/>
              <a:t>cerrada</a:t>
            </a:r>
            <a:r>
              <a:rPr dirty="0"/>
              <a:t>: </a:t>
            </a:r>
            <a:r>
              <a:rPr dirty="0" err="1"/>
              <a:t>retraso</a:t>
            </a:r>
            <a:r>
              <a:rPr dirty="0"/>
              <a:t> de </a:t>
            </a:r>
            <a:r>
              <a:rPr dirty="0" err="1"/>
              <a:t>inicio</a:t>
            </a:r>
            <a:r>
              <a:rPr dirty="0"/>
              <a:t> y </a:t>
            </a:r>
            <a:r>
              <a:rPr dirty="0" err="1"/>
              <a:t>recuperación</a:t>
            </a:r>
            <a:r>
              <a:rPr dirty="0"/>
              <a:t>.</a:t>
            </a:r>
          </a:p>
        </p:txBody>
      </p:sp>
      <p:sp>
        <p:nvSpPr>
          <p:cNvPr id="11" name="Rounded Rectangle 10"/>
          <p:cNvSpPr/>
          <p:nvPr/>
        </p:nvSpPr>
        <p:spPr>
          <a:xfrm>
            <a:off x="4663440" y="1325880"/>
            <a:ext cx="6766560" cy="658368"/>
          </a:xfrm>
          <a:prstGeom prst="roundRect">
            <a:avLst/>
          </a:prstGeom>
          <a:solidFill>
            <a:srgbClr val="DBEAFE"/>
          </a:solidFill>
          <a:ln w="1143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1435607"/>
            <a:ext cx="2194560" cy="164592"/>
          </a:xfrm>
          <a:prstGeom prst="rect">
            <a:avLst/>
          </a:prstGeom>
          <a:noFill/>
        </p:spPr>
        <p:txBody>
          <a:bodyPr wrap="square" lIns="27432" tIns="18288" rIns="27432" bIns="18288">
            <a:spAutoFit/>
          </a:bodyPr>
          <a:lstStyle/>
          <a:p>
            <a:pPr algn="l">
              <a:defRPr sz="1000" b="1">
                <a:solidFill>
                  <a:srgbClr val="2563EB"/>
                </a:solidFill>
                <a:latin typeface="Aptos"/>
              </a:defRPr>
            </a:pPr>
            <a:r>
              <a:t>Riesgo potencial</a:t>
            </a:r>
          </a:p>
        </p:txBody>
      </p:sp>
      <p:sp>
        <p:nvSpPr>
          <p:cNvPr id="13" name="TextBox 12"/>
          <p:cNvSpPr txBox="1"/>
          <p:nvPr/>
        </p:nvSpPr>
        <p:spPr>
          <a:xfrm>
            <a:off x="6720840" y="1435607"/>
            <a:ext cx="4297680" cy="292608"/>
          </a:xfrm>
          <a:prstGeom prst="rect">
            <a:avLst/>
          </a:prstGeom>
          <a:noFill/>
        </p:spPr>
        <p:txBody>
          <a:bodyPr wrap="square" lIns="27432" tIns="18288" rIns="27432" bIns="18288">
            <a:spAutoFit/>
          </a:bodyPr>
          <a:lstStyle/>
          <a:p>
            <a:pPr algn="l">
              <a:defRPr sz="940" b="0">
                <a:solidFill>
                  <a:srgbClr val="374151"/>
                </a:solidFill>
                <a:latin typeface="Aptos"/>
              </a:defRPr>
            </a:pPr>
            <a:r>
              <a:t>Retraso por disponibilidad limitada y falta de definición inicial.</a:t>
            </a:r>
          </a:p>
        </p:txBody>
      </p:sp>
      <p:cxnSp>
        <p:nvCxnSpPr>
          <p:cNvPr id="14" name="Connector 13"/>
          <p:cNvCxnSpPr/>
          <p:nvPr/>
        </p:nvCxnSpPr>
        <p:spPr>
          <a:xfrm>
            <a:off x="8046720" y="1993391"/>
            <a:ext cx="0" cy="356617"/>
          </a:xfrm>
          <a:prstGeom prst="line">
            <a:avLst/>
          </a:prstGeom>
          <a:ln w="15240">
            <a:solidFill>
              <a:srgbClr val="E5E7E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2377439"/>
            <a:ext cx="6766560" cy="658368"/>
          </a:xfrm>
          <a:prstGeom prst="roundRect">
            <a:avLst/>
          </a:prstGeom>
          <a:solidFill>
            <a:srgbClr val="FEE2E2"/>
          </a:solidFill>
          <a:ln w="1143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92040" y="2487168"/>
            <a:ext cx="2194560" cy="164592"/>
          </a:xfrm>
          <a:prstGeom prst="rect">
            <a:avLst/>
          </a:prstGeom>
          <a:noFill/>
        </p:spPr>
        <p:txBody>
          <a:bodyPr wrap="square" lIns="27432" tIns="18288" rIns="27432" bIns="18288">
            <a:spAutoFit/>
          </a:bodyPr>
          <a:lstStyle/>
          <a:p>
            <a:pPr algn="l">
              <a:defRPr sz="1000" b="1">
                <a:solidFill>
                  <a:srgbClr val="EF4444"/>
                </a:solidFill>
                <a:latin typeface="Aptos"/>
              </a:defRPr>
            </a:pPr>
            <a:r>
              <a:t>Incidencia real</a:t>
            </a:r>
          </a:p>
        </p:txBody>
      </p:sp>
      <p:sp>
        <p:nvSpPr>
          <p:cNvPr id="17" name="TextBox 16"/>
          <p:cNvSpPr txBox="1"/>
          <p:nvPr/>
        </p:nvSpPr>
        <p:spPr>
          <a:xfrm>
            <a:off x="6720840" y="2487168"/>
            <a:ext cx="4297680" cy="292608"/>
          </a:xfrm>
          <a:prstGeom prst="rect">
            <a:avLst/>
          </a:prstGeom>
          <a:noFill/>
        </p:spPr>
        <p:txBody>
          <a:bodyPr wrap="square" lIns="27432" tIns="18288" rIns="27432" bIns="18288">
            <a:spAutoFit/>
          </a:bodyPr>
          <a:lstStyle/>
          <a:p>
            <a:pPr algn="l">
              <a:defRPr sz="940" b="0">
                <a:solidFill>
                  <a:srgbClr val="374151"/>
                </a:solidFill>
                <a:latin typeface="Aptos"/>
              </a:defRPr>
            </a:pPr>
            <a:r>
              <a:t>D1-D4 no habían iniciado y el margen para pruebas se redujo.</a:t>
            </a:r>
          </a:p>
        </p:txBody>
      </p:sp>
      <p:cxnSp>
        <p:nvCxnSpPr>
          <p:cNvPr id="18" name="Connector 17"/>
          <p:cNvCxnSpPr/>
          <p:nvPr/>
        </p:nvCxnSpPr>
        <p:spPr>
          <a:xfrm>
            <a:off x="8046720" y="3044951"/>
            <a:ext cx="0" cy="356617"/>
          </a:xfrm>
          <a:prstGeom prst="line">
            <a:avLst/>
          </a:prstGeom>
          <a:ln w="15240">
            <a:solidFill>
              <a:srgbClr val="E5E7E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663440" y="3429000"/>
            <a:ext cx="6766560" cy="658368"/>
          </a:xfrm>
          <a:prstGeom prst="roundRect">
            <a:avLst/>
          </a:prstGeom>
          <a:solidFill>
            <a:srgbClr val="DCFCE7"/>
          </a:solidFill>
          <a:ln w="11430">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2040" y="3538728"/>
            <a:ext cx="2194560" cy="164592"/>
          </a:xfrm>
          <a:prstGeom prst="rect">
            <a:avLst/>
          </a:prstGeom>
          <a:noFill/>
        </p:spPr>
        <p:txBody>
          <a:bodyPr wrap="square" lIns="27432" tIns="18288" rIns="27432" bIns="18288">
            <a:spAutoFit/>
          </a:bodyPr>
          <a:lstStyle/>
          <a:p>
            <a:pPr algn="l">
              <a:defRPr sz="1000" b="1">
                <a:solidFill>
                  <a:srgbClr val="10B981"/>
                </a:solidFill>
                <a:latin typeface="Aptos"/>
              </a:defRPr>
            </a:pPr>
            <a:r>
              <a:t>Respuesta aplicada</a:t>
            </a:r>
          </a:p>
        </p:txBody>
      </p:sp>
      <p:sp>
        <p:nvSpPr>
          <p:cNvPr id="21" name="TextBox 20"/>
          <p:cNvSpPr txBox="1"/>
          <p:nvPr/>
        </p:nvSpPr>
        <p:spPr>
          <a:xfrm>
            <a:off x="6720840" y="3538728"/>
            <a:ext cx="4297680" cy="292608"/>
          </a:xfrm>
          <a:prstGeom prst="rect">
            <a:avLst/>
          </a:prstGeom>
          <a:noFill/>
        </p:spPr>
        <p:txBody>
          <a:bodyPr wrap="square" lIns="27432" tIns="18288" rIns="27432" bIns="18288">
            <a:spAutoFit/>
          </a:bodyPr>
          <a:lstStyle/>
          <a:p>
            <a:pPr algn="l">
              <a:defRPr sz="940" b="0">
                <a:solidFill>
                  <a:srgbClr val="374151"/>
                </a:solidFill>
                <a:latin typeface="Aptos"/>
              </a:defRPr>
            </a:pPr>
            <a:r>
              <a:t>PLAN-003, Bizagi como herramienta principal y seguimiento frecuente.</a:t>
            </a:r>
          </a:p>
        </p:txBody>
      </p:sp>
      <p:cxnSp>
        <p:nvCxnSpPr>
          <p:cNvPr id="22" name="Connector 21"/>
          <p:cNvCxnSpPr/>
          <p:nvPr/>
        </p:nvCxnSpPr>
        <p:spPr>
          <a:xfrm>
            <a:off x="8046720" y="4096512"/>
            <a:ext cx="0" cy="356616"/>
          </a:xfrm>
          <a:prstGeom prst="line">
            <a:avLst/>
          </a:prstGeom>
          <a:ln w="15240">
            <a:solidFill>
              <a:srgbClr val="E5E7E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663440" y="4480559"/>
            <a:ext cx="6766560" cy="658368"/>
          </a:xfrm>
          <a:prstGeom prst="roundRect">
            <a:avLst/>
          </a:prstGeom>
          <a:solidFill>
            <a:srgbClr val="FFFFFF"/>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4590288"/>
            <a:ext cx="2194560" cy="164592"/>
          </a:xfrm>
          <a:prstGeom prst="rect">
            <a:avLst/>
          </a:prstGeom>
          <a:noFill/>
        </p:spPr>
        <p:txBody>
          <a:bodyPr wrap="square" lIns="27432" tIns="18288" rIns="27432" bIns="18288">
            <a:spAutoFit/>
          </a:bodyPr>
          <a:lstStyle/>
          <a:p>
            <a:pPr algn="l">
              <a:defRPr sz="1000" b="1">
                <a:solidFill>
                  <a:srgbClr val="111827"/>
                </a:solidFill>
                <a:latin typeface="Aptos"/>
              </a:defRPr>
            </a:pPr>
            <a:r>
              <a:t>Resultado</a:t>
            </a:r>
          </a:p>
        </p:txBody>
      </p:sp>
      <p:sp>
        <p:nvSpPr>
          <p:cNvPr id="25" name="TextBox 24"/>
          <p:cNvSpPr txBox="1"/>
          <p:nvPr/>
        </p:nvSpPr>
        <p:spPr>
          <a:xfrm>
            <a:off x="6720840" y="4590288"/>
            <a:ext cx="4297680" cy="292608"/>
          </a:xfrm>
          <a:prstGeom prst="rect">
            <a:avLst/>
          </a:prstGeom>
          <a:noFill/>
        </p:spPr>
        <p:txBody>
          <a:bodyPr wrap="square" lIns="27432" tIns="18288" rIns="27432" bIns="18288">
            <a:spAutoFit/>
          </a:bodyPr>
          <a:lstStyle/>
          <a:p>
            <a:pPr algn="l">
              <a:defRPr sz="940" b="0">
                <a:solidFill>
                  <a:srgbClr val="374151"/>
                </a:solidFill>
                <a:latin typeface="Aptos"/>
              </a:defRPr>
            </a:pPr>
            <a:r>
              <a:t>D1-D8 completados, D6-D7 corregidos y paquete final aprobado.</a:t>
            </a:r>
          </a:p>
        </p:txBody>
      </p:sp>
      <p:sp>
        <p:nvSpPr>
          <p:cNvPr id="27" name="TextBox 26"/>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Fast Burger — análisis cuantitativo y correcciones</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El VME ayuda a ordenar riesgos; la revisión PM evitó cerrar datos inconsistentes.</a:t>
            </a:r>
          </a:p>
        </p:txBody>
      </p:sp>
      <p:sp>
        <p:nvSpPr>
          <p:cNvPr id="6" name="Rounded Rectangle 5"/>
          <p:cNvSpPr/>
          <p:nvPr/>
        </p:nvSpPr>
        <p:spPr>
          <a:xfrm>
            <a:off x="186813" y="1188720"/>
            <a:ext cx="4248027" cy="470916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298448"/>
            <a:ext cx="1179576"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353312"/>
            <a:ext cx="1106424" cy="164592"/>
          </a:xfrm>
          <a:prstGeom prst="rect">
            <a:avLst/>
          </a:prstGeom>
          <a:noFill/>
        </p:spPr>
        <p:txBody>
          <a:bodyPr wrap="square" lIns="27432" tIns="18288" rIns="27432" bIns="18288">
            <a:spAutoFit/>
          </a:bodyPr>
          <a:lstStyle/>
          <a:p>
            <a:pPr algn="ctr">
              <a:defRPr sz="830" b="1">
                <a:solidFill>
                  <a:srgbClr val="FFFFFF"/>
                </a:solidFill>
                <a:latin typeface="Aptos"/>
              </a:defRPr>
            </a:pPr>
            <a:r>
              <a:t>VME-003</a:t>
            </a:r>
          </a:p>
        </p:txBody>
      </p:sp>
      <p:pic>
        <p:nvPicPr>
          <p:cNvPr id="9" name="Picture 8" descr="VME-003_Analisis_Cuantitativo_Riesgos_Aaron.png"/>
          <p:cNvPicPr>
            <a:picLocks noChangeAspect="1"/>
          </p:cNvPicPr>
          <p:nvPr/>
        </p:nvPicPr>
        <p:blipFill>
          <a:blip r:embed="rId2"/>
          <a:stretch>
            <a:fillRect/>
          </a:stretch>
        </p:blipFill>
        <p:spPr>
          <a:xfrm>
            <a:off x="1123632" y="1645920"/>
            <a:ext cx="2781934" cy="3931920"/>
          </a:xfrm>
          <a:prstGeom prst="rect">
            <a:avLst/>
          </a:prstGeom>
        </p:spPr>
      </p:pic>
      <p:sp>
        <p:nvSpPr>
          <p:cNvPr id="10" name="TextBox 9"/>
          <p:cNvSpPr txBox="1"/>
          <p:nvPr/>
        </p:nvSpPr>
        <p:spPr>
          <a:xfrm>
            <a:off x="758952" y="5577840"/>
            <a:ext cx="3511296" cy="162993"/>
          </a:xfrm>
          <a:prstGeom prst="rect">
            <a:avLst/>
          </a:prstGeom>
          <a:noFill/>
        </p:spPr>
        <p:txBody>
          <a:bodyPr wrap="square" lIns="27432" tIns="18288" rIns="27432" bIns="18288">
            <a:spAutoFit/>
          </a:bodyPr>
          <a:lstStyle/>
          <a:p>
            <a:pPr algn="ctr">
              <a:defRPr sz="819" b="0">
                <a:solidFill>
                  <a:srgbClr val="6B7280"/>
                </a:solidFill>
                <a:latin typeface="Aptos"/>
              </a:defRPr>
            </a:pPr>
            <a:r>
              <a:rPr dirty="0"/>
              <a:t>Valor </a:t>
            </a:r>
            <a:r>
              <a:rPr dirty="0" err="1"/>
              <a:t>Monetario</a:t>
            </a:r>
            <a:r>
              <a:rPr dirty="0"/>
              <a:t> </a:t>
            </a:r>
            <a:r>
              <a:rPr dirty="0" err="1"/>
              <a:t>Esperado</a:t>
            </a:r>
            <a:r>
              <a:rPr dirty="0"/>
              <a:t> con </a:t>
            </a:r>
            <a:r>
              <a:rPr dirty="0" err="1"/>
              <a:t>importes</a:t>
            </a:r>
            <a:r>
              <a:rPr dirty="0"/>
              <a:t> </a:t>
            </a:r>
            <a:r>
              <a:rPr dirty="0" err="1"/>
              <a:t>académicos</a:t>
            </a:r>
            <a:r>
              <a:rPr dirty="0"/>
              <a:t>.</a:t>
            </a:r>
          </a:p>
        </p:txBody>
      </p:sp>
      <p:sp>
        <p:nvSpPr>
          <p:cNvPr id="11" name="Rounded Rectangle 10"/>
          <p:cNvSpPr/>
          <p:nvPr/>
        </p:nvSpPr>
        <p:spPr>
          <a:xfrm>
            <a:off x="4663440" y="1188720"/>
            <a:ext cx="2834640" cy="141732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1417320"/>
            <a:ext cx="2286000" cy="164592"/>
          </a:xfrm>
          <a:prstGeom prst="rect">
            <a:avLst/>
          </a:prstGeom>
          <a:noFill/>
        </p:spPr>
        <p:txBody>
          <a:bodyPr wrap="square" lIns="27432" tIns="18288" rIns="27432" bIns="18288">
            <a:spAutoFit/>
          </a:bodyPr>
          <a:lstStyle/>
          <a:p>
            <a:pPr algn="l">
              <a:defRPr sz="1250" b="1">
                <a:solidFill>
                  <a:srgbClr val="111827"/>
                </a:solidFill>
                <a:latin typeface="Aptos"/>
              </a:defRPr>
            </a:pPr>
            <a:r>
              <a:t>Lectura del análisis</a:t>
            </a:r>
          </a:p>
        </p:txBody>
      </p:sp>
      <p:sp>
        <p:nvSpPr>
          <p:cNvPr id="13" name="TextBox 12"/>
          <p:cNvSpPr txBox="1"/>
          <p:nvPr/>
        </p:nvSpPr>
        <p:spPr>
          <a:xfrm>
            <a:off x="4892040" y="1783080"/>
            <a:ext cx="1188720" cy="128016"/>
          </a:xfrm>
          <a:prstGeom prst="rect">
            <a:avLst/>
          </a:prstGeom>
          <a:noFill/>
        </p:spPr>
        <p:txBody>
          <a:bodyPr wrap="square" lIns="27432" tIns="18288" rIns="27432" bIns="18288">
            <a:spAutoFit/>
          </a:bodyPr>
          <a:lstStyle/>
          <a:p>
            <a:pPr algn="l">
              <a:defRPr sz="819" b="1">
                <a:solidFill>
                  <a:srgbClr val="374151"/>
                </a:solidFill>
                <a:latin typeface="Aptos"/>
              </a:defRPr>
            </a:pPr>
            <a:r>
              <a:t>VME total académico</a:t>
            </a:r>
          </a:p>
        </p:txBody>
      </p:sp>
      <p:sp>
        <p:nvSpPr>
          <p:cNvPr id="14" name="TextBox 13"/>
          <p:cNvSpPr txBox="1"/>
          <p:nvPr/>
        </p:nvSpPr>
        <p:spPr>
          <a:xfrm>
            <a:off x="6263640" y="1783080"/>
            <a:ext cx="914400" cy="128016"/>
          </a:xfrm>
          <a:prstGeom prst="rect">
            <a:avLst/>
          </a:prstGeom>
          <a:noFill/>
        </p:spPr>
        <p:txBody>
          <a:bodyPr wrap="square" lIns="27432" tIns="18288" rIns="27432" bIns="18288">
            <a:spAutoFit/>
          </a:bodyPr>
          <a:lstStyle/>
          <a:p>
            <a:pPr algn="l">
              <a:defRPr sz="819" b="0">
                <a:solidFill>
                  <a:srgbClr val="374151"/>
                </a:solidFill>
                <a:latin typeface="Aptos"/>
              </a:defRPr>
            </a:pPr>
            <a:r>
              <a:t>$3,285 MXN</a:t>
            </a:r>
          </a:p>
        </p:txBody>
      </p:sp>
      <p:sp>
        <p:nvSpPr>
          <p:cNvPr id="15" name="TextBox 14"/>
          <p:cNvSpPr txBox="1"/>
          <p:nvPr/>
        </p:nvSpPr>
        <p:spPr>
          <a:xfrm>
            <a:off x="4892040" y="1984248"/>
            <a:ext cx="1188720" cy="128016"/>
          </a:xfrm>
          <a:prstGeom prst="rect">
            <a:avLst/>
          </a:prstGeom>
          <a:noFill/>
        </p:spPr>
        <p:txBody>
          <a:bodyPr wrap="square" lIns="27432" tIns="18288" rIns="27432" bIns="18288">
            <a:spAutoFit/>
          </a:bodyPr>
          <a:lstStyle/>
          <a:p>
            <a:pPr algn="l">
              <a:defRPr sz="819" b="1">
                <a:solidFill>
                  <a:srgbClr val="374151"/>
                </a:solidFill>
                <a:latin typeface="Aptos"/>
              </a:defRPr>
            </a:pPr>
            <a:r>
              <a:t>Mayor VME</a:t>
            </a:r>
          </a:p>
        </p:txBody>
      </p:sp>
      <p:sp>
        <p:nvSpPr>
          <p:cNvPr id="16" name="TextBox 15"/>
          <p:cNvSpPr txBox="1"/>
          <p:nvPr/>
        </p:nvSpPr>
        <p:spPr>
          <a:xfrm>
            <a:off x="6263640" y="1984248"/>
            <a:ext cx="914400" cy="128016"/>
          </a:xfrm>
          <a:prstGeom prst="rect">
            <a:avLst/>
          </a:prstGeom>
          <a:noFill/>
        </p:spPr>
        <p:txBody>
          <a:bodyPr wrap="square" lIns="27432" tIns="18288" rIns="27432" bIns="18288">
            <a:spAutoFit/>
          </a:bodyPr>
          <a:lstStyle/>
          <a:p>
            <a:pPr algn="l">
              <a:defRPr sz="819" b="0">
                <a:solidFill>
                  <a:srgbClr val="374151"/>
                </a:solidFill>
                <a:latin typeface="Aptos"/>
              </a:defRPr>
            </a:pPr>
            <a:r>
              <a:t>Retraso por disponibilidad</a:t>
            </a:r>
          </a:p>
        </p:txBody>
      </p:sp>
      <p:sp>
        <p:nvSpPr>
          <p:cNvPr id="17" name="TextBox 16"/>
          <p:cNvSpPr txBox="1"/>
          <p:nvPr/>
        </p:nvSpPr>
        <p:spPr>
          <a:xfrm>
            <a:off x="4892040" y="2185416"/>
            <a:ext cx="1188720" cy="128016"/>
          </a:xfrm>
          <a:prstGeom prst="rect">
            <a:avLst/>
          </a:prstGeom>
          <a:noFill/>
        </p:spPr>
        <p:txBody>
          <a:bodyPr wrap="square" lIns="27432" tIns="18288" rIns="27432" bIns="18288">
            <a:spAutoFit/>
          </a:bodyPr>
          <a:lstStyle/>
          <a:p>
            <a:pPr algn="l">
              <a:defRPr sz="819" b="1">
                <a:solidFill>
                  <a:srgbClr val="374151"/>
                </a:solidFill>
                <a:latin typeface="Aptos"/>
              </a:defRPr>
            </a:pPr>
            <a:r>
              <a:t>Costo usado</a:t>
            </a:r>
          </a:p>
        </p:txBody>
      </p:sp>
      <p:sp>
        <p:nvSpPr>
          <p:cNvPr id="18" name="TextBox 17"/>
          <p:cNvSpPr txBox="1"/>
          <p:nvPr/>
        </p:nvSpPr>
        <p:spPr>
          <a:xfrm>
            <a:off x="6263640" y="2185416"/>
            <a:ext cx="914400" cy="128016"/>
          </a:xfrm>
          <a:prstGeom prst="rect">
            <a:avLst/>
          </a:prstGeom>
          <a:noFill/>
        </p:spPr>
        <p:txBody>
          <a:bodyPr wrap="square" lIns="27432" tIns="18288" rIns="27432" bIns="18288">
            <a:spAutoFit/>
          </a:bodyPr>
          <a:lstStyle/>
          <a:p>
            <a:pPr algn="l">
              <a:defRPr sz="819" b="0">
                <a:solidFill>
                  <a:srgbClr val="374151"/>
                </a:solidFill>
                <a:latin typeface="Aptos"/>
              </a:defRPr>
            </a:pPr>
            <a:r>
              <a:t>$150 por hora de retraso</a:t>
            </a:r>
          </a:p>
        </p:txBody>
      </p:sp>
      <p:sp>
        <p:nvSpPr>
          <p:cNvPr id="19" name="TextBox 18"/>
          <p:cNvSpPr txBox="1"/>
          <p:nvPr/>
        </p:nvSpPr>
        <p:spPr>
          <a:xfrm>
            <a:off x="4892040" y="2386584"/>
            <a:ext cx="1188720" cy="128016"/>
          </a:xfrm>
          <a:prstGeom prst="rect">
            <a:avLst/>
          </a:prstGeom>
          <a:noFill/>
        </p:spPr>
        <p:txBody>
          <a:bodyPr wrap="square" lIns="27432" tIns="18288" rIns="27432" bIns="18288">
            <a:spAutoFit/>
          </a:bodyPr>
          <a:lstStyle/>
          <a:p>
            <a:pPr algn="l">
              <a:defRPr sz="819" b="1">
                <a:solidFill>
                  <a:srgbClr val="374151"/>
                </a:solidFill>
                <a:latin typeface="Aptos"/>
              </a:defRPr>
            </a:pPr>
            <a:r>
              <a:t>Uso</a:t>
            </a:r>
          </a:p>
        </p:txBody>
      </p:sp>
      <p:sp>
        <p:nvSpPr>
          <p:cNvPr id="20" name="TextBox 19"/>
          <p:cNvSpPr txBox="1"/>
          <p:nvPr/>
        </p:nvSpPr>
        <p:spPr>
          <a:xfrm>
            <a:off x="6263640" y="2386584"/>
            <a:ext cx="914400" cy="128016"/>
          </a:xfrm>
          <a:prstGeom prst="rect">
            <a:avLst/>
          </a:prstGeom>
          <a:noFill/>
        </p:spPr>
        <p:txBody>
          <a:bodyPr wrap="square" lIns="27432" tIns="18288" rIns="27432" bIns="18288">
            <a:spAutoFit/>
          </a:bodyPr>
          <a:lstStyle/>
          <a:p>
            <a:pPr algn="l">
              <a:defRPr sz="819" b="0">
                <a:solidFill>
                  <a:srgbClr val="374151"/>
                </a:solidFill>
                <a:latin typeface="Aptos"/>
              </a:defRPr>
            </a:pPr>
            <a:r>
              <a:t>Comparar prioridades</a:t>
            </a:r>
          </a:p>
        </p:txBody>
      </p:sp>
      <p:sp>
        <p:nvSpPr>
          <p:cNvPr id="21" name="Rounded Rectangle 20"/>
          <p:cNvSpPr/>
          <p:nvPr/>
        </p:nvSpPr>
        <p:spPr>
          <a:xfrm>
            <a:off x="7818120" y="1188720"/>
            <a:ext cx="3520440" cy="210312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955280" y="1298448"/>
            <a:ext cx="1508760"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91856" y="1353312"/>
            <a:ext cx="1435607" cy="164592"/>
          </a:xfrm>
          <a:prstGeom prst="rect">
            <a:avLst/>
          </a:prstGeom>
          <a:noFill/>
        </p:spPr>
        <p:txBody>
          <a:bodyPr wrap="square" lIns="27432" tIns="18288" rIns="27432" bIns="18288">
            <a:spAutoFit/>
          </a:bodyPr>
          <a:lstStyle/>
          <a:p>
            <a:pPr algn="ctr">
              <a:defRPr sz="830" b="1">
                <a:solidFill>
                  <a:srgbClr val="FFFFFF"/>
                </a:solidFill>
                <a:latin typeface="Aptos"/>
              </a:defRPr>
            </a:pPr>
            <a:r>
              <a:t>REV-003-01</a:t>
            </a:r>
          </a:p>
        </p:txBody>
      </p:sp>
      <p:pic>
        <p:nvPicPr>
          <p:cNvPr id="24" name="Picture 23" descr="REV-003-01_Deteccion_Inconsistencia_D6_D7.png"/>
          <p:cNvPicPr>
            <a:picLocks noChangeAspect="1"/>
          </p:cNvPicPr>
          <p:nvPr/>
        </p:nvPicPr>
        <p:blipFill>
          <a:blip r:embed="rId3"/>
          <a:stretch>
            <a:fillRect/>
          </a:stretch>
        </p:blipFill>
        <p:spPr>
          <a:xfrm>
            <a:off x="9066068" y="1645920"/>
            <a:ext cx="1024543" cy="1325879"/>
          </a:xfrm>
          <a:prstGeom prst="rect">
            <a:avLst/>
          </a:prstGeom>
        </p:spPr>
      </p:pic>
      <p:sp>
        <p:nvSpPr>
          <p:cNvPr id="25" name="TextBox 24"/>
          <p:cNvSpPr txBox="1"/>
          <p:nvPr/>
        </p:nvSpPr>
        <p:spPr>
          <a:xfrm>
            <a:off x="7982712" y="2971799"/>
            <a:ext cx="3191256" cy="201168"/>
          </a:xfrm>
          <a:prstGeom prst="rect">
            <a:avLst/>
          </a:prstGeom>
          <a:noFill/>
        </p:spPr>
        <p:txBody>
          <a:bodyPr wrap="square" lIns="27432" tIns="18288" rIns="27432" bIns="18288">
            <a:spAutoFit/>
          </a:bodyPr>
          <a:lstStyle/>
          <a:p>
            <a:pPr algn="l">
              <a:defRPr sz="819" b="0">
                <a:solidFill>
                  <a:srgbClr val="6B7280"/>
                </a:solidFill>
                <a:latin typeface="Aptos"/>
              </a:defRPr>
            </a:pPr>
            <a:r>
              <a:t>Se solicitó corregir D6-D7 por inconsistencia.</a:t>
            </a:r>
          </a:p>
        </p:txBody>
      </p:sp>
      <p:sp>
        <p:nvSpPr>
          <p:cNvPr id="26" name="Rounded Rectangle 25"/>
          <p:cNvSpPr/>
          <p:nvPr/>
        </p:nvSpPr>
        <p:spPr>
          <a:xfrm>
            <a:off x="7818120" y="3794760"/>
            <a:ext cx="3520440" cy="210312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955280" y="3904488"/>
            <a:ext cx="1097280"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91856" y="3959352"/>
            <a:ext cx="1024127" cy="164592"/>
          </a:xfrm>
          <a:prstGeom prst="rect">
            <a:avLst/>
          </a:prstGeom>
          <a:noFill/>
        </p:spPr>
        <p:txBody>
          <a:bodyPr wrap="square" lIns="27432" tIns="18288" rIns="27432" bIns="18288">
            <a:spAutoFit/>
          </a:bodyPr>
          <a:lstStyle/>
          <a:p>
            <a:pPr algn="ctr">
              <a:defRPr sz="830" b="1">
                <a:solidFill>
                  <a:srgbClr val="FFFFFF"/>
                </a:solidFill>
                <a:latin typeface="Aptos"/>
              </a:defRPr>
            </a:pPr>
            <a:r>
              <a:t>CC-003</a:t>
            </a:r>
          </a:p>
        </p:txBody>
      </p:sp>
      <p:pic>
        <p:nvPicPr>
          <p:cNvPr id="29" name="Picture 28" descr="CC-003_Control_Cambios.png"/>
          <p:cNvPicPr>
            <a:picLocks noChangeAspect="1"/>
          </p:cNvPicPr>
          <p:nvPr/>
        </p:nvPicPr>
        <p:blipFill>
          <a:blip r:embed="rId4"/>
          <a:stretch>
            <a:fillRect/>
          </a:stretch>
        </p:blipFill>
        <p:spPr>
          <a:xfrm>
            <a:off x="9066068" y="4251960"/>
            <a:ext cx="1024543" cy="1325879"/>
          </a:xfrm>
          <a:prstGeom prst="rect">
            <a:avLst/>
          </a:prstGeom>
        </p:spPr>
      </p:pic>
      <p:sp>
        <p:nvSpPr>
          <p:cNvPr id="30" name="TextBox 29"/>
          <p:cNvSpPr txBox="1"/>
          <p:nvPr/>
        </p:nvSpPr>
        <p:spPr>
          <a:xfrm>
            <a:off x="7982712" y="5577840"/>
            <a:ext cx="3191256" cy="201168"/>
          </a:xfrm>
          <a:prstGeom prst="rect">
            <a:avLst/>
          </a:prstGeom>
          <a:noFill/>
        </p:spPr>
        <p:txBody>
          <a:bodyPr wrap="square" lIns="27432" tIns="18288" rIns="27432" bIns="18288">
            <a:spAutoFit/>
          </a:bodyPr>
          <a:lstStyle/>
          <a:p>
            <a:pPr algn="l">
              <a:defRPr sz="819" b="0">
                <a:solidFill>
                  <a:srgbClr val="6B7280"/>
                </a:solidFill>
                <a:latin typeface="Aptos"/>
              </a:defRPr>
            </a:pPr>
            <a:r>
              <a:t>Control de cambios y correcciones cerradas.</a:t>
            </a:r>
          </a:p>
        </p:txBody>
      </p:sp>
      <p:sp>
        <p:nvSpPr>
          <p:cNvPr id="31" name="Rounded Rectangle 30"/>
          <p:cNvSpPr/>
          <p:nvPr/>
        </p:nvSpPr>
        <p:spPr>
          <a:xfrm>
            <a:off x="4663440" y="3063240"/>
            <a:ext cx="2834640" cy="1463040"/>
          </a:xfrm>
          <a:prstGeom prst="roundRect">
            <a:avLst/>
          </a:prstGeom>
          <a:solidFill>
            <a:srgbClr val="FEF3C7"/>
          </a:solidFill>
          <a:ln w="1143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92040" y="3273552"/>
            <a:ext cx="2286000" cy="201168"/>
          </a:xfrm>
          <a:prstGeom prst="rect">
            <a:avLst/>
          </a:prstGeom>
          <a:noFill/>
        </p:spPr>
        <p:txBody>
          <a:bodyPr wrap="square" lIns="27432" tIns="18288" rIns="27432" bIns="18288">
            <a:spAutoFit/>
          </a:bodyPr>
          <a:lstStyle/>
          <a:p>
            <a:pPr algn="l">
              <a:defRPr sz="1250" b="1">
                <a:solidFill>
                  <a:srgbClr val="F59E0B"/>
                </a:solidFill>
                <a:latin typeface="Aptos"/>
              </a:defRPr>
            </a:pPr>
            <a:r>
              <a:t>Decisión PM</a:t>
            </a:r>
          </a:p>
        </p:txBody>
      </p:sp>
      <p:sp>
        <p:nvSpPr>
          <p:cNvPr id="33" name="TextBox 32"/>
          <p:cNvSpPr txBox="1"/>
          <p:nvPr/>
        </p:nvSpPr>
        <p:spPr>
          <a:xfrm>
            <a:off x="4892040" y="3657600"/>
            <a:ext cx="2286000" cy="438912"/>
          </a:xfrm>
          <a:prstGeom prst="rect">
            <a:avLst/>
          </a:prstGeom>
          <a:noFill/>
        </p:spPr>
        <p:txBody>
          <a:bodyPr wrap="square" lIns="27432" tIns="18288" rIns="27432" bIns="18288">
            <a:spAutoFit/>
          </a:bodyPr>
          <a:lstStyle/>
          <a:p>
            <a:pPr algn="l">
              <a:defRPr sz="960" b="0">
                <a:solidFill>
                  <a:srgbClr val="374151"/>
                </a:solidFill>
                <a:latin typeface="Aptos"/>
              </a:defRPr>
            </a:pPr>
            <a:r>
              <a:t>No se aceptó el cierre hasta que la comparación de escenarios y el informe usaran la misma línea base.</a:t>
            </a:r>
          </a:p>
        </p:txBody>
      </p:sp>
      <p:sp>
        <p:nvSpPr>
          <p:cNvPr id="35" name="TextBox 34"/>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Caso 2: ProcesMuebles — riesgos técnicos y de línea base</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Alondra · RISK-002, VME-002, INC-002-01, CC-002 y SEG-002.</a:t>
            </a:r>
          </a:p>
        </p:txBody>
      </p:sp>
      <p:sp>
        <p:nvSpPr>
          <p:cNvPr id="6" name="Rounded Rectangle 5"/>
          <p:cNvSpPr/>
          <p:nvPr/>
        </p:nvSpPr>
        <p:spPr>
          <a:xfrm>
            <a:off x="245806" y="1234440"/>
            <a:ext cx="4143314" cy="461772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344168"/>
            <a:ext cx="1289304"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399032"/>
            <a:ext cx="1216151" cy="164592"/>
          </a:xfrm>
          <a:prstGeom prst="rect">
            <a:avLst/>
          </a:prstGeom>
          <a:noFill/>
        </p:spPr>
        <p:txBody>
          <a:bodyPr wrap="square" lIns="27432" tIns="18288" rIns="27432" bIns="18288">
            <a:spAutoFit/>
          </a:bodyPr>
          <a:lstStyle/>
          <a:p>
            <a:pPr algn="ctr">
              <a:defRPr sz="830" b="1">
                <a:solidFill>
                  <a:srgbClr val="FFFFFF"/>
                </a:solidFill>
                <a:latin typeface="Aptos"/>
              </a:defRPr>
            </a:pPr>
            <a:r>
              <a:t>RISK-002</a:t>
            </a:r>
          </a:p>
        </p:txBody>
      </p:sp>
      <p:pic>
        <p:nvPicPr>
          <p:cNvPr id="9" name="Picture 8" descr="RISK-002_Matriz_Riesgos.png"/>
          <p:cNvPicPr>
            <a:picLocks noChangeAspect="1"/>
          </p:cNvPicPr>
          <p:nvPr/>
        </p:nvPicPr>
        <p:blipFill>
          <a:blip r:embed="rId2"/>
          <a:stretch>
            <a:fillRect/>
          </a:stretch>
        </p:blipFill>
        <p:spPr>
          <a:xfrm>
            <a:off x="1007918" y="1691640"/>
            <a:ext cx="2967643" cy="3840480"/>
          </a:xfrm>
          <a:prstGeom prst="rect">
            <a:avLst/>
          </a:prstGeom>
        </p:spPr>
      </p:pic>
      <p:sp>
        <p:nvSpPr>
          <p:cNvPr id="10" name="TextBox 9"/>
          <p:cNvSpPr txBox="1"/>
          <p:nvPr/>
        </p:nvSpPr>
        <p:spPr>
          <a:xfrm>
            <a:off x="758952" y="5532120"/>
            <a:ext cx="3465576" cy="201168"/>
          </a:xfrm>
          <a:prstGeom prst="rect">
            <a:avLst/>
          </a:prstGeom>
          <a:noFill/>
        </p:spPr>
        <p:txBody>
          <a:bodyPr wrap="square" lIns="27432" tIns="18288" rIns="27432" bIns="18288">
            <a:spAutoFit/>
          </a:bodyPr>
          <a:lstStyle/>
          <a:p>
            <a:pPr algn="l">
              <a:defRPr sz="819" b="0">
                <a:solidFill>
                  <a:srgbClr val="6B7280"/>
                </a:solidFill>
                <a:latin typeface="Aptos"/>
              </a:defRPr>
            </a:pPr>
            <a:r>
              <a:t>Riesgos clasificados por probabilidad, impacto y respuesta.</a:t>
            </a:r>
          </a:p>
        </p:txBody>
      </p:sp>
      <p:sp>
        <p:nvSpPr>
          <p:cNvPr id="11" name="TextBox 10"/>
          <p:cNvSpPr txBox="1"/>
          <p:nvPr/>
        </p:nvSpPr>
        <p:spPr>
          <a:xfrm>
            <a:off x="4663440" y="1234440"/>
            <a:ext cx="2926080" cy="228600"/>
          </a:xfrm>
          <a:prstGeom prst="rect">
            <a:avLst/>
          </a:prstGeom>
          <a:noFill/>
        </p:spPr>
        <p:txBody>
          <a:bodyPr wrap="square" lIns="27432" tIns="18288" rIns="27432" bIns="18288">
            <a:spAutoFit/>
          </a:bodyPr>
          <a:lstStyle/>
          <a:p>
            <a:pPr algn="l">
              <a:defRPr sz="1500" b="1">
                <a:solidFill>
                  <a:srgbClr val="111827"/>
                </a:solidFill>
                <a:latin typeface="Aptos"/>
              </a:defRPr>
            </a:pPr>
            <a:r>
              <a:t>Prioridades al corte</a:t>
            </a:r>
          </a:p>
        </p:txBody>
      </p:sp>
      <p:sp>
        <p:nvSpPr>
          <p:cNvPr id="12" name="Rounded Rectangle 11"/>
          <p:cNvSpPr/>
          <p:nvPr/>
        </p:nvSpPr>
        <p:spPr>
          <a:xfrm>
            <a:off x="4663440" y="1783080"/>
            <a:ext cx="6720840" cy="768096"/>
          </a:xfrm>
          <a:prstGeom prst="roundRect">
            <a:avLst/>
          </a:prstGeom>
          <a:solidFill>
            <a:srgbClr val="FEE2E2"/>
          </a:solidFill>
          <a:ln w="1143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92040" y="1911095"/>
            <a:ext cx="3291840" cy="146304"/>
          </a:xfrm>
          <a:prstGeom prst="rect">
            <a:avLst/>
          </a:prstGeom>
          <a:noFill/>
        </p:spPr>
        <p:txBody>
          <a:bodyPr wrap="square" lIns="27432" tIns="18288" rIns="27432" bIns="18288">
            <a:spAutoFit/>
          </a:bodyPr>
          <a:lstStyle/>
          <a:p>
            <a:pPr algn="l">
              <a:defRPr sz="1010" b="1">
                <a:solidFill>
                  <a:srgbClr val="EF4444"/>
                </a:solidFill>
                <a:latin typeface="Aptos"/>
              </a:defRPr>
            </a:pPr>
            <a:r>
              <a:t>R1 · Retraso del plan original</a:t>
            </a:r>
          </a:p>
        </p:txBody>
      </p:sp>
      <p:sp>
        <p:nvSpPr>
          <p:cNvPr id="14" name="TextBox 13"/>
          <p:cNvSpPr txBox="1"/>
          <p:nvPr/>
        </p:nvSpPr>
        <p:spPr>
          <a:xfrm>
            <a:off x="4892040" y="2167128"/>
            <a:ext cx="6035040" cy="164592"/>
          </a:xfrm>
          <a:prstGeom prst="rect">
            <a:avLst/>
          </a:prstGeom>
          <a:noFill/>
        </p:spPr>
        <p:txBody>
          <a:bodyPr wrap="square" lIns="27432" tIns="18288" rIns="27432" bIns="18288">
            <a:spAutoFit/>
          </a:bodyPr>
          <a:lstStyle/>
          <a:p>
            <a:pPr algn="l">
              <a:defRPr sz="930" b="0">
                <a:solidFill>
                  <a:srgbClr val="374151"/>
                </a:solidFill>
                <a:latin typeface="Aptos"/>
              </a:defRPr>
            </a:pPr>
            <a:r>
              <a:t>Probabilidad alta, impacto alto: nivel crítico.</a:t>
            </a:r>
          </a:p>
        </p:txBody>
      </p:sp>
      <p:sp>
        <p:nvSpPr>
          <p:cNvPr id="15" name="Rounded Rectangle 14"/>
          <p:cNvSpPr/>
          <p:nvPr/>
        </p:nvSpPr>
        <p:spPr>
          <a:xfrm>
            <a:off x="4663440" y="2743200"/>
            <a:ext cx="6720840" cy="768096"/>
          </a:xfrm>
          <a:prstGeom prst="roundRect">
            <a:avLst/>
          </a:prstGeom>
          <a:solidFill>
            <a:srgbClr val="FEE2E2"/>
          </a:solidFill>
          <a:ln w="1143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92040" y="2871216"/>
            <a:ext cx="3291840" cy="146304"/>
          </a:xfrm>
          <a:prstGeom prst="rect">
            <a:avLst/>
          </a:prstGeom>
          <a:noFill/>
        </p:spPr>
        <p:txBody>
          <a:bodyPr wrap="square" lIns="27432" tIns="18288" rIns="27432" bIns="18288">
            <a:spAutoFit/>
          </a:bodyPr>
          <a:lstStyle/>
          <a:p>
            <a:pPr algn="l">
              <a:defRPr sz="1010" b="1">
                <a:solidFill>
                  <a:srgbClr val="EF4444"/>
                </a:solidFill>
                <a:latin typeface="Aptos"/>
              </a:defRPr>
            </a:pPr>
            <a:r>
              <a:t>R3 · Parámetros de Bizagi mal configurados</a:t>
            </a:r>
          </a:p>
        </p:txBody>
      </p:sp>
      <p:sp>
        <p:nvSpPr>
          <p:cNvPr id="17" name="TextBox 16"/>
          <p:cNvSpPr txBox="1"/>
          <p:nvPr/>
        </p:nvSpPr>
        <p:spPr>
          <a:xfrm>
            <a:off x="4892040" y="3127248"/>
            <a:ext cx="6035040" cy="164592"/>
          </a:xfrm>
          <a:prstGeom prst="rect">
            <a:avLst/>
          </a:prstGeom>
          <a:noFill/>
        </p:spPr>
        <p:txBody>
          <a:bodyPr wrap="square" lIns="27432" tIns="18288" rIns="27432" bIns="18288">
            <a:spAutoFit/>
          </a:bodyPr>
          <a:lstStyle/>
          <a:p>
            <a:pPr algn="l">
              <a:defRPr sz="930" b="0">
                <a:solidFill>
                  <a:srgbClr val="374151"/>
                </a:solidFill>
                <a:latin typeface="Aptos"/>
              </a:defRPr>
            </a:pPr>
            <a:r>
              <a:t>Riesgo crítico porque afecta la validez de resultados.</a:t>
            </a:r>
          </a:p>
        </p:txBody>
      </p:sp>
      <p:sp>
        <p:nvSpPr>
          <p:cNvPr id="18" name="Rounded Rectangle 17"/>
          <p:cNvSpPr/>
          <p:nvPr/>
        </p:nvSpPr>
        <p:spPr>
          <a:xfrm>
            <a:off x="4663440" y="3703320"/>
            <a:ext cx="6720840" cy="768096"/>
          </a:xfrm>
          <a:prstGeom prst="roundRect">
            <a:avLst/>
          </a:prstGeom>
          <a:solidFill>
            <a:srgbClr val="FEF3C7"/>
          </a:solidFill>
          <a:ln w="11430">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92040" y="3831335"/>
            <a:ext cx="3291840" cy="146304"/>
          </a:xfrm>
          <a:prstGeom prst="rect">
            <a:avLst/>
          </a:prstGeom>
          <a:noFill/>
        </p:spPr>
        <p:txBody>
          <a:bodyPr wrap="square" lIns="27432" tIns="18288" rIns="27432" bIns="18288">
            <a:spAutoFit/>
          </a:bodyPr>
          <a:lstStyle/>
          <a:p>
            <a:pPr algn="l">
              <a:defRPr sz="1010" b="1">
                <a:solidFill>
                  <a:srgbClr val="F59E0B"/>
                </a:solidFill>
                <a:latin typeface="Aptos"/>
              </a:defRPr>
            </a:pPr>
            <a:r>
              <a:t>R4 · Inconsistencia entre D2, D3 y modelo</a:t>
            </a:r>
          </a:p>
        </p:txBody>
      </p:sp>
      <p:sp>
        <p:nvSpPr>
          <p:cNvPr id="20" name="TextBox 19"/>
          <p:cNvSpPr txBox="1"/>
          <p:nvPr/>
        </p:nvSpPr>
        <p:spPr>
          <a:xfrm>
            <a:off x="4892040" y="4087368"/>
            <a:ext cx="6035040" cy="164592"/>
          </a:xfrm>
          <a:prstGeom prst="rect">
            <a:avLst/>
          </a:prstGeom>
          <a:noFill/>
        </p:spPr>
        <p:txBody>
          <a:bodyPr wrap="square" lIns="27432" tIns="18288" rIns="27432" bIns="18288">
            <a:spAutoFit/>
          </a:bodyPr>
          <a:lstStyle/>
          <a:p>
            <a:pPr algn="l">
              <a:defRPr sz="930" b="0">
                <a:solidFill>
                  <a:srgbClr val="374151"/>
                </a:solidFill>
                <a:latin typeface="Aptos"/>
              </a:defRPr>
            </a:pPr>
            <a:r>
              <a:t>Se atiende con revisión cruzada y corrección de Inspección.</a:t>
            </a:r>
          </a:p>
        </p:txBody>
      </p:sp>
      <p:sp>
        <p:nvSpPr>
          <p:cNvPr id="21" name="Rounded Rectangle 20"/>
          <p:cNvSpPr/>
          <p:nvPr/>
        </p:nvSpPr>
        <p:spPr>
          <a:xfrm>
            <a:off x="4663440" y="4892040"/>
            <a:ext cx="6720840" cy="749808"/>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2040" y="5120640"/>
            <a:ext cx="6217920" cy="201168"/>
          </a:xfrm>
          <a:prstGeom prst="rect">
            <a:avLst/>
          </a:prstGeom>
          <a:noFill/>
        </p:spPr>
        <p:txBody>
          <a:bodyPr wrap="square" lIns="27432" tIns="18288" rIns="27432" bIns="18288">
            <a:spAutoFit/>
          </a:bodyPr>
          <a:lstStyle/>
          <a:p>
            <a:pPr algn="l">
              <a:defRPr sz="1060" b="1">
                <a:solidFill>
                  <a:srgbClr val="111827"/>
                </a:solidFill>
                <a:latin typeface="Aptos"/>
              </a:defRPr>
            </a:pPr>
            <a:r>
              <a:t>Decisión PM: no avanzar a D6 hasta aprobar una nueva corrida base consistente.</a:t>
            </a:r>
          </a:p>
        </p:txBody>
      </p:sp>
      <p:sp>
        <p:nvSpPr>
          <p:cNvPr id="24" name="TextBox 23"/>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ProcesMuebles — incidencia y control de cambios</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La desviación del plan ya no era solo riesgo: generó una recuperación formal.</a:t>
            </a:r>
          </a:p>
        </p:txBody>
      </p:sp>
      <p:sp>
        <p:nvSpPr>
          <p:cNvPr id="6" name="Rounded Rectangle 5"/>
          <p:cNvSpPr/>
          <p:nvPr/>
        </p:nvSpPr>
        <p:spPr>
          <a:xfrm>
            <a:off x="594360" y="1188720"/>
            <a:ext cx="3383280" cy="233172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298448"/>
            <a:ext cx="1508760"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353312"/>
            <a:ext cx="1435607" cy="164592"/>
          </a:xfrm>
          <a:prstGeom prst="rect">
            <a:avLst/>
          </a:prstGeom>
          <a:noFill/>
        </p:spPr>
        <p:txBody>
          <a:bodyPr wrap="square" lIns="27432" tIns="18288" rIns="27432" bIns="18288">
            <a:spAutoFit/>
          </a:bodyPr>
          <a:lstStyle/>
          <a:p>
            <a:pPr algn="ctr">
              <a:defRPr sz="830" b="1">
                <a:solidFill>
                  <a:srgbClr val="FFFFFF"/>
                </a:solidFill>
                <a:latin typeface="Aptos"/>
              </a:defRPr>
            </a:pPr>
            <a:r>
              <a:t>INC-002-01</a:t>
            </a:r>
          </a:p>
        </p:txBody>
      </p:sp>
      <p:pic>
        <p:nvPicPr>
          <p:cNvPr id="9" name="Picture 8" descr="INC-002-01_Retraso_Plan_Original.png"/>
          <p:cNvPicPr>
            <a:picLocks noChangeAspect="1"/>
          </p:cNvPicPr>
          <p:nvPr/>
        </p:nvPicPr>
        <p:blipFill>
          <a:blip r:embed="rId2"/>
          <a:stretch>
            <a:fillRect/>
          </a:stretch>
        </p:blipFill>
        <p:spPr>
          <a:xfrm>
            <a:off x="1685405" y="1645920"/>
            <a:ext cx="1201189" cy="1554479"/>
          </a:xfrm>
          <a:prstGeom prst="rect">
            <a:avLst/>
          </a:prstGeom>
        </p:spPr>
      </p:pic>
      <p:sp>
        <p:nvSpPr>
          <p:cNvPr id="10" name="TextBox 9"/>
          <p:cNvSpPr txBox="1"/>
          <p:nvPr/>
        </p:nvSpPr>
        <p:spPr>
          <a:xfrm>
            <a:off x="758952" y="3200399"/>
            <a:ext cx="3054096" cy="201168"/>
          </a:xfrm>
          <a:prstGeom prst="rect">
            <a:avLst/>
          </a:prstGeom>
          <a:noFill/>
        </p:spPr>
        <p:txBody>
          <a:bodyPr wrap="square" lIns="27432" tIns="18288" rIns="27432" bIns="18288">
            <a:spAutoFit/>
          </a:bodyPr>
          <a:lstStyle/>
          <a:p>
            <a:pPr algn="l">
              <a:defRPr sz="819" b="0">
                <a:solidFill>
                  <a:srgbClr val="6B7280"/>
                </a:solidFill>
                <a:latin typeface="Aptos"/>
              </a:defRPr>
            </a:pPr>
            <a:r>
              <a:t>Incidencia abierta por desviación del plan original.</a:t>
            </a:r>
          </a:p>
        </p:txBody>
      </p:sp>
      <p:sp>
        <p:nvSpPr>
          <p:cNvPr id="11" name="Rounded Rectangle 10"/>
          <p:cNvSpPr/>
          <p:nvPr/>
        </p:nvSpPr>
        <p:spPr>
          <a:xfrm>
            <a:off x="594360" y="3749039"/>
            <a:ext cx="3383280" cy="205740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31520" y="3858768"/>
            <a:ext cx="1399032"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3913631"/>
            <a:ext cx="1325880" cy="164592"/>
          </a:xfrm>
          <a:prstGeom prst="rect">
            <a:avLst/>
          </a:prstGeom>
          <a:noFill/>
        </p:spPr>
        <p:txBody>
          <a:bodyPr wrap="square" lIns="27432" tIns="18288" rIns="27432" bIns="18288">
            <a:spAutoFit/>
          </a:bodyPr>
          <a:lstStyle/>
          <a:p>
            <a:pPr algn="ctr">
              <a:defRPr sz="830" b="1">
                <a:solidFill>
                  <a:srgbClr val="FFFFFF"/>
                </a:solidFill>
                <a:latin typeface="Aptos"/>
              </a:defRPr>
            </a:pPr>
            <a:r>
              <a:t>CC-002-01</a:t>
            </a:r>
          </a:p>
        </p:txBody>
      </p:sp>
      <p:pic>
        <p:nvPicPr>
          <p:cNvPr id="14" name="Picture 13" descr="CC-002-01_Ajuste_Linea_Base_D2_D5.png"/>
          <p:cNvPicPr>
            <a:picLocks noChangeAspect="1"/>
          </p:cNvPicPr>
          <p:nvPr/>
        </p:nvPicPr>
        <p:blipFill>
          <a:blip r:embed="rId3"/>
          <a:stretch>
            <a:fillRect/>
          </a:stretch>
        </p:blipFill>
        <p:spPr>
          <a:xfrm>
            <a:off x="1791392" y="4206240"/>
            <a:ext cx="989214" cy="1280160"/>
          </a:xfrm>
          <a:prstGeom prst="rect">
            <a:avLst/>
          </a:prstGeom>
        </p:spPr>
      </p:pic>
      <p:sp>
        <p:nvSpPr>
          <p:cNvPr id="15" name="TextBox 14"/>
          <p:cNvSpPr txBox="1"/>
          <p:nvPr/>
        </p:nvSpPr>
        <p:spPr>
          <a:xfrm>
            <a:off x="758952" y="5486400"/>
            <a:ext cx="3054096" cy="201168"/>
          </a:xfrm>
          <a:prstGeom prst="rect">
            <a:avLst/>
          </a:prstGeom>
          <a:noFill/>
        </p:spPr>
        <p:txBody>
          <a:bodyPr wrap="square" lIns="27432" tIns="18288" rIns="27432" bIns="18288">
            <a:spAutoFit/>
          </a:bodyPr>
          <a:lstStyle/>
          <a:p>
            <a:pPr algn="l">
              <a:defRPr sz="819" b="0">
                <a:solidFill>
                  <a:srgbClr val="6B7280"/>
                </a:solidFill>
                <a:latin typeface="Aptos"/>
              </a:defRPr>
            </a:pPr>
            <a:r>
              <a:t>Cambio aprobado para ajustar línea base D2-D5.</a:t>
            </a:r>
          </a:p>
        </p:txBody>
      </p:sp>
      <p:sp>
        <p:nvSpPr>
          <p:cNvPr id="16" name="Rounded Rectangle 15"/>
          <p:cNvSpPr/>
          <p:nvPr/>
        </p:nvSpPr>
        <p:spPr>
          <a:xfrm>
            <a:off x="4343400" y="1188720"/>
            <a:ext cx="7040880" cy="1097280"/>
          </a:xfrm>
          <a:prstGeom prst="roundRect">
            <a:avLst/>
          </a:prstGeom>
          <a:solidFill>
            <a:srgbClr val="DBEAFE"/>
          </a:solidFill>
          <a:ln w="1143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0" y="1417320"/>
            <a:ext cx="2286000" cy="182880"/>
          </a:xfrm>
          <a:prstGeom prst="rect">
            <a:avLst/>
          </a:prstGeom>
          <a:noFill/>
        </p:spPr>
        <p:txBody>
          <a:bodyPr wrap="square" lIns="27432" tIns="18288" rIns="27432" bIns="18288">
            <a:spAutoFit/>
          </a:bodyPr>
          <a:lstStyle/>
          <a:p>
            <a:pPr algn="l">
              <a:defRPr sz="1300" b="1">
                <a:solidFill>
                  <a:srgbClr val="1E40AF"/>
                </a:solidFill>
                <a:latin typeface="Aptos"/>
              </a:defRPr>
            </a:pPr>
            <a:r>
              <a:t>Medida correctiva aplicada</a:t>
            </a:r>
          </a:p>
        </p:txBody>
      </p:sp>
      <p:sp>
        <p:nvSpPr>
          <p:cNvPr id="18" name="TextBox 17"/>
          <p:cNvSpPr txBox="1"/>
          <p:nvPr/>
        </p:nvSpPr>
        <p:spPr>
          <a:xfrm>
            <a:off x="4572000" y="1783080"/>
            <a:ext cx="6355080" cy="256032"/>
          </a:xfrm>
          <a:prstGeom prst="rect">
            <a:avLst/>
          </a:prstGeom>
          <a:noFill/>
        </p:spPr>
        <p:txBody>
          <a:bodyPr wrap="square" lIns="27432" tIns="18288" rIns="27432" bIns="18288">
            <a:spAutoFit/>
          </a:bodyPr>
          <a:lstStyle/>
          <a:p>
            <a:pPr algn="l">
              <a:defRPr sz="980" b="0">
                <a:solidFill>
                  <a:srgbClr val="374151"/>
                </a:solidFill>
                <a:latin typeface="Aptos"/>
              </a:defRPr>
            </a:pPr>
            <a:r>
              <a:t>El expediente registró que D5, D2-D4 no podían cerrarse con el cronograma original. Además, D6 debe mantenerse pendiente hasta aprobar una nueva línea base.</a:t>
            </a:r>
          </a:p>
        </p:txBody>
      </p:sp>
      <p:sp>
        <p:nvSpPr>
          <p:cNvPr id="19" name="Rectangle 18"/>
          <p:cNvSpPr/>
          <p:nvPr/>
        </p:nvSpPr>
        <p:spPr>
          <a:xfrm>
            <a:off x="4343400" y="2834640"/>
            <a:ext cx="6675120" cy="393192"/>
          </a:xfrm>
          <a:prstGeom prst="rect">
            <a:avLst/>
          </a:prstGeom>
          <a:solidFill>
            <a:srgbClr val="1E40AF"/>
          </a:solidFill>
          <a:ln w="1143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16552" y="2962656"/>
            <a:ext cx="2688336" cy="91440"/>
          </a:xfrm>
          <a:prstGeom prst="rect">
            <a:avLst/>
          </a:prstGeom>
          <a:noFill/>
        </p:spPr>
        <p:txBody>
          <a:bodyPr wrap="square" lIns="27432" tIns="18288" rIns="27432" bIns="18288">
            <a:spAutoFit/>
          </a:bodyPr>
          <a:lstStyle/>
          <a:p>
            <a:pPr algn="l">
              <a:defRPr sz="840" b="1">
                <a:solidFill>
                  <a:srgbClr val="FFFFFF"/>
                </a:solidFill>
                <a:latin typeface="Aptos"/>
              </a:defRPr>
            </a:pPr>
            <a:r>
              <a:t>Acción</a:t>
            </a:r>
          </a:p>
        </p:txBody>
      </p:sp>
      <p:sp>
        <p:nvSpPr>
          <p:cNvPr id="21" name="TextBox 20"/>
          <p:cNvSpPr txBox="1"/>
          <p:nvPr/>
        </p:nvSpPr>
        <p:spPr>
          <a:xfrm>
            <a:off x="7251192" y="2962656"/>
            <a:ext cx="1773936" cy="91440"/>
          </a:xfrm>
          <a:prstGeom prst="rect">
            <a:avLst/>
          </a:prstGeom>
          <a:noFill/>
        </p:spPr>
        <p:txBody>
          <a:bodyPr wrap="square" lIns="27432" tIns="18288" rIns="27432" bIns="18288">
            <a:spAutoFit/>
          </a:bodyPr>
          <a:lstStyle/>
          <a:p>
            <a:pPr algn="l">
              <a:defRPr sz="840" b="1">
                <a:solidFill>
                  <a:srgbClr val="FFFFFF"/>
                </a:solidFill>
                <a:latin typeface="Aptos"/>
              </a:defRPr>
            </a:pPr>
            <a:r>
              <a:t>Responsable</a:t>
            </a:r>
          </a:p>
        </p:txBody>
      </p:sp>
      <p:sp>
        <p:nvSpPr>
          <p:cNvPr id="22" name="TextBox 21"/>
          <p:cNvSpPr txBox="1"/>
          <p:nvPr/>
        </p:nvSpPr>
        <p:spPr>
          <a:xfrm>
            <a:off x="9171432" y="2962656"/>
            <a:ext cx="1773936" cy="91440"/>
          </a:xfrm>
          <a:prstGeom prst="rect">
            <a:avLst/>
          </a:prstGeom>
          <a:noFill/>
        </p:spPr>
        <p:txBody>
          <a:bodyPr wrap="square" lIns="27432" tIns="18288" rIns="27432" bIns="18288">
            <a:spAutoFit/>
          </a:bodyPr>
          <a:lstStyle/>
          <a:p>
            <a:pPr algn="l">
              <a:defRPr sz="840" b="1">
                <a:solidFill>
                  <a:srgbClr val="FFFFFF"/>
                </a:solidFill>
                <a:latin typeface="Aptos"/>
              </a:defRPr>
            </a:pPr>
            <a:r>
              <a:t>Estado</a:t>
            </a:r>
          </a:p>
        </p:txBody>
      </p:sp>
      <p:sp>
        <p:nvSpPr>
          <p:cNvPr id="23" name="Rectangle 22"/>
          <p:cNvSpPr/>
          <p:nvPr/>
        </p:nvSpPr>
        <p:spPr>
          <a:xfrm>
            <a:off x="4343400" y="3227832"/>
            <a:ext cx="6675120" cy="393192"/>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16552" y="3346704"/>
            <a:ext cx="2688336" cy="109728"/>
          </a:xfrm>
          <a:prstGeom prst="rect">
            <a:avLst/>
          </a:prstGeom>
          <a:noFill/>
        </p:spPr>
        <p:txBody>
          <a:bodyPr wrap="square" lIns="27432" tIns="18288" rIns="27432" bIns="18288">
            <a:spAutoFit/>
          </a:bodyPr>
          <a:lstStyle/>
          <a:p>
            <a:pPr algn="l">
              <a:defRPr sz="819" b="0">
                <a:solidFill>
                  <a:srgbClr val="374151"/>
                </a:solidFill>
                <a:latin typeface="Aptos"/>
              </a:defRPr>
            </a:pPr>
            <a:r>
              <a:t>Aplicar PLAN-002 v2</a:t>
            </a:r>
          </a:p>
        </p:txBody>
      </p:sp>
      <p:sp>
        <p:nvSpPr>
          <p:cNvPr id="25" name="TextBox 24"/>
          <p:cNvSpPr txBox="1"/>
          <p:nvPr/>
        </p:nvSpPr>
        <p:spPr>
          <a:xfrm>
            <a:off x="7251192" y="3346704"/>
            <a:ext cx="1773936" cy="109728"/>
          </a:xfrm>
          <a:prstGeom prst="rect">
            <a:avLst/>
          </a:prstGeom>
          <a:noFill/>
        </p:spPr>
        <p:txBody>
          <a:bodyPr wrap="square" lIns="27432" tIns="18288" rIns="27432" bIns="18288">
            <a:spAutoFit/>
          </a:bodyPr>
          <a:lstStyle/>
          <a:p>
            <a:pPr algn="l">
              <a:defRPr sz="819" b="0">
                <a:solidFill>
                  <a:srgbClr val="374151"/>
                </a:solidFill>
                <a:latin typeface="Aptos"/>
              </a:defRPr>
            </a:pPr>
            <a:r>
              <a:t>PM / Alondra</a:t>
            </a:r>
          </a:p>
        </p:txBody>
      </p:sp>
      <p:sp>
        <p:nvSpPr>
          <p:cNvPr id="26" name="TextBox 25"/>
          <p:cNvSpPr txBox="1"/>
          <p:nvPr/>
        </p:nvSpPr>
        <p:spPr>
          <a:xfrm>
            <a:off x="9171432" y="3346704"/>
            <a:ext cx="1773936" cy="109728"/>
          </a:xfrm>
          <a:prstGeom prst="rect">
            <a:avLst/>
          </a:prstGeom>
          <a:noFill/>
        </p:spPr>
        <p:txBody>
          <a:bodyPr wrap="square" lIns="27432" tIns="18288" rIns="27432" bIns="18288">
            <a:spAutoFit/>
          </a:bodyPr>
          <a:lstStyle/>
          <a:p>
            <a:pPr algn="l">
              <a:defRPr sz="819" b="0">
                <a:solidFill>
                  <a:srgbClr val="374151"/>
                </a:solidFill>
                <a:latin typeface="Aptos"/>
              </a:defRPr>
            </a:pPr>
            <a:r>
              <a:t>En recuperación</a:t>
            </a:r>
          </a:p>
        </p:txBody>
      </p:sp>
      <p:sp>
        <p:nvSpPr>
          <p:cNvPr id="27" name="Rectangle 26"/>
          <p:cNvSpPr/>
          <p:nvPr/>
        </p:nvSpPr>
        <p:spPr>
          <a:xfrm>
            <a:off x="4343400" y="3621024"/>
            <a:ext cx="6675120" cy="393192"/>
          </a:xfrm>
          <a:prstGeom prst="rect">
            <a:avLst/>
          </a:prstGeom>
          <a:solidFill>
            <a:srgbClr val="F3F4F6"/>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16552" y="3739896"/>
            <a:ext cx="2688336" cy="109728"/>
          </a:xfrm>
          <a:prstGeom prst="rect">
            <a:avLst/>
          </a:prstGeom>
          <a:noFill/>
        </p:spPr>
        <p:txBody>
          <a:bodyPr wrap="square" lIns="27432" tIns="18288" rIns="27432" bIns="18288">
            <a:spAutoFit/>
          </a:bodyPr>
          <a:lstStyle/>
          <a:p>
            <a:pPr algn="l">
              <a:defRPr sz="819" b="0">
                <a:solidFill>
                  <a:srgbClr val="374151"/>
                </a:solidFill>
                <a:latin typeface="Aptos"/>
              </a:defRPr>
            </a:pPr>
            <a:r>
              <a:t>Corregir D2-D5</a:t>
            </a:r>
          </a:p>
        </p:txBody>
      </p:sp>
      <p:sp>
        <p:nvSpPr>
          <p:cNvPr id="29" name="TextBox 28"/>
          <p:cNvSpPr txBox="1"/>
          <p:nvPr/>
        </p:nvSpPr>
        <p:spPr>
          <a:xfrm>
            <a:off x="7251192" y="3739896"/>
            <a:ext cx="1773936" cy="109728"/>
          </a:xfrm>
          <a:prstGeom prst="rect">
            <a:avLst/>
          </a:prstGeom>
          <a:noFill/>
        </p:spPr>
        <p:txBody>
          <a:bodyPr wrap="square" lIns="27432" tIns="18288" rIns="27432" bIns="18288">
            <a:spAutoFit/>
          </a:bodyPr>
          <a:lstStyle/>
          <a:p>
            <a:pPr algn="l">
              <a:defRPr sz="819" b="0">
                <a:solidFill>
                  <a:srgbClr val="374151"/>
                </a:solidFill>
                <a:latin typeface="Aptos"/>
              </a:defRPr>
            </a:pPr>
            <a:r>
              <a:t>Alondra</a:t>
            </a:r>
          </a:p>
        </p:txBody>
      </p:sp>
      <p:sp>
        <p:nvSpPr>
          <p:cNvPr id="30" name="TextBox 29"/>
          <p:cNvSpPr txBox="1"/>
          <p:nvPr/>
        </p:nvSpPr>
        <p:spPr>
          <a:xfrm>
            <a:off x="9171432" y="3739896"/>
            <a:ext cx="1773936" cy="109728"/>
          </a:xfrm>
          <a:prstGeom prst="rect">
            <a:avLst/>
          </a:prstGeom>
          <a:noFill/>
        </p:spPr>
        <p:txBody>
          <a:bodyPr wrap="square" lIns="27432" tIns="18288" rIns="27432" bIns="18288">
            <a:spAutoFit/>
          </a:bodyPr>
          <a:lstStyle/>
          <a:p>
            <a:pPr algn="l">
              <a:defRPr sz="819" b="0">
                <a:solidFill>
                  <a:srgbClr val="374151"/>
                </a:solidFill>
                <a:latin typeface="Aptos"/>
              </a:defRPr>
            </a:pPr>
            <a:r>
              <a:t>Solicitado</a:t>
            </a:r>
          </a:p>
        </p:txBody>
      </p:sp>
      <p:sp>
        <p:nvSpPr>
          <p:cNvPr id="31" name="Rectangle 30"/>
          <p:cNvSpPr/>
          <p:nvPr/>
        </p:nvSpPr>
        <p:spPr>
          <a:xfrm>
            <a:off x="4343400" y="4014216"/>
            <a:ext cx="6675120" cy="393192"/>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16552" y="4133088"/>
            <a:ext cx="2688336" cy="109728"/>
          </a:xfrm>
          <a:prstGeom prst="rect">
            <a:avLst/>
          </a:prstGeom>
          <a:noFill/>
        </p:spPr>
        <p:txBody>
          <a:bodyPr wrap="square" lIns="27432" tIns="18288" rIns="27432" bIns="18288">
            <a:spAutoFit/>
          </a:bodyPr>
          <a:lstStyle/>
          <a:p>
            <a:pPr algn="l">
              <a:defRPr sz="819" b="0">
                <a:solidFill>
                  <a:srgbClr val="374151"/>
                </a:solidFill>
                <a:latin typeface="Aptos"/>
              </a:defRPr>
            </a:pPr>
            <a:r>
              <a:t>Validar nueva corrida base</a:t>
            </a:r>
          </a:p>
        </p:txBody>
      </p:sp>
      <p:sp>
        <p:nvSpPr>
          <p:cNvPr id="33" name="TextBox 32"/>
          <p:cNvSpPr txBox="1"/>
          <p:nvPr/>
        </p:nvSpPr>
        <p:spPr>
          <a:xfrm>
            <a:off x="7251192" y="4133088"/>
            <a:ext cx="1773936" cy="109728"/>
          </a:xfrm>
          <a:prstGeom prst="rect">
            <a:avLst/>
          </a:prstGeom>
          <a:noFill/>
        </p:spPr>
        <p:txBody>
          <a:bodyPr wrap="square" lIns="27432" tIns="18288" rIns="27432" bIns="18288">
            <a:spAutoFit/>
          </a:bodyPr>
          <a:lstStyle/>
          <a:p>
            <a:pPr algn="l">
              <a:defRPr sz="819" b="0">
                <a:solidFill>
                  <a:srgbClr val="374151"/>
                </a:solidFill>
                <a:latin typeface="Aptos"/>
              </a:defRPr>
            </a:pPr>
            <a:r>
              <a:t>PM</a:t>
            </a:r>
          </a:p>
        </p:txBody>
      </p:sp>
      <p:sp>
        <p:nvSpPr>
          <p:cNvPr id="34" name="TextBox 33"/>
          <p:cNvSpPr txBox="1"/>
          <p:nvPr/>
        </p:nvSpPr>
        <p:spPr>
          <a:xfrm>
            <a:off x="9171432" y="4133088"/>
            <a:ext cx="1773936" cy="109728"/>
          </a:xfrm>
          <a:prstGeom prst="rect">
            <a:avLst/>
          </a:prstGeom>
          <a:noFill/>
        </p:spPr>
        <p:txBody>
          <a:bodyPr wrap="square" lIns="27432" tIns="18288" rIns="27432" bIns="18288">
            <a:spAutoFit/>
          </a:bodyPr>
          <a:lstStyle/>
          <a:p>
            <a:pPr algn="l">
              <a:defRPr sz="819" b="0">
                <a:solidFill>
                  <a:srgbClr val="374151"/>
                </a:solidFill>
                <a:latin typeface="Aptos"/>
              </a:defRPr>
            </a:pPr>
            <a:r>
              <a:t>Pendiente</a:t>
            </a:r>
          </a:p>
        </p:txBody>
      </p:sp>
      <p:sp>
        <p:nvSpPr>
          <p:cNvPr id="35" name="Rectangle 34"/>
          <p:cNvSpPr/>
          <p:nvPr/>
        </p:nvSpPr>
        <p:spPr>
          <a:xfrm>
            <a:off x="4343400" y="4407408"/>
            <a:ext cx="6675120" cy="393192"/>
          </a:xfrm>
          <a:prstGeom prst="rect">
            <a:avLst/>
          </a:prstGeom>
          <a:solidFill>
            <a:srgbClr val="F3F4F6"/>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416552" y="4526280"/>
            <a:ext cx="2688336" cy="109728"/>
          </a:xfrm>
          <a:prstGeom prst="rect">
            <a:avLst/>
          </a:prstGeom>
          <a:noFill/>
        </p:spPr>
        <p:txBody>
          <a:bodyPr wrap="square" lIns="27432" tIns="18288" rIns="27432" bIns="18288">
            <a:spAutoFit/>
          </a:bodyPr>
          <a:lstStyle/>
          <a:p>
            <a:pPr algn="l">
              <a:defRPr sz="819" b="0">
                <a:solidFill>
                  <a:srgbClr val="374151"/>
                </a:solidFill>
                <a:latin typeface="Aptos"/>
              </a:defRPr>
            </a:pPr>
            <a:r>
              <a:t>Continuar D6-D8</a:t>
            </a:r>
          </a:p>
        </p:txBody>
      </p:sp>
      <p:sp>
        <p:nvSpPr>
          <p:cNvPr id="37" name="TextBox 36"/>
          <p:cNvSpPr txBox="1"/>
          <p:nvPr/>
        </p:nvSpPr>
        <p:spPr>
          <a:xfrm>
            <a:off x="7251192" y="4526280"/>
            <a:ext cx="1773936" cy="109728"/>
          </a:xfrm>
          <a:prstGeom prst="rect">
            <a:avLst/>
          </a:prstGeom>
          <a:noFill/>
        </p:spPr>
        <p:txBody>
          <a:bodyPr wrap="square" lIns="27432" tIns="18288" rIns="27432" bIns="18288">
            <a:spAutoFit/>
          </a:bodyPr>
          <a:lstStyle/>
          <a:p>
            <a:pPr algn="l">
              <a:defRPr sz="819" b="0">
                <a:solidFill>
                  <a:srgbClr val="374151"/>
                </a:solidFill>
                <a:latin typeface="Aptos"/>
              </a:defRPr>
            </a:pPr>
            <a:r>
              <a:t>Alondra</a:t>
            </a:r>
          </a:p>
        </p:txBody>
      </p:sp>
      <p:sp>
        <p:nvSpPr>
          <p:cNvPr id="38" name="TextBox 37"/>
          <p:cNvSpPr txBox="1"/>
          <p:nvPr/>
        </p:nvSpPr>
        <p:spPr>
          <a:xfrm>
            <a:off x="9171432" y="4526280"/>
            <a:ext cx="1773936" cy="109728"/>
          </a:xfrm>
          <a:prstGeom prst="rect">
            <a:avLst/>
          </a:prstGeom>
          <a:noFill/>
        </p:spPr>
        <p:txBody>
          <a:bodyPr wrap="square" lIns="27432" tIns="18288" rIns="27432" bIns="18288">
            <a:spAutoFit/>
          </a:bodyPr>
          <a:lstStyle/>
          <a:p>
            <a:pPr algn="l">
              <a:defRPr sz="819" b="0">
                <a:solidFill>
                  <a:srgbClr val="374151"/>
                </a:solidFill>
                <a:latin typeface="Aptos"/>
              </a:defRPr>
            </a:pPr>
            <a:r>
              <a:t>Después de validar</a:t>
            </a:r>
          </a:p>
        </p:txBody>
      </p:sp>
      <p:sp>
        <p:nvSpPr>
          <p:cNvPr id="40" name="TextBox 39"/>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ProcesMuebles — VME y riesgo residual</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La cuantificación ayuda a ordenar decisiones, aunque los importes sean académicos.</a:t>
            </a:r>
          </a:p>
        </p:txBody>
      </p:sp>
      <p:sp>
        <p:nvSpPr>
          <p:cNvPr id="6" name="Rounded Rectangle 5"/>
          <p:cNvSpPr/>
          <p:nvPr/>
        </p:nvSpPr>
        <p:spPr>
          <a:xfrm>
            <a:off x="173736" y="1234440"/>
            <a:ext cx="4261104" cy="457200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344168"/>
            <a:ext cx="1179576"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399032"/>
            <a:ext cx="1106424" cy="164592"/>
          </a:xfrm>
          <a:prstGeom prst="rect">
            <a:avLst/>
          </a:prstGeom>
          <a:noFill/>
        </p:spPr>
        <p:txBody>
          <a:bodyPr wrap="square" lIns="27432" tIns="18288" rIns="27432" bIns="18288">
            <a:spAutoFit/>
          </a:bodyPr>
          <a:lstStyle/>
          <a:p>
            <a:pPr algn="ctr">
              <a:defRPr sz="830" b="1">
                <a:solidFill>
                  <a:srgbClr val="FFFFFF"/>
                </a:solidFill>
                <a:latin typeface="Aptos"/>
              </a:defRPr>
            </a:pPr>
            <a:r>
              <a:t>VME-002</a:t>
            </a:r>
          </a:p>
        </p:txBody>
      </p:sp>
      <p:pic>
        <p:nvPicPr>
          <p:cNvPr id="9" name="Picture 8" descr="VME-002_Analisis_Cuantitativo.png"/>
          <p:cNvPicPr>
            <a:picLocks noChangeAspect="1"/>
          </p:cNvPicPr>
          <p:nvPr/>
        </p:nvPicPr>
        <p:blipFill>
          <a:blip r:embed="rId2"/>
          <a:stretch>
            <a:fillRect/>
          </a:stretch>
        </p:blipFill>
        <p:spPr>
          <a:xfrm>
            <a:off x="1048442" y="1691640"/>
            <a:ext cx="2932314" cy="3794760"/>
          </a:xfrm>
          <a:prstGeom prst="rect">
            <a:avLst/>
          </a:prstGeom>
        </p:spPr>
      </p:pic>
      <p:sp>
        <p:nvSpPr>
          <p:cNvPr id="10" name="TextBox 9"/>
          <p:cNvSpPr txBox="1"/>
          <p:nvPr/>
        </p:nvSpPr>
        <p:spPr>
          <a:xfrm>
            <a:off x="758952" y="5486400"/>
            <a:ext cx="3511296" cy="201168"/>
          </a:xfrm>
          <a:prstGeom prst="rect">
            <a:avLst/>
          </a:prstGeom>
          <a:noFill/>
        </p:spPr>
        <p:txBody>
          <a:bodyPr wrap="square" lIns="27432" tIns="18288" rIns="27432" bIns="18288">
            <a:spAutoFit/>
          </a:bodyPr>
          <a:lstStyle/>
          <a:p>
            <a:pPr algn="l">
              <a:defRPr sz="819" b="0">
                <a:solidFill>
                  <a:srgbClr val="6B7280"/>
                </a:solidFill>
                <a:latin typeface="Aptos"/>
              </a:defRPr>
            </a:pPr>
            <a:r>
              <a:t>VME académico: $3,490 MXN total.</a:t>
            </a:r>
          </a:p>
        </p:txBody>
      </p:sp>
      <p:sp>
        <p:nvSpPr>
          <p:cNvPr id="11" name="Rounded Rectangle 10"/>
          <p:cNvSpPr/>
          <p:nvPr/>
        </p:nvSpPr>
        <p:spPr>
          <a:xfrm>
            <a:off x="4663440" y="1234440"/>
            <a:ext cx="3291840" cy="1389888"/>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1463040"/>
            <a:ext cx="2651760" cy="182880"/>
          </a:xfrm>
          <a:prstGeom prst="rect">
            <a:avLst/>
          </a:prstGeom>
          <a:noFill/>
        </p:spPr>
        <p:txBody>
          <a:bodyPr wrap="square" lIns="27432" tIns="18288" rIns="27432" bIns="18288">
            <a:spAutoFit/>
          </a:bodyPr>
          <a:lstStyle/>
          <a:p>
            <a:pPr algn="l">
              <a:defRPr sz="1300" b="1">
                <a:solidFill>
                  <a:srgbClr val="111827"/>
                </a:solidFill>
                <a:latin typeface="Aptos"/>
              </a:defRPr>
            </a:pPr>
            <a:r>
              <a:t>Lectura PM</a:t>
            </a:r>
          </a:p>
        </p:txBody>
      </p:sp>
      <p:sp>
        <p:nvSpPr>
          <p:cNvPr id="13" name="TextBox 12"/>
          <p:cNvSpPr txBox="1"/>
          <p:nvPr/>
        </p:nvSpPr>
        <p:spPr>
          <a:xfrm>
            <a:off x="4892040" y="1828800"/>
            <a:ext cx="1280160" cy="109728"/>
          </a:xfrm>
          <a:prstGeom prst="rect">
            <a:avLst/>
          </a:prstGeom>
          <a:noFill/>
        </p:spPr>
        <p:txBody>
          <a:bodyPr wrap="square" lIns="27432" tIns="18288" rIns="27432" bIns="18288">
            <a:spAutoFit/>
          </a:bodyPr>
          <a:lstStyle/>
          <a:p>
            <a:pPr algn="l">
              <a:defRPr sz="790" b="1">
                <a:solidFill>
                  <a:srgbClr val="374151"/>
                </a:solidFill>
                <a:latin typeface="Aptos"/>
              </a:defRPr>
            </a:pPr>
            <a:r>
              <a:t>Mayor VME</a:t>
            </a:r>
          </a:p>
        </p:txBody>
      </p:sp>
      <p:sp>
        <p:nvSpPr>
          <p:cNvPr id="14" name="TextBox 13"/>
          <p:cNvSpPr txBox="1"/>
          <p:nvPr/>
        </p:nvSpPr>
        <p:spPr>
          <a:xfrm>
            <a:off x="6217920" y="1828800"/>
            <a:ext cx="640080" cy="109728"/>
          </a:xfrm>
          <a:prstGeom prst="rect">
            <a:avLst/>
          </a:prstGeom>
          <a:noFill/>
        </p:spPr>
        <p:txBody>
          <a:bodyPr wrap="square" lIns="27432" tIns="18288" rIns="27432" bIns="18288">
            <a:spAutoFit/>
          </a:bodyPr>
          <a:lstStyle/>
          <a:p>
            <a:pPr algn="l">
              <a:defRPr sz="790" b="0">
                <a:solidFill>
                  <a:srgbClr val="374151"/>
                </a:solidFill>
                <a:latin typeface="Aptos"/>
              </a:defRPr>
            </a:pPr>
            <a:r>
              <a:t>$1,200</a:t>
            </a:r>
          </a:p>
        </p:txBody>
      </p:sp>
      <p:sp>
        <p:nvSpPr>
          <p:cNvPr id="15" name="TextBox 14"/>
          <p:cNvSpPr txBox="1"/>
          <p:nvPr/>
        </p:nvSpPr>
        <p:spPr>
          <a:xfrm>
            <a:off x="6903720" y="1828800"/>
            <a:ext cx="685800" cy="109728"/>
          </a:xfrm>
          <a:prstGeom prst="rect">
            <a:avLst/>
          </a:prstGeom>
          <a:noFill/>
        </p:spPr>
        <p:txBody>
          <a:bodyPr wrap="square" lIns="27432" tIns="18288" rIns="27432" bIns="18288">
            <a:spAutoFit/>
          </a:bodyPr>
          <a:lstStyle/>
          <a:p>
            <a:pPr algn="l">
              <a:defRPr sz="790" b="0">
                <a:solidFill>
                  <a:srgbClr val="374151"/>
                </a:solidFill>
                <a:latin typeface="Aptos"/>
              </a:defRPr>
            </a:pPr>
            <a:r>
              <a:t>Crítico</a:t>
            </a:r>
          </a:p>
        </p:txBody>
      </p:sp>
      <p:sp>
        <p:nvSpPr>
          <p:cNvPr id="16" name="TextBox 15"/>
          <p:cNvSpPr txBox="1"/>
          <p:nvPr/>
        </p:nvSpPr>
        <p:spPr>
          <a:xfrm>
            <a:off x="4892040" y="2011680"/>
            <a:ext cx="1280160" cy="109728"/>
          </a:xfrm>
          <a:prstGeom prst="rect">
            <a:avLst/>
          </a:prstGeom>
          <a:noFill/>
        </p:spPr>
        <p:txBody>
          <a:bodyPr wrap="square" lIns="27432" tIns="18288" rIns="27432" bIns="18288">
            <a:spAutoFit/>
          </a:bodyPr>
          <a:lstStyle/>
          <a:p>
            <a:pPr algn="l">
              <a:defRPr sz="790" b="1">
                <a:solidFill>
                  <a:srgbClr val="374151"/>
                </a:solidFill>
                <a:latin typeface="Aptos"/>
              </a:defRPr>
            </a:pPr>
            <a:r>
              <a:t>Parámetros mal configurados</a:t>
            </a:r>
          </a:p>
        </p:txBody>
      </p:sp>
      <p:sp>
        <p:nvSpPr>
          <p:cNvPr id="17" name="TextBox 16"/>
          <p:cNvSpPr txBox="1"/>
          <p:nvPr/>
        </p:nvSpPr>
        <p:spPr>
          <a:xfrm>
            <a:off x="6217920" y="2011680"/>
            <a:ext cx="640080" cy="109728"/>
          </a:xfrm>
          <a:prstGeom prst="rect">
            <a:avLst/>
          </a:prstGeom>
          <a:noFill/>
        </p:spPr>
        <p:txBody>
          <a:bodyPr wrap="square" lIns="27432" tIns="18288" rIns="27432" bIns="18288">
            <a:spAutoFit/>
          </a:bodyPr>
          <a:lstStyle/>
          <a:p>
            <a:pPr algn="l">
              <a:defRPr sz="790" b="0">
                <a:solidFill>
                  <a:srgbClr val="374151"/>
                </a:solidFill>
                <a:latin typeface="Aptos"/>
              </a:defRPr>
            </a:pPr>
            <a:r>
              <a:t>$840</a:t>
            </a:r>
          </a:p>
        </p:txBody>
      </p:sp>
      <p:sp>
        <p:nvSpPr>
          <p:cNvPr id="18" name="TextBox 17"/>
          <p:cNvSpPr txBox="1"/>
          <p:nvPr/>
        </p:nvSpPr>
        <p:spPr>
          <a:xfrm>
            <a:off x="6903720" y="2011680"/>
            <a:ext cx="685800" cy="109728"/>
          </a:xfrm>
          <a:prstGeom prst="rect">
            <a:avLst/>
          </a:prstGeom>
          <a:noFill/>
        </p:spPr>
        <p:txBody>
          <a:bodyPr wrap="square" lIns="27432" tIns="18288" rIns="27432" bIns="18288">
            <a:spAutoFit/>
          </a:bodyPr>
          <a:lstStyle/>
          <a:p>
            <a:pPr algn="l">
              <a:defRPr sz="790" b="0">
                <a:solidFill>
                  <a:srgbClr val="374151"/>
                </a:solidFill>
                <a:latin typeface="Aptos"/>
              </a:defRPr>
            </a:pPr>
            <a:r>
              <a:t>Crítico</a:t>
            </a:r>
          </a:p>
        </p:txBody>
      </p:sp>
      <p:sp>
        <p:nvSpPr>
          <p:cNvPr id="19" name="TextBox 18"/>
          <p:cNvSpPr txBox="1"/>
          <p:nvPr/>
        </p:nvSpPr>
        <p:spPr>
          <a:xfrm>
            <a:off x="4892040" y="2194560"/>
            <a:ext cx="1280160" cy="109728"/>
          </a:xfrm>
          <a:prstGeom prst="rect">
            <a:avLst/>
          </a:prstGeom>
          <a:noFill/>
        </p:spPr>
        <p:txBody>
          <a:bodyPr wrap="square" lIns="27432" tIns="18288" rIns="27432" bIns="18288">
            <a:spAutoFit/>
          </a:bodyPr>
          <a:lstStyle/>
          <a:p>
            <a:pPr algn="l">
              <a:defRPr sz="790" b="1">
                <a:solidFill>
                  <a:srgbClr val="374151"/>
                </a:solidFill>
                <a:latin typeface="Aptos"/>
              </a:defRPr>
            </a:pPr>
            <a:r>
              <a:rPr dirty="0" err="1"/>
              <a:t>Cuello</a:t>
            </a:r>
            <a:r>
              <a:rPr dirty="0"/>
              <a:t> de </a:t>
            </a:r>
            <a:r>
              <a:rPr dirty="0" err="1"/>
              <a:t>botella</a:t>
            </a:r>
            <a:r>
              <a:rPr dirty="0"/>
              <a:t> sin </a:t>
            </a:r>
            <a:r>
              <a:rPr dirty="0" err="1"/>
              <a:t>mejora</a:t>
            </a:r>
            <a:endParaRPr dirty="0"/>
          </a:p>
        </p:txBody>
      </p:sp>
      <p:sp>
        <p:nvSpPr>
          <p:cNvPr id="20" name="TextBox 19"/>
          <p:cNvSpPr txBox="1"/>
          <p:nvPr/>
        </p:nvSpPr>
        <p:spPr>
          <a:xfrm>
            <a:off x="6217920" y="2194560"/>
            <a:ext cx="640080" cy="109728"/>
          </a:xfrm>
          <a:prstGeom prst="rect">
            <a:avLst/>
          </a:prstGeom>
          <a:noFill/>
        </p:spPr>
        <p:txBody>
          <a:bodyPr wrap="square" lIns="27432" tIns="18288" rIns="27432" bIns="18288">
            <a:spAutoFit/>
          </a:bodyPr>
          <a:lstStyle/>
          <a:p>
            <a:pPr algn="l">
              <a:defRPr sz="790" b="0">
                <a:solidFill>
                  <a:srgbClr val="374151"/>
                </a:solidFill>
                <a:latin typeface="Aptos"/>
              </a:defRPr>
            </a:pPr>
            <a:r>
              <a:t>$630</a:t>
            </a:r>
          </a:p>
        </p:txBody>
      </p:sp>
      <p:sp>
        <p:nvSpPr>
          <p:cNvPr id="21" name="TextBox 20"/>
          <p:cNvSpPr txBox="1"/>
          <p:nvPr/>
        </p:nvSpPr>
        <p:spPr>
          <a:xfrm>
            <a:off x="6903720" y="2194560"/>
            <a:ext cx="685800" cy="109728"/>
          </a:xfrm>
          <a:prstGeom prst="rect">
            <a:avLst/>
          </a:prstGeom>
          <a:noFill/>
        </p:spPr>
        <p:txBody>
          <a:bodyPr wrap="square" lIns="27432" tIns="18288" rIns="27432" bIns="18288">
            <a:spAutoFit/>
          </a:bodyPr>
          <a:lstStyle/>
          <a:p>
            <a:pPr algn="l">
              <a:defRPr sz="790" b="0">
                <a:solidFill>
                  <a:srgbClr val="374151"/>
                </a:solidFill>
                <a:latin typeface="Aptos"/>
              </a:defRPr>
            </a:pPr>
            <a:r>
              <a:t>Alto</a:t>
            </a:r>
          </a:p>
        </p:txBody>
      </p:sp>
      <p:sp>
        <p:nvSpPr>
          <p:cNvPr id="25" name="Rounded Rectangle 24"/>
          <p:cNvSpPr/>
          <p:nvPr/>
        </p:nvSpPr>
        <p:spPr>
          <a:xfrm>
            <a:off x="4663440" y="3489960"/>
            <a:ext cx="6720840" cy="227076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800600" y="4270248"/>
            <a:ext cx="1179576"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37176" y="4325112"/>
            <a:ext cx="1106424" cy="164592"/>
          </a:xfrm>
          <a:prstGeom prst="rect">
            <a:avLst/>
          </a:prstGeom>
          <a:noFill/>
        </p:spPr>
        <p:txBody>
          <a:bodyPr wrap="square" lIns="27432" tIns="18288" rIns="27432" bIns="18288">
            <a:spAutoFit/>
          </a:bodyPr>
          <a:lstStyle/>
          <a:p>
            <a:pPr algn="ctr">
              <a:defRPr sz="830" b="1">
                <a:solidFill>
                  <a:srgbClr val="FFFFFF"/>
                </a:solidFill>
                <a:latin typeface="Aptos"/>
              </a:defRPr>
            </a:pPr>
            <a:r>
              <a:t>SEG-002</a:t>
            </a:r>
          </a:p>
        </p:txBody>
      </p:sp>
      <p:pic>
        <p:nvPicPr>
          <p:cNvPr id="28" name="Picture 27" descr="SEG-002_Registro_Seguimiento_Control_Alondra_ACTUALIZADO.png"/>
          <p:cNvPicPr>
            <a:picLocks noChangeAspect="1"/>
          </p:cNvPicPr>
          <p:nvPr/>
        </p:nvPicPr>
        <p:blipFill>
          <a:blip r:embed="rId3"/>
          <a:srcRect b="34753"/>
          <a:stretch/>
        </p:blipFill>
        <p:spPr>
          <a:xfrm>
            <a:off x="8225666" y="3848100"/>
            <a:ext cx="2265152" cy="1912620"/>
          </a:xfrm>
          <a:prstGeom prst="rect">
            <a:avLst/>
          </a:prstGeom>
        </p:spPr>
      </p:pic>
      <p:sp>
        <p:nvSpPr>
          <p:cNvPr id="29" name="TextBox 28"/>
          <p:cNvSpPr txBox="1"/>
          <p:nvPr/>
        </p:nvSpPr>
        <p:spPr>
          <a:xfrm>
            <a:off x="4828031" y="5440680"/>
            <a:ext cx="6391655" cy="201168"/>
          </a:xfrm>
          <a:prstGeom prst="rect">
            <a:avLst/>
          </a:prstGeom>
          <a:noFill/>
        </p:spPr>
        <p:txBody>
          <a:bodyPr wrap="square" lIns="27432" tIns="18288" rIns="27432" bIns="18288">
            <a:spAutoFit/>
          </a:bodyPr>
          <a:lstStyle/>
          <a:p>
            <a:pPr algn="l">
              <a:defRPr sz="819" b="0">
                <a:solidFill>
                  <a:srgbClr val="6B7280"/>
                </a:solidFill>
                <a:latin typeface="Aptos"/>
              </a:defRPr>
            </a:pPr>
            <a:r>
              <a:t>Seguimiento vigente: D6, D7 y D8 dependen de aprobar línea base.</a:t>
            </a:r>
          </a:p>
        </p:txBody>
      </p:sp>
      <p:sp>
        <p:nvSpPr>
          <p:cNvPr id="31" name="TextBox 30"/>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Caso 3: Industria Bloquera — riesgos documentados sin matriz formal</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Ángel · Se respeta la evidencia disponible: ACTA-001, PLAN-001 y D5.</a:t>
            </a:r>
          </a:p>
        </p:txBody>
      </p:sp>
      <p:sp>
        <p:nvSpPr>
          <p:cNvPr id="6" name="Rounded Rectangle 5"/>
          <p:cNvSpPr/>
          <p:nvPr/>
        </p:nvSpPr>
        <p:spPr>
          <a:xfrm>
            <a:off x="594360" y="1188720"/>
            <a:ext cx="3291840" cy="237744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298448"/>
            <a:ext cx="1289304"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353312"/>
            <a:ext cx="1216151" cy="164592"/>
          </a:xfrm>
          <a:prstGeom prst="rect">
            <a:avLst/>
          </a:prstGeom>
          <a:noFill/>
        </p:spPr>
        <p:txBody>
          <a:bodyPr wrap="square" lIns="27432" tIns="18288" rIns="27432" bIns="18288">
            <a:spAutoFit/>
          </a:bodyPr>
          <a:lstStyle/>
          <a:p>
            <a:pPr algn="ctr">
              <a:defRPr sz="830" b="1">
                <a:solidFill>
                  <a:srgbClr val="FFFFFF"/>
                </a:solidFill>
                <a:latin typeface="Aptos"/>
              </a:defRPr>
            </a:pPr>
            <a:r>
              <a:t>ACTA-001</a:t>
            </a:r>
          </a:p>
        </p:txBody>
      </p:sp>
      <p:pic>
        <p:nvPicPr>
          <p:cNvPr id="9" name="Picture 8" descr="ACTA-001_Industria_Bloquera_Angel_Aprobacion_Registrada.png"/>
          <p:cNvPicPr>
            <a:picLocks noChangeAspect="1"/>
          </p:cNvPicPr>
          <p:nvPr/>
        </p:nvPicPr>
        <p:blipFill>
          <a:blip r:embed="rId2"/>
          <a:stretch>
            <a:fillRect/>
          </a:stretch>
        </p:blipFill>
        <p:spPr>
          <a:xfrm>
            <a:off x="1622020" y="1645920"/>
            <a:ext cx="1236518" cy="1600200"/>
          </a:xfrm>
          <a:prstGeom prst="rect">
            <a:avLst/>
          </a:prstGeom>
        </p:spPr>
      </p:pic>
      <p:sp>
        <p:nvSpPr>
          <p:cNvPr id="10" name="TextBox 9"/>
          <p:cNvSpPr txBox="1"/>
          <p:nvPr/>
        </p:nvSpPr>
        <p:spPr>
          <a:xfrm>
            <a:off x="758952" y="3246120"/>
            <a:ext cx="2962656" cy="201168"/>
          </a:xfrm>
          <a:prstGeom prst="rect">
            <a:avLst/>
          </a:prstGeom>
          <a:noFill/>
        </p:spPr>
        <p:txBody>
          <a:bodyPr wrap="square" lIns="27432" tIns="18288" rIns="27432" bIns="18288">
            <a:spAutoFit/>
          </a:bodyPr>
          <a:lstStyle/>
          <a:p>
            <a:pPr algn="l">
              <a:defRPr sz="819" b="0">
                <a:solidFill>
                  <a:srgbClr val="6B7280"/>
                </a:solidFill>
                <a:latin typeface="Aptos"/>
              </a:defRPr>
            </a:pPr>
            <a:r>
              <a:t>Alcance, responsabilidades y límites del proyecto.</a:t>
            </a:r>
          </a:p>
        </p:txBody>
      </p:sp>
      <p:sp>
        <p:nvSpPr>
          <p:cNvPr id="11" name="Rounded Rectangle 10"/>
          <p:cNvSpPr/>
          <p:nvPr/>
        </p:nvSpPr>
        <p:spPr>
          <a:xfrm>
            <a:off x="594360" y="3703320"/>
            <a:ext cx="3291840" cy="214884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31520" y="3813048"/>
            <a:ext cx="1289304"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3867911"/>
            <a:ext cx="1216151" cy="164592"/>
          </a:xfrm>
          <a:prstGeom prst="rect">
            <a:avLst/>
          </a:prstGeom>
          <a:noFill/>
        </p:spPr>
        <p:txBody>
          <a:bodyPr wrap="square" lIns="27432" tIns="18288" rIns="27432" bIns="18288">
            <a:spAutoFit/>
          </a:bodyPr>
          <a:lstStyle/>
          <a:p>
            <a:pPr algn="ctr">
              <a:defRPr sz="830" b="1">
                <a:solidFill>
                  <a:srgbClr val="FFFFFF"/>
                </a:solidFill>
                <a:latin typeface="Aptos"/>
              </a:defRPr>
            </a:pPr>
            <a:r>
              <a:t>PLAN-001</a:t>
            </a:r>
          </a:p>
        </p:txBody>
      </p:sp>
      <p:pic>
        <p:nvPicPr>
          <p:cNvPr id="14" name="Picture 13" descr="PLAN-001_Cronograma_Plan_Trabajo_Angel.png"/>
          <p:cNvPicPr>
            <a:picLocks noChangeAspect="1"/>
          </p:cNvPicPr>
          <p:nvPr/>
        </p:nvPicPr>
        <p:blipFill>
          <a:blip r:embed="rId3"/>
          <a:stretch>
            <a:fillRect/>
          </a:stretch>
        </p:blipFill>
        <p:spPr>
          <a:xfrm>
            <a:off x="1710343" y="4160520"/>
            <a:ext cx="1059872" cy="1371600"/>
          </a:xfrm>
          <a:prstGeom prst="rect">
            <a:avLst/>
          </a:prstGeom>
        </p:spPr>
      </p:pic>
      <p:sp>
        <p:nvSpPr>
          <p:cNvPr id="15" name="TextBox 14"/>
          <p:cNvSpPr txBox="1"/>
          <p:nvPr/>
        </p:nvSpPr>
        <p:spPr>
          <a:xfrm>
            <a:off x="758952" y="5532120"/>
            <a:ext cx="2962656" cy="201168"/>
          </a:xfrm>
          <a:prstGeom prst="rect">
            <a:avLst/>
          </a:prstGeom>
          <a:noFill/>
        </p:spPr>
        <p:txBody>
          <a:bodyPr wrap="square" lIns="27432" tIns="18288" rIns="27432" bIns="18288">
            <a:spAutoFit/>
          </a:bodyPr>
          <a:lstStyle/>
          <a:p>
            <a:pPr algn="l">
              <a:defRPr sz="819" b="0">
                <a:solidFill>
                  <a:srgbClr val="6B7280"/>
                </a:solidFill>
                <a:latin typeface="Aptos"/>
              </a:defRPr>
            </a:pPr>
            <a:r>
              <a:t>Cronograma y plan de trabajo vigente.</a:t>
            </a:r>
          </a:p>
        </p:txBody>
      </p:sp>
      <p:sp>
        <p:nvSpPr>
          <p:cNvPr id="16" name="Rounded Rectangle 15"/>
          <p:cNvSpPr/>
          <p:nvPr/>
        </p:nvSpPr>
        <p:spPr>
          <a:xfrm>
            <a:off x="4251960" y="1188720"/>
            <a:ext cx="7040880" cy="224028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60" y="1417320"/>
            <a:ext cx="2468880" cy="164592"/>
          </a:xfrm>
          <a:prstGeom prst="rect">
            <a:avLst/>
          </a:prstGeom>
          <a:noFill/>
        </p:spPr>
        <p:txBody>
          <a:bodyPr wrap="square" lIns="27432" tIns="18288" rIns="27432" bIns="18288">
            <a:spAutoFit/>
          </a:bodyPr>
          <a:lstStyle/>
          <a:p>
            <a:pPr algn="l">
              <a:defRPr sz="1300" b="1">
                <a:solidFill>
                  <a:srgbClr val="111827"/>
                </a:solidFill>
                <a:latin typeface="Aptos"/>
              </a:defRPr>
            </a:pPr>
            <a:r>
              <a:t>Riesgos reales observables</a:t>
            </a:r>
          </a:p>
        </p:txBody>
      </p:sp>
      <p:sp>
        <p:nvSpPr>
          <p:cNvPr id="18" name="Rectangle 17"/>
          <p:cNvSpPr/>
          <p:nvPr/>
        </p:nvSpPr>
        <p:spPr>
          <a:xfrm>
            <a:off x="4480560" y="1828800"/>
            <a:ext cx="6035040" cy="301752"/>
          </a:xfrm>
          <a:prstGeom prst="rect">
            <a:avLst/>
          </a:prstGeom>
          <a:solidFill>
            <a:srgbClr val="1E40A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35424" y="1920240"/>
            <a:ext cx="1719072" cy="91440"/>
          </a:xfrm>
          <a:prstGeom prst="rect">
            <a:avLst/>
          </a:prstGeom>
          <a:noFill/>
        </p:spPr>
        <p:txBody>
          <a:bodyPr wrap="square" lIns="27432" tIns="18288" rIns="27432" bIns="18288">
            <a:spAutoFit/>
          </a:bodyPr>
          <a:lstStyle/>
          <a:p>
            <a:pPr algn="l">
              <a:defRPr sz="780" b="1">
                <a:solidFill>
                  <a:srgbClr val="FFFFFF"/>
                </a:solidFill>
                <a:latin typeface="Aptos"/>
              </a:defRPr>
            </a:pPr>
            <a:r>
              <a:t>Riesgo / situación</a:t>
            </a:r>
          </a:p>
        </p:txBody>
      </p:sp>
      <p:sp>
        <p:nvSpPr>
          <p:cNvPr id="20" name="TextBox 19"/>
          <p:cNvSpPr txBox="1"/>
          <p:nvPr/>
        </p:nvSpPr>
        <p:spPr>
          <a:xfrm>
            <a:off x="6364224" y="1920240"/>
            <a:ext cx="1444752" cy="91440"/>
          </a:xfrm>
          <a:prstGeom prst="rect">
            <a:avLst/>
          </a:prstGeom>
          <a:noFill/>
        </p:spPr>
        <p:txBody>
          <a:bodyPr wrap="square" lIns="27432" tIns="18288" rIns="27432" bIns="18288">
            <a:spAutoFit/>
          </a:bodyPr>
          <a:lstStyle/>
          <a:p>
            <a:pPr algn="l">
              <a:defRPr sz="780" b="1">
                <a:solidFill>
                  <a:srgbClr val="FFFFFF"/>
                </a:solidFill>
                <a:latin typeface="Aptos"/>
              </a:defRPr>
            </a:pPr>
            <a:r>
              <a:t>Base documental</a:t>
            </a:r>
          </a:p>
        </p:txBody>
      </p:sp>
      <p:sp>
        <p:nvSpPr>
          <p:cNvPr id="21" name="TextBox 20"/>
          <p:cNvSpPr txBox="1"/>
          <p:nvPr/>
        </p:nvSpPr>
        <p:spPr>
          <a:xfrm>
            <a:off x="7918704" y="1920240"/>
            <a:ext cx="2542032" cy="91440"/>
          </a:xfrm>
          <a:prstGeom prst="rect">
            <a:avLst/>
          </a:prstGeom>
          <a:noFill/>
        </p:spPr>
        <p:txBody>
          <a:bodyPr wrap="square" lIns="27432" tIns="18288" rIns="27432" bIns="18288">
            <a:spAutoFit/>
          </a:bodyPr>
          <a:lstStyle/>
          <a:p>
            <a:pPr algn="l">
              <a:defRPr sz="780" b="1">
                <a:solidFill>
                  <a:srgbClr val="FFFFFF"/>
                </a:solidFill>
                <a:latin typeface="Aptos"/>
              </a:defRPr>
            </a:pPr>
            <a:r>
              <a:t>Respuesta</a:t>
            </a:r>
          </a:p>
        </p:txBody>
      </p:sp>
      <p:sp>
        <p:nvSpPr>
          <p:cNvPr id="22" name="Rectangle 21"/>
          <p:cNvSpPr/>
          <p:nvPr/>
        </p:nvSpPr>
        <p:spPr>
          <a:xfrm>
            <a:off x="4480560" y="2130552"/>
            <a:ext cx="6035040" cy="301752"/>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35424" y="2221992"/>
            <a:ext cx="1719072" cy="91440"/>
          </a:xfrm>
          <a:prstGeom prst="rect">
            <a:avLst/>
          </a:prstGeom>
          <a:noFill/>
        </p:spPr>
        <p:txBody>
          <a:bodyPr wrap="square" lIns="27432" tIns="18288" rIns="27432" bIns="18288">
            <a:spAutoFit/>
          </a:bodyPr>
          <a:lstStyle/>
          <a:p>
            <a:pPr algn="l">
              <a:defRPr sz="780" b="1">
                <a:solidFill>
                  <a:srgbClr val="374151"/>
                </a:solidFill>
                <a:latin typeface="Aptos"/>
              </a:defRPr>
            </a:pPr>
            <a:r>
              <a:t>Tiempo limitado</a:t>
            </a:r>
          </a:p>
        </p:txBody>
      </p:sp>
      <p:sp>
        <p:nvSpPr>
          <p:cNvPr id="24" name="TextBox 23"/>
          <p:cNvSpPr txBox="1"/>
          <p:nvPr/>
        </p:nvSpPr>
        <p:spPr>
          <a:xfrm>
            <a:off x="6364224" y="2221992"/>
            <a:ext cx="1444752" cy="91440"/>
          </a:xfrm>
          <a:prstGeom prst="rect">
            <a:avLst/>
          </a:prstGeom>
          <a:noFill/>
        </p:spPr>
        <p:txBody>
          <a:bodyPr wrap="square" lIns="27432" tIns="18288" rIns="27432" bIns="18288">
            <a:spAutoFit/>
          </a:bodyPr>
          <a:lstStyle/>
          <a:p>
            <a:pPr algn="l">
              <a:defRPr sz="780" b="0">
                <a:solidFill>
                  <a:srgbClr val="374151"/>
                </a:solidFill>
                <a:latin typeface="Aptos"/>
              </a:defRPr>
            </a:pPr>
            <a:r>
              <a:t>PLAN-001</a:t>
            </a:r>
          </a:p>
        </p:txBody>
      </p:sp>
      <p:sp>
        <p:nvSpPr>
          <p:cNvPr id="25" name="TextBox 24"/>
          <p:cNvSpPr txBox="1"/>
          <p:nvPr/>
        </p:nvSpPr>
        <p:spPr>
          <a:xfrm>
            <a:off x="7918704" y="2221992"/>
            <a:ext cx="2542032" cy="91440"/>
          </a:xfrm>
          <a:prstGeom prst="rect">
            <a:avLst/>
          </a:prstGeom>
          <a:noFill/>
        </p:spPr>
        <p:txBody>
          <a:bodyPr wrap="square" lIns="27432" tIns="18288" rIns="27432" bIns="18288">
            <a:spAutoFit/>
          </a:bodyPr>
          <a:lstStyle/>
          <a:p>
            <a:pPr algn="l">
              <a:defRPr sz="780" b="0">
                <a:solidFill>
                  <a:srgbClr val="374151"/>
                </a:solidFill>
                <a:latin typeface="Aptos"/>
              </a:defRPr>
            </a:pPr>
            <a:r>
              <a:t>Seguimiento diario</a:t>
            </a:r>
          </a:p>
        </p:txBody>
      </p:sp>
      <p:sp>
        <p:nvSpPr>
          <p:cNvPr id="26" name="Rectangle 25"/>
          <p:cNvSpPr/>
          <p:nvPr/>
        </p:nvSpPr>
        <p:spPr>
          <a:xfrm>
            <a:off x="4480560" y="2432304"/>
            <a:ext cx="6035040" cy="301752"/>
          </a:xfrm>
          <a:prstGeom prst="rect">
            <a:avLst/>
          </a:prstGeom>
          <a:solidFill>
            <a:srgbClr val="F3F4F6"/>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35424" y="2523744"/>
            <a:ext cx="1719072" cy="91440"/>
          </a:xfrm>
          <a:prstGeom prst="rect">
            <a:avLst/>
          </a:prstGeom>
          <a:noFill/>
        </p:spPr>
        <p:txBody>
          <a:bodyPr wrap="square" lIns="27432" tIns="18288" rIns="27432" bIns="18288">
            <a:spAutoFit/>
          </a:bodyPr>
          <a:lstStyle/>
          <a:p>
            <a:pPr algn="l">
              <a:defRPr sz="780" b="1">
                <a:solidFill>
                  <a:srgbClr val="374151"/>
                </a:solidFill>
                <a:latin typeface="Aptos"/>
              </a:defRPr>
            </a:pPr>
            <a:r>
              <a:t>Datos insuficientes</a:t>
            </a:r>
          </a:p>
        </p:txBody>
      </p:sp>
      <p:sp>
        <p:nvSpPr>
          <p:cNvPr id="28" name="TextBox 27"/>
          <p:cNvSpPr txBox="1"/>
          <p:nvPr/>
        </p:nvSpPr>
        <p:spPr>
          <a:xfrm>
            <a:off x="6364224" y="2523744"/>
            <a:ext cx="1444752" cy="91440"/>
          </a:xfrm>
          <a:prstGeom prst="rect">
            <a:avLst/>
          </a:prstGeom>
          <a:noFill/>
        </p:spPr>
        <p:txBody>
          <a:bodyPr wrap="square" lIns="27432" tIns="18288" rIns="27432" bIns="18288">
            <a:spAutoFit/>
          </a:bodyPr>
          <a:lstStyle/>
          <a:p>
            <a:pPr algn="l">
              <a:defRPr sz="780" b="0">
                <a:solidFill>
                  <a:srgbClr val="374151"/>
                </a:solidFill>
                <a:latin typeface="Aptos"/>
              </a:defRPr>
            </a:pPr>
            <a:r>
              <a:t>ACTA-001</a:t>
            </a:r>
          </a:p>
        </p:txBody>
      </p:sp>
      <p:sp>
        <p:nvSpPr>
          <p:cNvPr id="29" name="TextBox 28"/>
          <p:cNvSpPr txBox="1"/>
          <p:nvPr/>
        </p:nvSpPr>
        <p:spPr>
          <a:xfrm>
            <a:off x="7918704" y="2523744"/>
            <a:ext cx="2542032" cy="91440"/>
          </a:xfrm>
          <a:prstGeom prst="rect">
            <a:avLst/>
          </a:prstGeom>
          <a:noFill/>
        </p:spPr>
        <p:txBody>
          <a:bodyPr wrap="square" lIns="27432" tIns="18288" rIns="27432" bIns="18288">
            <a:spAutoFit/>
          </a:bodyPr>
          <a:lstStyle/>
          <a:p>
            <a:pPr algn="l">
              <a:defRPr sz="780" b="0">
                <a:solidFill>
                  <a:srgbClr val="374151"/>
                </a:solidFill>
                <a:latin typeface="Aptos"/>
              </a:defRPr>
            </a:pPr>
            <a:r>
              <a:t>Supuestos documentados</a:t>
            </a:r>
          </a:p>
        </p:txBody>
      </p:sp>
      <p:sp>
        <p:nvSpPr>
          <p:cNvPr id="30" name="Rectangle 29"/>
          <p:cNvSpPr/>
          <p:nvPr/>
        </p:nvSpPr>
        <p:spPr>
          <a:xfrm>
            <a:off x="4480560" y="2734056"/>
            <a:ext cx="6035040" cy="301752"/>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5424" y="2825496"/>
            <a:ext cx="1719072" cy="91440"/>
          </a:xfrm>
          <a:prstGeom prst="rect">
            <a:avLst/>
          </a:prstGeom>
          <a:noFill/>
        </p:spPr>
        <p:txBody>
          <a:bodyPr wrap="square" lIns="27432" tIns="18288" rIns="27432" bIns="18288">
            <a:spAutoFit/>
          </a:bodyPr>
          <a:lstStyle/>
          <a:p>
            <a:pPr algn="l">
              <a:defRPr sz="780" b="1">
                <a:solidFill>
                  <a:srgbClr val="374151"/>
                </a:solidFill>
                <a:latin typeface="Aptos"/>
              </a:defRPr>
            </a:pPr>
            <a:r>
              <a:t>Experimento en ambiente real</a:t>
            </a:r>
          </a:p>
        </p:txBody>
      </p:sp>
      <p:sp>
        <p:nvSpPr>
          <p:cNvPr id="32" name="TextBox 31"/>
          <p:cNvSpPr txBox="1"/>
          <p:nvPr/>
        </p:nvSpPr>
        <p:spPr>
          <a:xfrm>
            <a:off x="6364224" y="2825496"/>
            <a:ext cx="1444752" cy="91440"/>
          </a:xfrm>
          <a:prstGeom prst="rect">
            <a:avLst/>
          </a:prstGeom>
          <a:noFill/>
        </p:spPr>
        <p:txBody>
          <a:bodyPr wrap="square" lIns="27432" tIns="18288" rIns="27432" bIns="18288">
            <a:spAutoFit/>
          </a:bodyPr>
          <a:lstStyle/>
          <a:p>
            <a:pPr algn="l">
              <a:defRPr sz="780" b="0">
                <a:solidFill>
                  <a:srgbClr val="374151"/>
                </a:solidFill>
                <a:latin typeface="Aptos"/>
              </a:defRPr>
            </a:pPr>
            <a:r>
              <a:t>ACTA-001</a:t>
            </a:r>
          </a:p>
        </p:txBody>
      </p:sp>
      <p:sp>
        <p:nvSpPr>
          <p:cNvPr id="33" name="TextBox 32"/>
          <p:cNvSpPr txBox="1"/>
          <p:nvPr/>
        </p:nvSpPr>
        <p:spPr>
          <a:xfrm>
            <a:off x="7918704" y="2825496"/>
            <a:ext cx="2542032" cy="91440"/>
          </a:xfrm>
          <a:prstGeom prst="rect">
            <a:avLst/>
          </a:prstGeom>
          <a:noFill/>
        </p:spPr>
        <p:txBody>
          <a:bodyPr wrap="square" lIns="27432" tIns="18288" rIns="27432" bIns="18288">
            <a:spAutoFit/>
          </a:bodyPr>
          <a:lstStyle/>
          <a:p>
            <a:pPr algn="l">
              <a:defRPr sz="780" b="0">
                <a:solidFill>
                  <a:srgbClr val="374151"/>
                </a:solidFill>
                <a:latin typeface="Aptos"/>
              </a:defRPr>
            </a:pPr>
            <a:r>
              <a:t>Uso herramienta y control</a:t>
            </a:r>
          </a:p>
        </p:txBody>
      </p:sp>
      <p:sp>
        <p:nvSpPr>
          <p:cNvPr id="34" name="Rectangle 33"/>
          <p:cNvSpPr/>
          <p:nvPr/>
        </p:nvSpPr>
        <p:spPr>
          <a:xfrm>
            <a:off x="4480560" y="3035808"/>
            <a:ext cx="6035040" cy="301752"/>
          </a:xfrm>
          <a:prstGeom prst="rect">
            <a:avLst/>
          </a:prstGeom>
          <a:solidFill>
            <a:srgbClr val="F3F4F6"/>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35424" y="3127248"/>
            <a:ext cx="1719072" cy="91440"/>
          </a:xfrm>
          <a:prstGeom prst="rect">
            <a:avLst/>
          </a:prstGeom>
          <a:noFill/>
        </p:spPr>
        <p:txBody>
          <a:bodyPr wrap="square" lIns="27432" tIns="18288" rIns="27432" bIns="18288">
            <a:spAutoFit/>
          </a:bodyPr>
          <a:lstStyle/>
          <a:p>
            <a:pPr algn="l">
              <a:defRPr sz="780" b="1">
                <a:solidFill>
                  <a:srgbClr val="374151"/>
                </a:solidFill>
                <a:latin typeface="Aptos"/>
              </a:defRPr>
            </a:pPr>
            <a:r>
              <a:t>Cambio técnico del modelo</a:t>
            </a:r>
          </a:p>
        </p:txBody>
      </p:sp>
      <p:sp>
        <p:nvSpPr>
          <p:cNvPr id="36" name="TextBox 35"/>
          <p:cNvSpPr txBox="1"/>
          <p:nvPr/>
        </p:nvSpPr>
        <p:spPr>
          <a:xfrm>
            <a:off x="6364224" y="3127248"/>
            <a:ext cx="1444752" cy="91440"/>
          </a:xfrm>
          <a:prstGeom prst="rect">
            <a:avLst/>
          </a:prstGeom>
          <a:noFill/>
        </p:spPr>
        <p:txBody>
          <a:bodyPr wrap="square" lIns="27432" tIns="18288" rIns="27432" bIns="18288">
            <a:spAutoFit/>
          </a:bodyPr>
          <a:lstStyle/>
          <a:p>
            <a:pPr algn="l">
              <a:defRPr sz="780" b="0">
                <a:solidFill>
                  <a:srgbClr val="374151"/>
                </a:solidFill>
                <a:latin typeface="Aptos"/>
              </a:defRPr>
            </a:pPr>
            <a:r>
              <a:t>D5</a:t>
            </a:r>
          </a:p>
        </p:txBody>
      </p:sp>
      <p:sp>
        <p:nvSpPr>
          <p:cNvPr id="37" name="TextBox 36"/>
          <p:cNvSpPr txBox="1"/>
          <p:nvPr/>
        </p:nvSpPr>
        <p:spPr>
          <a:xfrm>
            <a:off x="7918704" y="3127248"/>
            <a:ext cx="2542032" cy="91440"/>
          </a:xfrm>
          <a:prstGeom prst="rect">
            <a:avLst/>
          </a:prstGeom>
          <a:noFill/>
        </p:spPr>
        <p:txBody>
          <a:bodyPr wrap="square" lIns="27432" tIns="18288" rIns="27432" bIns="18288">
            <a:spAutoFit/>
          </a:bodyPr>
          <a:lstStyle/>
          <a:p>
            <a:pPr algn="l">
              <a:defRPr sz="780" b="0">
                <a:solidFill>
                  <a:srgbClr val="374151"/>
                </a:solidFill>
                <a:latin typeface="Aptos"/>
              </a:defRPr>
            </a:pPr>
            <a:r>
              <a:t>Controlar alcance y validar</a:t>
            </a:r>
          </a:p>
        </p:txBody>
      </p:sp>
      <p:sp>
        <p:nvSpPr>
          <p:cNvPr id="41" name="TextBox 40"/>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Riesgos por proyecto y prioridad</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La tabla resume lo que sí aparece en los expedientes. Aarón y Alondra cuentan con RISK/VME/INC; Ángel se sustenta en acta, plan y evidencia técnica disponible.</a:t>
            </a:r>
          </a:p>
        </p:txBody>
      </p:sp>
      <p:sp>
        <p:nvSpPr>
          <p:cNvPr id="6" name="Rectangle 5"/>
          <p:cNvSpPr/>
          <p:nvPr/>
        </p:nvSpPr>
        <p:spPr>
          <a:xfrm>
            <a:off x="594360" y="1325880"/>
            <a:ext cx="10927080" cy="475488"/>
          </a:xfrm>
          <a:prstGeom prst="rect">
            <a:avLst/>
          </a:prstGeom>
          <a:solidFill>
            <a:srgbClr val="1E40AF"/>
          </a:solidFill>
          <a:ln w="1143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481328"/>
            <a:ext cx="1728216" cy="91440"/>
          </a:xfrm>
          <a:prstGeom prst="rect">
            <a:avLst/>
          </a:prstGeom>
          <a:noFill/>
        </p:spPr>
        <p:txBody>
          <a:bodyPr wrap="square" lIns="27432" tIns="18288" rIns="27432" bIns="18288">
            <a:spAutoFit/>
          </a:bodyPr>
          <a:lstStyle/>
          <a:p>
            <a:pPr algn="l">
              <a:defRPr sz="860" b="1">
                <a:solidFill>
                  <a:srgbClr val="FFFFFF"/>
                </a:solidFill>
                <a:latin typeface="Aptos"/>
              </a:defRPr>
            </a:pPr>
            <a:r>
              <a:t>Proyecto</a:t>
            </a:r>
          </a:p>
        </p:txBody>
      </p:sp>
      <p:sp>
        <p:nvSpPr>
          <p:cNvPr id="8" name="TextBox 7"/>
          <p:cNvSpPr txBox="1"/>
          <p:nvPr/>
        </p:nvSpPr>
        <p:spPr>
          <a:xfrm>
            <a:off x="2542032" y="1481328"/>
            <a:ext cx="2734056" cy="91440"/>
          </a:xfrm>
          <a:prstGeom prst="rect">
            <a:avLst/>
          </a:prstGeom>
          <a:noFill/>
        </p:spPr>
        <p:txBody>
          <a:bodyPr wrap="square" lIns="27432" tIns="18288" rIns="27432" bIns="18288">
            <a:spAutoFit/>
          </a:bodyPr>
          <a:lstStyle/>
          <a:p>
            <a:pPr algn="l">
              <a:defRPr sz="860" b="1">
                <a:solidFill>
                  <a:srgbClr val="FFFFFF"/>
                </a:solidFill>
                <a:latin typeface="Aptos"/>
              </a:defRPr>
            </a:pPr>
            <a:r>
              <a:t>Riesgo / incidencia</a:t>
            </a:r>
          </a:p>
        </p:txBody>
      </p:sp>
      <p:sp>
        <p:nvSpPr>
          <p:cNvPr id="9" name="TextBox 8"/>
          <p:cNvSpPr txBox="1"/>
          <p:nvPr/>
        </p:nvSpPr>
        <p:spPr>
          <a:xfrm>
            <a:off x="5422392" y="1481328"/>
            <a:ext cx="1453896" cy="91440"/>
          </a:xfrm>
          <a:prstGeom prst="rect">
            <a:avLst/>
          </a:prstGeom>
          <a:noFill/>
        </p:spPr>
        <p:txBody>
          <a:bodyPr wrap="square" lIns="27432" tIns="18288" rIns="27432" bIns="18288">
            <a:spAutoFit/>
          </a:bodyPr>
          <a:lstStyle/>
          <a:p>
            <a:pPr algn="l">
              <a:defRPr sz="860" b="1">
                <a:solidFill>
                  <a:srgbClr val="FFFFFF"/>
                </a:solidFill>
                <a:latin typeface="Aptos"/>
              </a:defRPr>
            </a:pPr>
            <a:r>
              <a:t>Tipo</a:t>
            </a:r>
          </a:p>
        </p:txBody>
      </p:sp>
      <p:sp>
        <p:nvSpPr>
          <p:cNvPr id="10" name="TextBox 9"/>
          <p:cNvSpPr txBox="1"/>
          <p:nvPr/>
        </p:nvSpPr>
        <p:spPr>
          <a:xfrm>
            <a:off x="7022592" y="1481328"/>
            <a:ext cx="1271016" cy="91440"/>
          </a:xfrm>
          <a:prstGeom prst="rect">
            <a:avLst/>
          </a:prstGeom>
          <a:noFill/>
        </p:spPr>
        <p:txBody>
          <a:bodyPr wrap="square" lIns="27432" tIns="18288" rIns="27432" bIns="18288">
            <a:spAutoFit/>
          </a:bodyPr>
          <a:lstStyle/>
          <a:p>
            <a:pPr algn="l">
              <a:defRPr sz="860" b="1">
                <a:solidFill>
                  <a:srgbClr val="FFFFFF"/>
                </a:solidFill>
                <a:latin typeface="Aptos"/>
              </a:defRPr>
            </a:pPr>
            <a:r>
              <a:t>Prioridad</a:t>
            </a:r>
          </a:p>
        </p:txBody>
      </p:sp>
      <p:sp>
        <p:nvSpPr>
          <p:cNvPr id="11" name="TextBox 10"/>
          <p:cNvSpPr txBox="1"/>
          <p:nvPr/>
        </p:nvSpPr>
        <p:spPr>
          <a:xfrm>
            <a:off x="8439912" y="1481328"/>
            <a:ext cx="3008376" cy="91440"/>
          </a:xfrm>
          <a:prstGeom prst="rect">
            <a:avLst/>
          </a:prstGeom>
          <a:noFill/>
        </p:spPr>
        <p:txBody>
          <a:bodyPr wrap="square" lIns="27432" tIns="18288" rIns="27432" bIns="18288">
            <a:spAutoFit/>
          </a:bodyPr>
          <a:lstStyle/>
          <a:p>
            <a:pPr algn="l">
              <a:defRPr sz="860" b="1">
                <a:solidFill>
                  <a:srgbClr val="FFFFFF"/>
                </a:solidFill>
                <a:latin typeface="Aptos"/>
              </a:defRPr>
            </a:pPr>
            <a:r>
              <a:t>Respuesta PM</a:t>
            </a:r>
          </a:p>
        </p:txBody>
      </p:sp>
      <p:sp>
        <p:nvSpPr>
          <p:cNvPr id="12" name="Rectangle 11"/>
          <p:cNvSpPr/>
          <p:nvPr/>
        </p:nvSpPr>
        <p:spPr>
          <a:xfrm>
            <a:off x="594360" y="1801368"/>
            <a:ext cx="10927080" cy="475488"/>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1920240"/>
            <a:ext cx="1728216" cy="164592"/>
          </a:xfrm>
          <a:prstGeom prst="rect">
            <a:avLst/>
          </a:prstGeom>
          <a:noFill/>
        </p:spPr>
        <p:txBody>
          <a:bodyPr wrap="square" lIns="27432" tIns="18288" rIns="27432" bIns="18288">
            <a:spAutoFit/>
          </a:bodyPr>
          <a:lstStyle/>
          <a:p>
            <a:pPr algn="l">
              <a:defRPr sz="819" b="1">
                <a:solidFill>
                  <a:srgbClr val="374151"/>
                </a:solidFill>
                <a:latin typeface="Aptos"/>
              </a:defRPr>
            </a:pPr>
            <a:r>
              <a:t>Fast Burger</a:t>
            </a:r>
          </a:p>
        </p:txBody>
      </p:sp>
      <p:sp>
        <p:nvSpPr>
          <p:cNvPr id="14" name="TextBox 13"/>
          <p:cNvSpPr txBox="1"/>
          <p:nvPr/>
        </p:nvSpPr>
        <p:spPr>
          <a:xfrm>
            <a:off x="2542032" y="1920240"/>
            <a:ext cx="2734056" cy="164592"/>
          </a:xfrm>
          <a:prstGeom prst="rect">
            <a:avLst/>
          </a:prstGeom>
          <a:noFill/>
        </p:spPr>
        <p:txBody>
          <a:bodyPr wrap="square" lIns="27432" tIns="18288" rIns="27432" bIns="18288">
            <a:spAutoFit/>
          </a:bodyPr>
          <a:lstStyle/>
          <a:p>
            <a:pPr algn="l">
              <a:defRPr sz="819" b="0">
                <a:solidFill>
                  <a:srgbClr val="374151"/>
                </a:solidFill>
                <a:latin typeface="Aptos"/>
              </a:defRPr>
            </a:pPr>
            <a:r>
              <a:t>Retraso de inicio</a:t>
            </a:r>
          </a:p>
        </p:txBody>
      </p:sp>
      <p:sp>
        <p:nvSpPr>
          <p:cNvPr id="15" name="TextBox 14"/>
          <p:cNvSpPr txBox="1"/>
          <p:nvPr/>
        </p:nvSpPr>
        <p:spPr>
          <a:xfrm>
            <a:off x="5422392" y="1920240"/>
            <a:ext cx="1453896" cy="164592"/>
          </a:xfrm>
          <a:prstGeom prst="rect">
            <a:avLst/>
          </a:prstGeom>
          <a:noFill/>
        </p:spPr>
        <p:txBody>
          <a:bodyPr wrap="square" lIns="27432" tIns="18288" rIns="27432" bIns="18288">
            <a:spAutoFit/>
          </a:bodyPr>
          <a:lstStyle/>
          <a:p>
            <a:pPr algn="l">
              <a:defRPr sz="819" b="0">
                <a:solidFill>
                  <a:srgbClr val="374151"/>
                </a:solidFill>
                <a:latin typeface="Aptos"/>
              </a:defRPr>
            </a:pPr>
            <a:r>
              <a:t>Incidencia</a:t>
            </a:r>
          </a:p>
        </p:txBody>
      </p:sp>
      <p:sp>
        <p:nvSpPr>
          <p:cNvPr id="16" name="TextBox 15"/>
          <p:cNvSpPr txBox="1"/>
          <p:nvPr/>
        </p:nvSpPr>
        <p:spPr>
          <a:xfrm>
            <a:off x="7022592" y="1920240"/>
            <a:ext cx="1271016" cy="164592"/>
          </a:xfrm>
          <a:prstGeom prst="rect">
            <a:avLst/>
          </a:prstGeom>
          <a:noFill/>
        </p:spPr>
        <p:txBody>
          <a:bodyPr wrap="square" lIns="27432" tIns="18288" rIns="27432" bIns="18288">
            <a:spAutoFit/>
          </a:bodyPr>
          <a:lstStyle/>
          <a:p>
            <a:pPr algn="l">
              <a:defRPr sz="819" b="1">
                <a:solidFill>
                  <a:srgbClr val="EF4444"/>
                </a:solidFill>
                <a:latin typeface="Aptos"/>
              </a:defRPr>
            </a:pPr>
            <a:r>
              <a:t>Crítica</a:t>
            </a:r>
          </a:p>
        </p:txBody>
      </p:sp>
      <p:sp>
        <p:nvSpPr>
          <p:cNvPr id="17" name="TextBox 16"/>
          <p:cNvSpPr txBox="1"/>
          <p:nvPr/>
        </p:nvSpPr>
        <p:spPr>
          <a:xfrm>
            <a:off x="8439912" y="1920240"/>
            <a:ext cx="3008376" cy="164592"/>
          </a:xfrm>
          <a:prstGeom prst="rect">
            <a:avLst/>
          </a:prstGeom>
          <a:noFill/>
        </p:spPr>
        <p:txBody>
          <a:bodyPr wrap="square" lIns="27432" tIns="18288" rIns="27432" bIns="18288">
            <a:spAutoFit/>
          </a:bodyPr>
          <a:lstStyle/>
          <a:p>
            <a:pPr algn="l">
              <a:defRPr sz="819" b="0">
                <a:solidFill>
                  <a:srgbClr val="374151"/>
                </a:solidFill>
                <a:latin typeface="Aptos"/>
              </a:defRPr>
            </a:pPr>
            <a:r>
              <a:t>PLAN-003 y seguimiento frecuente</a:t>
            </a:r>
          </a:p>
        </p:txBody>
      </p:sp>
      <p:sp>
        <p:nvSpPr>
          <p:cNvPr id="18" name="Rectangle 17"/>
          <p:cNvSpPr/>
          <p:nvPr/>
        </p:nvSpPr>
        <p:spPr>
          <a:xfrm>
            <a:off x="594360" y="2276856"/>
            <a:ext cx="10927080" cy="475488"/>
          </a:xfrm>
          <a:prstGeom prst="rect">
            <a:avLst/>
          </a:prstGeom>
          <a:solidFill>
            <a:srgbClr val="F3F4F6"/>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2395728"/>
            <a:ext cx="1728216" cy="164592"/>
          </a:xfrm>
          <a:prstGeom prst="rect">
            <a:avLst/>
          </a:prstGeom>
          <a:noFill/>
        </p:spPr>
        <p:txBody>
          <a:bodyPr wrap="square" lIns="27432" tIns="18288" rIns="27432" bIns="18288">
            <a:spAutoFit/>
          </a:bodyPr>
          <a:lstStyle/>
          <a:p>
            <a:pPr algn="l">
              <a:defRPr sz="819" b="1">
                <a:solidFill>
                  <a:srgbClr val="374151"/>
                </a:solidFill>
                <a:latin typeface="Aptos"/>
              </a:defRPr>
            </a:pPr>
            <a:r>
              <a:t>Fast Burger</a:t>
            </a:r>
          </a:p>
        </p:txBody>
      </p:sp>
      <p:sp>
        <p:nvSpPr>
          <p:cNvPr id="20" name="TextBox 19"/>
          <p:cNvSpPr txBox="1"/>
          <p:nvPr/>
        </p:nvSpPr>
        <p:spPr>
          <a:xfrm>
            <a:off x="2542032" y="2395728"/>
            <a:ext cx="2734056" cy="164592"/>
          </a:xfrm>
          <a:prstGeom prst="rect">
            <a:avLst/>
          </a:prstGeom>
          <a:noFill/>
        </p:spPr>
        <p:txBody>
          <a:bodyPr wrap="square" lIns="27432" tIns="18288" rIns="27432" bIns="18288">
            <a:spAutoFit/>
          </a:bodyPr>
          <a:lstStyle/>
          <a:p>
            <a:pPr algn="l">
              <a:defRPr sz="819" b="0">
                <a:solidFill>
                  <a:srgbClr val="374151"/>
                </a:solidFill>
                <a:latin typeface="Aptos"/>
              </a:defRPr>
            </a:pPr>
            <a:r>
              <a:t>D6-D7 con datos inconsistentes</a:t>
            </a:r>
          </a:p>
        </p:txBody>
      </p:sp>
      <p:sp>
        <p:nvSpPr>
          <p:cNvPr id="21" name="TextBox 20"/>
          <p:cNvSpPr txBox="1"/>
          <p:nvPr/>
        </p:nvSpPr>
        <p:spPr>
          <a:xfrm>
            <a:off x="5422392" y="2395728"/>
            <a:ext cx="1453896" cy="164592"/>
          </a:xfrm>
          <a:prstGeom prst="rect">
            <a:avLst/>
          </a:prstGeom>
          <a:noFill/>
        </p:spPr>
        <p:txBody>
          <a:bodyPr wrap="square" lIns="27432" tIns="18288" rIns="27432" bIns="18288">
            <a:spAutoFit/>
          </a:bodyPr>
          <a:lstStyle/>
          <a:p>
            <a:pPr algn="l">
              <a:defRPr sz="819" b="0">
                <a:solidFill>
                  <a:srgbClr val="374151"/>
                </a:solidFill>
                <a:latin typeface="Aptos"/>
              </a:defRPr>
            </a:pPr>
            <a:r>
              <a:t>Incidencia</a:t>
            </a:r>
          </a:p>
        </p:txBody>
      </p:sp>
      <p:sp>
        <p:nvSpPr>
          <p:cNvPr id="22" name="TextBox 21"/>
          <p:cNvSpPr txBox="1"/>
          <p:nvPr/>
        </p:nvSpPr>
        <p:spPr>
          <a:xfrm>
            <a:off x="7022592" y="2395728"/>
            <a:ext cx="1271016" cy="164592"/>
          </a:xfrm>
          <a:prstGeom prst="rect">
            <a:avLst/>
          </a:prstGeom>
          <a:noFill/>
        </p:spPr>
        <p:txBody>
          <a:bodyPr wrap="square" lIns="27432" tIns="18288" rIns="27432" bIns="18288">
            <a:spAutoFit/>
          </a:bodyPr>
          <a:lstStyle/>
          <a:p>
            <a:pPr algn="l">
              <a:defRPr sz="819" b="1">
                <a:solidFill>
                  <a:srgbClr val="F59E0B"/>
                </a:solidFill>
                <a:latin typeface="Aptos"/>
              </a:defRPr>
            </a:pPr>
            <a:r>
              <a:t>Alta</a:t>
            </a:r>
          </a:p>
        </p:txBody>
      </p:sp>
      <p:sp>
        <p:nvSpPr>
          <p:cNvPr id="23" name="TextBox 22"/>
          <p:cNvSpPr txBox="1"/>
          <p:nvPr/>
        </p:nvSpPr>
        <p:spPr>
          <a:xfrm>
            <a:off x="8439912" y="2395728"/>
            <a:ext cx="3008376" cy="164592"/>
          </a:xfrm>
          <a:prstGeom prst="rect">
            <a:avLst/>
          </a:prstGeom>
          <a:noFill/>
        </p:spPr>
        <p:txBody>
          <a:bodyPr wrap="square" lIns="27432" tIns="18288" rIns="27432" bIns="18288">
            <a:spAutoFit/>
          </a:bodyPr>
          <a:lstStyle/>
          <a:p>
            <a:pPr algn="l">
              <a:defRPr sz="819" b="0">
                <a:solidFill>
                  <a:srgbClr val="374151"/>
                </a:solidFill>
                <a:latin typeface="Aptos"/>
              </a:defRPr>
            </a:pPr>
            <a:r>
              <a:t>Corrección y nueva validación</a:t>
            </a:r>
          </a:p>
        </p:txBody>
      </p:sp>
      <p:sp>
        <p:nvSpPr>
          <p:cNvPr id="24" name="Rectangle 23"/>
          <p:cNvSpPr/>
          <p:nvPr/>
        </p:nvSpPr>
        <p:spPr>
          <a:xfrm>
            <a:off x="594360" y="2752344"/>
            <a:ext cx="10927080" cy="475488"/>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2871215"/>
            <a:ext cx="1728216" cy="164592"/>
          </a:xfrm>
          <a:prstGeom prst="rect">
            <a:avLst/>
          </a:prstGeom>
          <a:noFill/>
        </p:spPr>
        <p:txBody>
          <a:bodyPr wrap="square" lIns="27432" tIns="18288" rIns="27432" bIns="18288">
            <a:spAutoFit/>
          </a:bodyPr>
          <a:lstStyle/>
          <a:p>
            <a:pPr algn="l">
              <a:defRPr sz="819" b="1">
                <a:solidFill>
                  <a:srgbClr val="374151"/>
                </a:solidFill>
                <a:latin typeface="Aptos"/>
              </a:defRPr>
            </a:pPr>
            <a:r>
              <a:t>ProcesMuebles</a:t>
            </a:r>
          </a:p>
        </p:txBody>
      </p:sp>
      <p:sp>
        <p:nvSpPr>
          <p:cNvPr id="26" name="TextBox 25"/>
          <p:cNvSpPr txBox="1"/>
          <p:nvPr/>
        </p:nvSpPr>
        <p:spPr>
          <a:xfrm>
            <a:off x="2542032" y="2871215"/>
            <a:ext cx="2734056" cy="164592"/>
          </a:xfrm>
          <a:prstGeom prst="rect">
            <a:avLst/>
          </a:prstGeom>
          <a:noFill/>
        </p:spPr>
        <p:txBody>
          <a:bodyPr wrap="square" lIns="27432" tIns="18288" rIns="27432" bIns="18288">
            <a:spAutoFit/>
          </a:bodyPr>
          <a:lstStyle/>
          <a:p>
            <a:pPr algn="l">
              <a:defRPr sz="819" b="0">
                <a:solidFill>
                  <a:srgbClr val="374151"/>
                </a:solidFill>
                <a:latin typeface="Aptos"/>
              </a:defRPr>
            </a:pPr>
            <a:r>
              <a:t>Retraso del plan original</a:t>
            </a:r>
          </a:p>
        </p:txBody>
      </p:sp>
      <p:sp>
        <p:nvSpPr>
          <p:cNvPr id="27" name="TextBox 26"/>
          <p:cNvSpPr txBox="1"/>
          <p:nvPr/>
        </p:nvSpPr>
        <p:spPr>
          <a:xfrm>
            <a:off x="5422392" y="2871215"/>
            <a:ext cx="1453896" cy="164592"/>
          </a:xfrm>
          <a:prstGeom prst="rect">
            <a:avLst/>
          </a:prstGeom>
          <a:noFill/>
        </p:spPr>
        <p:txBody>
          <a:bodyPr wrap="square" lIns="27432" tIns="18288" rIns="27432" bIns="18288">
            <a:spAutoFit/>
          </a:bodyPr>
          <a:lstStyle/>
          <a:p>
            <a:pPr algn="l">
              <a:defRPr sz="819" b="0">
                <a:solidFill>
                  <a:srgbClr val="374151"/>
                </a:solidFill>
                <a:latin typeface="Aptos"/>
              </a:defRPr>
            </a:pPr>
            <a:r>
              <a:t>Incidencia</a:t>
            </a:r>
          </a:p>
        </p:txBody>
      </p:sp>
      <p:sp>
        <p:nvSpPr>
          <p:cNvPr id="28" name="TextBox 27"/>
          <p:cNvSpPr txBox="1"/>
          <p:nvPr/>
        </p:nvSpPr>
        <p:spPr>
          <a:xfrm>
            <a:off x="7022592" y="2871215"/>
            <a:ext cx="1271016" cy="164592"/>
          </a:xfrm>
          <a:prstGeom prst="rect">
            <a:avLst/>
          </a:prstGeom>
          <a:noFill/>
        </p:spPr>
        <p:txBody>
          <a:bodyPr wrap="square" lIns="27432" tIns="18288" rIns="27432" bIns="18288">
            <a:spAutoFit/>
          </a:bodyPr>
          <a:lstStyle/>
          <a:p>
            <a:pPr algn="l">
              <a:defRPr sz="819" b="1">
                <a:solidFill>
                  <a:srgbClr val="EF4444"/>
                </a:solidFill>
                <a:latin typeface="Aptos"/>
              </a:defRPr>
            </a:pPr>
            <a:r>
              <a:t>Crítica</a:t>
            </a:r>
          </a:p>
        </p:txBody>
      </p:sp>
      <p:sp>
        <p:nvSpPr>
          <p:cNvPr id="29" name="TextBox 28"/>
          <p:cNvSpPr txBox="1"/>
          <p:nvPr/>
        </p:nvSpPr>
        <p:spPr>
          <a:xfrm>
            <a:off x="8439912" y="2871215"/>
            <a:ext cx="3008376" cy="164592"/>
          </a:xfrm>
          <a:prstGeom prst="rect">
            <a:avLst/>
          </a:prstGeom>
          <a:noFill/>
        </p:spPr>
        <p:txBody>
          <a:bodyPr wrap="square" lIns="27432" tIns="18288" rIns="27432" bIns="18288">
            <a:spAutoFit/>
          </a:bodyPr>
          <a:lstStyle/>
          <a:p>
            <a:pPr algn="l">
              <a:defRPr sz="819" b="0">
                <a:solidFill>
                  <a:srgbClr val="374151"/>
                </a:solidFill>
                <a:latin typeface="Aptos"/>
              </a:defRPr>
            </a:pPr>
            <a:r>
              <a:t>PLAN-002 v2</a:t>
            </a:r>
          </a:p>
        </p:txBody>
      </p:sp>
      <p:sp>
        <p:nvSpPr>
          <p:cNvPr id="30" name="Rectangle 29"/>
          <p:cNvSpPr/>
          <p:nvPr/>
        </p:nvSpPr>
        <p:spPr>
          <a:xfrm>
            <a:off x="594360" y="3227832"/>
            <a:ext cx="10927080" cy="475488"/>
          </a:xfrm>
          <a:prstGeom prst="rect">
            <a:avLst/>
          </a:prstGeom>
          <a:solidFill>
            <a:srgbClr val="F3F4F6"/>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7512" y="3346704"/>
            <a:ext cx="1728216" cy="164592"/>
          </a:xfrm>
          <a:prstGeom prst="rect">
            <a:avLst/>
          </a:prstGeom>
          <a:noFill/>
        </p:spPr>
        <p:txBody>
          <a:bodyPr wrap="square" lIns="27432" tIns="18288" rIns="27432" bIns="18288">
            <a:spAutoFit/>
          </a:bodyPr>
          <a:lstStyle/>
          <a:p>
            <a:pPr algn="l">
              <a:defRPr sz="819" b="1">
                <a:solidFill>
                  <a:srgbClr val="374151"/>
                </a:solidFill>
                <a:latin typeface="Aptos"/>
              </a:defRPr>
            </a:pPr>
            <a:r>
              <a:t>ProcesMuebles</a:t>
            </a:r>
          </a:p>
        </p:txBody>
      </p:sp>
      <p:sp>
        <p:nvSpPr>
          <p:cNvPr id="32" name="TextBox 31"/>
          <p:cNvSpPr txBox="1"/>
          <p:nvPr/>
        </p:nvSpPr>
        <p:spPr>
          <a:xfrm>
            <a:off x="2542032" y="3346704"/>
            <a:ext cx="2734056" cy="164592"/>
          </a:xfrm>
          <a:prstGeom prst="rect">
            <a:avLst/>
          </a:prstGeom>
          <a:noFill/>
        </p:spPr>
        <p:txBody>
          <a:bodyPr wrap="square" lIns="27432" tIns="18288" rIns="27432" bIns="18288">
            <a:spAutoFit/>
          </a:bodyPr>
          <a:lstStyle/>
          <a:p>
            <a:pPr algn="l">
              <a:defRPr sz="819" b="0">
                <a:solidFill>
                  <a:srgbClr val="374151"/>
                </a:solidFill>
                <a:latin typeface="Aptos"/>
              </a:defRPr>
            </a:pPr>
            <a:r>
              <a:t>Parámetros/BPMN inconsistentes</a:t>
            </a:r>
          </a:p>
        </p:txBody>
      </p:sp>
      <p:sp>
        <p:nvSpPr>
          <p:cNvPr id="33" name="TextBox 32"/>
          <p:cNvSpPr txBox="1"/>
          <p:nvPr/>
        </p:nvSpPr>
        <p:spPr>
          <a:xfrm>
            <a:off x="5422392" y="3346704"/>
            <a:ext cx="1453896" cy="164592"/>
          </a:xfrm>
          <a:prstGeom prst="rect">
            <a:avLst/>
          </a:prstGeom>
          <a:noFill/>
        </p:spPr>
        <p:txBody>
          <a:bodyPr wrap="square" lIns="27432" tIns="18288" rIns="27432" bIns="18288">
            <a:spAutoFit/>
          </a:bodyPr>
          <a:lstStyle/>
          <a:p>
            <a:pPr algn="l">
              <a:defRPr sz="819" b="0">
                <a:solidFill>
                  <a:srgbClr val="374151"/>
                </a:solidFill>
                <a:latin typeface="Aptos"/>
              </a:defRPr>
            </a:pPr>
            <a:r>
              <a:t>Riesgo técnico</a:t>
            </a:r>
          </a:p>
        </p:txBody>
      </p:sp>
      <p:sp>
        <p:nvSpPr>
          <p:cNvPr id="34" name="TextBox 33"/>
          <p:cNvSpPr txBox="1"/>
          <p:nvPr/>
        </p:nvSpPr>
        <p:spPr>
          <a:xfrm>
            <a:off x="7022592" y="3346704"/>
            <a:ext cx="1271016" cy="164592"/>
          </a:xfrm>
          <a:prstGeom prst="rect">
            <a:avLst/>
          </a:prstGeom>
          <a:noFill/>
        </p:spPr>
        <p:txBody>
          <a:bodyPr wrap="square" lIns="27432" tIns="18288" rIns="27432" bIns="18288">
            <a:spAutoFit/>
          </a:bodyPr>
          <a:lstStyle/>
          <a:p>
            <a:pPr algn="l">
              <a:defRPr sz="819" b="1">
                <a:solidFill>
                  <a:srgbClr val="EF4444"/>
                </a:solidFill>
                <a:latin typeface="Aptos"/>
              </a:defRPr>
            </a:pPr>
            <a:r>
              <a:t>Crítica</a:t>
            </a:r>
          </a:p>
        </p:txBody>
      </p:sp>
      <p:sp>
        <p:nvSpPr>
          <p:cNvPr id="35" name="TextBox 34"/>
          <p:cNvSpPr txBox="1"/>
          <p:nvPr/>
        </p:nvSpPr>
        <p:spPr>
          <a:xfrm>
            <a:off x="8439912" y="3346704"/>
            <a:ext cx="3008376" cy="164592"/>
          </a:xfrm>
          <a:prstGeom prst="rect">
            <a:avLst/>
          </a:prstGeom>
          <a:noFill/>
        </p:spPr>
        <p:txBody>
          <a:bodyPr wrap="square" lIns="27432" tIns="18288" rIns="27432" bIns="18288">
            <a:spAutoFit/>
          </a:bodyPr>
          <a:lstStyle/>
          <a:p>
            <a:pPr algn="l">
              <a:defRPr sz="819" b="0">
                <a:solidFill>
                  <a:srgbClr val="374151"/>
                </a:solidFill>
                <a:latin typeface="Aptos"/>
              </a:defRPr>
            </a:pPr>
            <a:r>
              <a:t>Reabrir D5 y corregir D2-D5</a:t>
            </a:r>
          </a:p>
        </p:txBody>
      </p:sp>
      <p:sp>
        <p:nvSpPr>
          <p:cNvPr id="36" name="Rectangle 35"/>
          <p:cNvSpPr/>
          <p:nvPr/>
        </p:nvSpPr>
        <p:spPr>
          <a:xfrm>
            <a:off x="594360" y="3703320"/>
            <a:ext cx="10927080" cy="475488"/>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7512" y="3822191"/>
            <a:ext cx="1728216" cy="164592"/>
          </a:xfrm>
          <a:prstGeom prst="rect">
            <a:avLst/>
          </a:prstGeom>
          <a:noFill/>
        </p:spPr>
        <p:txBody>
          <a:bodyPr wrap="square" lIns="27432" tIns="18288" rIns="27432" bIns="18288">
            <a:spAutoFit/>
          </a:bodyPr>
          <a:lstStyle/>
          <a:p>
            <a:pPr algn="l">
              <a:defRPr sz="819" b="1">
                <a:solidFill>
                  <a:srgbClr val="374151"/>
                </a:solidFill>
                <a:latin typeface="Aptos"/>
              </a:defRPr>
            </a:pPr>
            <a:r>
              <a:t>Industria Bloquera</a:t>
            </a:r>
          </a:p>
        </p:txBody>
      </p:sp>
      <p:sp>
        <p:nvSpPr>
          <p:cNvPr id="38" name="TextBox 37"/>
          <p:cNvSpPr txBox="1"/>
          <p:nvPr/>
        </p:nvSpPr>
        <p:spPr>
          <a:xfrm>
            <a:off x="2542032" y="3822191"/>
            <a:ext cx="2734056" cy="164592"/>
          </a:xfrm>
          <a:prstGeom prst="rect">
            <a:avLst/>
          </a:prstGeom>
          <a:noFill/>
        </p:spPr>
        <p:txBody>
          <a:bodyPr wrap="square" lIns="27432" tIns="18288" rIns="27432" bIns="18288">
            <a:spAutoFit/>
          </a:bodyPr>
          <a:lstStyle/>
          <a:p>
            <a:pPr algn="l">
              <a:defRPr sz="819" b="0">
                <a:solidFill>
                  <a:srgbClr val="374151"/>
                </a:solidFill>
                <a:latin typeface="Aptos"/>
              </a:defRPr>
            </a:pPr>
            <a:r>
              <a:t>Tiempo y datos limitados</a:t>
            </a:r>
          </a:p>
        </p:txBody>
      </p:sp>
      <p:sp>
        <p:nvSpPr>
          <p:cNvPr id="39" name="TextBox 38"/>
          <p:cNvSpPr txBox="1"/>
          <p:nvPr/>
        </p:nvSpPr>
        <p:spPr>
          <a:xfrm>
            <a:off x="5422392" y="3822191"/>
            <a:ext cx="1453896" cy="164592"/>
          </a:xfrm>
          <a:prstGeom prst="rect">
            <a:avLst/>
          </a:prstGeom>
          <a:noFill/>
        </p:spPr>
        <p:txBody>
          <a:bodyPr wrap="square" lIns="27432" tIns="18288" rIns="27432" bIns="18288">
            <a:spAutoFit/>
          </a:bodyPr>
          <a:lstStyle/>
          <a:p>
            <a:pPr algn="l">
              <a:defRPr sz="819" b="0">
                <a:solidFill>
                  <a:srgbClr val="374151"/>
                </a:solidFill>
                <a:latin typeface="Aptos"/>
              </a:defRPr>
            </a:pPr>
            <a:r>
              <a:t>Riesgo inicial</a:t>
            </a:r>
          </a:p>
        </p:txBody>
      </p:sp>
      <p:sp>
        <p:nvSpPr>
          <p:cNvPr id="40" name="TextBox 39"/>
          <p:cNvSpPr txBox="1"/>
          <p:nvPr/>
        </p:nvSpPr>
        <p:spPr>
          <a:xfrm>
            <a:off x="7022592" y="3822191"/>
            <a:ext cx="1271016" cy="164592"/>
          </a:xfrm>
          <a:prstGeom prst="rect">
            <a:avLst/>
          </a:prstGeom>
          <a:noFill/>
        </p:spPr>
        <p:txBody>
          <a:bodyPr wrap="square" lIns="27432" tIns="18288" rIns="27432" bIns="18288">
            <a:spAutoFit/>
          </a:bodyPr>
          <a:lstStyle/>
          <a:p>
            <a:pPr algn="l">
              <a:defRPr sz="819" b="1">
                <a:solidFill>
                  <a:srgbClr val="F59E0B"/>
                </a:solidFill>
                <a:latin typeface="Aptos"/>
              </a:defRPr>
            </a:pPr>
            <a:r>
              <a:t>Alta</a:t>
            </a:r>
          </a:p>
        </p:txBody>
      </p:sp>
      <p:sp>
        <p:nvSpPr>
          <p:cNvPr id="41" name="TextBox 40"/>
          <p:cNvSpPr txBox="1"/>
          <p:nvPr/>
        </p:nvSpPr>
        <p:spPr>
          <a:xfrm>
            <a:off x="8439912" y="3822191"/>
            <a:ext cx="3008376" cy="164592"/>
          </a:xfrm>
          <a:prstGeom prst="rect">
            <a:avLst/>
          </a:prstGeom>
          <a:noFill/>
        </p:spPr>
        <p:txBody>
          <a:bodyPr wrap="square" lIns="27432" tIns="18288" rIns="27432" bIns="18288">
            <a:spAutoFit/>
          </a:bodyPr>
          <a:lstStyle/>
          <a:p>
            <a:pPr algn="l">
              <a:defRPr sz="819" b="0">
                <a:solidFill>
                  <a:srgbClr val="374151"/>
                </a:solidFill>
                <a:latin typeface="Aptos"/>
              </a:defRPr>
            </a:pPr>
            <a:r>
              <a:t>Priorizar alcance aprobado</a:t>
            </a:r>
          </a:p>
        </p:txBody>
      </p:sp>
      <p:sp>
        <p:nvSpPr>
          <p:cNvPr id="42" name="Rectangle 41"/>
          <p:cNvSpPr/>
          <p:nvPr/>
        </p:nvSpPr>
        <p:spPr>
          <a:xfrm>
            <a:off x="594360" y="4178808"/>
            <a:ext cx="10927080" cy="475488"/>
          </a:xfrm>
          <a:prstGeom prst="rect">
            <a:avLst/>
          </a:prstGeom>
          <a:solidFill>
            <a:srgbClr val="F3F4F6"/>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7512" y="4297680"/>
            <a:ext cx="1728216" cy="164592"/>
          </a:xfrm>
          <a:prstGeom prst="rect">
            <a:avLst/>
          </a:prstGeom>
          <a:noFill/>
        </p:spPr>
        <p:txBody>
          <a:bodyPr wrap="square" lIns="27432" tIns="18288" rIns="27432" bIns="18288">
            <a:spAutoFit/>
          </a:bodyPr>
          <a:lstStyle/>
          <a:p>
            <a:pPr algn="l">
              <a:defRPr sz="819" b="1">
                <a:solidFill>
                  <a:srgbClr val="374151"/>
                </a:solidFill>
                <a:latin typeface="Aptos"/>
              </a:defRPr>
            </a:pPr>
            <a:r>
              <a:t>Industria Bloquera</a:t>
            </a:r>
          </a:p>
        </p:txBody>
      </p:sp>
      <p:sp>
        <p:nvSpPr>
          <p:cNvPr id="44" name="TextBox 43"/>
          <p:cNvSpPr txBox="1"/>
          <p:nvPr/>
        </p:nvSpPr>
        <p:spPr>
          <a:xfrm>
            <a:off x="2542032" y="4297680"/>
            <a:ext cx="2734056" cy="164592"/>
          </a:xfrm>
          <a:prstGeom prst="rect">
            <a:avLst/>
          </a:prstGeom>
          <a:noFill/>
        </p:spPr>
        <p:txBody>
          <a:bodyPr wrap="square" lIns="27432" tIns="18288" rIns="27432" bIns="18288">
            <a:spAutoFit/>
          </a:bodyPr>
          <a:lstStyle/>
          <a:p>
            <a:pPr algn="l">
              <a:defRPr sz="819" b="0">
                <a:solidFill>
                  <a:srgbClr val="374151"/>
                </a:solidFill>
                <a:latin typeface="Aptos"/>
              </a:defRPr>
            </a:pPr>
            <a:r>
              <a:t>Ajuste de herramienta/modelo</a:t>
            </a:r>
          </a:p>
        </p:txBody>
      </p:sp>
      <p:sp>
        <p:nvSpPr>
          <p:cNvPr id="45" name="TextBox 44"/>
          <p:cNvSpPr txBox="1"/>
          <p:nvPr/>
        </p:nvSpPr>
        <p:spPr>
          <a:xfrm>
            <a:off x="5422392" y="4297680"/>
            <a:ext cx="1453896" cy="164592"/>
          </a:xfrm>
          <a:prstGeom prst="rect">
            <a:avLst/>
          </a:prstGeom>
          <a:noFill/>
        </p:spPr>
        <p:txBody>
          <a:bodyPr wrap="square" lIns="27432" tIns="18288" rIns="27432" bIns="18288">
            <a:spAutoFit/>
          </a:bodyPr>
          <a:lstStyle/>
          <a:p>
            <a:pPr algn="l">
              <a:defRPr sz="819" b="0">
                <a:solidFill>
                  <a:srgbClr val="374151"/>
                </a:solidFill>
                <a:latin typeface="Aptos"/>
              </a:defRPr>
            </a:pPr>
            <a:r>
              <a:t>Riesgo de alcance</a:t>
            </a:r>
          </a:p>
        </p:txBody>
      </p:sp>
      <p:sp>
        <p:nvSpPr>
          <p:cNvPr id="46" name="TextBox 45"/>
          <p:cNvSpPr txBox="1"/>
          <p:nvPr/>
        </p:nvSpPr>
        <p:spPr>
          <a:xfrm>
            <a:off x="7022592" y="4297680"/>
            <a:ext cx="1271016" cy="164592"/>
          </a:xfrm>
          <a:prstGeom prst="rect">
            <a:avLst/>
          </a:prstGeom>
          <a:noFill/>
        </p:spPr>
        <p:txBody>
          <a:bodyPr wrap="square" lIns="27432" tIns="18288" rIns="27432" bIns="18288">
            <a:spAutoFit/>
          </a:bodyPr>
          <a:lstStyle/>
          <a:p>
            <a:pPr algn="l">
              <a:defRPr sz="819" b="1">
                <a:solidFill>
                  <a:srgbClr val="374151"/>
                </a:solidFill>
                <a:latin typeface="Aptos"/>
              </a:defRPr>
            </a:pPr>
            <a:r>
              <a:t>Media</a:t>
            </a:r>
          </a:p>
        </p:txBody>
      </p:sp>
      <p:sp>
        <p:nvSpPr>
          <p:cNvPr id="47" name="TextBox 46"/>
          <p:cNvSpPr txBox="1"/>
          <p:nvPr/>
        </p:nvSpPr>
        <p:spPr>
          <a:xfrm>
            <a:off x="8439912" y="4297680"/>
            <a:ext cx="3008376" cy="164592"/>
          </a:xfrm>
          <a:prstGeom prst="rect">
            <a:avLst/>
          </a:prstGeom>
          <a:noFill/>
        </p:spPr>
        <p:txBody>
          <a:bodyPr wrap="square" lIns="27432" tIns="18288" rIns="27432" bIns="18288">
            <a:spAutoFit/>
          </a:bodyPr>
          <a:lstStyle/>
          <a:p>
            <a:pPr algn="l">
              <a:defRPr sz="819" b="0">
                <a:solidFill>
                  <a:srgbClr val="374151"/>
                </a:solidFill>
                <a:latin typeface="Aptos"/>
              </a:defRPr>
            </a:pPr>
            <a:r>
              <a:t>Controlar cambios y evidencia</a:t>
            </a:r>
          </a:p>
        </p:txBody>
      </p:sp>
      <p:sp>
        <p:nvSpPr>
          <p:cNvPr id="49" name="TextBox 48"/>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Acciones preventivas, correctivas y responsables</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Responder al riesgo exige elegir acción y responsable.</a:t>
            </a:r>
          </a:p>
        </p:txBody>
      </p:sp>
      <p:sp>
        <p:nvSpPr>
          <p:cNvPr id="6" name="Rounded Rectangle 5"/>
          <p:cNvSpPr/>
          <p:nvPr/>
        </p:nvSpPr>
        <p:spPr>
          <a:xfrm>
            <a:off x="777240" y="1325880"/>
            <a:ext cx="4892040" cy="777240"/>
          </a:xfrm>
          <a:prstGeom prst="roundRect">
            <a:avLst/>
          </a:prstGeom>
          <a:solidFill>
            <a:srgbClr val="DBEAFE"/>
          </a:solidFill>
          <a:ln w="1143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472184"/>
            <a:ext cx="1005840" cy="164592"/>
          </a:xfrm>
          <a:prstGeom prst="rect">
            <a:avLst/>
          </a:prstGeom>
          <a:noFill/>
        </p:spPr>
        <p:txBody>
          <a:bodyPr wrap="square" lIns="27432" tIns="18288" rIns="27432" bIns="18288">
            <a:spAutoFit/>
          </a:bodyPr>
          <a:lstStyle/>
          <a:p>
            <a:pPr algn="l">
              <a:defRPr sz="1250" b="1">
                <a:solidFill>
                  <a:srgbClr val="2563EB"/>
                </a:solidFill>
                <a:latin typeface="Aptos"/>
              </a:defRPr>
            </a:pPr>
            <a:r>
              <a:t>Evitar</a:t>
            </a:r>
          </a:p>
        </p:txBody>
      </p:sp>
      <p:sp>
        <p:nvSpPr>
          <p:cNvPr id="8" name="TextBox 7"/>
          <p:cNvSpPr txBox="1"/>
          <p:nvPr/>
        </p:nvSpPr>
        <p:spPr>
          <a:xfrm>
            <a:off x="2148840" y="1463039"/>
            <a:ext cx="3291840" cy="256032"/>
          </a:xfrm>
          <a:prstGeom prst="rect">
            <a:avLst/>
          </a:prstGeom>
          <a:noFill/>
        </p:spPr>
        <p:txBody>
          <a:bodyPr wrap="square" lIns="27432" tIns="18288" rIns="27432" bIns="18288">
            <a:spAutoFit/>
          </a:bodyPr>
          <a:lstStyle/>
          <a:p>
            <a:pPr algn="l">
              <a:defRPr sz="940" b="0">
                <a:solidFill>
                  <a:srgbClr val="374151"/>
                </a:solidFill>
                <a:latin typeface="Aptos"/>
              </a:defRPr>
            </a:pPr>
            <a:r>
              <a:t>No ampliar el alcance ni usar herramientas innecesarias.</a:t>
            </a:r>
          </a:p>
        </p:txBody>
      </p:sp>
      <p:sp>
        <p:nvSpPr>
          <p:cNvPr id="9" name="Rounded Rectangle 8"/>
          <p:cNvSpPr/>
          <p:nvPr/>
        </p:nvSpPr>
        <p:spPr>
          <a:xfrm>
            <a:off x="6126479" y="1325880"/>
            <a:ext cx="4892040" cy="777240"/>
          </a:xfrm>
          <a:prstGeom prst="roundRect">
            <a:avLst/>
          </a:prstGeom>
          <a:solidFill>
            <a:srgbClr val="DCFCE7"/>
          </a:solidFill>
          <a:ln w="11430">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79" y="1472184"/>
            <a:ext cx="1005840" cy="164592"/>
          </a:xfrm>
          <a:prstGeom prst="rect">
            <a:avLst/>
          </a:prstGeom>
          <a:noFill/>
        </p:spPr>
        <p:txBody>
          <a:bodyPr wrap="square" lIns="27432" tIns="18288" rIns="27432" bIns="18288">
            <a:spAutoFit/>
          </a:bodyPr>
          <a:lstStyle/>
          <a:p>
            <a:pPr algn="l">
              <a:defRPr sz="1250" b="1">
                <a:solidFill>
                  <a:srgbClr val="10B981"/>
                </a:solidFill>
                <a:latin typeface="Aptos"/>
              </a:defRPr>
            </a:pPr>
            <a:r>
              <a:t>Mitigar</a:t>
            </a:r>
          </a:p>
        </p:txBody>
      </p:sp>
      <p:sp>
        <p:nvSpPr>
          <p:cNvPr id="11" name="TextBox 10"/>
          <p:cNvSpPr txBox="1"/>
          <p:nvPr/>
        </p:nvSpPr>
        <p:spPr>
          <a:xfrm>
            <a:off x="7498079" y="1463039"/>
            <a:ext cx="3291840" cy="256032"/>
          </a:xfrm>
          <a:prstGeom prst="rect">
            <a:avLst/>
          </a:prstGeom>
          <a:noFill/>
        </p:spPr>
        <p:txBody>
          <a:bodyPr wrap="square" lIns="27432" tIns="18288" rIns="27432" bIns="18288">
            <a:spAutoFit/>
          </a:bodyPr>
          <a:lstStyle/>
          <a:p>
            <a:pPr algn="l">
              <a:defRPr sz="940" b="0">
                <a:solidFill>
                  <a:srgbClr val="374151"/>
                </a:solidFill>
                <a:latin typeface="Aptos"/>
              </a:defRPr>
            </a:pPr>
            <a:r>
              <a:t>Revisar parámetros, resultados y evidencia antes de aprobar.</a:t>
            </a:r>
          </a:p>
        </p:txBody>
      </p:sp>
      <p:sp>
        <p:nvSpPr>
          <p:cNvPr id="12" name="Rounded Rectangle 11"/>
          <p:cNvSpPr/>
          <p:nvPr/>
        </p:nvSpPr>
        <p:spPr>
          <a:xfrm>
            <a:off x="777240" y="2468880"/>
            <a:ext cx="4892040" cy="777240"/>
          </a:xfrm>
          <a:prstGeom prst="roundRect">
            <a:avLst/>
          </a:prstGeom>
          <a:solidFill>
            <a:srgbClr val="FEF3C7"/>
          </a:solidFill>
          <a:ln w="11430">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2615184"/>
            <a:ext cx="1005840" cy="164592"/>
          </a:xfrm>
          <a:prstGeom prst="rect">
            <a:avLst/>
          </a:prstGeom>
          <a:noFill/>
        </p:spPr>
        <p:txBody>
          <a:bodyPr wrap="square" lIns="27432" tIns="18288" rIns="27432" bIns="18288">
            <a:spAutoFit/>
          </a:bodyPr>
          <a:lstStyle/>
          <a:p>
            <a:pPr algn="l">
              <a:defRPr sz="1250" b="1">
                <a:solidFill>
                  <a:srgbClr val="F59E0B"/>
                </a:solidFill>
                <a:latin typeface="Aptos"/>
              </a:defRPr>
            </a:pPr>
            <a:r>
              <a:t>Aceptar</a:t>
            </a:r>
          </a:p>
        </p:txBody>
      </p:sp>
      <p:sp>
        <p:nvSpPr>
          <p:cNvPr id="14" name="TextBox 13"/>
          <p:cNvSpPr txBox="1"/>
          <p:nvPr/>
        </p:nvSpPr>
        <p:spPr>
          <a:xfrm>
            <a:off x="2148840" y="2606040"/>
            <a:ext cx="3291840" cy="256032"/>
          </a:xfrm>
          <a:prstGeom prst="rect">
            <a:avLst/>
          </a:prstGeom>
          <a:noFill/>
        </p:spPr>
        <p:txBody>
          <a:bodyPr wrap="square" lIns="27432" tIns="18288" rIns="27432" bIns="18288">
            <a:spAutoFit/>
          </a:bodyPr>
          <a:lstStyle/>
          <a:p>
            <a:pPr algn="l">
              <a:defRPr sz="940" b="0">
                <a:solidFill>
                  <a:srgbClr val="374151"/>
                </a:solidFill>
                <a:latin typeface="Aptos"/>
              </a:defRPr>
            </a:pPr>
            <a:r>
              <a:t>Usar supuestos académicos cuando no existen datos reales, dejando nota.</a:t>
            </a:r>
          </a:p>
        </p:txBody>
      </p:sp>
      <p:sp>
        <p:nvSpPr>
          <p:cNvPr id="15" name="Rounded Rectangle 14"/>
          <p:cNvSpPr/>
          <p:nvPr/>
        </p:nvSpPr>
        <p:spPr>
          <a:xfrm>
            <a:off x="6126479" y="2468880"/>
            <a:ext cx="4892040" cy="777240"/>
          </a:xfrm>
          <a:prstGeom prst="roundRect">
            <a:avLst/>
          </a:prstGeom>
          <a:solidFill>
            <a:srgbClr val="FEE2E2"/>
          </a:solidFill>
          <a:ln w="1143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79" y="2615184"/>
            <a:ext cx="1005840" cy="164592"/>
          </a:xfrm>
          <a:prstGeom prst="rect">
            <a:avLst/>
          </a:prstGeom>
          <a:noFill/>
        </p:spPr>
        <p:txBody>
          <a:bodyPr wrap="square" lIns="27432" tIns="18288" rIns="27432" bIns="18288">
            <a:spAutoFit/>
          </a:bodyPr>
          <a:lstStyle/>
          <a:p>
            <a:pPr algn="l">
              <a:defRPr sz="1250" b="1">
                <a:solidFill>
                  <a:srgbClr val="EF4444"/>
                </a:solidFill>
                <a:latin typeface="Aptos"/>
              </a:defRPr>
            </a:pPr>
            <a:r>
              <a:t>Corregir</a:t>
            </a:r>
          </a:p>
        </p:txBody>
      </p:sp>
      <p:sp>
        <p:nvSpPr>
          <p:cNvPr id="17" name="TextBox 16"/>
          <p:cNvSpPr txBox="1"/>
          <p:nvPr/>
        </p:nvSpPr>
        <p:spPr>
          <a:xfrm>
            <a:off x="7498079" y="2606040"/>
            <a:ext cx="3291840" cy="256032"/>
          </a:xfrm>
          <a:prstGeom prst="rect">
            <a:avLst/>
          </a:prstGeom>
          <a:noFill/>
        </p:spPr>
        <p:txBody>
          <a:bodyPr wrap="square" lIns="27432" tIns="18288" rIns="27432" bIns="18288">
            <a:spAutoFit/>
          </a:bodyPr>
          <a:lstStyle/>
          <a:p>
            <a:pPr algn="l">
              <a:defRPr sz="940" b="0">
                <a:solidFill>
                  <a:srgbClr val="374151"/>
                </a:solidFill>
                <a:latin typeface="Aptos"/>
              </a:defRPr>
            </a:pPr>
            <a:r>
              <a:t>Registrar incidencia, pedir ajuste y validar que la causa quede resuelta.</a:t>
            </a:r>
          </a:p>
        </p:txBody>
      </p:sp>
      <p:sp>
        <p:nvSpPr>
          <p:cNvPr id="18" name="Rectangle 17"/>
          <p:cNvSpPr/>
          <p:nvPr/>
        </p:nvSpPr>
        <p:spPr>
          <a:xfrm>
            <a:off x="777240" y="4069080"/>
            <a:ext cx="10424159" cy="438912"/>
          </a:xfrm>
          <a:prstGeom prst="rect">
            <a:avLst/>
          </a:prstGeom>
          <a:solidFill>
            <a:srgbClr val="1E40AF"/>
          </a:solidFill>
          <a:ln w="1143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4206240"/>
            <a:ext cx="1828800" cy="91440"/>
          </a:xfrm>
          <a:prstGeom prst="rect">
            <a:avLst/>
          </a:prstGeom>
          <a:noFill/>
        </p:spPr>
        <p:txBody>
          <a:bodyPr wrap="square" lIns="27432" tIns="18288" rIns="27432" bIns="18288">
            <a:spAutoFit/>
          </a:bodyPr>
          <a:lstStyle/>
          <a:p>
            <a:pPr algn="l">
              <a:defRPr sz="850" b="1">
                <a:solidFill>
                  <a:srgbClr val="FFFFFF"/>
                </a:solidFill>
                <a:latin typeface="Aptos"/>
              </a:defRPr>
            </a:pPr>
            <a:r>
              <a:t>Rol</a:t>
            </a:r>
          </a:p>
        </p:txBody>
      </p:sp>
      <p:sp>
        <p:nvSpPr>
          <p:cNvPr id="20" name="TextBox 19"/>
          <p:cNvSpPr txBox="1"/>
          <p:nvPr/>
        </p:nvSpPr>
        <p:spPr>
          <a:xfrm>
            <a:off x="2880360" y="4206240"/>
            <a:ext cx="8229600" cy="91440"/>
          </a:xfrm>
          <a:prstGeom prst="rect">
            <a:avLst/>
          </a:prstGeom>
          <a:noFill/>
        </p:spPr>
        <p:txBody>
          <a:bodyPr wrap="square" lIns="27432" tIns="18288" rIns="27432" bIns="18288">
            <a:spAutoFit/>
          </a:bodyPr>
          <a:lstStyle/>
          <a:p>
            <a:pPr algn="l">
              <a:defRPr sz="850" b="1">
                <a:solidFill>
                  <a:srgbClr val="FFFFFF"/>
                </a:solidFill>
                <a:latin typeface="Aptos"/>
              </a:defRPr>
            </a:pPr>
            <a:r>
              <a:t>Responsabilidad</a:t>
            </a:r>
          </a:p>
        </p:txBody>
      </p:sp>
      <p:sp>
        <p:nvSpPr>
          <p:cNvPr id="21" name="Rectangle 20"/>
          <p:cNvSpPr/>
          <p:nvPr/>
        </p:nvSpPr>
        <p:spPr>
          <a:xfrm>
            <a:off x="777240" y="4507992"/>
            <a:ext cx="10424159" cy="438912"/>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626864"/>
            <a:ext cx="1828800" cy="109728"/>
          </a:xfrm>
          <a:prstGeom prst="rect">
            <a:avLst/>
          </a:prstGeom>
          <a:noFill/>
        </p:spPr>
        <p:txBody>
          <a:bodyPr wrap="square" lIns="27432" tIns="18288" rIns="27432" bIns="18288">
            <a:spAutoFit/>
          </a:bodyPr>
          <a:lstStyle/>
          <a:p>
            <a:pPr algn="l">
              <a:defRPr sz="860" b="1">
                <a:solidFill>
                  <a:srgbClr val="374151"/>
                </a:solidFill>
                <a:latin typeface="Aptos"/>
              </a:defRPr>
            </a:pPr>
            <a:r>
              <a:t>Project Manager</a:t>
            </a:r>
          </a:p>
        </p:txBody>
      </p:sp>
      <p:sp>
        <p:nvSpPr>
          <p:cNvPr id="23" name="TextBox 22"/>
          <p:cNvSpPr txBox="1"/>
          <p:nvPr/>
        </p:nvSpPr>
        <p:spPr>
          <a:xfrm>
            <a:off x="2880360" y="4626864"/>
            <a:ext cx="8229600" cy="109728"/>
          </a:xfrm>
          <a:prstGeom prst="rect">
            <a:avLst/>
          </a:prstGeom>
          <a:noFill/>
        </p:spPr>
        <p:txBody>
          <a:bodyPr wrap="square" lIns="27432" tIns="18288" rIns="27432" bIns="18288">
            <a:spAutoFit/>
          </a:bodyPr>
          <a:lstStyle/>
          <a:p>
            <a:pPr algn="l">
              <a:defRPr sz="860" b="0">
                <a:solidFill>
                  <a:srgbClr val="374151"/>
                </a:solidFill>
                <a:latin typeface="Aptos"/>
              </a:defRPr>
            </a:pPr>
            <a:r>
              <a:t>Registrar riesgo, pedir evidencia, decidir prioridad y validar cierre.</a:t>
            </a:r>
          </a:p>
        </p:txBody>
      </p:sp>
      <p:sp>
        <p:nvSpPr>
          <p:cNvPr id="24" name="Rectangle 23"/>
          <p:cNvSpPr/>
          <p:nvPr/>
        </p:nvSpPr>
        <p:spPr>
          <a:xfrm>
            <a:off x="777240" y="4946904"/>
            <a:ext cx="10424159" cy="438912"/>
          </a:xfrm>
          <a:prstGeom prst="rect">
            <a:avLst/>
          </a:prstGeom>
          <a:solidFill>
            <a:srgbClr val="F3F4F6"/>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5065776"/>
            <a:ext cx="1828800" cy="109728"/>
          </a:xfrm>
          <a:prstGeom prst="rect">
            <a:avLst/>
          </a:prstGeom>
          <a:noFill/>
        </p:spPr>
        <p:txBody>
          <a:bodyPr wrap="square" lIns="27432" tIns="18288" rIns="27432" bIns="18288">
            <a:spAutoFit/>
          </a:bodyPr>
          <a:lstStyle/>
          <a:p>
            <a:pPr algn="l">
              <a:defRPr sz="860" b="1">
                <a:solidFill>
                  <a:srgbClr val="374151"/>
                </a:solidFill>
                <a:latin typeface="Aptos"/>
              </a:defRPr>
            </a:pPr>
            <a:r>
              <a:t>Ejecutor</a:t>
            </a:r>
          </a:p>
        </p:txBody>
      </p:sp>
      <p:sp>
        <p:nvSpPr>
          <p:cNvPr id="26" name="TextBox 25"/>
          <p:cNvSpPr txBox="1"/>
          <p:nvPr/>
        </p:nvSpPr>
        <p:spPr>
          <a:xfrm>
            <a:off x="2880360" y="5065776"/>
            <a:ext cx="8229600" cy="109728"/>
          </a:xfrm>
          <a:prstGeom prst="rect">
            <a:avLst/>
          </a:prstGeom>
          <a:noFill/>
        </p:spPr>
        <p:txBody>
          <a:bodyPr wrap="square" lIns="27432" tIns="18288" rIns="27432" bIns="18288">
            <a:spAutoFit/>
          </a:bodyPr>
          <a:lstStyle/>
          <a:p>
            <a:pPr algn="l">
              <a:defRPr sz="860" b="0">
                <a:solidFill>
                  <a:srgbClr val="374151"/>
                </a:solidFill>
                <a:latin typeface="Aptos"/>
              </a:defRPr>
            </a:pPr>
            <a:r>
              <a:t>Corregir entregable, documentar datos, probar modelo y enviar evidencia.</a:t>
            </a:r>
          </a:p>
        </p:txBody>
      </p:sp>
      <p:sp>
        <p:nvSpPr>
          <p:cNvPr id="28" name="TextBox 27"/>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Seguimiento del riesgo residual</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Lo importante no es solo corregir, sino verificar qué queda pendiente.</a:t>
            </a:r>
          </a:p>
        </p:txBody>
      </p:sp>
      <p:sp>
        <p:nvSpPr>
          <p:cNvPr id="6" name="Rounded Rectangle 5"/>
          <p:cNvSpPr/>
          <p:nvPr/>
        </p:nvSpPr>
        <p:spPr>
          <a:xfrm>
            <a:off x="685800" y="1417320"/>
            <a:ext cx="2148840" cy="822960"/>
          </a:xfrm>
          <a:prstGeom prst="roundRect">
            <a:avLst/>
          </a:prstGeom>
          <a:solidFill>
            <a:srgbClr val="DBEAFE"/>
          </a:solidFill>
          <a:ln w="1143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4" y="1600200"/>
            <a:ext cx="1554480" cy="137160"/>
          </a:xfrm>
          <a:prstGeom prst="rect">
            <a:avLst/>
          </a:prstGeom>
          <a:noFill/>
        </p:spPr>
        <p:txBody>
          <a:bodyPr wrap="square" lIns="27432" tIns="18288" rIns="27432" bIns="18288">
            <a:spAutoFit/>
          </a:bodyPr>
          <a:lstStyle/>
          <a:p>
            <a:pPr algn="l">
              <a:defRPr sz="1050" b="1">
                <a:solidFill>
                  <a:srgbClr val="2563EB"/>
                </a:solidFill>
                <a:latin typeface="Aptos"/>
              </a:defRPr>
            </a:pPr>
            <a:r>
              <a:t>Situación inicial</a:t>
            </a:r>
          </a:p>
        </p:txBody>
      </p:sp>
      <p:sp>
        <p:nvSpPr>
          <p:cNvPr id="8" name="TextBox 7"/>
          <p:cNvSpPr txBox="1"/>
          <p:nvPr/>
        </p:nvSpPr>
        <p:spPr>
          <a:xfrm>
            <a:off x="832104" y="1874519"/>
            <a:ext cx="1737360" cy="164592"/>
          </a:xfrm>
          <a:prstGeom prst="rect">
            <a:avLst/>
          </a:prstGeom>
          <a:noFill/>
        </p:spPr>
        <p:txBody>
          <a:bodyPr wrap="square" lIns="27432" tIns="18288" rIns="27432" bIns="18288">
            <a:spAutoFit/>
          </a:bodyPr>
          <a:lstStyle/>
          <a:p>
            <a:pPr algn="l">
              <a:defRPr sz="819" b="0">
                <a:solidFill>
                  <a:srgbClr val="374151"/>
                </a:solidFill>
                <a:latin typeface="Aptos"/>
              </a:defRPr>
            </a:pPr>
            <a:r>
              <a:t>Riesgo o incidencia detectada</a:t>
            </a:r>
          </a:p>
        </p:txBody>
      </p:sp>
      <p:cxnSp>
        <p:nvCxnSpPr>
          <p:cNvPr id="9" name="Connector 8"/>
          <p:cNvCxnSpPr/>
          <p:nvPr/>
        </p:nvCxnSpPr>
        <p:spPr>
          <a:xfrm>
            <a:off x="2834640" y="1828800"/>
            <a:ext cx="548640" cy="0"/>
          </a:xfrm>
          <a:prstGeom prst="line">
            <a:avLst/>
          </a:prstGeom>
          <a:ln w="25400">
            <a:solidFill>
              <a:srgbClr val="E5E7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29000" y="1417320"/>
            <a:ext cx="2148840" cy="822960"/>
          </a:xfrm>
          <a:prstGeom prst="roundRect">
            <a:avLst/>
          </a:prstGeom>
          <a:solidFill>
            <a:srgbClr val="DCFCE7"/>
          </a:solidFill>
          <a:ln w="11430">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75304" y="1600200"/>
            <a:ext cx="1554480" cy="137160"/>
          </a:xfrm>
          <a:prstGeom prst="rect">
            <a:avLst/>
          </a:prstGeom>
          <a:noFill/>
        </p:spPr>
        <p:txBody>
          <a:bodyPr wrap="square" lIns="27432" tIns="18288" rIns="27432" bIns="18288">
            <a:spAutoFit/>
          </a:bodyPr>
          <a:lstStyle/>
          <a:p>
            <a:pPr algn="l">
              <a:defRPr sz="1050" b="1">
                <a:solidFill>
                  <a:srgbClr val="10B981"/>
                </a:solidFill>
                <a:latin typeface="Aptos"/>
              </a:defRPr>
            </a:pPr>
            <a:r>
              <a:t>Respuesta</a:t>
            </a:r>
          </a:p>
        </p:txBody>
      </p:sp>
      <p:sp>
        <p:nvSpPr>
          <p:cNvPr id="12" name="TextBox 11"/>
          <p:cNvSpPr txBox="1"/>
          <p:nvPr/>
        </p:nvSpPr>
        <p:spPr>
          <a:xfrm>
            <a:off x="3575304" y="1874519"/>
            <a:ext cx="1737360" cy="164592"/>
          </a:xfrm>
          <a:prstGeom prst="rect">
            <a:avLst/>
          </a:prstGeom>
          <a:noFill/>
        </p:spPr>
        <p:txBody>
          <a:bodyPr wrap="square" lIns="27432" tIns="18288" rIns="27432" bIns="18288">
            <a:spAutoFit/>
          </a:bodyPr>
          <a:lstStyle/>
          <a:p>
            <a:pPr algn="l">
              <a:defRPr sz="819" b="0">
                <a:solidFill>
                  <a:srgbClr val="374151"/>
                </a:solidFill>
                <a:latin typeface="Aptos"/>
              </a:defRPr>
            </a:pPr>
            <a:r>
              <a:t>Acción preventiva o correctiva</a:t>
            </a:r>
          </a:p>
        </p:txBody>
      </p:sp>
      <p:cxnSp>
        <p:nvCxnSpPr>
          <p:cNvPr id="13" name="Connector 12"/>
          <p:cNvCxnSpPr/>
          <p:nvPr/>
        </p:nvCxnSpPr>
        <p:spPr>
          <a:xfrm>
            <a:off x="5577840" y="1828800"/>
            <a:ext cx="548640" cy="0"/>
          </a:xfrm>
          <a:prstGeom prst="line">
            <a:avLst/>
          </a:prstGeom>
          <a:ln w="25400">
            <a:solidFill>
              <a:srgbClr val="E5E7EB"/>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172200" y="1417320"/>
            <a:ext cx="2148840" cy="822960"/>
          </a:xfrm>
          <a:prstGeom prst="roundRect">
            <a:avLst/>
          </a:prstGeom>
          <a:solidFill>
            <a:srgbClr val="EDE9FE"/>
          </a:solidFill>
          <a:ln w="11430">
            <a:solidFill>
              <a:srgbClr val="EDE9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18504" y="1600200"/>
            <a:ext cx="1554480" cy="137160"/>
          </a:xfrm>
          <a:prstGeom prst="rect">
            <a:avLst/>
          </a:prstGeom>
          <a:noFill/>
        </p:spPr>
        <p:txBody>
          <a:bodyPr wrap="square" lIns="27432" tIns="18288" rIns="27432" bIns="18288">
            <a:spAutoFit/>
          </a:bodyPr>
          <a:lstStyle/>
          <a:p>
            <a:pPr algn="l">
              <a:defRPr sz="1050" b="1">
                <a:solidFill>
                  <a:srgbClr val="7C3AED"/>
                </a:solidFill>
                <a:latin typeface="Aptos"/>
              </a:defRPr>
            </a:pPr>
            <a:r>
              <a:t>Validación</a:t>
            </a:r>
          </a:p>
        </p:txBody>
      </p:sp>
      <p:sp>
        <p:nvSpPr>
          <p:cNvPr id="16" name="TextBox 15"/>
          <p:cNvSpPr txBox="1"/>
          <p:nvPr/>
        </p:nvSpPr>
        <p:spPr>
          <a:xfrm>
            <a:off x="6318504" y="1874519"/>
            <a:ext cx="1737360" cy="164592"/>
          </a:xfrm>
          <a:prstGeom prst="rect">
            <a:avLst/>
          </a:prstGeom>
          <a:noFill/>
        </p:spPr>
        <p:txBody>
          <a:bodyPr wrap="square" lIns="27432" tIns="18288" rIns="27432" bIns="18288">
            <a:spAutoFit/>
          </a:bodyPr>
          <a:lstStyle/>
          <a:p>
            <a:pPr algn="l">
              <a:defRPr sz="819" b="0">
                <a:solidFill>
                  <a:srgbClr val="374151"/>
                </a:solidFill>
                <a:latin typeface="Aptos"/>
              </a:defRPr>
            </a:pPr>
            <a:r>
              <a:t>Revisión PM con evidencia</a:t>
            </a:r>
          </a:p>
        </p:txBody>
      </p:sp>
      <p:cxnSp>
        <p:nvCxnSpPr>
          <p:cNvPr id="17" name="Connector 16"/>
          <p:cNvCxnSpPr/>
          <p:nvPr/>
        </p:nvCxnSpPr>
        <p:spPr>
          <a:xfrm>
            <a:off x="8321040" y="1828800"/>
            <a:ext cx="548640" cy="0"/>
          </a:xfrm>
          <a:prstGeom prst="line">
            <a:avLst/>
          </a:prstGeom>
          <a:ln w="25400">
            <a:solidFill>
              <a:srgbClr val="E5E7E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915400" y="1417320"/>
            <a:ext cx="2148840" cy="822960"/>
          </a:xfrm>
          <a:prstGeom prst="roundRect">
            <a:avLst/>
          </a:prstGeom>
          <a:solidFill>
            <a:srgbClr val="FEF3C7"/>
          </a:solidFill>
          <a:ln w="11430">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61704" y="1600200"/>
            <a:ext cx="1554480" cy="137160"/>
          </a:xfrm>
          <a:prstGeom prst="rect">
            <a:avLst/>
          </a:prstGeom>
          <a:noFill/>
        </p:spPr>
        <p:txBody>
          <a:bodyPr wrap="square" lIns="27432" tIns="18288" rIns="27432" bIns="18288">
            <a:spAutoFit/>
          </a:bodyPr>
          <a:lstStyle/>
          <a:p>
            <a:pPr algn="l">
              <a:defRPr sz="1050" b="1">
                <a:solidFill>
                  <a:srgbClr val="F59E0B"/>
                </a:solidFill>
                <a:latin typeface="Aptos"/>
              </a:defRPr>
            </a:pPr>
            <a:r>
              <a:t>Residual</a:t>
            </a:r>
          </a:p>
        </p:txBody>
      </p:sp>
      <p:sp>
        <p:nvSpPr>
          <p:cNvPr id="20" name="TextBox 19"/>
          <p:cNvSpPr txBox="1"/>
          <p:nvPr/>
        </p:nvSpPr>
        <p:spPr>
          <a:xfrm>
            <a:off x="9061704" y="1874519"/>
            <a:ext cx="1737360" cy="164592"/>
          </a:xfrm>
          <a:prstGeom prst="rect">
            <a:avLst/>
          </a:prstGeom>
          <a:noFill/>
        </p:spPr>
        <p:txBody>
          <a:bodyPr wrap="square" lIns="27432" tIns="18288" rIns="27432" bIns="18288">
            <a:spAutoFit/>
          </a:bodyPr>
          <a:lstStyle/>
          <a:p>
            <a:pPr algn="l">
              <a:defRPr sz="819" b="0">
                <a:solidFill>
                  <a:srgbClr val="374151"/>
                </a:solidFill>
                <a:latin typeface="Aptos"/>
              </a:defRPr>
            </a:pPr>
            <a:r>
              <a:t>Pendiente que aún puede afectar</a:t>
            </a:r>
          </a:p>
        </p:txBody>
      </p:sp>
      <p:sp>
        <p:nvSpPr>
          <p:cNvPr id="21" name="Rectangle 20"/>
          <p:cNvSpPr/>
          <p:nvPr/>
        </p:nvSpPr>
        <p:spPr>
          <a:xfrm>
            <a:off x="685800" y="3429000"/>
            <a:ext cx="10789919" cy="457200"/>
          </a:xfrm>
          <a:prstGeom prst="rect">
            <a:avLst/>
          </a:prstGeom>
          <a:solidFill>
            <a:srgbClr val="1E40AF"/>
          </a:solidFill>
          <a:ln w="1143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8952" y="3575304"/>
            <a:ext cx="2048255" cy="109728"/>
          </a:xfrm>
          <a:prstGeom prst="rect">
            <a:avLst/>
          </a:prstGeom>
          <a:noFill/>
        </p:spPr>
        <p:txBody>
          <a:bodyPr wrap="square" lIns="27432" tIns="18288" rIns="27432" bIns="18288">
            <a:spAutoFit/>
          </a:bodyPr>
          <a:lstStyle/>
          <a:p>
            <a:pPr algn="l">
              <a:defRPr sz="840" b="1">
                <a:solidFill>
                  <a:srgbClr val="FFFFFF"/>
                </a:solidFill>
                <a:latin typeface="Aptos"/>
              </a:defRPr>
            </a:pPr>
            <a:r>
              <a:t>Proyecto</a:t>
            </a:r>
          </a:p>
        </p:txBody>
      </p:sp>
      <p:sp>
        <p:nvSpPr>
          <p:cNvPr id="23" name="TextBox 22"/>
          <p:cNvSpPr txBox="1"/>
          <p:nvPr/>
        </p:nvSpPr>
        <p:spPr>
          <a:xfrm>
            <a:off x="2953512" y="3575304"/>
            <a:ext cx="4517136" cy="109728"/>
          </a:xfrm>
          <a:prstGeom prst="rect">
            <a:avLst/>
          </a:prstGeom>
          <a:noFill/>
        </p:spPr>
        <p:txBody>
          <a:bodyPr wrap="square" lIns="27432" tIns="18288" rIns="27432" bIns="18288">
            <a:spAutoFit/>
          </a:bodyPr>
          <a:lstStyle/>
          <a:p>
            <a:pPr algn="l">
              <a:defRPr sz="840" b="1">
                <a:solidFill>
                  <a:srgbClr val="FFFFFF"/>
                </a:solidFill>
                <a:latin typeface="Aptos"/>
              </a:defRPr>
            </a:pPr>
            <a:r>
              <a:t>Estado residual al corte</a:t>
            </a:r>
          </a:p>
        </p:txBody>
      </p:sp>
      <p:sp>
        <p:nvSpPr>
          <p:cNvPr id="24" name="TextBox 23"/>
          <p:cNvSpPr txBox="1"/>
          <p:nvPr/>
        </p:nvSpPr>
        <p:spPr>
          <a:xfrm>
            <a:off x="7616952" y="3575304"/>
            <a:ext cx="3785615" cy="109728"/>
          </a:xfrm>
          <a:prstGeom prst="rect">
            <a:avLst/>
          </a:prstGeom>
          <a:noFill/>
        </p:spPr>
        <p:txBody>
          <a:bodyPr wrap="square" lIns="27432" tIns="18288" rIns="27432" bIns="18288">
            <a:spAutoFit/>
          </a:bodyPr>
          <a:lstStyle/>
          <a:p>
            <a:pPr algn="l">
              <a:defRPr sz="840" b="1">
                <a:solidFill>
                  <a:srgbClr val="FFFFFF"/>
                </a:solidFill>
                <a:latin typeface="Aptos"/>
              </a:defRPr>
            </a:pPr>
            <a:r>
              <a:t>Seguimiento definido</a:t>
            </a:r>
          </a:p>
        </p:txBody>
      </p:sp>
      <p:sp>
        <p:nvSpPr>
          <p:cNvPr id="25" name="Rectangle 24"/>
          <p:cNvSpPr/>
          <p:nvPr/>
        </p:nvSpPr>
        <p:spPr>
          <a:xfrm>
            <a:off x="685800" y="3886200"/>
            <a:ext cx="10789919" cy="457200"/>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8952" y="3995928"/>
            <a:ext cx="2048255" cy="164592"/>
          </a:xfrm>
          <a:prstGeom prst="rect">
            <a:avLst/>
          </a:prstGeom>
          <a:noFill/>
        </p:spPr>
        <p:txBody>
          <a:bodyPr wrap="square" lIns="27432" tIns="18288" rIns="27432" bIns="18288">
            <a:spAutoFit/>
          </a:bodyPr>
          <a:lstStyle/>
          <a:p>
            <a:pPr algn="l">
              <a:defRPr sz="800" b="1">
                <a:solidFill>
                  <a:srgbClr val="374151"/>
                </a:solidFill>
                <a:latin typeface="Aptos"/>
              </a:defRPr>
            </a:pPr>
            <a:r>
              <a:t>Fast Burger</a:t>
            </a:r>
          </a:p>
        </p:txBody>
      </p:sp>
      <p:sp>
        <p:nvSpPr>
          <p:cNvPr id="27" name="TextBox 26"/>
          <p:cNvSpPr txBox="1"/>
          <p:nvPr/>
        </p:nvSpPr>
        <p:spPr>
          <a:xfrm>
            <a:off x="2953512" y="3995928"/>
            <a:ext cx="4517136" cy="164592"/>
          </a:xfrm>
          <a:prstGeom prst="rect">
            <a:avLst/>
          </a:prstGeom>
          <a:noFill/>
        </p:spPr>
        <p:txBody>
          <a:bodyPr wrap="square" lIns="27432" tIns="18288" rIns="27432" bIns="18288">
            <a:spAutoFit/>
          </a:bodyPr>
          <a:lstStyle/>
          <a:p>
            <a:pPr algn="l">
              <a:defRPr sz="800" b="0">
                <a:solidFill>
                  <a:srgbClr val="374151"/>
                </a:solidFill>
                <a:latin typeface="Aptos"/>
              </a:defRPr>
            </a:pPr>
            <a:r>
              <a:t>Residual bajo: incidencia cerrada y D6-D7 corregidos.</a:t>
            </a:r>
          </a:p>
        </p:txBody>
      </p:sp>
      <p:sp>
        <p:nvSpPr>
          <p:cNvPr id="28" name="TextBox 27"/>
          <p:cNvSpPr txBox="1"/>
          <p:nvPr/>
        </p:nvSpPr>
        <p:spPr>
          <a:xfrm>
            <a:off x="7616952" y="3995928"/>
            <a:ext cx="3785615" cy="164592"/>
          </a:xfrm>
          <a:prstGeom prst="rect">
            <a:avLst/>
          </a:prstGeom>
          <a:noFill/>
        </p:spPr>
        <p:txBody>
          <a:bodyPr wrap="square" lIns="27432" tIns="18288" rIns="27432" bIns="18288">
            <a:spAutoFit/>
          </a:bodyPr>
          <a:lstStyle/>
          <a:p>
            <a:pPr algn="l">
              <a:defRPr sz="800" b="0">
                <a:solidFill>
                  <a:srgbClr val="374151"/>
                </a:solidFill>
                <a:latin typeface="Aptos"/>
              </a:defRPr>
            </a:pPr>
            <a:r>
              <a:t>Validación final y cierre administrativo.</a:t>
            </a:r>
          </a:p>
        </p:txBody>
      </p:sp>
      <p:sp>
        <p:nvSpPr>
          <p:cNvPr id="29" name="Rectangle 28"/>
          <p:cNvSpPr/>
          <p:nvPr/>
        </p:nvSpPr>
        <p:spPr>
          <a:xfrm>
            <a:off x="685800" y="4343400"/>
            <a:ext cx="10789919" cy="457200"/>
          </a:xfrm>
          <a:prstGeom prst="rect">
            <a:avLst/>
          </a:prstGeom>
          <a:solidFill>
            <a:srgbClr val="F3F4F6"/>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8952" y="4453128"/>
            <a:ext cx="2048255" cy="164592"/>
          </a:xfrm>
          <a:prstGeom prst="rect">
            <a:avLst/>
          </a:prstGeom>
          <a:noFill/>
        </p:spPr>
        <p:txBody>
          <a:bodyPr wrap="square" lIns="27432" tIns="18288" rIns="27432" bIns="18288">
            <a:spAutoFit/>
          </a:bodyPr>
          <a:lstStyle/>
          <a:p>
            <a:pPr algn="l">
              <a:defRPr sz="800" b="1">
                <a:solidFill>
                  <a:srgbClr val="374151"/>
                </a:solidFill>
                <a:latin typeface="Aptos"/>
              </a:defRPr>
            </a:pPr>
            <a:r>
              <a:t>ProcesMuebles</a:t>
            </a:r>
          </a:p>
        </p:txBody>
      </p:sp>
      <p:sp>
        <p:nvSpPr>
          <p:cNvPr id="31" name="TextBox 30"/>
          <p:cNvSpPr txBox="1"/>
          <p:nvPr/>
        </p:nvSpPr>
        <p:spPr>
          <a:xfrm>
            <a:off x="2953512" y="4453128"/>
            <a:ext cx="4517136" cy="164592"/>
          </a:xfrm>
          <a:prstGeom prst="rect">
            <a:avLst/>
          </a:prstGeom>
          <a:noFill/>
        </p:spPr>
        <p:txBody>
          <a:bodyPr wrap="square" lIns="27432" tIns="18288" rIns="27432" bIns="18288">
            <a:spAutoFit/>
          </a:bodyPr>
          <a:lstStyle/>
          <a:p>
            <a:pPr algn="l">
              <a:defRPr sz="800" b="0">
                <a:solidFill>
                  <a:srgbClr val="374151"/>
                </a:solidFill>
                <a:latin typeface="Aptos"/>
              </a:defRPr>
            </a:pPr>
            <a:r>
              <a:t>Residual alto: depende de corregir D2-D5 y aprobar nueva base.</a:t>
            </a:r>
          </a:p>
        </p:txBody>
      </p:sp>
      <p:sp>
        <p:nvSpPr>
          <p:cNvPr id="32" name="TextBox 31"/>
          <p:cNvSpPr txBox="1"/>
          <p:nvPr/>
        </p:nvSpPr>
        <p:spPr>
          <a:xfrm>
            <a:off x="7616952" y="4453128"/>
            <a:ext cx="3785615" cy="164592"/>
          </a:xfrm>
          <a:prstGeom prst="rect">
            <a:avLst/>
          </a:prstGeom>
          <a:noFill/>
        </p:spPr>
        <p:txBody>
          <a:bodyPr wrap="square" lIns="27432" tIns="18288" rIns="27432" bIns="18288">
            <a:spAutoFit/>
          </a:bodyPr>
          <a:lstStyle/>
          <a:p>
            <a:pPr algn="l">
              <a:defRPr sz="800" b="0">
                <a:solidFill>
                  <a:srgbClr val="374151"/>
                </a:solidFill>
                <a:latin typeface="Aptos"/>
              </a:defRPr>
            </a:pPr>
            <a:r>
              <a:t>Mantener D6 bloqueado hasta revisión PM.</a:t>
            </a:r>
          </a:p>
        </p:txBody>
      </p:sp>
      <p:sp>
        <p:nvSpPr>
          <p:cNvPr id="33" name="Rectangle 32"/>
          <p:cNvSpPr/>
          <p:nvPr/>
        </p:nvSpPr>
        <p:spPr>
          <a:xfrm>
            <a:off x="685800" y="4800600"/>
            <a:ext cx="10789919" cy="457200"/>
          </a:xfrm>
          <a:prstGeom prst="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8952" y="4910328"/>
            <a:ext cx="2048255" cy="164592"/>
          </a:xfrm>
          <a:prstGeom prst="rect">
            <a:avLst/>
          </a:prstGeom>
          <a:noFill/>
        </p:spPr>
        <p:txBody>
          <a:bodyPr wrap="square" lIns="27432" tIns="18288" rIns="27432" bIns="18288">
            <a:spAutoFit/>
          </a:bodyPr>
          <a:lstStyle/>
          <a:p>
            <a:pPr algn="l">
              <a:defRPr sz="800" b="1">
                <a:solidFill>
                  <a:srgbClr val="374151"/>
                </a:solidFill>
                <a:latin typeface="Aptos"/>
              </a:defRPr>
            </a:pPr>
            <a:r>
              <a:t>Industria Bloquera</a:t>
            </a:r>
          </a:p>
        </p:txBody>
      </p:sp>
      <p:sp>
        <p:nvSpPr>
          <p:cNvPr id="35" name="TextBox 34"/>
          <p:cNvSpPr txBox="1"/>
          <p:nvPr/>
        </p:nvSpPr>
        <p:spPr>
          <a:xfrm>
            <a:off x="2953512" y="4910328"/>
            <a:ext cx="4517136" cy="164592"/>
          </a:xfrm>
          <a:prstGeom prst="rect">
            <a:avLst/>
          </a:prstGeom>
          <a:noFill/>
        </p:spPr>
        <p:txBody>
          <a:bodyPr wrap="square" lIns="27432" tIns="18288" rIns="27432" bIns="18288">
            <a:spAutoFit/>
          </a:bodyPr>
          <a:lstStyle/>
          <a:p>
            <a:pPr algn="l">
              <a:defRPr sz="800" b="0">
                <a:solidFill>
                  <a:srgbClr val="374151"/>
                </a:solidFill>
                <a:latin typeface="Aptos"/>
              </a:defRPr>
            </a:pPr>
            <a:r>
              <a:t>Residual medio: faltan RISK/VME formales pero hay seguimiento por plan.</a:t>
            </a:r>
          </a:p>
        </p:txBody>
      </p:sp>
      <p:sp>
        <p:nvSpPr>
          <p:cNvPr id="36" name="TextBox 35"/>
          <p:cNvSpPr txBox="1"/>
          <p:nvPr/>
        </p:nvSpPr>
        <p:spPr>
          <a:xfrm>
            <a:off x="7616952" y="4910328"/>
            <a:ext cx="3785615" cy="164592"/>
          </a:xfrm>
          <a:prstGeom prst="rect">
            <a:avLst/>
          </a:prstGeom>
          <a:noFill/>
        </p:spPr>
        <p:txBody>
          <a:bodyPr wrap="square" lIns="27432" tIns="18288" rIns="27432" bIns="18288">
            <a:spAutoFit/>
          </a:bodyPr>
          <a:lstStyle/>
          <a:p>
            <a:pPr algn="l">
              <a:defRPr sz="800" b="0">
                <a:solidFill>
                  <a:srgbClr val="374151"/>
                </a:solidFill>
                <a:latin typeface="Aptos"/>
              </a:defRPr>
            </a:pPr>
            <a:r>
              <a:t>Usar evidencia disponible y no cerrar sin soporte.</a:t>
            </a:r>
          </a:p>
        </p:txBody>
      </p:sp>
      <p:sp>
        <p:nvSpPr>
          <p:cNvPr id="37" name="TextBox 36"/>
          <p:cNvSpPr txBox="1"/>
          <p:nvPr/>
        </p:nvSpPr>
        <p:spPr>
          <a:xfrm>
            <a:off x="411480" y="6492240"/>
            <a:ext cx="8686800" cy="182880"/>
          </a:xfrm>
          <a:prstGeom prst="rect">
            <a:avLst/>
          </a:prstGeom>
          <a:noFill/>
        </p:spPr>
        <p:txBody>
          <a:bodyPr wrap="none">
            <a:spAutoFit/>
          </a:bodyPr>
          <a:lstStyle/>
          <a:p>
            <a:pPr>
              <a:defRPr sz="750">
                <a:solidFill>
                  <a:srgbClr val="6B7280"/>
                </a:solidFill>
              </a:defRPr>
            </a:pPr>
            <a:r>
              <a:rPr dirty="0" err="1"/>
              <a:t>Actividad</a:t>
            </a:r>
            <a:r>
              <a:rPr dirty="0"/>
              <a:t> 4.2 · </a:t>
            </a:r>
            <a:r>
              <a:rPr dirty="0" err="1"/>
              <a:t>Gestión</a:t>
            </a:r>
            <a:r>
              <a:rPr dirty="0"/>
              <a:t> de </a:t>
            </a:r>
            <a:r>
              <a:rPr dirty="0" err="1"/>
              <a:t>riesgos</a:t>
            </a:r>
            <a:r>
              <a:rPr dirty="0"/>
              <a:t> </a:t>
            </a:r>
            <a:r>
              <a:rPr dirty="0" err="1"/>
              <a:t>aplicada</a:t>
            </a:r>
            <a:r>
              <a:rPr dirty="0"/>
              <a:t> · Corte: 16/09/2026</a:t>
            </a:r>
          </a:p>
        </p:txBody>
      </p:sp>
      <p:sp>
        <p:nvSpPr>
          <p:cNvPr id="38" name="TextBox 37"/>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t>Resultados de la práctica</a:t>
            </a:r>
          </a:p>
        </p:txBody>
      </p:sp>
      <p:sp>
        <p:nvSpPr>
          <p:cNvPr id="5" name="TextBox 4"/>
          <p:cNvSpPr txBox="1"/>
          <p:nvPr/>
        </p:nvSpPr>
        <p:spPr>
          <a:xfrm>
            <a:off x="521207" y="841248"/>
            <a:ext cx="10515600" cy="256032"/>
          </a:xfrm>
          <a:prstGeom prst="rect">
            <a:avLst/>
          </a:prstGeom>
          <a:noFill/>
        </p:spPr>
        <p:txBody>
          <a:bodyPr wrap="none">
            <a:spAutoFit/>
          </a:bodyPr>
          <a:lstStyle/>
          <a:p>
            <a:pPr>
              <a:defRPr sz="1050">
                <a:solidFill>
                  <a:srgbClr val="6B7280"/>
                </a:solidFill>
                <a:latin typeface="Aptos"/>
              </a:defRPr>
            </a:pPr>
            <a:r>
              <a:t>Efecto de gestionar riesgos con documentos y seguimiento.</a:t>
            </a:r>
          </a:p>
        </p:txBody>
      </p:sp>
      <p:sp>
        <p:nvSpPr>
          <p:cNvPr id="6" name="Rounded Rectangle 5"/>
          <p:cNvSpPr/>
          <p:nvPr/>
        </p:nvSpPr>
        <p:spPr>
          <a:xfrm>
            <a:off x="822960" y="1508760"/>
            <a:ext cx="3154680" cy="2057400"/>
          </a:xfrm>
          <a:prstGeom prst="roundRect">
            <a:avLst/>
          </a:prstGeom>
          <a:solidFill>
            <a:srgbClr val="DCFCE7"/>
          </a:solidFill>
          <a:ln w="11430">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783080"/>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36192" y="1828800"/>
            <a:ext cx="2103120" cy="182880"/>
          </a:xfrm>
          <a:prstGeom prst="rect">
            <a:avLst/>
          </a:prstGeom>
          <a:noFill/>
        </p:spPr>
        <p:txBody>
          <a:bodyPr wrap="square" lIns="27432" tIns="18288" rIns="27432" bIns="18288">
            <a:spAutoFit/>
          </a:bodyPr>
          <a:lstStyle/>
          <a:p>
            <a:pPr algn="l">
              <a:defRPr sz="1250" b="1">
                <a:solidFill>
                  <a:srgbClr val="111827"/>
                </a:solidFill>
                <a:latin typeface="Aptos"/>
              </a:defRPr>
            </a:pPr>
            <a:r>
              <a:t>Fast Burger</a:t>
            </a:r>
          </a:p>
        </p:txBody>
      </p:sp>
      <p:sp>
        <p:nvSpPr>
          <p:cNvPr id="9" name="TextBox 8"/>
          <p:cNvSpPr txBox="1"/>
          <p:nvPr/>
        </p:nvSpPr>
        <p:spPr>
          <a:xfrm>
            <a:off x="1143000" y="2331720"/>
            <a:ext cx="2514600" cy="548640"/>
          </a:xfrm>
          <a:prstGeom prst="rect">
            <a:avLst/>
          </a:prstGeom>
          <a:noFill/>
        </p:spPr>
        <p:txBody>
          <a:bodyPr wrap="square" lIns="27432" tIns="18288" rIns="27432" bIns="18288">
            <a:spAutoFit/>
          </a:bodyPr>
          <a:lstStyle/>
          <a:p>
            <a:pPr algn="l">
              <a:defRPr sz="1019" b="0">
                <a:solidFill>
                  <a:srgbClr val="374151"/>
                </a:solidFill>
                <a:latin typeface="Aptos"/>
              </a:defRPr>
            </a:pPr>
            <a:r>
              <a:t>Se recuperó el atraso, se corrigieron inconsistencias D6-D7 y se cerró la incidencia.</a:t>
            </a:r>
          </a:p>
        </p:txBody>
      </p:sp>
      <p:sp>
        <p:nvSpPr>
          <p:cNvPr id="10" name="Rounded Rectangle 9"/>
          <p:cNvSpPr/>
          <p:nvPr/>
        </p:nvSpPr>
        <p:spPr>
          <a:xfrm>
            <a:off x="4572000" y="1508760"/>
            <a:ext cx="3154680" cy="2057400"/>
          </a:xfrm>
          <a:prstGeom prst="roundRect">
            <a:avLst/>
          </a:prstGeom>
          <a:solidFill>
            <a:srgbClr val="FEF3C7"/>
          </a:solidFill>
          <a:ln w="11430">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00600" y="1783080"/>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85232" y="1828800"/>
            <a:ext cx="2103120" cy="182880"/>
          </a:xfrm>
          <a:prstGeom prst="rect">
            <a:avLst/>
          </a:prstGeom>
          <a:noFill/>
        </p:spPr>
        <p:txBody>
          <a:bodyPr wrap="square" lIns="27432" tIns="18288" rIns="27432" bIns="18288">
            <a:spAutoFit/>
          </a:bodyPr>
          <a:lstStyle/>
          <a:p>
            <a:pPr algn="l">
              <a:defRPr sz="1250" b="1">
                <a:solidFill>
                  <a:srgbClr val="111827"/>
                </a:solidFill>
                <a:latin typeface="Aptos"/>
              </a:defRPr>
            </a:pPr>
            <a:r>
              <a:t>ProcesMuebles</a:t>
            </a:r>
          </a:p>
        </p:txBody>
      </p:sp>
      <p:sp>
        <p:nvSpPr>
          <p:cNvPr id="13" name="TextBox 12"/>
          <p:cNvSpPr txBox="1"/>
          <p:nvPr/>
        </p:nvSpPr>
        <p:spPr>
          <a:xfrm>
            <a:off x="4892040" y="2331720"/>
            <a:ext cx="2514600" cy="548640"/>
          </a:xfrm>
          <a:prstGeom prst="rect">
            <a:avLst/>
          </a:prstGeom>
          <a:noFill/>
        </p:spPr>
        <p:txBody>
          <a:bodyPr wrap="square" lIns="27432" tIns="18288" rIns="27432" bIns="18288">
            <a:spAutoFit/>
          </a:bodyPr>
          <a:lstStyle/>
          <a:p>
            <a:pPr algn="l">
              <a:defRPr sz="1019" b="0">
                <a:solidFill>
                  <a:srgbClr val="374151"/>
                </a:solidFill>
                <a:latin typeface="Aptos"/>
              </a:defRPr>
            </a:pPr>
            <a:r>
              <a:t>Se evitó avanzar con una línea base débil; el proyecto quedó en recuperación controlada.</a:t>
            </a:r>
          </a:p>
        </p:txBody>
      </p:sp>
      <p:sp>
        <p:nvSpPr>
          <p:cNvPr id="14" name="Rounded Rectangle 13"/>
          <p:cNvSpPr/>
          <p:nvPr/>
        </p:nvSpPr>
        <p:spPr>
          <a:xfrm>
            <a:off x="8321040" y="1508760"/>
            <a:ext cx="3154680" cy="2057400"/>
          </a:xfrm>
          <a:prstGeom prst="roundRect">
            <a:avLst/>
          </a:prstGeom>
          <a:solidFill>
            <a:srgbClr val="DBEAFE"/>
          </a:solidFill>
          <a:ln w="1143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49640" y="1783080"/>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34272" y="1828800"/>
            <a:ext cx="2103120" cy="182880"/>
          </a:xfrm>
          <a:prstGeom prst="rect">
            <a:avLst/>
          </a:prstGeom>
          <a:noFill/>
        </p:spPr>
        <p:txBody>
          <a:bodyPr wrap="square" lIns="27432" tIns="18288" rIns="27432" bIns="18288">
            <a:spAutoFit/>
          </a:bodyPr>
          <a:lstStyle/>
          <a:p>
            <a:pPr algn="l">
              <a:defRPr sz="1250" b="1">
                <a:solidFill>
                  <a:srgbClr val="111827"/>
                </a:solidFill>
                <a:latin typeface="Aptos"/>
              </a:defRPr>
            </a:pPr>
            <a:r>
              <a:t>Industria Bloquera</a:t>
            </a:r>
          </a:p>
        </p:txBody>
      </p:sp>
      <p:sp>
        <p:nvSpPr>
          <p:cNvPr id="17" name="TextBox 16"/>
          <p:cNvSpPr txBox="1"/>
          <p:nvPr/>
        </p:nvSpPr>
        <p:spPr>
          <a:xfrm>
            <a:off x="8641080" y="2331720"/>
            <a:ext cx="2514600" cy="548640"/>
          </a:xfrm>
          <a:prstGeom prst="rect">
            <a:avLst/>
          </a:prstGeom>
          <a:noFill/>
        </p:spPr>
        <p:txBody>
          <a:bodyPr wrap="square" lIns="27432" tIns="18288" rIns="27432" bIns="18288">
            <a:spAutoFit/>
          </a:bodyPr>
          <a:lstStyle/>
          <a:p>
            <a:pPr algn="l">
              <a:defRPr sz="1019" b="0">
                <a:solidFill>
                  <a:srgbClr val="374151"/>
                </a:solidFill>
                <a:latin typeface="Aptos"/>
              </a:defRPr>
            </a:pPr>
            <a:r>
              <a:t>Se mantuvo el análisis dentro de lo documentado, sin crear riesgos no sustentados.</a:t>
            </a:r>
          </a:p>
        </p:txBody>
      </p:sp>
      <p:sp>
        <p:nvSpPr>
          <p:cNvPr id="18" name="Rounded Rectangle 17"/>
          <p:cNvSpPr/>
          <p:nvPr/>
        </p:nvSpPr>
        <p:spPr>
          <a:xfrm>
            <a:off x="914400" y="4343400"/>
            <a:ext cx="10241280" cy="77724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43000" y="4572000"/>
            <a:ext cx="9784080" cy="228600"/>
          </a:xfrm>
          <a:prstGeom prst="rect">
            <a:avLst/>
          </a:prstGeom>
          <a:noFill/>
        </p:spPr>
        <p:txBody>
          <a:bodyPr wrap="square" lIns="27432" tIns="18288" rIns="27432" bIns="18288">
            <a:spAutoFit/>
          </a:bodyPr>
          <a:lstStyle/>
          <a:p>
            <a:pPr algn="l">
              <a:defRPr sz="1200" b="1">
                <a:solidFill>
                  <a:srgbClr val="111827"/>
                </a:solidFill>
                <a:latin typeface="Aptos"/>
              </a:defRPr>
            </a:pPr>
            <a:r>
              <a:t>Resultado general: la práctica permitió distinguir entre riesgo potencial, incidencia ocurrida, respuesta aplicada y riesgo residual pendiente.</a:t>
            </a:r>
          </a:p>
        </p:txBody>
      </p:sp>
      <p:sp>
        <p:nvSpPr>
          <p:cNvPr id="21" name="TextBox 20"/>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064240" cy="457200"/>
          </a:xfrm>
          <a:prstGeom prst="rect">
            <a:avLst/>
          </a:prstGeom>
          <a:noFill/>
        </p:spPr>
        <p:txBody>
          <a:bodyPr wrap="none">
            <a:spAutoFit/>
          </a:bodyPr>
          <a:lstStyle/>
          <a:p>
            <a:pPr>
              <a:defRPr sz="2500" b="1">
                <a:solidFill>
                  <a:srgbClr val="111827"/>
                </a:solidFill>
                <a:latin typeface="Aptos Display"/>
              </a:defRPr>
            </a:pPr>
            <a:r>
              <a:rPr dirty="0"/>
              <a:t>Con</a:t>
            </a:r>
            <a:r>
              <a:rPr lang="es-MX" dirty="0"/>
              <a:t>c</a:t>
            </a:r>
            <a:r>
              <a:rPr dirty="0" err="1"/>
              <a:t>lusión</a:t>
            </a:r>
            <a:r>
              <a:rPr dirty="0"/>
              <a:t> y </a:t>
            </a:r>
            <a:r>
              <a:rPr dirty="0" err="1"/>
              <a:t>fuentes</a:t>
            </a:r>
            <a:endParaRPr dirty="0"/>
          </a:p>
        </p:txBody>
      </p:sp>
      <p:sp>
        <p:nvSpPr>
          <p:cNvPr id="6" name="Rounded Rectangle 5"/>
          <p:cNvSpPr/>
          <p:nvPr/>
        </p:nvSpPr>
        <p:spPr>
          <a:xfrm>
            <a:off x="685800" y="1234440"/>
            <a:ext cx="5166360" cy="361188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435608"/>
            <a:ext cx="109728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50976" y="1490472"/>
            <a:ext cx="1024127" cy="164592"/>
          </a:xfrm>
          <a:prstGeom prst="rect">
            <a:avLst/>
          </a:prstGeom>
          <a:noFill/>
        </p:spPr>
        <p:txBody>
          <a:bodyPr wrap="square" lIns="27432" tIns="18288" rIns="27432" bIns="18288">
            <a:spAutoFit/>
          </a:bodyPr>
          <a:lstStyle/>
          <a:p>
            <a:pPr algn="ctr">
              <a:defRPr sz="830" b="1">
                <a:solidFill>
                  <a:srgbClr val="FFFFFF"/>
                </a:solidFill>
                <a:latin typeface="Aptos"/>
              </a:defRPr>
            </a:pPr>
            <a:r>
              <a:t>Conclusión</a:t>
            </a:r>
          </a:p>
        </p:txBody>
      </p:sp>
      <p:sp>
        <p:nvSpPr>
          <p:cNvPr id="9" name="TextBox 8"/>
          <p:cNvSpPr txBox="1"/>
          <p:nvPr/>
        </p:nvSpPr>
        <p:spPr>
          <a:xfrm>
            <a:off x="914400" y="1828800"/>
            <a:ext cx="4526280" cy="1417320"/>
          </a:xfrm>
          <a:prstGeom prst="rect">
            <a:avLst/>
          </a:prstGeom>
          <a:noFill/>
        </p:spPr>
        <p:txBody>
          <a:bodyPr wrap="square" lIns="27432" tIns="18288" rIns="27432" bIns="18288">
            <a:spAutoFit/>
          </a:bodyPr>
          <a:lstStyle/>
          <a:p>
            <a:pPr algn="l">
              <a:defRPr sz="1200" b="0">
                <a:solidFill>
                  <a:srgbClr val="374151"/>
                </a:solidFill>
                <a:latin typeface="Aptos"/>
              </a:defRPr>
            </a:pPr>
            <a:r>
              <a:t>La práctica muestra que la gestión de riesgos no consiste en llenar formatos de manera aislada. En los tres casos, el valor del trabajo estuvo en revisar evidencia, distinguir riesgos de incidencias y tomar decisiones registradas para proteger tiempo, alcance y calidad.</a:t>
            </a:r>
          </a:p>
        </p:txBody>
      </p:sp>
      <p:sp>
        <p:nvSpPr>
          <p:cNvPr id="11" name="Rounded Rectangle 10"/>
          <p:cNvSpPr/>
          <p:nvPr/>
        </p:nvSpPr>
        <p:spPr>
          <a:xfrm>
            <a:off x="6172200" y="1234440"/>
            <a:ext cx="5303520" cy="4343400"/>
          </a:xfrm>
          <a:prstGeom prst="roundRect">
            <a:avLst/>
          </a:prstGeom>
          <a:solidFill>
            <a:srgbClr val="FFFFFF"/>
          </a:solidFill>
          <a:ln w="1143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463040"/>
            <a:ext cx="2743200" cy="182880"/>
          </a:xfrm>
          <a:prstGeom prst="rect">
            <a:avLst/>
          </a:prstGeom>
          <a:noFill/>
        </p:spPr>
        <p:txBody>
          <a:bodyPr wrap="square" lIns="27432" tIns="18288" rIns="27432" bIns="18288">
            <a:spAutoFit/>
          </a:bodyPr>
          <a:lstStyle/>
          <a:p>
            <a:pPr algn="l">
              <a:defRPr sz="1300" b="1">
                <a:solidFill>
                  <a:srgbClr val="111827"/>
                </a:solidFill>
                <a:latin typeface="Aptos"/>
              </a:defRPr>
            </a:pPr>
            <a:r>
              <a:t>Fuentes de información</a:t>
            </a:r>
          </a:p>
        </p:txBody>
      </p:sp>
      <p:sp>
        <p:nvSpPr>
          <p:cNvPr id="13" name="Oval 12"/>
          <p:cNvSpPr/>
          <p:nvPr/>
        </p:nvSpPr>
        <p:spPr>
          <a:xfrm>
            <a:off x="6400800" y="1956815"/>
            <a:ext cx="64008" cy="6400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1874519"/>
            <a:ext cx="4480559" cy="438912"/>
          </a:xfrm>
          <a:prstGeom prst="rect">
            <a:avLst/>
          </a:prstGeom>
          <a:noFill/>
        </p:spPr>
        <p:txBody>
          <a:bodyPr wrap="square" lIns="27432" tIns="18288" rIns="27432" bIns="18288">
            <a:spAutoFit/>
          </a:bodyPr>
          <a:lstStyle/>
          <a:p>
            <a:pPr algn="l">
              <a:defRPr sz="740" b="0">
                <a:solidFill>
                  <a:srgbClr val="374151"/>
                </a:solidFill>
                <a:latin typeface="Aptos"/>
              </a:defRPr>
            </a:pPr>
            <a:r>
              <a:t>International Organization for Standardization. (2018). ISO 31000:2018 Risk management — Guidelines. https://www.iso.org/standard/65694.html</a:t>
            </a:r>
          </a:p>
        </p:txBody>
      </p:sp>
      <p:sp>
        <p:nvSpPr>
          <p:cNvPr id="15" name="Oval 14"/>
          <p:cNvSpPr/>
          <p:nvPr/>
        </p:nvSpPr>
        <p:spPr>
          <a:xfrm>
            <a:off x="6400800" y="2688335"/>
            <a:ext cx="64008" cy="6400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60" y="2606039"/>
            <a:ext cx="4480559" cy="150811"/>
          </a:xfrm>
          <a:prstGeom prst="rect">
            <a:avLst/>
          </a:prstGeom>
          <a:noFill/>
        </p:spPr>
        <p:txBody>
          <a:bodyPr wrap="square" lIns="27432" tIns="18288" rIns="27432" bIns="18288">
            <a:spAutoFit/>
          </a:bodyPr>
          <a:lstStyle/>
          <a:p>
            <a:pPr algn="l">
              <a:defRPr sz="740" b="0">
                <a:solidFill>
                  <a:srgbClr val="374151"/>
                </a:solidFill>
                <a:latin typeface="Aptos"/>
              </a:defRPr>
            </a:pPr>
            <a:r>
              <a:rPr dirty="0"/>
              <a:t>National Institute of Standards and Technology. (2012). Guide for Conducting Risk Assessments (SP 800-30</a:t>
            </a:r>
          </a:p>
        </p:txBody>
      </p:sp>
      <p:sp>
        <p:nvSpPr>
          <p:cNvPr id="17" name="Oval 16"/>
          <p:cNvSpPr/>
          <p:nvPr/>
        </p:nvSpPr>
        <p:spPr>
          <a:xfrm>
            <a:off x="6400800" y="3419855"/>
            <a:ext cx="64008" cy="6400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3337559"/>
            <a:ext cx="4480559" cy="438912"/>
          </a:xfrm>
          <a:prstGeom prst="rect">
            <a:avLst/>
          </a:prstGeom>
          <a:noFill/>
        </p:spPr>
        <p:txBody>
          <a:bodyPr wrap="square" lIns="27432" tIns="18288" rIns="27432" bIns="18288">
            <a:spAutoFit/>
          </a:bodyPr>
          <a:lstStyle/>
          <a:p>
            <a:pPr algn="l">
              <a:defRPr sz="740" b="0">
                <a:solidFill>
                  <a:srgbClr val="374151"/>
                </a:solidFill>
                <a:latin typeface="Aptos"/>
              </a:defRPr>
            </a:pPr>
            <a:r>
              <a:t>Project Management Institute. (2021). A Guide to the Project Management Body of Knowledge (PMBOK® Guide) — Seventh Edition. PMI.</a:t>
            </a:r>
          </a:p>
        </p:txBody>
      </p:sp>
      <p:sp>
        <p:nvSpPr>
          <p:cNvPr id="19" name="Oval 18"/>
          <p:cNvSpPr/>
          <p:nvPr/>
        </p:nvSpPr>
        <p:spPr>
          <a:xfrm>
            <a:off x="6400800" y="4151375"/>
            <a:ext cx="64008" cy="6400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4069079"/>
            <a:ext cx="4480559" cy="438912"/>
          </a:xfrm>
          <a:prstGeom prst="rect">
            <a:avLst/>
          </a:prstGeom>
          <a:noFill/>
        </p:spPr>
        <p:txBody>
          <a:bodyPr wrap="square" lIns="27432" tIns="18288" rIns="27432" bIns="18288">
            <a:spAutoFit/>
          </a:bodyPr>
          <a:lstStyle/>
          <a:p>
            <a:pPr algn="l">
              <a:defRPr sz="740" b="0">
                <a:solidFill>
                  <a:srgbClr val="374151"/>
                </a:solidFill>
                <a:latin typeface="Aptos"/>
              </a:defRPr>
            </a:pPr>
            <a:r>
              <a:t>Expedientes PM de Fast Burger, ProcesMuebles e Industria Bloquera: RISK, VME, INC, controles de cambio, planes y registros de seguimiento.</a:t>
            </a:r>
          </a:p>
        </p:txBody>
      </p:sp>
      <p:sp>
        <p:nvSpPr>
          <p:cNvPr id="22" name="TextBox 21"/>
          <p:cNvSpPr txBox="1"/>
          <p:nvPr/>
        </p:nvSpPr>
        <p:spPr>
          <a:xfrm>
            <a:off x="11384280" y="6492240"/>
            <a:ext cx="411480" cy="182880"/>
          </a:xfrm>
          <a:prstGeom prst="rect">
            <a:avLst/>
          </a:prstGeom>
          <a:noFill/>
        </p:spPr>
        <p:txBody>
          <a:bodyPr wrap="none">
            <a:spAutoFit/>
          </a:bodyPr>
          <a:lstStyle/>
          <a:p>
            <a:pPr algn="r">
              <a:defRPr sz="750">
                <a:solidFill>
                  <a:srgbClr val="6B7280"/>
                </a:solidFill>
              </a:defRPr>
            </a:pPr>
            <a: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1670</Words>
  <Application>Microsoft Office PowerPoint</Application>
  <PresentationFormat>Panorámica</PresentationFormat>
  <Paragraphs>341</Paragraphs>
  <Slides>18</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-apple-system</vt:lpstr>
      <vt:lpstr>Aptos</vt:lpstr>
      <vt:lpstr>Aptos Display</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AMAURY JAHAZIEL GORDILLO HERNANDEZ</cp:lastModifiedBy>
  <cp:revision>4</cp:revision>
  <dcterms:created xsi:type="dcterms:W3CDTF">2013-01-27T09:14:16Z</dcterms:created>
  <dcterms:modified xsi:type="dcterms:W3CDTF">2026-09-22T07:11:53Z</dcterms:modified>
  <cp:category/>
</cp:coreProperties>
</file>