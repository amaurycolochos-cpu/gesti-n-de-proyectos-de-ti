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FD35C-08B8-47A6-BC72-3C068DA87648}" type="datetimeFigureOut">
              <a:rPr lang="es-MX" smtClean="0"/>
              <a:t>22/09/2026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EC2BA8-CA04-416C-9AFD-2F35249F951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5298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5792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so.org/standard/65694.html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n 4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280834" y="0"/>
            <a:ext cx="11911166" cy="6858000"/>
          </a:xfrm>
          <a:prstGeom prst="rect">
            <a:avLst/>
          </a:prstGeom>
        </p:spPr>
      </p:pic>
      <p:sp>
        <p:nvSpPr>
          <p:cNvPr id="2" name="institutional-navy-band">
            <a:extLst>
              <a:ext uri="{FF2B5EF4-FFF2-40B4-BE49-F238E27FC236}">
                <a16:creationId xmlns:a16="http://schemas.microsoft.com/office/drawing/2014/main" id="{3AE6E076-F470-4AFA-B05E-BB577D99A602}"/>
              </a:ext>
            </a:extLst>
          </p:cNvPr>
          <p:cNvSpPr>
            <a:spLocks noGrp="1"/>
          </p:cNvSpPr>
          <p:nvPr/>
        </p:nvSpPr>
        <p:spPr>
          <a:xfrm>
            <a:off x="-47626" y="0"/>
            <a:ext cx="328459" cy="6858000"/>
          </a:xfrm>
          <a:prstGeom prst="rect">
            <a:avLst/>
          </a:prstGeom>
          <a:solidFill>
            <a:srgbClr val="082958"/>
          </a:solidFill>
          <a:ln w="0">
            <a:noFill/>
            <a:prstDash val="solid"/>
          </a:ln>
        </p:spPr>
      </p:sp>
      <p:sp>
        <p:nvSpPr>
          <p:cNvPr id="3" name="institutional-gold-accent">
            <a:extLst>
              <a:ext uri="{FF2B5EF4-FFF2-40B4-BE49-F238E27FC236}">
                <a16:creationId xmlns:a16="http://schemas.microsoft.com/office/drawing/2014/main" id="{511065C0-35AD-4DAE-B610-DF6B7F488372}"/>
              </a:ext>
            </a:extLst>
          </p:cNvPr>
          <p:cNvSpPr>
            <a:spLocks noGrp="1"/>
          </p:cNvSpPr>
          <p:nvPr/>
        </p:nvSpPr>
        <p:spPr>
          <a:xfrm>
            <a:off x="280987" y="47625"/>
            <a:ext cx="28575" cy="643890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4" name="top-rule">
            <a:extLst>
              <a:ext uri="{FF2B5EF4-FFF2-40B4-BE49-F238E27FC236}">
                <a16:creationId xmlns:a16="http://schemas.microsoft.com/office/drawing/2014/main" id="{A402DA1E-9E80-4154-8892-48887862CA94}"/>
              </a:ext>
            </a:extLst>
          </p:cNvPr>
          <p:cNvSpPr>
            <a:spLocks noGrp="1"/>
          </p:cNvSpPr>
          <p:nvPr/>
        </p:nvSpPr>
        <p:spPr>
          <a:xfrm>
            <a:off x="838200" y="1009650"/>
            <a:ext cx="10515600" cy="0"/>
          </a:xfrm>
          <a:prstGeom prst="line">
            <a:avLst/>
          </a:prstGeom>
          <a:noFill/>
          <a:ln w="11430">
            <a:solidFill>
              <a:srgbClr val="DCEBFA"/>
            </a:solidFill>
            <a:prstDash val="solid"/>
          </a:ln>
        </p:spPr>
      </p:sp>
      <p:sp>
        <p:nvSpPr>
          <p:cNvPr id="6" name="institution-name">
            <a:extLst>
              <a:ext uri="{FF2B5EF4-FFF2-40B4-BE49-F238E27FC236}">
                <a16:creationId xmlns:a16="http://schemas.microsoft.com/office/drawing/2014/main" id="{E0E92947-86F7-4A12-A128-7B0159F83BDC}"/>
              </a:ext>
            </a:extLst>
          </p:cNvPr>
          <p:cNvSpPr>
            <a:spLocks noGrp="1"/>
          </p:cNvSpPr>
          <p:nvPr/>
        </p:nvSpPr>
        <p:spPr>
          <a:xfrm>
            <a:off x="3641008" y="892277"/>
            <a:ext cx="5464892" cy="6667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5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5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TECNOLÓGICO NACIONAL DE MÉXICO</a:t>
            </a:r>
          </a:p>
        </p:txBody>
      </p:sp>
      <p:sp>
        <p:nvSpPr>
          <p:cNvPr id="9" name="degree-title">
            <a:extLst>
              <a:ext uri="{FF2B5EF4-FFF2-40B4-BE49-F238E27FC236}">
                <a16:creationId xmlns:a16="http://schemas.microsoft.com/office/drawing/2014/main" id="{897E2AE5-15D9-4AB6-9730-7184F55D8F9A}"/>
              </a:ext>
            </a:extLst>
          </p:cNvPr>
          <p:cNvSpPr>
            <a:spLocks noGrp="1"/>
          </p:cNvSpPr>
          <p:nvPr/>
        </p:nvSpPr>
        <p:spPr>
          <a:xfrm>
            <a:off x="3429000" y="1454252"/>
            <a:ext cx="5524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23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INGENIERÍA EN</a:t>
            </a:r>
          </a:p>
          <a:p>
            <a:pPr algn="ctr">
              <a:lnSpc>
                <a:spcPct val="92000"/>
              </a:lnSpc>
              <a:buNone/>
              <a:defRPr sz="23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SISTEMAS COMPUTACIONALES</a:t>
            </a:r>
          </a:p>
        </p:txBody>
      </p:sp>
      <p:sp>
        <p:nvSpPr>
          <p:cNvPr id="10" name="degree-gold-rule-left">
            <a:extLst>
              <a:ext uri="{FF2B5EF4-FFF2-40B4-BE49-F238E27FC236}">
                <a16:creationId xmlns:a16="http://schemas.microsoft.com/office/drawing/2014/main" id="{C8050B62-10E2-4D95-BEEE-6E1978022F99}"/>
              </a:ext>
            </a:extLst>
          </p:cNvPr>
          <p:cNvSpPr>
            <a:spLocks noGrp="1"/>
          </p:cNvSpPr>
          <p:nvPr/>
        </p:nvSpPr>
        <p:spPr>
          <a:xfrm>
            <a:off x="4848225" y="2209800"/>
            <a:ext cx="990600" cy="0"/>
          </a:xfrm>
          <a:prstGeom prst="line">
            <a:avLst/>
          </a:prstGeom>
          <a:noFill/>
          <a:ln w="15240">
            <a:solidFill>
              <a:srgbClr val="C8972C"/>
            </a:solidFill>
            <a:prstDash val="solid"/>
          </a:ln>
        </p:spPr>
      </p:sp>
      <p:sp>
        <p:nvSpPr>
          <p:cNvPr id="11" name="degree-gold-rule-right">
            <a:extLst>
              <a:ext uri="{FF2B5EF4-FFF2-40B4-BE49-F238E27FC236}">
                <a16:creationId xmlns:a16="http://schemas.microsoft.com/office/drawing/2014/main" id="{12397A49-149B-4ECA-A15E-F885934091D1}"/>
              </a:ext>
            </a:extLst>
          </p:cNvPr>
          <p:cNvSpPr>
            <a:spLocks noGrp="1"/>
          </p:cNvSpPr>
          <p:nvPr/>
        </p:nvSpPr>
        <p:spPr>
          <a:xfrm>
            <a:off x="6353175" y="2209800"/>
            <a:ext cx="990600" cy="0"/>
          </a:xfrm>
          <a:prstGeom prst="line">
            <a:avLst/>
          </a:prstGeom>
          <a:noFill/>
          <a:ln w="15240">
            <a:solidFill>
              <a:srgbClr val="C8972C"/>
            </a:solidFill>
            <a:prstDash val="solid"/>
          </a:ln>
        </p:spPr>
      </p:sp>
      <p:sp>
        <p:nvSpPr>
          <p:cNvPr id="13" name="course-title-line-1">
            <a:extLst>
              <a:ext uri="{FF2B5EF4-FFF2-40B4-BE49-F238E27FC236}">
                <a16:creationId xmlns:a16="http://schemas.microsoft.com/office/drawing/2014/main" id="{24A5C187-BE41-45B6-8BF3-A2878D2FD52B}"/>
              </a:ext>
            </a:extLst>
          </p:cNvPr>
          <p:cNvSpPr>
            <a:spLocks noGrp="1"/>
          </p:cNvSpPr>
          <p:nvPr/>
        </p:nvSpPr>
        <p:spPr>
          <a:xfrm>
            <a:off x="2362199" y="2633663"/>
            <a:ext cx="74676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833" lnSpcReduction="10000"/>
          </a:bodyPr>
          <a:lstStyle/>
          <a:p>
            <a:pPr algn="ctr">
              <a:buNone/>
              <a:defRPr sz="41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lang="es-MX" sz="4125" b="1" dirty="0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GESTION DE PROYECTOS DE TI</a:t>
            </a:r>
            <a:endParaRPr sz="4125" b="1" dirty="0">
              <a:solidFill>
                <a:srgbClr val="0B347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5" name="activity-left-trace-1">
            <a:extLst>
              <a:ext uri="{FF2B5EF4-FFF2-40B4-BE49-F238E27FC236}">
                <a16:creationId xmlns:a16="http://schemas.microsoft.com/office/drawing/2014/main" id="{7D063C37-CCC4-4D1E-800C-E1EC27DFD060}"/>
              </a:ext>
            </a:extLst>
          </p:cNvPr>
          <p:cNvSpPr>
            <a:spLocks noGrp="1"/>
          </p:cNvSpPr>
          <p:nvPr/>
        </p:nvSpPr>
        <p:spPr>
          <a:xfrm>
            <a:off x="2038350" y="377190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6" name="activity-left-trace-2">
            <a:extLst>
              <a:ext uri="{FF2B5EF4-FFF2-40B4-BE49-F238E27FC236}">
                <a16:creationId xmlns:a16="http://schemas.microsoft.com/office/drawing/2014/main" id="{3CFD8881-ED44-45BD-9DF0-783461E898DA}"/>
              </a:ext>
            </a:extLst>
          </p:cNvPr>
          <p:cNvSpPr>
            <a:spLocks noGrp="1"/>
          </p:cNvSpPr>
          <p:nvPr/>
        </p:nvSpPr>
        <p:spPr>
          <a:xfrm>
            <a:off x="2552700" y="3676650"/>
            <a:ext cx="0" cy="9525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7" name="activity-left-trace-3">
            <a:extLst>
              <a:ext uri="{FF2B5EF4-FFF2-40B4-BE49-F238E27FC236}">
                <a16:creationId xmlns:a16="http://schemas.microsoft.com/office/drawing/2014/main" id="{40CE4708-D5C7-40D2-BE07-C709D6A81A4E}"/>
              </a:ext>
            </a:extLst>
          </p:cNvPr>
          <p:cNvSpPr>
            <a:spLocks noGrp="1"/>
          </p:cNvSpPr>
          <p:nvPr/>
        </p:nvSpPr>
        <p:spPr>
          <a:xfrm>
            <a:off x="2552700" y="367665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8" name="activity-left-node">
            <a:extLst>
              <a:ext uri="{FF2B5EF4-FFF2-40B4-BE49-F238E27FC236}">
                <a16:creationId xmlns:a16="http://schemas.microsoft.com/office/drawing/2014/main" id="{61DC4950-E910-4AA5-840B-B61E8D5D8C11}"/>
              </a:ext>
            </a:extLst>
          </p:cNvPr>
          <p:cNvSpPr>
            <a:spLocks noGrp="1"/>
          </p:cNvSpPr>
          <p:nvPr/>
        </p:nvSpPr>
        <p:spPr>
          <a:xfrm>
            <a:off x="3086100" y="363855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  <p:sp>
        <p:nvSpPr>
          <p:cNvPr id="19" name="activity-right-node">
            <a:extLst>
              <a:ext uri="{FF2B5EF4-FFF2-40B4-BE49-F238E27FC236}">
                <a16:creationId xmlns:a16="http://schemas.microsoft.com/office/drawing/2014/main" id="{825A2979-FD3A-4780-A5BF-2B891AF31213}"/>
              </a:ext>
            </a:extLst>
          </p:cNvPr>
          <p:cNvSpPr>
            <a:spLocks noGrp="1"/>
          </p:cNvSpPr>
          <p:nvPr/>
        </p:nvSpPr>
        <p:spPr>
          <a:xfrm>
            <a:off x="9020175" y="363855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  <p:sp>
        <p:nvSpPr>
          <p:cNvPr id="20" name="activity-right-trace-1">
            <a:extLst>
              <a:ext uri="{FF2B5EF4-FFF2-40B4-BE49-F238E27FC236}">
                <a16:creationId xmlns:a16="http://schemas.microsoft.com/office/drawing/2014/main" id="{38B16BE7-5C8D-4EAB-B2EE-18E787DD60AA}"/>
              </a:ext>
            </a:extLst>
          </p:cNvPr>
          <p:cNvSpPr>
            <a:spLocks noGrp="1"/>
          </p:cNvSpPr>
          <p:nvPr/>
        </p:nvSpPr>
        <p:spPr>
          <a:xfrm>
            <a:off x="9105900" y="367665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1" name="activity-right-trace-2">
            <a:extLst>
              <a:ext uri="{FF2B5EF4-FFF2-40B4-BE49-F238E27FC236}">
                <a16:creationId xmlns:a16="http://schemas.microsoft.com/office/drawing/2014/main" id="{B0073C7F-4C58-47DE-BB0A-AFC31EDFE384}"/>
              </a:ext>
            </a:extLst>
          </p:cNvPr>
          <p:cNvSpPr>
            <a:spLocks noGrp="1"/>
          </p:cNvSpPr>
          <p:nvPr/>
        </p:nvSpPr>
        <p:spPr>
          <a:xfrm>
            <a:off x="9620250" y="3676650"/>
            <a:ext cx="0" cy="9525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2" name="activity-right-trace-3">
            <a:extLst>
              <a:ext uri="{FF2B5EF4-FFF2-40B4-BE49-F238E27FC236}">
                <a16:creationId xmlns:a16="http://schemas.microsoft.com/office/drawing/2014/main" id="{0A4D59B6-4962-4FEF-A21B-2AF53EF32F99}"/>
              </a:ext>
            </a:extLst>
          </p:cNvPr>
          <p:cNvSpPr>
            <a:spLocks noGrp="1"/>
          </p:cNvSpPr>
          <p:nvPr/>
        </p:nvSpPr>
        <p:spPr>
          <a:xfrm>
            <a:off x="9620250" y="377190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3" name="activity-title">
            <a:extLst>
              <a:ext uri="{FF2B5EF4-FFF2-40B4-BE49-F238E27FC236}">
                <a16:creationId xmlns:a16="http://schemas.microsoft.com/office/drawing/2014/main" id="{F746EC2E-9743-49CF-891C-11DBE19DF422}"/>
              </a:ext>
            </a:extLst>
          </p:cNvPr>
          <p:cNvSpPr>
            <a:spLocks noGrp="1"/>
          </p:cNvSpPr>
          <p:nvPr/>
        </p:nvSpPr>
        <p:spPr>
          <a:xfrm>
            <a:off x="3238500" y="3581400"/>
            <a:ext cx="571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498"/>
          </a:bodyPr>
          <a:lstStyle/>
          <a:p>
            <a:pPr algn="ctr">
              <a:buNone/>
              <a:defRPr sz="1875" b="1">
                <a:solidFill>
                  <a:srgbClr val="2862A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ACTIVIDAD </a:t>
            </a:r>
            <a:r>
              <a:rPr lang="es-MX"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4.3</a:t>
            </a:r>
            <a:r>
              <a:rPr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 — </a:t>
            </a:r>
            <a:r>
              <a:rPr b="0" i="0" dirty="0">
                <a:solidFill>
                  <a:srgbClr val="212529"/>
                </a:solidFill>
                <a:latin typeface="-apple-system"/>
                <a:ea typeface="-apple-system"/>
                <a:cs typeface="-apple-system"/>
              </a:rPr>
              <a:t>REPORTE DE PRACTICA</a:t>
            </a:r>
          </a:p>
          <a:p>
            <a:pPr algn="ctr">
              <a:buNone/>
              <a:defRPr sz="1875" b="1">
                <a:solidFill>
                  <a:srgbClr val="2862AA"/>
                </a:solidFill>
                <a:latin typeface="Aptos Display"/>
                <a:ea typeface="Aptos Display"/>
                <a:cs typeface="Aptos Display"/>
              </a:defRPr>
            </a:pPr>
            <a:endParaRPr sz="1875" b="1" dirty="0">
              <a:solidFill>
                <a:srgbClr val="2862A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4" name="students-heading">
            <a:extLst>
              <a:ext uri="{FF2B5EF4-FFF2-40B4-BE49-F238E27FC236}">
                <a16:creationId xmlns:a16="http://schemas.microsoft.com/office/drawing/2014/main" id="{B3090DA1-DD45-4D5A-810A-68C80D1D5495}"/>
              </a:ext>
            </a:extLst>
          </p:cNvPr>
          <p:cNvSpPr>
            <a:spLocks noGrp="1"/>
          </p:cNvSpPr>
          <p:nvPr/>
        </p:nvSpPr>
        <p:spPr>
          <a:xfrm>
            <a:off x="2857500" y="4143375"/>
            <a:ext cx="4667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PRESENTA</a:t>
            </a:r>
          </a:p>
        </p:txBody>
      </p:sp>
      <p:sp>
        <p:nvSpPr>
          <p:cNvPr id="25" name="enrollment-heading">
            <a:extLst>
              <a:ext uri="{FF2B5EF4-FFF2-40B4-BE49-F238E27FC236}">
                <a16:creationId xmlns:a16="http://schemas.microsoft.com/office/drawing/2014/main" id="{8497282D-0F32-46CC-9BD6-A908719C1476}"/>
              </a:ext>
            </a:extLst>
          </p:cNvPr>
          <p:cNvSpPr>
            <a:spLocks noGrp="1"/>
          </p:cNvSpPr>
          <p:nvPr/>
        </p:nvSpPr>
        <p:spPr>
          <a:xfrm>
            <a:off x="7715250" y="4143375"/>
            <a:ext cx="1619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MATRÍCULA</a:t>
            </a:r>
          </a:p>
        </p:txBody>
      </p:sp>
      <p:sp>
        <p:nvSpPr>
          <p:cNvPr id="26" name="students-top-rule">
            <a:extLst>
              <a:ext uri="{FF2B5EF4-FFF2-40B4-BE49-F238E27FC236}">
                <a16:creationId xmlns:a16="http://schemas.microsoft.com/office/drawing/2014/main" id="{A7922C15-D34B-4B95-9915-A3A8D77C7F79}"/>
              </a:ext>
            </a:extLst>
          </p:cNvPr>
          <p:cNvSpPr>
            <a:spLocks noGrp="1"/>
          </p:cNvSpPr>
          <p:nvPr/>
        </p:nvSpPr>
        <p:spPr>
          <a:xfrm>
            <a:off x="2857500" y="4381500"/>
            <a:ext cx="6477000" cy="0"/>
          </a:xfrm>
          <a:prstGeom prst="line">
            <a:avLst/>
          </a:prstGeom>
          <a:noFill/>
          <a:ln w="14288">
            <a:solidFill>
              <a:srgbClr val="0B3473"/>
            </a:solidFill>
            <a:prstDash val="solid"/>
          </a:ln>
        </p:spPr>
      </p:sp>
      <p:sp>
        <p:nvSpPr>
          <p:cNvPr id="28" name="students-row-divider">
            <a:extLst>
              <a:ext uri="{FF2B5EF4-FFF2-40B4-BE49-F238E27FC236}">
                <a16:creationId xmlns:a16="http://schemas.microsoft.com/office/drawing/2014/main" id="{0EBB92DB-59C3-4BDC-99A0-F2F4D93B78A4}"/>
              </a:ext>
            </a:extLst>
          </p:cNvPr>
          <p:cNvSpPr>
            <a:spLocks noGrp="1"/>
          </p:cNvSpPr>
          <p:nvPr/>
        </p:nvSpPr>
        <p:spPr>
          <a:xfrm>
            <a:off x="2857500" y="4800600"/>
            <a:ext cx="6477000" cy="0"/>
          </a:xfrm>
          <a:prstGeom prst="line">
            <a:avLst/>
          </a:prstGeom>
          <a:noFill/>
          <a:ln w="9525">
            <a:solidFill>
              <a:srgbClr val="DCEBFA"/>
            </a:solidFill>
            <a:prstDash val="solid"/>
          </a:ln>
        </p:spPr>
      </p:sp>
      <p:sp>
        <p:nvSpPr>
          <p:cNvPr id="29" name="students-column-divider">
            <a:extLst>
              <a:ext uri="{FF2B5EF4-FFF2-40B4-BE49-F238E27FC236}">
                <a16:creationId xmlns:a16="http://schemas.microsoft.com/office/drawing/2014/main" id="{D19BD447-A808-4FDA-A54C-331FE02FEA74}"/>
              </a:ext>
            </a:extLst>
          </p:cNvPr>
          <p:cNvSpPr>
            <a:spLocks noGrp="1"/>
          </p:cNvSpPr>
          <p:nvPr/>
        </p:nvSpPr>
        <p:spPr>
          <a:xfrm>
            <a:off x="7639050" y="4476750"/>
            <a:ext cx="0" cy="647700"/>
          </a:xfrm>
          <a:prstGeom prst="line">
            <a:avLst/>
          </a:prstGeom>
          <a:noFill/>
          <a:ln w="9525">
            <a:solidFill>
              <a:srgbClr val="9DB9DB"/>
            </a:solidFill>
            <a:prstDash val="solid"/>
          </a:ln>
        </p:spPr>
      </p:sp>
      <p:sp>
        <p:nvSpPr>
          <p:cNvPr id="30" name="student-row-one-marker">
            <a:extLst>
              <a:ext uri="{FF2B5EF4-FFF2-40B4-BE49-F238E27FC236}">
                <a16:creationId xmlns:a16="http://schemas.microsoft.com/office/drawing/2014/main" id="{4F497FA1-C313-4F3D-9493-840BF4D89598}"/>
              </a:ext>
            </a:extLst>
          </p:cNvPr>
          <p:cNvSpPr>
            <a:spLocks noGrp="1"/>
          </p:cNvSpPr>
          <p:nvPr/>
        </p:nvSpPr>
        <p:spPr>
          <a:xfrm>
            <a:off x="2876550" y="4486275"/>
            <a:ext cx="38100" cy="20955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34" name="student-two-name">
            <a:extLst>
              <a:ext uri="{FF2B5EF4-FFF2-40B4-BE49-F238E27FC236}">
                <a16:creationId xmlns:a16="http://schemas.microsoft.com/office/drawing/2014/main" id="{3EF7C761-CF7A-4E70-9E2B-16269734FC91}"/>
              </a:ext>
            </a:extLst>
          </p:cNvPr>
          <p:cNvSpPr>
            <a:spLocks noGrp="1"/>
          </p:cNvSpPr>
          <p:nvPr/>
        </p:nvSpPr>
        <p:spPr>
          <a:xfrm>
            <a:off x="3056554" y="4467225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>
                <a:solidFill>
                  <a:srgbClr val="102B5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B5C"/>
                </a:solidFill>
                <a:latin typeface="Aptos"/>
                <a:ea typeface="Aptos"/>
                <a:cs typeface="Aptos"/>
              </a:rPr>
              <a:t>Amaury Jahaziel Gordillo Hernández</a:t>
            </a:r>
          </a:p>
        </p:txBody>
      </p:sp>
      <p:sp>
        <p:nvSpPr>
          <p:cNvPr id="35" name="student-two-id">
            <a:extLst>
              <a:ext uri="{FF2B5EF4-FFF2-40B4-BE49-F238E27FC236}">
                <a16:creationId xmlns:a16="http://schemas.microsoft.com/office/drawing/2014/main" id="{05E44B11-B863-4ECE-A2F6-C9964031DF71}"/>
              </a:ext>
            </a:extLst>
          </p:cNvPr>
          <p:cNvSpPr>
            <a:spLocks noGrp="1"/>
          </p:cNvSpPr>
          <p:nvPr/>
        </p:nvSpPr>
        <p:spPr>
          <a:xfrm>
            <a:off x="7791450" y="4438649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425" b="0">
                <a:solidFill>
                  <a:srgbClr val="102B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B5C"/>
                </a:solidFill>
                <a:latin typeface="Aptos"/>
                <a:ea typeface="Aptos"/>
                <a:cs typeface="Aptos"/>
              </a:rPr>
              <a:t>231260074</a:t>
            </a:r>
          </a:p>
        </p:txBody>
      </p:sp>
      <p:sp>
        <p:nvSpPr>
          <p:cNvPr id="36" name="teacher-heading">
            <a:extLst>
              <a:ext uri="{FF2B5EF4-FFF2-40B4-BE49-F238E27FC236}">
                <a16:creationId xmlns:a16="http://schemas.microsoft.com/office/drawing/2014/main" id="{F388D88D-A3F7-4DA5-9D23-808A58C08C1E}"/>
              </a:ext>
            </a:extLst>
          </p:cNvPr>
          <p:cNvSpPr>
            <a:spLocks noGrp="1"/>
          </p:cNvSpPr>
          <p:nvPr/>
        </p:nvSpPr>
        <p:spPr>
          <a:xfrm>
            <a:off x="4191000" y="5467350"/>
            <a:ext cx="3810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>
                <a:solidFill>
                  <a:srgbClr val="55739E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55739E"/>
                </a:solidFill>
                <a:latin typeface="Aptos Display"/>
                <a:ea typeface="Aptos Display"/>
                <a:cs typeface="Aptos Display"/>
              </a:rPr>
              <a:t>DOCENTE</a:t>
            </a:r>
          </a:p>
        </p:txBody>
      </p:sp>
      <p:sp>
        <p:nvSpPr>
          <p:cNvPr id="37" name="teacher-name">
            <a:extLst>
              <a:ext uri="{FF2B5EF4-FFF2-40B4-BE49-F238E27FC236}">
                <a16:creationId xmlns:a16="http://schemas.microsoft.com/office/drawing/2014/main" id="{AA678B21-6A90-4BCE-8092-FF0E0979DE5C}"/>
              </a:ext>
            </a:extLst>
          </p:cNvPr>
          <p:cNvSpPr>
            <a:spLocks noGrp="1"/>
          </p:cNvSpPr>
          <p:nvPr/>
        </p:nvSpPr>
        <p:spPr>
          <a:xfrm>
            <a:off x="2857500" y="5705475"/>
            <a:ext cx="6477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800" b="1">
                <a:latin typeface="Aptos Display"/>
                <a:ea typeface="Aptos Display"/>
                <a:cs typeface="Aptos Display"/>
              </a:rPr>
              <a:t>ING. FRANCISCO JAVIER MINGO VELAZQUEZ</a:t>
            </a:r>
            <a:endParaRPr sz="1800">
              <a:latin typeface="Arial"/>
              <a:ea typeface="Arial"/>
              <a:cs typeface="Arial"/>
            </a:endParaRPr>
          </a:p>
        </p:txBody>
      </p:sp>
      <p:sp>
        <p:nvSpPr>
          <p:cNvPr id="38" name="footer-rule">
            <a:extLst>
              <a:ext uri="{FF2B5EF4-FFF2-40B4-BE49-F238E27FC236}">
                <a16:creationId xmlns:a16="http://schemas.microsoft.com/office/drawing/2014/main" id="{7C40688F-E9E3-4093-9368-ADED90666EB5}"/>
              </a:ext>
            </a:extLst>
          </p:cNvPr>
          <p:cNvSpPr>
            <a:spLocks noGrp="1"/>
          </p:cNvSpPr>
          <p:nvPr/>
        </p:nvSpPr>
        <p:spPr>
          <a:xfrm>
            <a:off x="1943100" y="6191250"/>
            <a:ext cx="8305800" cy="0"/>
          </a:xfrm>
          <a:prstGeom prst="line">
            <a:avLst/>
          </a:prstGeom>
          <a:noFill/>
          <a:ln w="11430">
            <a:solidFill>
              <a:srgbClr val="9DB9DB"/>
            </a:solidFill>
            <a:prstDash val="solid"/>
          </a:ln>
        </p:spPr>
      </p:sp>
      <p:sp>
        <p:nvSpPr>
          <p:cNvPr id="39" name="footer-rule-accent">
            <a:extLst>
              <a:ext uri="{FF2B5EF4-FFF2-40B4-BE49-F238E27FC236}">
                <a16:creationId xmlns:a16="http://schemas.microsoft.com/office/drawing/2014/main" id="{AA9604F1-D818-4EDE-AFC0-507B4EE53347}"/>
              </a:ext>
            </a:extLst>
          </p:cNvPr>
          <p:cNvSpPr>
            <a:spLocks noGrp="1"/>
          </p:cNvSpPr>
          <p:nvPr/>
        </p:nvSpPr>
        <p:spPr>
          <a:xfrm>
            <a:off x="5829300" y="6172200"/>
            <a:ext cx="533400" cy="3810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40" name="date-location">
            <a:extLst>
              <a:ext uri="{FF2B5EF4-FFF2-40B4-BE49-F238E27FC236}">
                <a16:creationId xmlns:a16="http://schemas.microsoft.com/office/drawing/2014/main" id="{8EF49A72-4459-4AD1-9919-B580F4EB3D0A}"/>
              </a:ext>
            </a:extLst>
          </p:cNvPr>
          <p:cNvSpPr>
            <a:spLocks noGrp="1"/>
          </p:cNvSpPr>
          <p:nvPr/>
        </p:nvSpPr>
        <p:spPr>
          <a:xfrm>
            <a:off x="2476500" y="6372225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0">
                <a:solidFill>
                  <a:srgbClr val="0B3473"/>
                </a:solidFill>
                <a:latin typeface="Aptos"/>
                <a:ea typeface="Aptos"/>
                <a:cs typeface="Aptos"/>
              </a:defRPr>
            </a:pPr>
            <a:r>
              <a:rPr lang="es-MX" sz="135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19 DE SEPTIEMBRE </a:t>
            </a:r>
            <a:r>
              <a:rPr sz="1350" b="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DE 2026  ·  VENUSTIANO CARRANZA, CHIAPAS</a:t>
            </a:r>
          </a:p>
        </p:txBody>
      </p:sp>
      <p:pic>
        <p:nvPicPr>
          <p:cNvPr id="75" name="Imagen 4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1576" y="128441"/>
            <a:ext cx="1834529" cy="809723"/>
          </a:xfrm>
          <a:prstGeom prst="rect">
            <a:avLst/>
          </a:prstGeom>
          <a:ln>
            <a:noFill/>
          </a:ln>
        </p:spPr>
      </p:pic>
      <p:pic>
        <p:nvPicPr>
          <p:cNvPr id="76" name="Imagen 42"/>
          <p:cNvPicPr>
            <a:picLocks noChangeAspect="1"/>
          </p:cNvPicPr>
          <p:nvPr/>
        </p:nvPicPr>
        <p:blipFill rotWithShape="1">
          <a:blip r:embed="rId5"/>
          <a:srcRect/>
          <a:stretch/>
        </p:blipFill>
        <p:spPr>
          <a:xfrm>
            <a:off x="10619686" y="11882"/>
            <a:ext cx="1289022" cy="926282"/>
          </a:xfrm>
          <a:prstGeom prst="rect">
            <a:avLst/>
          </a:prstGeom>
          <a:ln>
            <a:noFill/>
          </a:ln>
        </p:spPr>
      </p:pic>
      <p:sp>
        <p:nvSpPr>
          <p:cNvPr id="5" name="activity-left-node">
            <a:extLst>
              <a:ext uri="{FF2B5EF4-FFF2-40B4-BE49-F238E27FC236}">
                <a16:creationId xmlns:a16="http://schemas.microsoft.com/office/drawing/2014/main" id="{AB38A2EA-B133-B170-0BFA-9B5674F0137F}"/>
              </a:ext>
            </a:extLst>
          </p:cNvPr>
          <p:cNvSpPr>
            <a:spLocks noGrp="1"/>
          </p:cNvSpPr>
          <p:nvPr/>
        </p:nvSpPr>
        <p:spPr>
          <a:xfrm>
            <a:off x="6053137" y="214850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4056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955279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/>
            <a:r>
              <a:rPr sz="2800" b="1">
                <a:solidFill>
                  <a:srgbClr val="183153"/>
                </a:solidFill>
                <a:latin typeface="Aptos"/>
              </a:rPr>
              <a:t>Introducción y justificación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88696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tos"/>
              </a:rPr>
              <a:t>El ejercicio trabaja con riesgos reales y cálculos académicos de VME.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10972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534924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417320"/>
            <a:ext cx="73152" cy="18288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581912"/>
            <a:ext cx="502920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l"/>
            <a:r>
              <a:rPr sz="1400" b="1">
                <a:solidFill>
                  <a:srgbClr val="183153"/>
                </a:solidFill>
                <a:latin typeface="Aptos"/>
              </a:rPr>
              <a:t>Introducción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20240"/>
            <a:ext cx="5029200" cy="1207007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60" b="0">
                <a:solidFill>
                  <a:srgbClr val="25313C"/>
                </a:solidFill>
                <a:latin typeface="Aptos"/>
              </a:rPr>
              <a:t>La gestión de riesgos permite anticipar retrasos, fallas de calidad o cambios de alcance antes de que afecten la entrega. En estos ejercicios se combinan situaciones observadas en los proyectos supervisados con operaciones numéricas para valorar impacto y prioridad.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520440"/>
            <a:ext cx="534924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3520440"/>
            <a:ext cx="73152" cy="1828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3685032"/>
            <a:ext cx="502920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l"/>
            <a:r>
              <a:rPr sz="1400" b="1">
                <a:solidFill>
                  <a:srgbClr val="183153"/>
                </a:solidFill>
                <a:latin typeface="Aptos"/>
              </a:rPr>
              <a:t>Justificación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023360"/>
            <a:ext cx="5029200" cy="1207007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60" b="0">
                <a:solidFill>
                  <a:srgbClr val="25313C"/>
                </a:solidFill>
                <a:latin typeface="Aptos"/>
              </a:rPr>
              <a:t>Se eligió el formato de banco porque obliga a resolver, no solo a definir. Cada ejercicio muestra un caso, el procedimiento y la respuesta. Cuando se utilizan importes, se manejan como valores académicos para practicar VME, sin presentarlos como costos reales del expediente.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417320"/>
            <a:ext cx="4983480" cy="393192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12280" y="1737360"/>
            <a:ext cx="420624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l"/>
            <a:r>
              <a:rPr sz="1800" b="1">
                <a:solidFill>
                  <a:srgbClr val="183153"/>
                </a:solidFill>
                <a:latin typeface="Aptos"/>
              </a:rPr>
              <a:t>Base de trabajo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286000"/>
            <a:ext cx="4297680" cy="25603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360">
                <a:solidFill>
                  <a:srgbClr val="25313C"/>
                </a:solidFill>
                <a:latin typeface="Aptos"/>
              </a:defRPr>
            </a:pPr>
            <a:r>
              <a:t>Aarón · Fast Burger: retraso, incidencia, corrección D6-D7 y VME.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360">
                <a:solidFill>
                  <a:srgbClr val="25313C"/>
                </a:solidFill>
                <a:latin typeface="Aptos"/>
              </a:defRPr>
            </a:pPr>
            <a:r>
              <a:t>Alondra · ProcesMuebles: inconsistencias D2-D5, plan de recuperación y VME.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360">
                <a:solidFill>
                  <a:srgbClr val="25313C"/>
                </a:solidFill>
                <a:latin typeface="Aptos"/>
              </a:defRPr>
            </a:pPr>
            <a:r>
              <a:t>Ángel · Industria Bloquera: alcance, cronograma y control de ejecución según PLAN-001.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360">
                <a:solidFill>
                  <a:srgbClr val="25313C"/>
                </a:solidFill>
                <a:latin typeface="Aptos"/>
              </a:defRPr>
            </a:pPr>
            <a:r>
              <a:t>Corte de seguimiento usado: 16 de septiembre de 2026.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955279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/>
            <a:r>
              <a:rPr sz="2800" b="1">
                <a:solidFill>
                  <a:srgbClr val="183153"/>
                </a:solidFill>
                <a:latin typeface="Aptos"/>
              </a:rPr>
              <a:t>Instrucciones de resolución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88696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tos"/>
              </a:rPr>
              <a:t>Cada ejercicio se responde con datos, procedimiento y resultado.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10972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938528" cy="3291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389888" y="1828800"/>
            <a:ext cx="594360" cy="411480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35608" y="1865376"/>
            <a:ext cx="50292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87168"/>
            <a:ext cx="1572768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1450" b="1">
                <a:solidFill>
                  <a:srgbClr val="183153"/>
                </a:solidFill>
                <a:latin typeface="Aptos"/>
              </a:rPr>
              <a:t>Leer el caso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999232"/>
            <a:ext cx="1536192" cy="11430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1050" b="0">
                <a:solidFill>
                  <a:srgbClr val="25313C"/>
                </a:solidFill>
                <a:latin typeface="Aptos"/>
              </a:rPr>
              <a:t>Se identifica qué puede afectar fecha, alcance, calidad o recursos.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9232" y="1554480"/>
            <a:ext cx="1938528" cy="3291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657600" y="1828800"/>
            <a:ext cx="594360" cy="411480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1865376"/>
            <a:ext cx="50292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2487168"/>
            <a:ext cx="1572768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1450" b="1">
                <a:solidFill>
                  <a:srgbClr val="183153"/>
                </a:solidFill>
                <a:latin typeface="Aptos"/>
              </a:rPr>
              <a:t>Clasificar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999232"/>
            <a:ext cx="1536192" cy="11430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1050" b="0">
                <a:solidFill>
                  <a:srgbClr val="25313C"/>
                </a:solidFill>
                <a:latin typeface="Aptos"/>
              </a:rPr>
              <a:t>Se separa riesgo potencial de incidencia ya ocurrida.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66944" y="1554480"/>
            <a:ext cx="1938528" cy="3291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925312" y="1828800"/>
            <a:ext cx="594360" cy="411480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71031" y="1865376"/>
            <a:ext cx="50292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9824" y="2487168"/>
            <a:ext cx="1572768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1450" b="1">
                <a:solidFill>
                  <a:srgbClr val="183153"/>
                </a:solidFill>
                <a:latin typeface="Aptos"/>
              </a:rPr>
              <a:t>Valorar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68112" y="2999232"/>
            <a:ext cx="1536192" cy="11430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1050" b="0">
                <a:solidFill>
                  <a:srgbClr val="25313C"/>
                </a:solidFill>
                <a:latin typeface="Aptos"/>
              </a:rPr>
              <a:t>Se asigna probabilidad e impacto cualitativo o numérico.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34656" y="1554480"/>
            <a:ext cx="1938528" cy="3291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193024" y="1828800"/>
            <a:ext cx="594360" cy="411480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38744" y="1865376"/>
            <a:ext cx="50292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17536" y="2487168"/>
            <a:ext cx="1572768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1450" b="1">
                <a:solidFill>
                  <a:srgbClr val="183153"/>
                </a:solidFill>
                <a:latin typeface="Aptos"/>
              </a:rPr>
              <a:t>Calcular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5824" y="2999232"/>
            <a:ext cx="1536192" cy="11430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1050" b="0">
                <a:solidFill>
                  <a:srgbClr val="25313C"/>
                </a:solidFill>
                <a:latin typeface="Aptos"/>
              </a:rPr>
              <a:t>Cuando hay datos, se aplica VME = probabilidad × impacto.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02368" y="1554480"/>
            <a:ext cx="1938528" cy="3291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460736" y="1828800"/>
            <a:ext cx="594360" cy="411480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506456" y="1865376"/>
            <a:ext cx="50292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85248" y="2487168"/>
            <a:ext cx="1572768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1450" b="1">
                <a:solidFill>
                  <a:srgbClr val="183153"/>
                </a:solidFill>
                <a:latin typeface="Aptos"/>
              </a:rPr>
              <a:t>Decidir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03536" y="2999232"/>
            <a:ext cx="1536192" cy="11430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1050" b="0">
                <a:solidFill>
                  <a:srgbClr val="25313C"/>
                </a:solidFill>
                <a:latin typeface="Aptos"/>
              </a:rPr>
              <a:t>Se define respuesta: evitar, mitigar, transferir o aceptar.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532120"/>
            <a:ext cx="9784080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85000" lnSpcReduction="10000"/>
          </a:bodyPr>
          <a:lstStyle/>
          <a:p>
            <a:pPr algn="ctr"/>
            <a:r>
              <a:rPr sz="1520" b="1">
                <a:solidFill>
                  <a:srgbClr val="183153"/>
                </a:solidFill>
                <a:latin typeface="Aptos"/>
              </a:rPr>
              <a:t>Criterio base: el resultado no se limita al número; también se interpreta para explicar qué decisión tomaría el Project Manager.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955279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/>
            <a:r>
              <a:rPr sz="2800" b="1">
                <a:solidFill>
                  <a:srgbClr val="183153"/>
                </a:solidFill>
                <a:latin typeface="Aptos"/>
              </a:rPr>
              <a:t>Criterios para probabilidad, impacto y VME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88696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tos"/>
              </a:rPr>
              <a:t>Escala sencilla para resolver los ejercicios de forma consistente.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10972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44752"/>
            <a:ext cx="744582" cy="484632"/>
          </a:xfrm>
          <a:prstGeom prst="rect">
            <a:avLst/>
          </a:prstGeom>
          <a:solidFill>
            <a:srgbClr val="2F80E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" y="1499616"/>
            <a:ext cx="634854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Valor</a:t>
            </a:r>
          </a:p>
        </p:txBody>
      </p:sp>
      <p:sp>
        <p:nvSpPr>
          <p:cNvPr id="8" name="Rectangle 7"/>
          <p:cNvSpPr/>
          <p:nvPr/>
        </p:nvSpPr>
        <p:spPr>
          <a:xfrm>
            <a:off x="1430382" y="1444752"/>
            <a:ext cx="1595534" cy="484632"/>
          </a:xfrm>
          <a:prstGeom prst="rect">
            <a:avLst/>
          </a:prstGeom>
          <a:solidFill>
            <a:srgbClr val="2F80E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85246" y="1499616"/>
            <a:ext cx="1485806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Probabilidad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25917" y="1444752"/>
            <a:ext cx="2871962" cy="484632"/>
          </a:xfrm>
          <a:prstGeom prst="rect">
            <a:avLst/>
          </a:prstGeom>
          <a:solidFill>
            <a:srgbClr val="2F80E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80781" y="1499616"/>
            <a:ext cx="2762234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Impacto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929384"/>
            <a:ext cx="744582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" y="1979676"/>
            <a:ext cx="634854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1100" b="0">
                <a:solidFill>
                  <a:srgbClr val="25313C"/>
                </a:solidFill>
                <a:latin typeface="Aptos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30382" y="1929384"/>
            <a:ext cx="1595534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85246" y="1979676"/>
            <a:ext cx="1485806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1100" b="0">
                <a:solidFill>
                  <a:srgbClr val="25313C"/>
                </a:solidFill>
                <a:latin typeface="Aptos"/>
              </a:rPr>
              <a:t>Baja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25917" y="1929384"/>
            <a:ext cx="2871962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80781" y="1979676"/>
            <a:ext cx="2762234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1100" b="0">
                <a:solidFill>
                  <a:srgbClr val="25313C"/>
                </a:solidFill>
                <a:latin typeface="Aptos"/>
              </a:rPr>
              <a:t>Afectación menor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414016"/>
            <a:ext cx="744582" cy="484632"/>
          </a:xfrm>
          <a:prstGeom prst="rect">
            <a:avLst/>
          </a:prstGeom>
          <a:solidFill>
            <a:srgbClr val="FAFBFC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0664" y="2464308"/>
            <a:ext cx="634854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1100" b="0">
                <a:solidFill>
                  <a:srgbClr val="25313C"/>
                </a:solidFill>
                <a:latin typeface="Aptos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30382" y="2414016"/>
            <a:ext cx="1595534" cy="484632"/>
          </a:xfrm>
          <a:prstGeom prst="rect">
            <a:avLst/>
          </a:prstGeom>
          <a:solidFill>
            <a:srgbClr val="FAFBFC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485246" y="2464308"/>
            <a:ext cx="1485806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1100" b="0">
                <a:solidFill>
                  <a:srgbClr val="25313C"/>
                </a:solidFill>
                <a:latin typeface="Aptos"/>
              </a:rPr>
              <a:t>Media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25917" y="2414016"/>
            <a:ext cx="2871962" cy="484632"/>
          </a:xfrm>
          <a:prstGeom prst="rect">
            <a:avLst/>
          </a:prstGeom>
          <a:solidFill>
            <a:srgbClr val="FAFBFC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80781" y="2464308"/>
            <a:ext cx="2762234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1100" b="0">
                <a:solidFill>
                  <a:srgbClr val="25313C"/>
                </a:solidFill>
                <a:latin typeface="Aptos"/>
              </a:rPr>
              <a:t>Retrabajo o demora moderada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2898648"/>
            <a:ext cx="744582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0664" y="2948940"/>
            <a:ext cx="634854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1100" b="0">
                <a:solidFill>
                  <a:srgbClr val="25313C"/>
                </a:solidFill>
                <a:latin typeface="Aptos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30382" y="2898648"/>
            <a:ext cx="1595534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485246" y="2948940"/>
            <a:ext cx="1485806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1100" b="0">
                <a:solidFill>
                  <a:srgbClr val="25313C"/>
                </a:solidFill>
                <a:latin typeface="Aptos"/>
              </a:rPr>
              <a:t>Alta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25917" y="2898648"/>
            <a:ext cx="2871962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080781" y="2948940"/>
            <a:ext cx="2762234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1100" b="0">
                <a:solidFill>
                  <a:srgbClr val="25313C"/>
                </a:solidFill>
                <a:latin typeface="Aptos"/>
              </a:rPr>
              <a:t>Compromete fecha, alcance o calidad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1234440"/>
            <a:ext cx="484632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12280" y="1554480"/>
            <a:ext cx="20116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/>
            <a:r>
              <a:rPr sz="1700" b="1">
                <a:solidFill>
                  <a:srgbClr val="183153"/>
                </a:solidFill>
                <a:latin typeface="Aptos"/>
              </a:rPr>
              <a:t>Matriz 3 ×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6832" y="2651760"/>
            <a:ext cx="54864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ptos"/>
              </a:rPr>
              <a:t>Impacto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5010912"/>
            <a:ext cx="192024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ptos"/>
              </a:rPr>
              <a:t>Probabilidad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88352" y="2148840"/>
            <a:ext cx="932688" cy="621792"/>
          </a:xfrm>
          <a:prstGeom prst="roundRect">
            <a:avLst/>
          </a:prstGeom>
          <a:solidFill>
            <a:srgbClr val="FEE7E7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88352" y="2304288"/>
            <a:ext cx="932688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ctr"/>
            <a:r>
              <a:rPr sz="1000" b="1">
                <a:solidFill>
                  <a:srgbClr val="25313C"/>
                </a:solidFill>
                <a:latin typeface="Aptos"/>
              </a:rPr>
              <a:t>Alto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58200" y="2148840"/>
            <a:ext cx="932688" cy="621792"/>
          </a:xfrm>
          <a:prstGeom prst="roundRect">
            <a:avLst/>
          </a:prstGeom>
          <a:solidFill>
            <a:srgbClr val="FFE8C1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58200" y="2304288"/>
            <a:ext cx="932688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ctr"/>
            <a:r>
              <a:rPr sz="1000" b="1">
                <a:solidFill>
                  <a:srgbClr val="25313C"/>
                </a:solidFill>
                <a:latin typeface="Aptos"/>
              </a:rPr>
              <a:t>Alto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28048" y="2148840"/>
            <a:ext cx="932688" cy="621792"/>
          </a:xfrm>
          <a:prstGeom prst="roundRect">
            <a:avLst/>
          </a:prstGeom>
          <a:solidFill>
            <a:srgbClr val="FFD4D4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528048" y="2304288"/>
            <a:ext cx="932688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ctr"/>
            <a:r>
              <a:rPr sz="1000" b="1">
                <a:solidFill>
                  <a:srgbClr val="25313C"/>
                </a:solidFill>
                <a:latin typeface="Aptos"/>
              </a:rPr>
              <a:t>Crítico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88352" y="2916936"/>
            <a:ext cx="932688" cy="621792"/>
          </a:xfrm>
          <a:prstGeom prst="roundRect">
            <a:avLst/>
          </a:prstGeom>
          <a:solidFill>
            <a:srgbClr val="E7F6EC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388352" y="3072384"/>
            <a:ext cx="932688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ctr"/>
            <a:r>
              <a:rPr sz="1000" b="1">
                <a:solidFill>
                  <a:srgbClr val="25313C"/>
                </a:solidFill>
                <a:latin typeface="Aptos"/>
              </a:rPr>
              <a:t>Bajo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58200" y="2916936"/>
            <a:ext cx="932688" cy="621792"/>
          </a:xfrm>
          <a:prstGeom prst="roundRect">
            <a:avLst/>
          </a:prstGeom>
          <a:solidFill>
            <a:srgbClr val="FFF0D3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58200" y="3072384"/>
            <a:ext cx="932688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ctr"/>
            <a:r>
              <a:rPr sz="1000" b="1">
                <a:solidFill>
                  <a:srgbClr val="25313C"/>
                </a:solidFill>
                <a:latin typeface="Aptos"/>
              </a:rPr>
              <a:t>Medio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28048" y="2916936"/>
            <a:ext cx="932688" cy="621792"/>
          </a:xfrm>
          <a:prstGeom prst="roundRect">
            <a:avLst/>
          </a:prstGeom>
          <a:solidFill>
            <a:srgbClr val="FFE8C1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528048" y="3072384"/>
            <a:ext cx="932688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ctr"/>
            <a:r>
              <a:rPr sz="1000" b="1">
                <a:solidFill>
                  <a:srgbClr val="25313C"/>
                </a:solidFill>
                <a:latin typeface="Aptos"/>
              </a:rPr>
              <a:t>Alto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88352" y="3685032"/>
            <a:ext cx="932688" cy="621792"/>
          </a:xfrm>
          <a:prstGeom prst="roundRect">
            <a:avLst/>
          </a:prstGeom>
          <a:solidFill>
            <a:srgbClr val="E7F6EC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88352" y="3840480"/>
            <a:ext cx="932688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ctr"/>
            <a:r>
              <a:rPr sz="1000" b="1">
                <a:solidFill>
                  <a:srgbClr val="25313C"/>
                </a:solidFill>
                <a:latin typeface="Aptos"/>
              </a:rPr>
              <a:t>Bajo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458200" y="3685032"/>
            <a:ext cx="932688" cy="621792"/>
          </a:xfrm>
          <a:prstGeom prst="roundRect">
            <a:avLst/>
          </a:prstGeom>
          <a:solidFill>
            <a:srgbClr val="E8F5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458200" y="3840480"/>
            <a:ext cx="932688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ctr"/>
            <a:r>
              <a:rPr sz="1000" b="1">
                <a:solidFill>
                  <a:srgbClr val="25313C"/>
                </a:solidFill>
                <a:latin typeface="Aptos"/>
              </a:rPr>
              <a:t>Bajo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528048" y="3685032"/>
            <a:ext cx="932688" cy="621792"/>
          </a:xfrm>
          <a:prstGeom prst="roundRect">
            <a:avLst/>
          </a:prstGeom>
          <a:solidFill>
            <a:srgbClr val="FFF0D3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528048" y="3840480"/>
            <a:ext cx="932688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ctr"/>
            <a:r>
              <a:rPr sz="1000" b="1">
                <a:solidFill>
                  <a:srgbClr val="25313C"/>
                </a:solidFill>
                <a:latin typeface="Aptos"/>
              </a:rPr>
              <a:t>Medio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60120" y="4251960"/>
            <a:ext cx="4617720" cy="914400"/>
          </a:xfrm>
          <a:prstGeom prst="roundRect">
            <a:avLst/>
          </a:prstGeom>
          <a:solidFill>
            <a:srgbClr val="F8FAFF"/>
          </a:solidFill>
          <a:ln w="10160">
            <a:solidFill>
              <a:srgbClr val="D8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124712" y="4416552"/>
            <a:ext cx="4288536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ctr"/>
            <a:r>
              <a:rPr sz="1700" b="1">
                <a:solidFill>
                  <a:srgbClr val="183153"/>
                </a:solidFill>
                <a:latin typeface="Aptos"/>
              </a:rPr>
              <a:t>VME = Probabilidad × Impacto monetario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4712" y="4855464"/>
            <a:ext cx="4288536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ctr"/>
            <a:r>
              <a:rPr sz="2400" b="1">
                <a:solidFill>
                  <a:srgbClr val="7B61FF"/>
                </a:solidFill>
                <a:latin typeface="Aptos"/>
              </a:rPr>
              <a:t>Resultado esperado del riesgo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955279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/>
            <a:r>
              <a:rPr sz="2800" b="1">
                <a:solidFill>
                  <a:srgbClr val="183153"/>
                </a:solidFill>
                <a:latin typeface="Aptos"/>
              </a:rPr>
              <a:t>Ejercicio 1 · Identificar riesgos a partir de un caso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88696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tos"/>
              </a:rPr>
              <a:t>Caso: seguimiento de Fast Burger durante la recuperación del cronograma.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10972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325880"/>
            <a:ext cx="525780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325880"/>
            <a:ext cx="73152" cy="192024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490472"/>
            <a:ext cx="493776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l"/>
            <a:r>
              <a:rPr sz="1400" b="1">
                <a:solidFill>
                  <a:srgbClr val="183153"/>
                </a:solidFill>
                <a:latin typeface="Aptos"/>
              </a:rPr>
              <a:t>Planteamiento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828800"/>
            <a:ext cx="4937760" cy="12984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60" b="0">
                <a:solidFill>
                  <a:srgbClr val="25313C"/>
                </a:solidFill>
                <a:latin typeface="Aptos"/>
              </a:rPr>
              <a:t>El proyecto Fast Burger debía completar entregables D1-D8 en una ventana corta. Al inicio existía disponibilidad limitada, faltaban datos de trabajo y la herramienta técnica debía quedar definida para no dispersar el esfuerzo.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1628410" cy="502920"/>
          </a:xfrm>
          <a:prstGeom prst="rect">
            <a:avLst/>
          </a:prstGeom>
          <a:solidFill>
            <a:srgbClr val="2F80E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55664" y="1380744"/>
            <a:ext cx="1518682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30" b="1">
                <a:solidFill>
                  <a:srgbClr val="FFFFFF"/>
                </a:solidFill>
                <a:latin typeface="Aptos"/>
              </a:rPr>
              <a:t>Riesgo identificado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29210" y="1325880"/>
            <a:ext cx="1523351" cy="502920"/>
          </a:xfrm>
          <a:prstGeom prst="rect">
            <a:avLst/>
          </a:prstGeom>
          <a:solidFill>
            <a:srgbClr val="2F80E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84074" y="1380744"/>
            <a:ext cx="1413623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30" b="1">
                <a:solidFill>
                  <a:srgbClr val="FFFFFF"/>
                </a:solidFill>
                <a:latin typeface="Aptos"/>
              </a:rPr>
              <a:t>Causa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52561" y="1325880"/>
            <a:ext cx="1785998" cy="502920"/>
          </a:xfrm>
          <a:prstGeom prst="rect">
            <a:avLst/>
          </a:prstGeom>
          <a:solidFill>
            <a:srgbClr val="2F80E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7425" y="1380744"/>
            <a:ext cx="1676270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30" b="1">
                <a:solidFill>
                  <a:srgbClr val="FFFFFF"/>
                </a:solidFill>
                <a:latin typeface="Aptos"/>
              </a:rPr>
              <a:t>Respuesta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828800"/>
            <a:ext cx="162841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55664" y="1879092"/>
            <a:ext cx="1518682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880" b="0">
                <a:solidFill>
                  <a:srgbClr val="25313C"/>
                </a:solidFill>
                <a:latin typeface="Aptos"/>
              </a:rPr>
              <a:t>Retraso en entregables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29210" y="1828800"/>
            <a:ext cx="1523351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84074" y="1879092"/>
            <a:ext cx="1413623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880" b="0">
                <a:solidFill>
                  <a:srgbClr val="25313C"/>
                </a:solidFill>
                <a:latin typeface="Aptos"/>
              </a:rPr>
              <a:t>Tiempo disponible reducido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52561" y="1828800"/>
            <a:ext cx="1785998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7425" y="1879092"/>
            <a:ext cx="1676270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880" b="0">
                <a:solidFill>
                  <a:srgbClr val="25313C"/>
                </a:solidFill>
                <a:latin typeface="Aptos"/>
              </a:rPr>
              <a:t>Plan de recuperación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331720"/>
            <a:ext cx="1628410" cy="502920"/>
          </a:xfrm>
          <a:prstGeom prst="rect">
            <a:avLst/>
          </a:prstGeom>
          <a:solidFill>
            <a:srgbClr val="FAFBFC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55664" y="2382012"/>
            <a:ext cx="1518682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880" b="0">
                <a:solidFill>
                  <a:srgbClr val="25313C"/>
                </a:solidFill>
                <a:latin typeface="Aptos"/>
              </a:rPr>
              <a:t>Datos insuficientes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29210" y="2331720"/>
            <a:ext cx="1523351" cy="502920"/>
          </a:xfrm>
          <a:prstGeom prst="rect">
            <a:avLst/>
          </a:prstGeom>
          <a:solidFill>
            <a:srgbClr val="FAFBFC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84074" y="2382012"/>
            <a:ext cx="1413623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880" b="0">
                <a:solidFill>
                  <a:srgbClr val="25313C"/>
                </a:solidFill>
                <a:latin typeface="Aptos"/>
              </a:rPr>
              <a:t>Mediciones no formales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52561" y="2331720"/>
            <a:ext cx="1785998" cy="502920"/>
          </a:xfrm>
          <a:prstGeom prst="rect">
            <a:avLst/>
          </a:prstGeom>
          <a:solidFill>
            <a:srgbClr val="FAFBFC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7425" y="2382012"/>
            <a:ext cx="1676270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880" b="0">
                <a:solidFill>
                  <a:srgbClr val="25313C"/>
                </a:solidFill>
                <a:latin typeface="Aptos"/>
              </a:rPr>
              <a:t>Supuestos documentados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834640"/>
            <a:ext cx="162841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55664" y="2884932"/>
            <a:ext cx="1518682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880" b="0">
                <a:solidFill>
                  <a:srgbClr val="25313C"/>
                </a:solidFill>
                <a:latin typeface="Aptos"/>
              </a:rPr>
              <a:t>Herramienta no definida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29210" y="2834640"/>
            <a:ext cx="1523351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84074" y="2884932"/>
            <a:ext cx="1413623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880" b="0">
                <a:solidFill>
                  <a:srgbClr val="25313C"/>
                </a:solidFill>
                <a:latin typeface="Aptos"/>
              </a:rPr>
              <a:t>Uso de varias opciones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52561" y="2834640"/>
            <a:ext cx="1785998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07425" y="2884932"/>
            <a:ext cx="1676270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880" b="0">
                <a:solidFill>
                  <a:srgbClr val="25313C"/>
                </a:solidFill>
                <a:latin typeface="Aptos"/>
              </a:rPr>
              <a:t>Fijar Bizagi como base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337560"/>
            <a:ext cx="1628410" cy="502920"/>
          </a:xfrm>
          <a:prstGeom prst="rect">
            <a:avLst/>
          </a:prstGeom>
          <a:solidFill>
            <a:srgbClr val="FAFBFC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55664" y="3387852"/>
            <a:ext cx="1518682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880" b="0">
                <a:solidFill>
                  <a:srgbClr val="25313C"/>
                </a:solidFill>
                <a:latin typeface="Aptos"/>
              </a:rPr>
              <a:t>Resultados inconsistentes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29210" y="3337560"/>
            <a:ext cx="1523351" cy="502920"/>
          </a:xfrm>
          <a:prstGeom prst="rect">
            <a:avLst/>
          </a:prstGeom>
          <a:solidFill>
            <a:srgbClr val="FAFBFC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84074" y="3387852"/>
            <a:ext cx="1413623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880" b="0">
                <a:solidFill>
                  <a:srgbClr val="25313C"/>
                </a:solidFill>
                <a:latin typeface="Aptos"/>
              </a:rPr>
              <a:t>Uso de corrida incorrecta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52561" y="3337560"/>
            <a:ext cx="1785998" cy="502920"/>
          </a:xfrm>
          <a:prstGeom prst="rect">
            <a:avLst/>
          </a:prstGeom>
          <a:solidFill>
            <a:srgbClr val="FAFBFC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607425" y="3387852"/>
            <a:ext cx="1676270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880" b="0">
                <a:solidFill>
                  <a:srgbClr val="25313C"/>
                </a:solidFill>
                <a:latin typeface="Aptos"/>
              </a:rPr>
              <a:t>Revisión antes de aprobar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3886200"/>
            <a:ext cx="201168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/>
            <a:r>
              <a:rPr sz="1600" b="1">
                <a:solidFill>
                  <a:srgbClr val="183153"/>
                </a:solidFill>
                <a:latin typeface="Aptos"/>
              </a:rPr>
              <a:t>Respuesta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343400"/>
            <a:ext cx="10058400" cy="7315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500" b="0">
                <a:solidFill>
                  <a:srgbClr val="25313C"/>
                </a:solidFill>
                <a:latin typeface="Aptos"/>
              </a:rPr>
              <a:t>Los riesgos principales se relacionan con tiempo, calidad de datos, herramienta técnica y consistencia de resultados. No todos eran problemas consumados; varios eran señales que debían atenderse para evitar retrabajo.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955279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/>
            <a:r>
              <a:rPr sz="2800" b="1">
                <a:solidFill>
                  <a:srgbClr val="183153"/>
                </a:solidFill>
                <a:latin typeface="Aptos"/>
              </a:rPr>
              <a:t>Ejercicio 2 · Diferenciar riesgo e incidencia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88696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tos"/>
              </a:rPr>
              <a:t>El riesgo puede ocurrir; la incidencia ya ocurrió y exige corrección.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10972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074920" cy="4206240"/>
          </a:xfrm>
          <a:prstGeom prst="roundRect">
            <a:avLst/>
          </a:prstGeom>
          <a:solidFill>
            <a:srgbClr val="F8FAFF"/>
          </a:solidFill>
          <a:ln w="10160">
            <a:solidFill>
              <a:srgbClr val="D8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55080" y="1417320"/>
            <a:ext cx="5074920" cy="4206240"/>
          </a:xfrm>
          <a:prstGeom prst="roundRect">
            <a:avLst/>
          </a:prstGeom>
          <a:solidFill>
            <a:srgbClr val="FFF8F0"/>
          </a:solidFill>
          <a:ln w="10160">
            <a:solidFill>
              <a:srgbClr val="FFE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1755648"/>
            <a:ext cx="1280160" cy="384048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792224"/>
            <a:ext cx="1188719" cy="3383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Riesgo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1755648"/>
            <a:ext cx="1600200" cy="384048"/>
          </a:xfrm>
          <a:prstGeom prst="round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792224"/>
            <a:ext cx="1508760" cy="3383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Incidencia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95728"/>
            <a:ext cx="43891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/>
            <a:r>
              <a:rPr sz="1700" b="1">
                <a:solidFill>
                  <a:srgbClr val="183153"/>
                </a:solidFill>
                <a:latin typeface="Aptos"/>
              </a:rPr>
              <a:t>Situación posible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07792"/>
            <a:ext cx="4251960" cy="1463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380">
                <a:solidFill>
                  <a:srgbClr val="25313C"/>
                </a:solidFill>
                <a:latin typeface="Aptos"/>
              </a:defRPr>
            </a:pPr>
            <a:r>
              <a:t>“Puede retrasarse la entrega si no se define la herramienta”.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380">
                <a:solidFill>
                  <a:srgbClr val="25313C"/>
                </a:solidFill>
                <a:latin typeface="Aptos"/>
              </a:defRPr>
            </a:pPr>
            <a:r>
              <a:t>“Pueden aparecer datos incompletos”.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380">
                <a:solidFill>
                  <a:srgbClr val="25313C"/>
                </a:solidFill>
                <a:latin typeface="Aptos"/>
              </a:defRPr>
            </a:pPr>
            <a:r>
              <a:t>“El modelo puede quedar mal configurado”.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395728"/>
            <a:ext cx="43891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/>
            <a:r>
              <a:rPr sz="1700" b="1">
                <a:solidFill>
                  <a:srgbClr val="183153"/>
                </a:solidFill>
                <a:latin typeface="Aptos"/>
              </a:rPr>
              <a:t>Situación ocurrida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907792"/>
            <a:ext cx="4251960" cy="1463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380">
                <a:solidFill>
                  <a:srgbClr val="25313C"/>
                </a:solidFill>
                <a:latin typeface="Aptos"/>
              </a:defRPr>
            </a:pPr>
            <a:r>
              <a:t>Fast Burger registró retraso de inicio.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380">
                <a:solidFill>
                  <a:srgbClr val="25313C"/>
                </a:solidFill>
                <a:latin typeface="Aptos"/>
              </a:defRPr>
            </a:pPr>
            <a:r>
              <a:t>ProcesMuebles quedó con D6-D8 pendientes.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380">
                <a:solidFill>
                  <a:srgbClr val="25313C"/>
                </a:solidFill>
                <a:latin typeface="Aptos"/>
              </a:defRPr>
            </a:pPr>
            <a:r>
              <a:t>La revisión detectó inconsistencias D2-D5 antes de continuar.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663440"/>
            <a:ext cx="13716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10000"/>
          </a:bodyPr>
          <a:lstStyle/>
          <a:p>
            <a:pPr algn="l"/>
            <a:r>
              <a:rPr sz="1400" b="1">
                <a:solidFill>
                  <a:srgbClr val="2F80ED"/>
                </a:solidFill>
                <a:latin typeface="Aptos"/>
              </a:rPr>
              <a:t>Respuesta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4663440"/>
            <a:ext cx="8183879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400" b="0" dirty="0">
                <a:solidFill>
                  <a:srgbClr val="25313C"/>
                </a:solidFill>
                <a:latin typeface="Aptos"/>
              </a:rPr>
              <a:t>Un </a:t>
            </a:r>
            <a:r>
              <a:rPr sz="1400" b="0" dirty="0" err="1">
                <a:solidFill>
                  <a:srgbClr val="25313C"/>
                </a:solidFill>
                <a:latin typeface="Aptos"/>
              </a:rPr>
              <a:t>riesgo</a:t>
            </a:r>
            <a:r>
              <a:rPr sz="1400" b="0" dirty="0">
                <a:solidFill>
                  <a:srgbClr val="25313C"/>
                </a:solidFill>
                <a:latin typeface="Aptos"/>
              </a:rPr>
              <a:t> se </a:t>
            </a:r>
            <a:r>
              <a:rPr sz="1400" b="0" dirty="0" err="1">
                <a:solidFill>
                  <a:srgbClr val="25313C"/>
                </a:solidFill>
                <a:latin typeface="Aptos"/>
              </a:rPr>
              <a:t>gestiona</a:t>
            </a:r>
            <a:r>
              <a:rPr sz="1400" b="0" dirty="0">
                <a:solidFill>
                  <a:srgbClr val="25313C"/>
                </a:solidFill>
                <a:latin typeface="Aptos"/>
              </a:rPr>
              <a:t> para </a:t>
            </a:r>
            <a:r>
              <a:rPr sz="1400" b="0" dirty="0" err="1">
                <a:solidFill>
                  <a:srgbClr val="25313C"/>
                </a:solidFill>
                <a:latin typeface="Aptos"/>
              </a:rPr>
              <a:t>prevenir</a:t>
            </a:r>
            <a:r>
              <a:rPr sz="1400" b="0" dirty="0">
                <a:solidFill>
                  <a:srgbClr val="25313C"/>
                </a:solidFill>
                <a:latin typeface="Aptos"/>
              </a:rPr>
              <a:t>. </a:t>
            </a:r>
            <a:r>
              <a:rPr lang="es-MX" sz="1400" b="0" dirty="0">
                <a:solidFill>
                  <a:srgbClr val="25313C"/>
                </a:solidFill>
                <a:latin typeface="Aptos"/>
              </a:rPr>
              <a:t> </a:t>
            </a:r>
            <a:endParaRPr sz="1400" b="0" dirty="0">
              <a:solidFill>
                <a:srgbClr val="25313C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Aptos"/>
              </a:rPr>
              <a:t>06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297DA1A-562B-2EAE-38B4-F2CD17551571}"/>
              </a:ext>
            </a:extLst>
          </p:cNvPr>
          <p:cNvSpPr txBox="1"/>
          <p:nvPr/>
        </p:nvSpPr>
        <p:spPr>
          <a:xfrm>
            <a:off x="6675120" y="4486578"/>
            <a:ext cx="2335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0" dirty="0">
                <a:solidFill>
                  <a:srgbClr val="25313C"/>
                </a:solidFill>
                <a:latin typeface="Aptos"/>
              </a:rPr>
              <a:t>Una incidencia se atiende con acción correctiva y seguimiento hasta cerrar.</a:t>
            </a:r>
            <a:endParaRPr lang="es-MX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955279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/>
            <a:r>
              <a:rPr sz="2800" b="1">
                <a:solidFill>
                  <a:srgbClr val="183153"/>
                </a:solidFill>
                <a:latin typeface="Aptos"/>
              </a:rPr>
              <a:t>Ejercicio 3 · Asignar probabilidad e impacto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88696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tos"/>
              </a:rPr>
              <a:t>Se evalúa cada riesgo con una escala de 1 a 3.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10972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1593814" cy="484632"/>
          </a:xfrm>
          <a:prstGeom prst="rect">
            <a:avLst/>
          </a:prstGeom>
          <a:solidFill>
            <a:srgbClr val="2F80E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" y="1380744"/>
            <a:ext cx="1484086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1030" b="1">
                <a:solidFill>
                  <a:srgbClr val="FFFFFF"/>
                </a:solidFill>
                <a:latin typeface="Aptos"/>
              </a:rPr>
              <a:t>Caso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3894" y="1325880"/>
            <a:ext cx="2942426" cy="484632"/>
          </a:xfrm>
          <a:prstGeom prst="rect">
            <a:avLst/>
          </a:prstGeom>
          <a:solidFill>
            <a:srgbClr val="2F80E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8758" y="1380744"/>
            <a:ext cx="2832698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1030" b="1">
                <a:solidFill>
                  <a:srgbClr val="FFFFFF"/>
                </a:solidFill>
                <a:latin typeface="Aptos"/>
              </a:rPr>
              <a:t>Riesgo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76321" y="1325880"/>
            <a:ext cx="796907" cy="484632"/>
          </a:xfrm>
          <a:prstGeom prst="rect">
            <a:avLst/>
          </a:prstGeom>
          <a:solidFill>
            <a:srgbClr val="2F80E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31185" y="1380744"/>
            <a:ext cx="687179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1030" b="1">
                <a:solidFill>
                  <a:srgbClr val="FFFFFF"/>
                </a:solidFill>
                <a:latin typeface="Aptos"/>
              </a:rPr>
              <a:t>Prob.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73228" y="1325880"/>
            <a:ext cx="1042109" cy="484632"/>
          </a:xfrm>
          <a:prstGeom prst="rect">
            <a:avLst/>
          </a:prstGeom>
          <a:solidFill>
            <a:srgbClr val="2F80E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28092" y="1380744"/>
            <a:ext cx="932381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1030" b="1">
                <a:solidFill>
                  <a:srgbClr val="FFFFFF"/>
                </a:solidFill>
                <a:latin typeface="Aptos"/>
              </a:rPr>
              <a:t>Impacto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15338" y="1325880"/>
            <a:ext cx="919508" cy="484632"/>
          </a:xfrm>
          <a:prstGeom prst="rect">
            <a:avLst/>
          </a:prstGeom>
          <a:solidFill>
            <a:srgbClr val="2F80E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70202" y="1380744"/>
            <a:ext cx="80978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1030" b="1">
                <a:solidFill>
                  <a:srgbClr val="FFFFFF"/>
                </a:solidFill>
                <a:latin typeface="Aptos"/>
              </a:rPr>
              <a:t>Nivel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34846" y="1325880"/>
            <a:ext cx="3678033" cy="484632"/>
          </a:xfrm>
          <a:prstGeom prst="rect">
            <a:avLst/>
          </a:prstGeom>
          <a:solidFill>
            <a:srgbClr val="2F80E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89710" y="1380744"/>
            <a:ext cx="3568305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1030" b="1">
                <a:solidFill>
                  <a:srgbClr val="FFFFFF"/>
                </a:solidFill>
                <a:latin typeface="Aptos"/>
              </a:rPr>
              <a:t>Interpretación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810512"/>
            <a:ext cx="1593814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4944" y="1860804"/>
            <a:ext cx="1484086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50" b="0">
                <a:solidFill>
                  <a:srgbClr val="25313C"/>
                </a:solidFill>
                <a:latin typeface="Aptos"/>
              </a:rPr>
              <a:t>Fast Burger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33894" y="1810512"/>
            <a:ext cx="2942426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88758" y="1860804"/>
            <a:ext cx="2832698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50" b="0">
                <a:solidFill>
                  <a:srgbClr val="25313C"/>
                </a:solidFill>
                <a:latin typeface="Aptos"/>
              </a:rPr>
              <a:t>Retraso por disponibilidad limitada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76321" y="1810512"/>
            <a:ext cx="796907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31185" y="1860804"/>
            <a:ext cx="687179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50" b="0">
                <a:solidFill>
                  <a:srgbClr val="25313C"/>
                </a:solidFill>
                <a:latin typeface="Aptos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73228" y="1810512"/>
            <a:ext cx="1042109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28092" y="1860804"/>
            <a:ext cx="932381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50" b="0">
                <a:solidFill>
                  <a:srgbClr val="25313C"/>
                </a:solidFill>
                <a:latin typeface="Aptos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15338" y="1810512"/>
            <a:ext cx="919508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70202" y="1860804"/>
            <a:ext cx="80978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50" b="0">
                <a:solidFill>
                  <a:srgbClr val="25313C"/>
                </a:solidFill>
                <a:latin typeface="Aptos"/>
              </a:rPr>
              <a:t>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34846" y="1810512"/>
            <a:ext cx="3678033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89710" y="1860804"/>
            <a:ext cx="3568305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50" b="0">
                <a:solidFill>
                  <a:srgbClr val="25313C"/>
                </a:solidFill>
                <a:latin typeface="Aptos"/>
              </a:rPr>
              <a:t>Crítico: compromete plazo y secuencia D1-D8.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2295144"/>
            <a:ext cx="1593814" cy="484632"/>
          </a:xfrm>
          <a:prstGeom prst="rect">
            <a:avLst/>
          </a:prstGeom>
          <a:solidFill>
            <a:srgbClr val="FAFBFC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4944" y="2345436"/>
            <a:ext cx="1484086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50" b="0">
                <a:solidFill>
                  <a:srgbClr val="25313C"/>
                </a:solidFill>
                <a:latin typeface="Aptos"/>
              </a:rPr>
              <a:t>Fast Burger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33894" y="2295144"/>
            <a:ext cx="2942426" cy="484632"/>
          </a:xfrm>
          <a:prstGeom prst="rect">
            <a:avLst/>
          </a:prstGeom>
          <a:solidFill>
            <a:srgbClr val="FAFBFC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288758" y="2345436"/>
            <a:ext cx="2832698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50" b="0">
                <a:solidFill>
                  <a:srgbClr val="25313C"/>
                </a:solidFill>
                <a:latin typeface="Aptos"/>
              </a:rPr>
              <a:t>Herramienta no definida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76321" y="2295144"/>
            <a:ext cx="796907" cy="484632"/>
          </a:xfrm>
          <a:prstGeom prst="rect">
            <a:avLst/>
          </a:prstGeom>
          <a:solidFill>
            <a:srgbClr val="FAFBFC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31185" y="2345436"/>
            <a:ext cx="687179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50" b="0">
                <a:solidFill>
                  <a:srgbClr val="25313C"/>
                </a:solidFill>
                <a:latin typeface="Aptos"/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73228" y="2295144"/>
            <a:ext cx="1042109" cy="484632"/>
          </a:xfrm>
          <a:prstGeom prst="rect">
            <a:avLst/>
          </a:prstGeom>
          <a:solidFill>
            <a:srgbClr val="FAFBFC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28092" y="2345436"/>
            <a:ext cx="932381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50" b="0">
                <a:solidFill>
                  <a:srgbClr val="25313C"/>
                </a:solidFill>
                <a:latin typeface="Aptos"/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15338" y="2295144"/>
            <a:ext cx="919508" cy="484632"/>
          </a:xfrm>
          <a:prstGeom prst="rect">
            <a:avLst/>
          </a:prstGeom>
          <a:solidFill>
            <a:srgbClr val="FAFBFC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070202" y="2345436"/>
            <a:ext cx="80978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50" b="0">
                <a:solidFill>
                  <a:srgbClr val="25313C"/>
                </a:solidFill>
                <a:latin typeface="Aptos"/>
              </a:rPr>
              <a:t>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34846" y="2295144"/>
            <a:ext cx="3678033" cy="484632"/>
          </a:xfrm>
          <a:prstGeom prst="rect">
            <a:avLst/>
          </a:prstGeom>
          <a:solidFill>
            <a:srgbClr val="FAFBFC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989710" y="2345436"/>
            <a:ext cx="3568305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50" b="0">
                <a:solidFill>
                  <a:srgbClr val="25313C"/>
                </a:solidFill>
                <a:latin typeface="Aptos"/>
              </a:rPr>
              <a:t>Alto: dispersa el trabajo si no se decide pronto.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2779776"/>
            <a:ext cx="1593814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94944" y="2830068"/>
            <a:ext cx="1484086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50" b="0">
                <a:solidFill>
                  <a:srgbClr val="25313C"/>
                </a:solidFill>
                <a:latin typeface="Aptos"/>
              </a:rPr>
              <a:t>ProcesMuebles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33894" y="2779776"/>
            <a:ext cx="2942426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288758" y="2830068"/>
            <a:ext cx="2832698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50" b="0">
                <a:solidFill>
                  <a:srgbClr val="25313C"/>
                </a:solidFill>
                <a:latin typeface="Aptos"/>
              </a:rPr>
              <a:t>Parámetros mal configurados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76321" y="2779776"/>
            <a:ext cx="796907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231185" y="2830068"/>
            <a:ext cx="687179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50" b="0">
                <a:solidFill>
                  <a:srgbClr val="25313C"/>
                </a:solidFill>
                <a:latin typeface="Aptos"/>
              </a:rPr>
              <a:t>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73228" y="2779776"/>
            <a:ext cx="1042109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028092" y="2830068"/>
            <a:ext cx="932381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50" b="0">
                <a:solidFill>
                  <a:srgbClr val="25313C"/>
                </a:solidFill>
                <a:latin typeface="Aptos"/>
              </a:rPr>
              <a:t>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15338" y="2779776"/>
            <a:ext cx="919508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070202" y="2830068"/>
            <a:ext cx="80978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50" b="0">
                <a:solidFill>
                  <a:srgbClr val="25313C"/>
                </a:solidFill>
                <a:latin typeface="Aptos"/>
              </a:rPr>
              <a:t>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34846" y="2779776"/>
            <a:ext cx="3678033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989710" y="2830068"/>
            <a:ext cx="3568305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50" b="0">
                <a:solidFill>
                  <a:srgbClr val="25313C"/>
                </a:solidFill>
                <a:latin typeface="Aptos"/>
              </a:rPr>
              <a:t>Crítico: afecta la línea base y bloquea D6.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3264408"/>
            <a:ext cx="1593814" cy="484632"/>
          </a:xfrm>
          <a:prstGeom prst="rect">
            <a:avLst/>
          </a:prstGeom>
          <a:solidFill>
            <a:srgbClr val="FAFBFC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94944" y="3314700"/>
            <a:ext cx="1484086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50" b="0">
                <a:solidFill>
                  <a:srgbClr val="25313C"/>
                </a:solidFill>
                <a:latin typeface="Aptos"/>
              </a:rPr>
              <a:t>Industria Bloquera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33894" y="3264408"/>
            <a:ext cx="2942426" cy="484632"/>
          </a:xfrm>
          <a:prstGeom prst="rect">
            <a:avLst/>
          </a:prstGeom>
          <a:solidFill>
            <a:srgbClr val="FAFBFC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288758" y="3314700"/>
            <a:ext cx="2832698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50" b="0">
                <a:solidFill>
                  <a:srgbClr val="25313C"/>
                </a:solidFill>
                <a:latin typeface="Aptos"/>
              </a:rPr>
              <a:t>Datos productivos insuficientes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76321" y="3264408"/>
            <a:ext cx="796907" cy="484632"/>
          </a:xfrm>
          <a:prstGeom prst="rect">
            <a:avLst/>
          </a:prstGeom>
          <a:solidFill>
            <a:srgbClr val="FAFBFC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231185" y="3314700"/>
            <a:ext cx="687179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50" b="0">
                <a:solidFill>
                  <a:srgbClr val="25313C"/>
                </a:solidFill>
                <a:latin typeface="Aptos"/>
              </a:rPr>
              <a:t>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73228" y="3264408"/>
            <a:ext cx="1042109" cy="484632"/>
          </a:xfrm>
          <a:prstGeom prst="rect">
            <a:avLst/>
          </a:prstGeom>
          <a:solidFill>
            <a:srgbClr val="FAFBFC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028092" y="3314700"/>
            <a:ext cx="932381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50" b="0">
                <a:solidFill>
                  <a:srgbClr val="25313C"/>
                </a:solidFill>
                <a:latin typeface="Aptos"/>
              </a:rPr>
              <a:t>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15338" y="3264408"/>
            <a:ext cx="919508" cy="484632"/>
          </a:xfrm>
          <a:prstGeom prst="rect">
            <a:avLst/>
          </a:prstGeom>
          <a:solidFill>
            <a:srgbClr val="FAFBFC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070202" y="3314700"/>
            <a:ext cx="80978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50" b="0">
                <a:solidFill>
                  <a:srgbClr val="25313C"/>
                </a:solidFill>
                <a:latin typeface="Aptos"/>
              </a:rPr>
              <a:t>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934846" y="3264408"/>
            <a:ext cx="3678033" cy="484632"/>
          </a:xfrm>
          <a:prstGeom prst="rect">
            <a:avLst/>
          </a:prstGeom>
          <a:solidFill>
            <a:srgbClr val="FAFBFC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989710" y="3314700"/>
            <a:ext cx="3568305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50" b="0">
                <a:solidFill>
                  <a:srgbClr val="25313C"/>
                </a:solidFill>
                <a:latin typeface="Aptos"/>
              </a:rPr>
              <a:t>Alto: limita la confiabilidad del modelo.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960" y="4663440"/>
            <a:ext cx="18288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/>
            <a:r>
              <a:rPr sz="1600" b="1">
                <a:solidFill>
                  <a:srgbClr val="183153"/>
                </a:solidFill>
                <a:latin typeface="Aptos"/>
              </a:rPr>
              <a:t>Procedimiento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468880" y="4663440"/>
            <a:ext cx="86868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77500" lnSpcReduction="20000"/>
          </a:bodyPr>
          <a:lstStyle/>
          <a:p>
            <a:pPr algn="l"/>
            <a:r>
              <a:rPr sz="1400" b="0">
                <a:solidFill>
                  <a:srgbClr val="25313C"/>
                </a:solidFill>
                <a:latin typeface="Aptos"/>
              </a:rPr>
              <a:t>Nivel del riesgo = probabilidad × impacto. Los valores 6 y 9 requieren atención prioritaria porque pueden afectar entregables o calidad de la simulación.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955279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/>
            <a:r>
              <a:rPr sz="2800" b="1">
                <a:solidFill>
                  <a:srgbClr val="183153"/>
                </a:solidFill>
                <a:latin typeface="Aptos"/>
              </a:rPr>
              <a:t>Ejercicio 4 · Construir una matriz de riesgos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88696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tos"/>
              </a:rPr>
              <a:t>Ubicar los riesgos ayuda a distinguir lo urgente de lo controlable.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10972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840480" y="1417320"/>
            <a:ext cx="1426464" cy="1060704"/>
          </a:xfrm>
          <a:prstGeom prst="roundRect">
            <a:avLst/>
          </a:prstGeom>
          <a:solidFill>
            <a:srgbClr val="FFE8C1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31920" y="1490472"/>
            <a:ext cx="1243584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10000"/>
          </a:bodyPr>
          <a:lstStyle/>
          <a:p>
            <a:pPr algn="ctr"/>
            <a:r>
              <a:rPr sz="1200" b="1">
                <a:solidFill>
                  <a:srgbClr val="25313C"/>
                </a:solidFill>
                <a:latin typeface="Aptos"/>
              </a:rPr>
              <a:t>Medio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417320"/>
            <a:ext cx="1426464" cy="1060704"/>
          </a:xfrm>
          <a:prstGeom prst="roundRect">
            <a:avLst/>
          </a:prstGeom>
          <a:solidFill>
            <a:srgbClr val="FFDFA3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94960" y="1490472"/>
            <a:ext cx="1243584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10000"/>
          </a:bodyPr>
          <a:lstStyle/>
          <a:p>
            <a:pPr algn="ctr"/>
            <a:r>
              <a:rPr sz="1200" b="1">
                <a:solidFill>
                  <a:srgbClr val="25313C"/>
                </a:solidFill>
                <a:latin typeface="Aptos"/>
              </a:rPr>
              <a:t>Alto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1417320"/>
            <a:ext cx="1426464" cy="1060704"/>
          </a:xfrm>
          <a:prstGeom prst="roundRect">
            <a:avLst/>
          </a:prstGeom>
          <a:solidFill>
            <a:srgbClr val="FFD0D0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0" y="1490472"/>
            <a:ext cx="1243584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10000"/>
          </a:bodyPr>
          <a:lstStyle/>
          <a:p>
            <a:pPr algn="ctr"/>
            <a:r>
              <a:rPr sz="1200" b="1">
                <a:solidFill>
                  <a:srgbClr val="25313C"/>
                </a:solidFill>
                <a:latin typeface="Aptos"/>
              </a:rPr>
              <a:t>Crítico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2514600"/>
            <a:ext cx="1426464" cy="1060704"/>
          </a:xfrm>
          <a:prstGeom prst="roundRect">
            <a:avLst/>
          </a:prstGeom>
          <a:solidFill>
            <a:srgbClr val="E7F6EC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31920" y="2587752"/>
            <a:ext cx="1243584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10000"/>
          </a:bodyPr>
          <a:lstStyle/>
          <a:p>
            <a:pPr algn="ctr"/>
            <a:r>
              <a:rPr sz="1200" b="1">
                <a:solidFill>
                  <a:srgbClr val="25313C"/>
                </a:solidFill>
                <a:latin typeface="Aptos"/>
              </a:rPr>
              <a:t>Bajo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2514600"/>
            <a:ext cx="1426464" cy="1060704"/>
          </a:xfrm>
          <a:prstGeom prst="roundRect">
            <a:avLst/>
          </a:prstGeom>
          <a:solidFill>
            <a:srgbClr val="FFF0D3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94960" y="2587752"/>
            <a:ext cx="1243584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10000"/>
          </a:bodyPr>
          <a:lstStyle/>
          <a:p>
            <a:pPr algn="ctr"/>
            <a:r>
              <a:rPr sz="1200" b="1">
                <a:solidFill>
                  <a:srgbClr val="25313C"/>
                </a:solidFill>
                <a:latin typeface="Aptos"/>
              </a:rPr>
              <a:t>Medio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2514600"/>
            <a:ext cx="1426464" cy="1060704"/>
          </a:xfrm>
          <a:prstGeom prst="roundRect">
            <a:avLst/>
          </a:prstGeom>
          <a:solidFill>
            <a:srgbClr val="FFE8C1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0" y="2587752"/>
            <a:ext cx="1243584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10000"/>
          </a:bodyPr>
          <a:lstStyle/>
          <a:p>
            <a:pPr algn="ctr"/>
            <a:r>
              <a:rPr sz="1200" b="1">
                <a:solidFill>
                  <a:srgbClr val="25313C"/>
                </a:solidFill>
                <a:latin typeface="Aptos"/>
              </a:rPr>
              <a:t>Alto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3611880"/>
            <a:ext cx="1426464" cy="1060704"/>
          </a:xfrm>
          <a:prstGeom prst="roundRect">
            <a:avLst/>
          </a:prstGeom>
          <a:solidFill>
            <a:srgbClr val="E7F6EC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31920" y="3685032"/>
            <a:ext cx="1243584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10000"/>
          </a:bodyPr>
          <a:lstStyle/>
          <a:p>
            <a:pPr algn="ctr"/>
            <a:r>
              <a:rPr sz="1200" b="1">
                <a:solidFill>
                  <a:srgbClr val="25313C"/>
                </a:solidFill>
                <a:latin typeface="Aptos"/>
              </a:rPr>
              <a:t>Bajo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0" y="3611880"/>
            <a:ext cx="1426464" cy="1060704"/>
          </a:xfrm>
          <a:prstGeom prst="roundRect">
            <a:avLst/>
          </a:prstGeom>
          <a:solidFill>
            <a:srgbClr val="E8F5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94960" y="3685032"/>
            <a:ext cx="1243584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10000"/>
          </a:bodyPr>
          <a:lstStyle/>
          <a:p>
            <a:pPr algn="ctr"/>
            <a:r>
              <a:rPr sz="1200" b="1">
                <a:solidFill>
                  <a:srgbClr val="25313C"/>
                </a:solidFill>
                <a:latin typeface="Aptos"/>
              </a:rPr>
              <a:t>Bajo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0" y="3611880"/>
            <a:ext cx="1426464" cy="1060704"/>
          </a:xfrm>
          <a:prstGeom prst="roundRect">
            <a:avLst/>
          </a:prstGeom>
          <a:solidFill>
            <a:srgbClr val="FFF0D3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0" y="3685032"/>
            <a:ext cx="1243584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10000"/>
          </a:bodyPr>
          <a:lstStyle/>
          <a:p>
            <a:pPr algn="ctr"/>
            <a:r>
              <a:rPr sz="1200" b="1">
                <a:solidFill>
                  <a:srgbClr val="25313C"/>
                </a:solidFill>
                <a:latin typeface="Aptos"/>
              </a:rPr>
              <a:t>Medio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1664208"/>
            <a:ext cx="128016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10000"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ptos"/>
              </a:rPr>
              <a:t>Impacto alto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2761488"/>
            <a:ext cx="128016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10000"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ptos"/>
              </a:rPr>
              <a:t>Impacto medio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3858768"/>
            <a:ext cx="128016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10000"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Aptos"/>
              </a:rPr>
              <a:t>Impacto bajo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4892040"/>
            <a:ext cx="10972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Aptos"/>
              </a:rPr>
              <a:t>Prob. baja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4892040"/>
            <a:ext cx="10972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Aptos"/>
              </a:rPr>
              <a:t>Prob. media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4892040"/>
            <a:ext cx="10972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10000"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Aptos"/>
              </a:rPr>
              <a:t>Prob. alta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03720" y="1764792"/>
            <a:ext cx="749808" cy="310896"/>
          </a:xfrm>
          <a:prstGeom prst="roundRect">
            <a:avLst/>
          </a:prstGeom>
          <a:solidFill>
            <a:srgbClr val="EB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49440" y="1801368"/>
            <a:ext cx="658368" cy="26517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FB-R1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03720" y="2148840"/>
            <a:ext cx="749808" cy="310896"/>
          </a:xfrm>
          <a:prstGeom prst="roundRect">
            <a:avLst/>
          </a:prstGeom>
          <a:solidFill>
            <a:srgbClr val="EB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49440" y="2185416"/>
            <a:ext cx="658368" cy="26517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PM-R3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40680" y="2148840"/>
            <a:ext cx="749808" cy="310896"/>
          </a:xfrm>
          <a:prstGeom prst="round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0" y="2185416"/>
            <a:ext cx="658368" cy="26517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IB-R1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77639" y="3246120"/>
            <a:ext cx="749808" cy="310896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023359" y="3282696"/>
            <a:ext cx="658368" cy="26517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PM-R6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69680" y="1554480"/>
            <a:ext cx="242316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0" y="2304288"/>
            <a:ext cx="1828800" cy="16916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150">
                <a:solidFill>
                  <a:srgbClr val="25313C"/>
                </a:solidFill>
                <a:latin typeface="Aptos"/>
              </a:defRPr>
            </a:pPr>
            <a:r>
              <a:t>Crítico: atender primero.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150">
                <a:solidFill>
                  <a:srgbClr val="25313C"/>
                </a:solidFill>
                <a:latin typeface="Aptos"/>
              </a:defRPr>
            </a:pPr>
            <a:r>
              <a:t>Alto: plan de mitigación.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150">
                <a:solidFill>
                  <a:srgbClr val="25313C"/>
                </a:solidFill>
                <a:latin typeface="Aptos"/>
              </a:defRPr>
            </a:pPr>
            <a:r>
              <a:t>Medio: monitorear y documentar.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150">
                <a:solidFill>
                  <a:srgbClr val="25313C"/>
                </a:solidFill>
                <a:latin typeface="Aptos"/>
              </a:defRPr>
            </a:pPr>
            <a:r>
              <a:t>Bajo: aceptar con seguimiento.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955279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/>
            <a:r>
              <a:rPr sz="2800" b="1">
                <a:solidFill>
                  <a:srgbClr val="183153"/>
                </a:solidFill>
                <a:latin typeface="Aptos"/>
              </a:rPr>
              <a:t>Ejercicio 5 · Priorizar riesgos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88696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tos"/>
              </a:rPr>
              <a:t>La prioridad depende del nivel y de su efecto sobre la ruta de entrega.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10972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1074420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20" y="1444752"/>
            <a:ext cx="411480" cy="292608"/>
          </a:xfrm>
          <a:prstGeom prst="roundRect">
            <a:avLst/>
          </a:prstGeom>
          <a:solidFill>
            <a:srgbClr val="EB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481328"/>
            <a:ext cx="320040" cy="24688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444752"/>
            <a:ext cx="42062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240" b="1">
                <a:solidFill>
                  <a:srgbClr val="183153"/>
                </a:solidFill>
                <a:latin typeface="Aptos"/>
              </a:rPr>
              <a:t>ProcesMuebles · Parámetros mal configurados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444752"/>
            <a:ext cx="82296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50" b="1">
                <a:solidFill>
                  <a:srgbClr val="EB5757"/>
                </a:solidFill>
                <a:latin typeface="Aptos"/>
              </a:rPr>
              <a:t>Nivel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444752"/>
            <a:ext cx="438912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20" b="0">
                <a:solidFill>
                  <a:srgbClr val="25313C"/>
                </a:solidFill>
                <a:latin typeface="Aptos"/>
              </a:rPr>
              <a:t>Bloquea D6 hasta validar línea base.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112264"/>
            <a:ext cx="1074420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60120" y="2231136"/>
            <a:ext cx="411480" cy="292608"/>
          </a:xfrm>
          <a:prstGeom prst="roundRect">
            <a:avLst/>
          </a:prstGeom>
          <a:solidFill>
            <a:srgbClr val="EB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2267712"/>
            <a:ext cx="320040" cy="24688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2231136"/>
            <a:ext cx="42062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240" b="1">
                <a:solidFill>
                  <a:srgbClr val="183153"/>
                </a:solidFill>
                <a:latin typeface="Aptos"/>
              </a:rPr>
              <a:t>Fast Burger · Retraso por disponibilidad limitada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31136"/>
            <a:ext cx="82296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50" b="1">
                <a:solidFill>
                  <a:srgbClr val="EB5757"/>
                </a:solidFill>
                <a:latin typeface="Aptos"/>
              </a:rPr>
              <a:t>Nivel 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231136"/>
            <a:ext cx="438912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20" b="0">
                <a:solidFill>
                  <a:srgbClr val="25313C"/>
                </a:solidFill>
                <a:latin typeface="Aptos"/>
              </a:rPr>
              <a:t>Ya se materializó y exigió recuperación.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898648"/>
            <a:ext cx="1074420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60120" y="3017520"/>
            <a:ext cx="411480" cy="292608"/>
          </a:xfrm>
          <a:prstGeom prst="round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3054096"/>
            <a:ext cx="320040" cy="24688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3017520"/>
            <a:ext cx="42062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240" b="1">
                <a:solidFill>
                  <a:srgbClr val="183153"/>
                </a:solidFill>
                <a:latin typeface="Aptos"/>
              </a:rPr>
              <a:t>Fast Burger · Error de configuración en Bizagi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017520"/>
            <a:ext cx="82296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50" b="1">
                <a:solidFill>
                  <a:srgbClr val="F2A541"/>
                </a:solidFill>
                <a:latin typeface="Aptos"/>
              </a:rPr>
              <a:t>Nivel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017520"/>
            <a:ext cx="438912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20" b="0">
                <a:solidFill>
                  <a:srgbClr val="25313C"/>
                </a:solidFill>
                <a:latin typeface="Aptos"/>
              </a:rPr>
              <a:t>Puede distorsionar resultados.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685032"/>
            <a:ext cx="1074420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60120" y="3803904"/>
            <a:ext cx="411480" cy="292608"/>
          </a:xfrm>
          <a:prstGeom prst="round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3840480"/>
            <a:ext cx="320040" cy="24688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3803904"/>
            <a:ext cx="42062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240" b="1">
                <a:solidFill>
                  <a:srgbClr val="183153"/>
                </a:solidFill>
                <a:latin typeface="Aptos"/>
              </a:rPr>
              <a:t>Industria Bloquera · Datos insuficientes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3803904"/>
            <a:ext cx="82296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50" b="1">
                <a:solidFill>
                  <a:srgbClr val="F2A541"/>
                </a:solidFill>
                <a:latin typeface="Aptos"/>
              </a:rPr>
              <a:t>Nivel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803904"/>
            <a:ext cx="438912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20" b="0">
                <a:solidFill>
                  <a:srgbClr val="25313C"/>
                </a:solidFill>
                <a:latin typeface="Aptos"/>
              </a:rPr>
              <a:t>Reduce confiabilidad del análisis.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471416"/>
            <a:ext cx="1074420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60120" y="4590288"/>
            <a:ext cx="411480" cy="29260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5840" y="4626864"/>
            <a:ext cx="320040" cy="24688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72768" y="4590288"/>
            <a:ext cx="42062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240" b="1">
                <a:solidFill>
                  <a:srgbClr val="183153"/>
                </a:solidFill>
                <a:latin typeface="Aptos"/>
              </a:rPr>
              <a:t>ProcesMuebles · Cambio de alcance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4590288"/>
            <a:ext cx="82296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50" b="1">
                <a:solidFill>
                  <a:srgbClr val="27AE60"/>
                </a:solidFill>
                <a:latin typeface="Aptos"/>
              </a:rPr>
              <a:t>Nivel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4590288"/>
            <a:ext cx="438912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20" b="0">
                <a:solidFill>
                  <a:srgbClr val="25313C"/>
                </a:solidFill>
                <a:latin typeface="Aptos"/>
              </a:rPr>
              <a:t>Se controla con aprobación previa.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532120"/>
            <a:ext cx="128016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/>
            <a:r>
              <a:rPr sz="1600" b="1">
                <a:solidFill>
                  <a:srgbClr val="183153"/>
                </a:solidFill>
                <a:latin typeface="Aptos"/>
              </a:rPr>
              <a:t>Resultado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48840" y="5532120"/>
            <a:ext cx="90525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400" b="0">
                <a:solidFill>
                  <a:srgbClr val="25313C"/>
                </a:solidFill>
                <a:latin typeface="Aptos"/>
              </a:rPr>
              <a:t>Se atienden primero los riesgos que bloquean entregables o que ya muestran señales de materializarse.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955279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/>
            <a:r>
              <a:rPr sz="2800" b="1">
                <a:solidFill>
                  <a:srgbClr val="183153"/>
                </a:solidFill>
                <a:latin typeface="Aptos"/>
              </a:rPr>
              <a:t>Ejercicio 6 · Calcular Valor Monetario Esperado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88696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tos"/>
              </a:rPr>
              <a:t>VME = probabilidad × impacto. La probabilidad se expresa como decimal.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10972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3474720" cy="1188720"/>
          </a:xfrm>
          <a:prstGeom prst="roundRect">
            <a:avLst/>
          </a:prstGeom>
          <a:solidFill>
            <a:srgbClr val="F8FAFF"/>
          </a:solidFill>
          <a:ln w="10160">
            <a:solidFill>
              <a:srgbClr val="D8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581912"/>
            <a:ext cx="3145536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ctr"/>
            <a:r>
              <a:rPr sz="1700" b="1">
                <a:solidFill>
                  <a:srgbClr val="183153"/>
                </a:solidFill>
                <a:latin typeface="Aptos"/>
              </a:rPr>
              <a:t>0.40 × $2,000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020824"/>
            <a:ext cx="3145536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ctr"/>
            <a:r>
              <a:rPr sz="2400" b="1">
                <a:solidFill>
                  <a:srgbClr val="2F80ED"/>
                </a:solidFill>
                <a:latin typeface="Aptos"/>
              </a:rPr>
              <a:t>$800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3429000" cy="9601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250" b="0">
                <a:solidFill>
                  <a:srgbClr val="25313C"/>
                </a:solidFill>
                <a:latin typeface="Aptos"/>
              </a:rPr>
              <a:t>Ejemplo base solicitado: si la probabilidad de retraso es 40% y el impacto académico es $2,000, el valor esperado del riesgo es $800.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417320"/>
            <a:ext cx="3474720" cy="1188720"/>
          </a:xfrm>
          <a:prstGeom prst="roundRect">
            <a:avLst/>
          </a:prstGeom>
          <a:solidFill>
            <a:srgbClr val="F8FAFF"/>
          </a:solidFill>
          <a:ln w="10160">
            <a:solidFill>
              <a:srgbClr val="D8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90872" y="1581912"/>
            <a:ext cx="3145536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ctr"/>
            <a:r>
              <a:rPr sz="1700" b="1">
                <a:solidFill>
                  <a:srgbClr val="183153"/>
                </a:solidFill>
                <a:latin typeface="Aptos"/>
              </a:rPr>
              <a:t>0.70 × $1,500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020824"/>
            <a:ext cx="3145536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ctr"/>
            <a:r>
              <a:rPr sz="2400" b="1">
                <a:solidFill>
                  <a:srgbClr val="EB5757"/>
                </a:solidFill>
                <a:latin typeface="Aptos"/>
              </a:rPr>
              <a:t>$1,050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880360"/>
            <a:ext cx="3429000" cy="9601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250" b="0">
                <a:solidFill>
                  <a:srgbClr val="25313C"/>
                </a:solidFill>
                <a:latin typeface="Aptos"/>
              </a:rPr>
              <a:t>Fast Burger: retraso por disponibilidad limitada. El expediente VME-003 lo clasifica con alta exposición académica.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17320"/>
            <a:ext cx="3200400" cy="1188720"/>
          </a:xfrm>
          <a:prstGeom prst="roundRect">
            <a:avLst/>
          </a:prstGeom>
          <a:solidFill>
            <a:srgbClr val="F8FAFF"/>
          </a:solidFill>
          <a:ln w="10160">
            <a:solidFill>
              <a:srgbClr val="D8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94192" y="1581912"/>
            <a:ext cx="2871216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ctr"/>
            <a:r>
              <a:rPr sz="1700" b="1">
                <a:solidFill>
                  <a:srgbClr val="183153"/>
                </a:solidFill>
                <a:latin typeface="Aptos"/>
              </a:rPr>
              <a:t>0.70 × $1,200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020824"/>
            <a:ext cx="2871216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ctr"/>
            <a:r>
              <a:rPr sz="2400" b="1">
                <a:solidFill>
                  <a:srgbClr val="F2A541"/>
                </a:solidFill>
                <a:latin typeface="Aptos"/>
              </a:rPr>
              <a:t>$840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880360"/>
            <a:ext cx="3063240" cy="9601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250" b="0">
                <a:solidFill>
                  <a:srgbClr val="25313C"/>
                </a:solidFill>
                <a:latin typeface="Aptos"/>
              </a:rPr>
              <a:t>ProcesMuebles: parámetros mal configurados. El valor esperado confirma que la línea base debía revisarse antes de D6.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4572000"/>
            <a:ext cx="2125111" cy="411480"/>
          </a:xfrm>
          <a:prstGeom prst="rect">
            <a:avLst/>
          </a:prstGeom>
          <a:solidFill>
            <a:srgbClr val="2F80E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97864" y="4626864"/>
            <a:ext cx="2015383" cy="3383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ptos"/>
              </a:rPr>
              <a:t>Caso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68111" y="4572000"/>
            <a:ext cx="1375072" cy="411480"/>
          </a:xfrm>
          <a:prstGeom prst="rect">
            <a:avLst/>
          </a:prstGeom>
          <a:solidFill>
            <a:srgbClr val="2F80E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22975" y="4626864"/>
            <a:ext cx="1265344" cy="3383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ptos"/>
              </a:rPr>
              <a:t>Probabilidad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3184" y="4572000"/>
            <a:ext cx="1375072" cy="411480"/>
          </a:xfrm>
          <a:prstGeom prst="rect">
            <a:avLst/>
          </a:prstGeom>
          <a:solidFill>
            <a:srgbClr val="2F80E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98048" y="4626864"/>
            <a:ext cx="1265344" cy="3383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ptos"/>
              </a:rPr>
              <a:t>Impacto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18256" y="4572000"/>
            <a:ext cx="1250065" cy="411480"/>
          </a:xfrm>
          <a:prstGeom prst="rect">
            <a:avLst/>
          </a:prstGeom>
          <a:solidFill>
            <a:srgbClr val="2F80E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73120" y="4626864"/>
            <a:ext cx="1140337" cy="3383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ptos"/>
              </a:rPr>
              <a:t>VME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8322" y="4572000"/>
            <a:ext cx="3750197" cy="411480"/>
          </a:xfrm>
          <a:prstGeom prst="rect">
            <a:avLst/>
          </a:prstGeom>
          <a:solidFill>
            <a:srgbClr val="2F80E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23186" y="4626864"/>
            <a:ext cx="3640469" cy="3383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ptos"/>
              </a:rPr>
              <a:t>Interpretación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4983480"/>
            <a:ext cx="2125111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97864" y="5033772"/>
            <a:ext cx="2015383" cy="3383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00" b="0">
                <a:solidFill>
                  <a:srgbClr val="25313C"/>
                </a:solidFill>
                <a:latin typeface="Aptos"/>
              </a:rPr>
              <a:t>Ejemplo base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68111" y="4983480"/>
            <a:ext cx="1375072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22975" y="5033772"/>
            <a:ext cx="1265344" cy="3383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00" b="0">
                <a:solidFill>
                  <a:srgbClr val="25313C"/>
                </a:solidFill>
                <a:latin typeface="Aptos"/>
              </a:rPr>
              <a:t>0.40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3184" y="4983480"/>
            <a:ext cx="1375072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98048" y="5033772"/>
            <a:ext cx="1265344" cy="3383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00" b="0">
                <a:solidFill>
                  <a:srgbClr val="25313C"/>
                </a:solidFill>
                <a:latin typeface="Aptos"/>
              </a:rPr>
              <a:t>$2,000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18256" y="4983480"/>
            <a:ext cx="1250065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73120" y="5033772"/>
            <a:ext cx="1140337" cy="3383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00" b="0">
                <a:solidFill>
                  <a:srgbClr val="25313C"/>
                </a:solidFill>
                <a:latin typeface="Aptos"/>
              </a:rPr>
              <a:t>$800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68322" y="4983480"/>
            <a:ext cx="3750197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23186" y="5033772"/>
            <a:ext cx="3640469" cy="3383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00" b="0">
                <a:solidFill>
                  <a:srgbClr val="25313C"/>
                </a:solidFill>
                <a:latin typeface="Aptos"/>
              </a:rPr>
              <a:t>Riesgo relevante.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5394960"/>
            <a:ext cx="2125111" cy="411480"/>
          </a:xfrm>
          <a:prstGeom prst="rect">
            <a:avLst/>
          </a:prstGeom>
          <a:solidFill>
            <a:srgbClr val="FAFBFC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97864" y="5445252"/>
            <a:ext cx="2015383" cy="3383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00" b="0">
                <a:solidFill>
                  <a:srgbClr val="25313C"/>
                </a:solidFill>
                <a:latin typeface="Aptos"/>
              </a:rPr>
              <a:t>Fast Burger R1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68111" y="5394960"/>
            <a:ext cx="1375072" cy="411480"/>
          </a:xfrm>
          <a:prstGeom prst="rect">
            <a:avLst/>
          </a:prstGeom>
          <a:solidFill>
            <a:srgbClr val="FAFBFC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22975" y="5445252"/>
            <a:ext cx="1265344" cy="3383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00" b="0">
                <a:solidFill>
                  <a:srgbClr val="25313C"/>
                </a:solidFill>
                <a:latin typeface="Aptos"/>
              </a:rPr>
              <a:t>0.70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43184" y="5394960"/>
            <a:ext cx="1375072" cy="411480"/>
          </a:xfrm>
          <a:prstGeom prst="rect">
            <a:avLst/>
          </a:prstGeom>
          <a:solidFill>
            <a:srgbClr val="FAFBFC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698048" y="5445252"/>
            <a:ext cx="1265344" cy="3383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00" b="0">
                <a:solidFill>
                  <a:srgbClr val="25313C"/>
                </a:solidFill>
                <a:latin typeface="Aptos"/>
              </a:rPr>
              <a:t>$1,500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18256" y="5394960"/>
            <a:ext cx="1250065" cy="411480"/>
          </a:xfrm>
          <a:prstGeom prst="rect">
            <a:avLst/>
          </a:prstGeom>
          <a:solidFill>
            <a:srgbClr val="FAFBFC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073120" y="5445252"/>
            <a:ext cx="1140337" cy="3383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00" b="0">
                <a:solidFill>
                  <a:srgbClr val="25313C"/>
                </a:solidFill>
                <a:latin typeface="Aptos"/>
              </a:rPr>
              <a:t>$1,050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68322" y="5394960"/>
            <a:ext cx="3750197" cy="411480"/>
          </a:xfrm>
          <a:prstGeom prst="rect">
            <a:avLst/>
          </a:prstGeom>
          <a:solidFill>
            <a:srgbClr val="FAFBFC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23186" y="5445252"/>
            <a:ext cx="3640469" cy="3383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00" b="0">
                <a:solidFill>
                  <a:srgbClr val="25313C"/>
                </a:solidFill>
                <a:latin typeface="Aptos"/>
              </a:rPr>
              <a:t>Prioridad alta.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43000" y="5806440"/>
            <a:ext cx="2125111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197864" y="5856731"/>
            <a:ext cx="2015383" cy="3383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00" b="0">
                <a:solidFill>
                  <a:srgbClr val="25313C"/>
                </a:solidFill>
                <a:latin typeface="Aptos"/>
              </a:rPr>
              <a:t>ProcesMuebles R3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68111" y="5806440"/>
            <a:ext cx="1375072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322975" y="5856731"/>
            <a:ext cx="1265344" cy="3383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00" b="0">
                <a:solidFill>
                  <a:srgbClr val="25313C"/>
                </a:solidFill>
                <a:latin typeface="Aptos"/>
              </a:rPr>
              <a:t>0.70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43184" y="5806440"/>
            <a:ext cx="1375072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698048" y="5856731"/>
            <a:ext cx="1265344" cy="3383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00" b="0">
                <a:solidFill>
                  <a:srgbClr val="25313C"/>
                </a:solidFill>
                <a:latin typeface="Aptos"/>
              </a:rPr>
              <a:t>$1,200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18256" y="5806440"/>
            <a:ext cx="1250065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073120" y="5856731"/>
            <a:ext cx="1140337" cy="3383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00" b="0">
                <a:solidFill>
                  <a:srgbClr val="25313C"/>
                </a:solidFill>
                <a:latin typeface="Aptos"/>
              </a:rPr>
              <a:t>$840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68322" y="5806440"/>
            <a:ext cx="3750197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323186" y="5856731"/>
            <a:ext cx="3640469" cy="3383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00" b="0">
                <a:solidFill>
                  <a:srgbClr val="25313C"/>
                </a:solidFill>
                <a:latin typeface="Aptos"/>
              </a:rPr>
              <a:t>Atención técnica inmediata.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955279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/>
            <a:r>
              <a:rPr sz="2800" b="1">
                <a:solidFill>
                  <a:srgbClr val="183153"/>
                </a:solidFill>
                <a:latin typeface="Aptos"/>
              </a:rPr>
              <a:t>Ejercicio 7 · Comparar alternativas mediante VME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88696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tos"/>
              </a:rPr>
              <a:t>Caso: continuar o revisar la línea base antes del análisis de escenarios.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10972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489204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73152" cy="2148840"/>
          </a:xfrm>
          <a:prstGeom prst="rect">
            <a:avLst/>
          </a:prstGeom>
          <a:solidFill>
            <a:srgbClr val="EB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581912"/>
            <a:ext cx="457200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l"/>
            <a:r>
              <a:rPr sz="1400" b="1">
                <a:solidFill>
                  <a:srgbClr val="183153"/>
                </a:solidFill>
                <a:latin typeface="Aptos"/>
              </a:rPr>
              <a:t>Alternativa A · Avanzar sin revisión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920240"/>
            <a:ext cx="4572000" cy="1527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60" b="0">
                <a:solidFill>
                  <a:srgbClr val="25313C"/>
                </a:solidFill>
                <a:latin typeface="Aptos"/>
              </a:rPr>
              <a:t>Probabilidad de error: 70%
Impacto académico: $1,200
VME = 0.70 × 1,200 = $840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417320"/>
            <a:ext cx="489204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46520" y="1417320"/>
            <a:ext cx="73152" cy="2148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11112" y="1581912"/>
            <a:ext cx="457200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l"/>
            <a:r>
              <a:rPr sz="1400" b="1">
                <a:solidFill>
                  <a:srgbClr val="183153"/>
                </a:solidFill>
                <a:latin typeface="Aptos"/>
              </a:rPr>
              <a:t>Alternativa B · Revisar antes de D6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1920240"/>
            <a:ext cx="4572000" cy="1527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60" b="0">
                <a:solidFill>
                  <a:srgbClr val="25313C"/>
                </a:solidFill>
                <a:latin typeface="Aptos"/>
              </a:rPr>
              <a:t>Probabilidad residual: 25%
Impacto académico: $1,200
Costo preventivo académico: $200
VME ajustado = 0.25 × 1,200 + 200 = $500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343400"/>
            <a:ext cx="9966960" cy="11430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0160" y="4526280"/>
            <a:ext cx="13716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85000" lnSpcReduction="20000"/>
          </a:bodyPr>
          <a:lstStyle/>
          <a:p>
            <a:pPr algn="l"/>
            <a:r>
              <a:rPr sz="1400" b="1">
                <a:solidFill>
                  <a:srgbClr val="183153"/>
                </a:solidFill>
                <a:latin typeface="Aptos"/>
              </a:rPr>
              <a:t>Comparación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4645152"/>
            <a:ext cx="4023360" cy="201168"/>
          </a:xfrm>
          <a:prstGeom prst="roundRect">
            <a:avLst/>
          </a:prstGeom>
          <a:solidFill>
            <a:srgbClr val="EB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03720" y="4553712"/>
            <a:ext cx="6400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/>
            <a:r>
              <a:rPr sz="1200" b="1">
                <a:solidFill>
                  <a:srgbClr val="EB5757"/>
                </a:solidFill>
                <a:latin typeface="Aptos"/>
              </a:rPr>
              <a:t>$840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5102352"/>
            <a:ext cx="2395728" cy="20116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57800" y="5010912"/>
            <a:ext cx="6400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/>
            <a:r>
              <a:rPr sz="1200" b="1">
                <a:solidFill>
                  <a:srgbClr val="27AE60"/>
                </a:solidFill>
                <a:latin typeface="Aptos"/>
              </a:rPr>
              <a:t>$500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815584"/>
            <a:ext cx="950976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85000" lnSpcReduction="10000"/>
          </a:bodyPr>
          <a:lstStyle/>
          <a:p>
            <a:pPr algn="l"/>
            <a:r>
              <a:rPr sz="1420" b="0">
                <a:solidFill>
                  <a:srgbClr val="25313C"/>
                </a:solidFill>
                <a:latin typeface="Aptos"/>
              </a:rPr>
              <a:t>Resultado: conviene revisar la línea base. Aunque requiere trabajo previo, reduce la exposición esperada y evita arrastrar errores al informe final.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955279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/>
            <a:r>
              <a:rPr sz="2800" b="1">
                <a:solidFill>
                  <a:srgbClr val="183153"/>
                </a:solidFill>
                <a:latin typeface="Aptos"/>
              </a:rPr>
              <a:t>Ejercicio 8 · Seleccionar estrategia de respuesta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88696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tos"/>
              </a:rPr>
              <a:t>La respuesta depende de qué tanto puede controlarse el riesgo.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10972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3829433" cy="502920"/>
          </a:xfrm>
          <a:prstGeom prst="rect">
            <a:avLst/>
          </a:prstGeom>
          <a:solidFill>
            <a:srgbClr val="2F80E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" y="1380744"/>
            <a:ext cx="3719705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1030" b="1">
                <a:solidFill>
                  <a:srgbClr val="FFFFFF"/>
                </a:solidFill>
                <a:latin typeface="Aptos"/>
              </a:rPr>
              <a:t>Situación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15233" y="1325880"/>
            <a:ext cx="1841073" cy="502920"/>
          </a:xfrm>
          <a:prstGeom prst="rect">
            <a:avLst/>
          </a:prstGeom>
          <a:solidFill>
            <a:srgbClr val="2F80E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0097" y="1380744"/>
            <a:ext cx="1731345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1030" b="1">
                <a:solidFill>
                  <a:srgbClr val="FFFFFF"/>
                </a:solidFill>
                <a:latin typeface="Aptos"/>
              </a:rPr>
              <a:t>Estrategia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6307" y="1325880"/>
            <a:ext cx="5302292" cy="502920"/>
          </a:xfrm>
          <a:prstGeom prst="rect">
            <a:avLst/>
          </a:prstGeom>
          <a:solidFill>
            <a:srgbClr val="2F80E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1171" y="1380744"/>
            <a:ext cx="5192564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1030" b="1">
                <a:solidFill>
                  <a:srgbClr val="FFFFFF"/>
                </a:solidFill>
                <a:latin typeface="Aptos"/>
              </a:rPr>
              <a:t>Aplicación PM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828800"/>
            <a:ext cx="3829433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" y="1879092"/>
            <a:ext cx="3719705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69" b="0">
                <a:solidFill>
                  <a:srgbClr val="25313C"/>
                </a:solidFill>
                <a:latin typeface="Aptos"/>
              </a:rPr>
              <a:t>Agregar procesos fuera del alcance aprobado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15233" y="1828800"/>
            <a:ext cx="1841073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0097" y="1879092"/>
            <a:ext cx="1731345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69" b="0">
                <a:solidFill>
                  <a:srgbClr val="25313C"/>
                </a:solidFill>
                <a:latin typeface="Aptos"/>
              </a:rPr>
              <a:t>Evitar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6307" y="1828800"/>
            <a:ext cx="5302292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1171" y="1879092"/>
            <a:ext cx="5192564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69" b="0">
                <a:solidFill>
                  <a:srgbClr val="25313C"/>
                </a:solidFill>
                <a:latin typeface="Aptos"/>
              </a:rPr>
              <a:t>No incorporarlos sin control de cambios.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331720"/>
            <a:ext cx="3829433" cy="502920"/>
          </a:xfrm>
          <a:prstGeom prst="rect">
            <a:avLst/>
          </a:prstGeom>
          <a:solidFill>
            <a:srgbClr val="FAFBFC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0664" y="2382012"/>
            <a:ext cx="3719705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69" b="0">
                <a:solidFill>
                  <a:srgbClr val="25313C"/>
                </a:solidFill>
                <a:latin typeface="Aptos"/>
              </a:rPr>
              <a:t>Retraso de actividades D1-D8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15233" y="2331720"/>
            <a:ext cx="1841073" cy="502920"/>
          </a:xfrm>
          <a:prstGeom prst="rect">
            <a:avLst/>
          </a:prstGeom>
          <a:solidFill>
            <a:srgbClr val="FAFBFC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0097" y="2382012"/>
            <a:ext cx="1731345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69" b="0">
                <a:solidFill>
                  <a:srgbClr val="25313C"/>
                </a:solidFill>
                <a:latin typeface="Aptos"/>
              </a:rPr>
              <a:t>Mitigar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6307" y="2331720"/>
            <a:ext cx="5302292" cy="502920"/>
          </a:xfrm>
          <a:prstGeom prst="rect">
            <a:avLst/>
          </a:prstGeom>
          <a:solidFill>
            <a:srgbClr val="FAFBFC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1171" y="2382012"/>
            <a:ext cx="5192564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69" b="0">
                <a:solidFill>
                  <a:srgbClr val="25313C"/>
                </a:solidFill>
                <a:latin typeface="Aptos"/>
              </a:rPr>
              <a:t>Replanificar, priorizar entregables y dar seguimiento frecuente.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2834640"/>
            <a:ext cx="3829433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0664" y="2884932"/>
            <a:ext cx="3719705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69" b="0">
                <a:solidFill>
                  <a:srgbClr val="25313C"/>
                </a:solidFill>
                <a:latin typeface="Aptos"/>
              </a:rPr>
              <a:t>Falla de una herramienta externa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15233" y="2834640"/>
            <a:ext cx="1841073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0097" y="2884932"/>
            <a:ext cx="1731345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69" b="0">
                <a:solidFill>
                  <a:srgbClr val="25313C"/>
                </a:solidFill>
                <a:latin typeface="Aptos"/>
              </a:rPr>
              <a:t>Transferir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6307" y="2834640"/>
            <a:ext cx="5302292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11171" y="2884932"/>
            <a:ext cx="5192564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69" b="0">
                <a:solidFill>
                  <a:srgbClr val="25313C"/>
                </a:solidFill>
                <a:latin typeface="Aptos"/>
              </a:rPr>
              <a:t>Usar respaldo o apoyo técnico externo si aplica.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337560"/>
            <a:ext cx="3829433" cy="502920"/>
          </a:xfrm>
          <a:prstGeom prst="rect">
            <a:avLst/>
          </a:prstGeom>
          <a:solidFill>
            <a:srgbClr val="FAFBFC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0664" y="3387852"/>
            <a:ext cx="3719705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69" b="0">
                <a:solidFill>
                  <a:srgbClr val="25313C"/>
                </a:solidFill>
                <a:latin typeface="Aptos"/>
              </a:rPr>
              <a:t>Costos no cuantificados en actividad académica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15233" y="3337560"/>
            <a:ext cx="1841073" cy="502920"/>
          </a:xfrm>
          <a:prstGeom prst="rect">
            <a:avLst/>
          </a:prstGeom>
          <a:solidFill>
            <a:srgbClr val="FAFBFC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0097" y="3387852"/>
            <a:ext cx="1731345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69" b="0">
                <a:solidFill>
                  <a:srgbClr val="25313C"/>
                </a:solidFill>
                <a:latin typeface="Aptos"/>
              </a:rPr>
              <a:t>Aceptar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6307" y="3337560"/>
            <a:ext cx="5302292" cy="502920"/>
          </a:xfrm>
          <a:prstGeom prst="rect">
            <a:avLst/>
          </a:prstGeom>
          <a:solidFill>
            <a:srgbClr val="FAFBFC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11171" y="3387852"/>
            <a:ext cx="5192564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69" b="0">
                <a:solidFill>
                  <a:srgbClr val="25313C"/>
                </a:solidFill>
                <a:latin typeface="Aptos"/>
              </a:rPr>
              <a:t>Documentar el recurso usado sin inventar presupuesto real.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3840480"/>
            <a:ext cx="3829433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0664" y="3890772"/>
            <a:ext cx="3719705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69" b="0">
                <a:solidFill>
                  <a:srgbClr val="25313C"/>
                </a:solidFill>
                <a:latin typeface="Aptos"/>
              </a:rPr>
              <a:t>Inconsistencia entre datos y modelo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15233" y="3840480"/>
            <a:ext cx="1841073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0097" y="3890772"/>
            <a:ext cx="1731345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69" b="0">
                <a:solidFill>
                  <a:srgbClr val="25313C"/>
                </a:solidFill>
                <a:latin typeface="Aptos"/>
              </a:rPr>
              <a:t>Mitigar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6307" y="3840480"/>
            <a:ext cx="5302292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11171" y="3890772"/>
            <a:ext cx="5192564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969" b="0">
                <a:solidFill>
                  <a:srgbClr val="25313C"/>
                </a:solidFill>
                <a:latin typeface="Aptos"/>
              </a:rPr>
              <a:t>Reabrir revisión y validar nueva corrida antes de continuar.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4983480"/>
            <a:ext cx="128016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/>
            <a:r>
              <a:rPr sz="1600" b="1">
                <a:solidFill>
                  <a:srgbClr val="183153"/>
                </a:solidFill>
                <a:latin typeface="Aptos"/>
              </a:rPr>
              <a:t>Respuesta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48840" y="4983480"/>
            <a:ext cx="882396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l"/>
            <a:r>
              <a:rPr sz="1400" b="0">
                <a:solidFill>
                  <a:srgbClr val="25313C"/>
                </a:solidFill>
                <a:latin typeface="Aptos"/>
              </a:rPr>
              <a:t>La estrategia más usada en los casos reales fue mitigar: reducir la probabilidad o el impacto mediante correcciones, revisión de línea base, control de cambios y seguimiento.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955279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/>
            <a:r>
              <a:rPr sz="2800" b="1">
                <a:solidFill>
                  <a:srgbClr val="183153"/>
                </a:solidFill>
                <a:latin typeface="Aptos"/>
              </a:rPr>
              <a:t>Ejercicio 9 · Calcular riesgo residual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88696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tos"/>
              </a:rPr>
              <a:t>El riesgo residual es lo que queda después de aplicar una mitigación.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10972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8680" y="1508760"/>
            <a:ext cx="3200400" cy="1234440"/>
          </a:xfrm>
          <a:prstGeom prst="roundRect">
            <a:avLst/>
          </a:prstGeom>
          <a:solidFill>
            <a:srgbClr val="F8FAFF"/>
          </a:solidFill>
          <a:ln w="10160">
            <a:solidFill>
              <a:srgbClr val="D8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1673351"/>
            <a:ext cx="2871216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55000" lnSpcReduction="20000"/>
          </a:bodyPr>
          <a:lstStyle/>
          <a:p>
            <a:pPr algn="ctr"/>
            <a:r>
              <a:rPr sz="1700" b="1">
                <a:solidFill>
                  <a:srgbClr val="183153"/>
                </a:solidFill>
                <a:latin typeface="Aptos"/>
              </a:rPr>
              <a:t>Riesgo inicial
0.70 × $1,200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112264"/>
            <a:ext cx="2871216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ctr"/>
            <a:r>
              <a:rPr sz="2400" b="1">
                <a:solidFill>
                  <a:srgbClr val="EB5757"/>
                </a:solidFill>
                <a:latin typeface="Aptos"/>
              </a:rPr>
              <a:t>$840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08760"/>
            <a:ext cx="3200400" cy="1234440"/>
          </a:xfrm>
          <a:prstGeom prst="roundRect">
            <a:avLst/>
          </a:prstGeom>
          <a:solidFill>
            <a:srgbClr val="F8FAFF"/>
          </a:solidFill>
          <a:ln w="10160">
            <a:solidFill>
              <a:srgbClr val="D8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45152" y="1673351"/>
            <a:ext cx="2871216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55000" lnSpcReduction="20000"/>
          </a:bodyPr>
          <a:lstStyle/>
          <a:p>
            <a:pPr algn="ctr"/>
            <a:r>
              <a:rPr sz="1700" b="1">
                <a:solidFill>
                  <a:srgbClr val="183153"/>
                </a:solidFill>
                <a:latin typeface="Aptos"/>
              </a:rPr>
              <a:t>Después de mitigar
0.25 × $1,200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112264"/>
            <a:ext cx="2871216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ctr"/>
            <a:r>
              <a:rPr sz="2400" b="1">
                <a:solidFill>
                  <a:srgbClr val="F2A541"/>
                </a:solidFill>
                <a:latin typeface="Aptos"/>
              </a:rPr>
              <a:t>$300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508760"/>
            <a:ext cx="3200400" cy="1234440"/>
          </a:xfrm>
          <a:prstGeom prst="roundRect">
            <a:avLst/>
          </a:prstGeom>
          <a:solidFill>
            <a:srgbClr val="F8FAFF"/>
          </a:solidFill>
          <a:ln w="10160">
            <a:solidFill>
              <a:srgbClr val="D8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57031" y="1673351"/>
            <a:ext cx="2871216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55000" lnSpcReduction="20000"/>
          </a:bodyPr>
          <a:lstStyle/>
          <a:p>
            <a:pPr algn="ctr"/>
            <a:r>
              <a:rPr sz="1700" b="1">
                <a:solidFill>
                  <a:srgbClr val="183153"/>
                </a:solidFill>
                <a:latin typeface="Aptos"/>
              </a:rPr>
              <a:t>Reducción
$840 − $300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112264"/>
            <a:ext cx="2871216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ctr"/>
            <a:r>
              <a:rPr sz="2400" b="1">
                <a:solidFill>
                  <a:srgbClr val="27AE60"/>
                </a:solidFill>
                <a:latin typeface="Aptos"/>
              </a:rPr>
              <a:t>$540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794760"/>
            <a:ext cx="10332720" cy="141732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4041648"/>
            <a:ext cx="23774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/>
            <a:r>
              <a:rPr sz="1600" b="1">
                <a:solidFill>
                  <a:srgbClr val="183153"/>
                </a:solidFill>
                <a:latin typeface="Aptos"/>
              </a:rPr>
              <a:t>Procedimiento aplicado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462272"/>
            <a:ext cx="932688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10000"/>
          </a:bodyPr>
          <a:lstStyle/>
          <a:p>
            <a:pPr algn="l"/>
            <a:r>
              <a:rPr sz="1380" b="0">
                <a:solidFill>
                  <a:srgbClr val="25313C"/>
                </a:solidFill>
                <a:latin typeface="Aptos"/>
              </a:rPr>
              <a:t>En ProcesMuebles, la mitigación consistió en no iniciar D6 hasta corregir D2-D5 y validar una nueva corrida base. El riesgo no desaparece por completo, pero queda más controlado porque la decisión evita continuar sobre datos inconsistentes.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955279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/>
            <a:r>
              <a:rPr sz="2800" b="1">
                <a:solidFill>
                  <a:srgbClr val="183153"/>
                </a:solidFill>
                <a:latin typeface="Aptos"/>
              </a:rPr>
              <a:t>Ejercicio 10 · Caso integrado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88696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tos"/>
              </a:rPr>
              <a:t>Caso elegido: Fast Burger · retraso, incidencia y control de cierre.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10972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4754880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201168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/>
            <a:r>
              <a:rPr sz="1600" b="1">
                <a:solidFill>
                  <a:srgbClr val="183153"/>
                </a:solidFill>
                <a:latin typeface="Aptos"/>
              </a:rPr>
              <a:t>Datos del caso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29968"/>
            <a:ext cx="4114800" cy="26517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220">
                <a:solidFill>
                  <a:srgbClr val="25313C"/>
                </a:solidFill>
                <a:latin typeface="Aptos"/>
              </a:defRPr>
            </a:pPr>
            <a:r>
              <a:t>Riesgo inicial: retraso por disponibilidad limitada.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220">
                <a:solidFill>
                  <a:srgbClr val="25313C"/>
                </a:solidFill>
                <a:latin typeface="Aptos"/>
              </a:defRPr>
            </a:pPr>
            <a:r>
              <a:t>Probabilidad: 70%.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220">
                <a:solidFill>
                  <a:srgbClr val="25313C"/>
                </a:solidFill>
                <a:latin typeface="Aptos"/>
              </a:defRPr>
            </a:pPr>
            <a:r>
              <a:t>Impacto académico: $1,500.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220">
                <a:solidFill>
                  <a:srgbClr val="25313C"/>
                </a:solidFill>
                <a:latin typeface="Aptos"/>
              </a:defRPr>
            </a:pPr>
            <a:r>
              <a:t>VME: $1,050.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220">
                <a:solidFill>
                  <a:srgbClr val="25313C"/>
                </a:solidFill>
                <a:latin typeface="Aptos"/>
              </a:defRPr>
            </a:pPr>
            <a:r>
              <a:t>La situación se materializó como incidencia INC-003-01.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220">
                <a:solidFill>
                  <a:srgbClr val="25313C"/>
                </a:solidFill>
                <a:latin typeface="Aptos"/>
              </a:defRPr>
            </a:pPr>
            <a:r>
              <a:t>Respuesta: PLAN-003, Bizagi como herramienta principal y corrección D6-D7.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417320"/>
            <a:ext cx="1965960" cy="384048"/>
          </a:xfrm>
          <a:prstGeom prst="round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0" y="1453896"/>
            <a:ext cx="1874519" cy="3383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ptos"/>
              </a:rPr>
              <a:t>Riesgo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967728" y="1828800"/>
            <a:ext cx="0" cy="457200"/>
          </a:xfrm>
          <a:prstGeom prst="line">
            <a:avLst/>
          </a:prstGeom>
          <a:ln w="19050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989320" y="2377440"/>
            <a:ext cx="1965960" cy="384048"/>
          </a:xfrm>
          <a:prstGeom prst="round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35040" y="2414016"/>
            <a:ext cx="1874519" cy="3383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ptos"/>
              </a:rPr>
              <a:t>Incidencia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67728" y="2788920"/>
            <a:ext cx="0" cy="457200"/>
          </a:xfrm>
          <a:prstGeom prst="line">
            <a:avLst/>
          </a:prstGeom>
          <a:ln w="19050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989320" y="3337560"/>
            <a:ext cx="1965960" cy="384048"/>
          </a:xfrm>
          <a:prstGeom prst="round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35040" y="3374136"/>
            <a:ext cx="1874519" cy="3383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ptos"/>
              </a:rPr>
              <a:t>Acción correctiva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67728" y="3749040"/>
            <a:ext cx="0" cy="457200"/>
          </a:xfrm>
          <a:prstGeom prst="line">
            <a:avLst/>
          </a:prstGeom>
          <a:ln w="19050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989320" y="4297680"/>
            <a:ext cx="1965960" cy="38404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35040" y="4334256"/>
            <a:ext cx="1874519" cy="3383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Aptos"/>
              </a:rPr>
              <a:t>Cierre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1536192"/>
            <a:ext cx="246888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/>
            <a:r>
              <a:rPr sz="1600" b="1">
                <a:solidFill>
                  <a:srgbClr val="183153"/>
                </a:solidFill>
                <a:latin typeface="Aptos"/>
              </a:rPr>
              <a:t>Resultado del ejercicio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1965960"/>
            <a:ext cx="2468880" cy="22860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240" b="0">
                <a:solidFill>
                  <a:srgbClr val="25313C"/>
                </a:solidFill>
                <a:latin typeface="Aptos"/>
              </a:rPr>
              <a:t>El riesgo tuvo valor esperado alto y terminó convirtiéndose en incidencia. La respuesta fue adecuada porque redujo complejidad, fijó herramienta, corrigió resultados y permitió cerrar el paquete final.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5285232"/>
            <a:ext cx="502920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77500" lnSpcReduction="20000"/>
          </a:bodyPr>
          <a:lstStyle/>
          <a:p>
            <a:pPr algn="l"/>
            <a:r>
              <a:rPr sz="1420" b="1">
                <a:solidFill>
                  <a:srgbClr val="183153"/>
                </a:solidFill>
                <a:latin typeface="Aptos"/>
              </a:rPr>
              <a:t>Respuesta final: prioridad alta, estrategia de mitigación y seguimiento hasta cierre documentado.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955279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/>
            <a:r>
              <a:rPr sz="2800" b="1">
                <a:solidFill>
                  <a:srgbClr val="183153"/>
                </a:solidFill>
                <a:latin typeface="Aptos"/>
              </a:rPr>
              <a:t>Evidencia documental usada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88696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tos"/>
              </a:rPr>
              <a:t>Extractos de los expedientes que respaldan los ejercicios.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10972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423160" cy="39776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ISK-003_Matriz_Riesgos_Aa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09974"/>
            <a:ext cx="2148840" cy="27808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937760"/>
            <a:ext cx="21488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919" b="1">
                <a:solidFill>
                  <a:srgbClr val="183153"/>
                </a:solidFill>
                <a:latin typeface="Aptos"/>
              </a:rPr>
              <a:t>RISK-003 · Fast Burger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417320"/>
            <a:ext cx="2423160" cy="39776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VME-003_Analisis_Cuantitativo_Riesgos_Aar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681840"/>
            <a:ext cx="2148840" cy="30371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749040" y="4937760"/>
            <a:ext cx="21488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919" b="1">
                <a:solidFill>
                  <a:srgbClr val="183153"/>
                </a:solidFill>
                <a:latin typeface="Aptos"/>
              </a:rPr>
              <a:t>VME-003 · Fast Burger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417320"/>
            <a:ext cx="2423160" cy="39776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RISK-002_Matriz_Riesg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809974"/>
            <a:ext cx="2148840" cy="278085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75120" y="4937760"/>
            <a:ext cx="21488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919" b="1">
                <a:solidFill>
                  <a:srgbClr val="183153"/>
                </a:solidFill>
                <a:latin typeface="Aptos"/>
              </a:rPr>
              <a:t>RISK-002 · ProcesMuebles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4040" y="1417320"/>
            <a:ext cx="2423160" cy="39776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VME-002_Analisis_Cuantitativ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1809974"/>
            <a:ext cx="2148840" cy="278085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01200" y="4937760"/>
            <a:ext cx="21488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919" b="1">
                <a:solidFill>
                  <a:srgbClr val="183153"/>
                </a:solidFill>
                <a:latin typeface="Aptos"/>
              </a:rPr>
              <a:t>VME-002 · ProcesMuebles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806440"/>
            <a:ext cx="10058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/>
            <a:r>
              <a:rPr sz="1320" b="0">
                <a:solidFill>
                  <a:srgbClr val="25313C"/>
                </a:solidFill>
                <a:latin typeface="Aptos"/>
              </a:rPr>
              <a:t>Estos documentos sustentan los riesgos, las probabilidades, impactos, VME y acciones de respuesta utilizadas en el banco de ejercicios.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955279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/>
            <a:r>
              <a:rPr sz="2800" b="1">
                <a:solidFill>
                  <a:srgbClr val="183153"/>
                </a:solidFill>
                <a:latin typeface="Aptos"/>
              </a:rPr>
              <a:t>Resultados del banco de ejercicios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88696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tos"/>
              </a:rPr>
              <a:t>Lo importante no fue solo calcular, sino decidir con base en el cálculo.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10972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333756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73152" cy="18288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581912"/>
            <a:ext cx="301752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l"/>
            <a:r>
              <a:rPr sz="1400" b="1">
                <a:solidFill>
                  <a:srgbClr val="183153"/>
                </a:solidFill>
                <a:latin typeface="Aptos"/>
              </a:rPr>
              <a:t>Dominio cualitativo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920240"/>
            <a:ext cx="3017520" cy="1207007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60" b="0">
                <a:solidFill>
                  <a:srgbClr val="25313C"/>
                </a:solidFill>
                <a:latin typeface="Aptos"/>
              </a:rPr>
              <a:t>Se identificaron riesgos, se clasificaron por prioridad y se distinguió riesgo potencial de incidencia ocurrida.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3756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73152" cy="1828800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1" y="1581912"/>
            <a:ext cx="301752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l"/>
            <a:r>
              <a:rPr sz="1400" b="1">
                <a:solidFill>
                  <a:srgbClr val="183153"/>
                </a:solidFill>
                <a:latin typeface="Aptos"/>
              </a:rPr>
              <a:t>Dominio cuantitativo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1920240"/>
            <a:ext cx="3017520" cy="1207007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60" b="0">
                <a:solidFill>
                  <a:srgbClr val="25313C"/>
                </a:solidFill>
                <a:latin typeface="Aptos"/>
              </a:rPr>
              <a:t>Se aplicó VME con operaciones numéricas y se compararon alternativas mediante exposición esperada.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333756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73152" cy="1828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57031" y="1581912"/>
            <a:ext cx="301752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l"/>
            <a:r>
              <a:rPr sz="1400" b="1">
                <a:solidFill>
                  <a:srgbClr val="183153"/>
                </a:solidFill>
                <a:latin typeface="Aptos"/>
              </a:rPr>
              <a:t>Aplicación 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1920240"/>
            <a:ext cx="3017520" cy="1207007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60" b="0">
                <a:solidFill>
                  <a:srgbClr val="25313C"/>
                </a:solidFill>
                <a:latin typeface="Aptos"/>
              </a:rPr>
              <a:t>Las decisiones se conectaron con replanificación, control de cambios, seguimiento y correcciones documentadas.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4069080"/>
            <a:ext cx="10149840" cy="10972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25880" y="4343400"/>
            <a:ext cx="201168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/>
            <a:r>
              <a:rPr sz="1600" b="1">
                <a:solidFill>
                  <a:srgbClr val="183153"/>
                </a:solidFill>
                <a:latin typeface="Aptos"/>
              </a:rPr>
              <a:t>Resultado general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4343400"/>
            <a:ext cx="740664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10000"/>
          </a:bodyPr>
          <a:lstStyle/>
          <a:p>
            <a:pPr algn="l"/>
            <a:r>
              <a:rPr sz="1420" b="0">
                <a:solidFill>
                  <a:srgbClr val="25313C"/>
                </a:solidFill>
                <a:latin typeface="Aptos"/>
              </a:rPr>
              <a:t>El banco demuestra que el análisis de riesgos no termina en una matriz. Sirve para ordenar prioridades, justificar medidas preventivas y decidir cuándo detener, corregir o cerrar una actividad.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955279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92500" lnSpcReduction="20000"/>
          </a:bodyPr>
          <a:lstStyle/>
          <a:p>
            <a:pPr algn="l"/>
            <a:r>
              <a:rPr sz="2800" b="1">
                <a:solidFill>
                  <a:srgbClr val="183153"/>
                </a:solidFill>
                <a:latin typeface="Aptos"/>
              </a:rPr>
              <a:t>Conclusión y fuentes de información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88696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tos"/>
              </a:rPr>
              <a:t>Cierre de la práctica de análisis cualitativo y cuantitativo.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10972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30352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627632"/>
            <a:ext cx="18288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85000" lnSpcReduction="20000"/>
          </a:bodyPr>
          <a:lstStyle/>
          <a:p>
            <a:pPr algn="l"/>
            <a:r>
              <a:rPr sz="1800" b="1">
                <a:solidFill>
                  <a:srgbClr val="183153"/>
                </a:solidFill>
                <a:latin typeface="Aptos"/>
              </a:rPr>
              <a:t>Conclusión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84831"/>
            <a:ext cx="4663440" cy="20116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just"/>
            <a:r>
              <a:rPr sz="1380" b="0" dirty="0">
                <a:solidFill>
                  <a:srgbClr val="25313C"/>
                </a:solidFill>
                <a:latin typeface="Aptos"/>
              </a:rPr>
              <a:t>La </a:t>
            </a:r>
            <a:r>
              <a:rPr sz="1380" b="0" dirty="0" err="1">
                <a:solidFill>
                  <a:srgbClr val="25313C"/>
                </a:solidFill>
                <a:latin typeface="Aptos"/>
              </a:rPr>
              <a:t>gestión</a:t>
            </a:r>
            <a:r>
              <a:rPr sz="1380" b="0" dirty="0">
                <a:solidFill>
                  <a:srgbClr val="25313C"/>
                </a:solidFill>
                <a:latin typeface="Aptos"/>
              </a:rPr>
              <a:t> de </a:t>
            </a:r>
            <a:r>
              <a:rPr sz="1380" b="0" dirty="0" err="1">
                <a:solidFill>
                  <a:srgbClr val="25313C"/>
                </a:solidFill>
                <a:latin typeface="Aptos"/>
              </a:rPr>
              <a:t>riesgos</a:t>
            </a:r>
            <a:r>
              <a:rPr sz="1380" b="0" dirty="0">
                <a:solidFill>
                  <a:srgbClr val="25313C"/>
                </a:solidFill>
                <a:latin typeface="Aptos"/>
              </a:rPr>
              <a:t> se </a:t>
            </a:r>
            <a:r>
              <a:rPr sz="1380" b="0" dirty="0" err="1">
                <a:solidFill>
                  <a:srgbClr val="25313C"/>
                </a:solidFill>
                <a:latin typeface="Aptos"/>
              </a:rPr>
              <a:t>vuelve</a:t>
            </a:r>
            <a:r>
              <a:rPr sz="1380" b="0" dirty="0">
                <a:solidFill>
                  <a:srgbClr val="25313C"/>
                </a:solidFill>
                <a:latin typeface="Aptos"/>
              </a:rPr>
              <a:t> </a:t>
            </a:r>
            <a:r>
              <a:rPr sz="1380" b="0" dirty="0" err="1">
                <a:solidFill>
                  <a:srgbClr val="25313C"/>
                </a:solidFill>
                <a:latin typeface="Aptos"/>
              </a:rPr>
              <a:t>útil</a:t>
            </a:r>
            <a:r>
              <a:rPr sz="1380" b="0" dirty="0">
                <a:solidFill>
                  <a:srgbClr val="25313C"/>
                </a:solidFill>
                <a:latin typeface="Aptos"/>
              </a:rPr>
              <a:t> </a:t>
            </a:r>
            <a:r>
              <a:rPr sz="1380" b="0" dirty="0" err="1">
                <a:solidFill>
                  <a:srgbClr val="25313C"/>
                </a:solidFill>
                <a:latin typeface="Aptos"/>
              </a:rPr>
              <a:t>cuando</a:t>
            </a:r>
            <a:r>
              <a:rPr sz="1380" b="0" dirty="0">
                <a:solidFill>
                  <a:srgbClr val="25313C"/>
                </a:solidFill>
                <a:latin typeface="Aptos"/>
              </a:rPr>
              <a:t> </a:t>
            </a:r>
            <a:r>
              <a:rPr sz="1380" b="0" dirty="0" err="1">
                <a:solidFill>
                  <a:srgbClr val="25313C"/>
                </a:solidFill>
                <a:latin typeface="Aptos"/>
              </a:rPr>
              <a:t>permite</a:t>
            </a:r>
            <a:r>
              <a:rPr sz="1380" b="0" dirty="0">
                <a:solidFill>
                  <a:srgbClr val="25313C"/>
                </a:solidFill>
                <a:latin typeface="Aptos"/>
              </a:rPr>
              <a:t> </a:t>
            </a:r>
            <a:r>
              <a:rPr sz="1380" b="0" dirty="0" err="1">
                <a:solidFill>
                  <a:srgbClr val="25313C"/>
                </a:solidFill>
                <a:latin typeface="Aptos"/>
              </a:rPr>
              <a:t>tomar</a:t>
            </a:r>
            <a:r>
              <a:rPr sz="1380" b="0" dirty="0">
                <a:solidFill>
                  <a:srgbClr val="25313C"/>
                </a:solidFill>
                <a:latin typeface="Aptos"/>
              </a:rPr>
              <a:t> </a:t>
            </a:r>
            <a:r>
              <a:rPr sz="1380" b="0" dirty="0" err="1">
                <a:solidFill>
                  <a:srgbClr val="25313C"/>
                </a:solidFill>
                <a:latin typeface="Aptos"/>
              </a:rPr>
              <a:t>decisiones</a:t>
            </a:r>
            <a:r>
              <a:rPr sz="1380" b="0" dirty="0">
                <a:solidFill>
                  <a:srgbClr val="25313C"/>
                </a:solidFill>
                <a:latin typeface="Aptos"/>
              </a:rPr>
              <a:t> antes de que </a:t>
            </a:r>
            <a:r>
              <a:rPr sz="1380" b="0" dirty="0" err="1">
                <a:solidFill>
                  <a:srgbClr val="25313C"/>
                </a:solidFill>
                <a:latin typeface="Aptos"/>
              </a:rPr>
              <a:t>el</a:t>
            </a:r>
            <a:r>
              <a:rPr sz="1380" b="0" dirty="0">
                <a:solidFill>
                  <a:srgbClr val="25313C"/>
                </a:solidFill>
                <a:latin typeface="Aptos"/>
              </a:rPr>
              <a:t> </a:t>
            </a:r>
            <a:r>
              <a:rPr sz="1380" b="0" dirty="0" err="1">
                <a:solidFill>
                  <a:srgbClr val="25313C"/>
                </a:solidFill>
                <a:latin typeface="Aptos"/>
              </a:rPr>
              <a:t>problema</a:t>
            </a:r>
            <a:r>
              <a:rPr sz="1380" b="0" dirty="0">
                <a:solidFill>
                  <a:srgbClr val="25313C"/>
                </a:solidFill>
                <a:latin typeface="Aptos"/>
              </a:rPr>
              <a:t> </a:t>
            </a:r>
            <a:r>
              <a:rPr sz="1380" b="0" dirty="0" err="1">
                <a:solidFill>
                  <a:srgbClr val="25313C"/>
                </a:solidFill>
                <a:latin typeface="Aptos"/>
              </a:rPr>
              <a:t>avance</a:t>
            </a:r>
            <a:r>
              <a:rPr sz="1380" b="0" dirty="0">
                <a:solidFill>
                  <a:srgbClr val="25313C"/>
                </a:solidFill>
                <a:latin typeface="Aptos"/>
              </a:rPr>
              <a:t>. En </a:t>
            </a:r>
            <a:r>
              <a:rPr sz="1380" b="0" dirty="0" err="1">
                <a:solidFill>
                  <a:srgbClr val="25313C"/>
                </a:solidFill>
                <a:latin typeface="Aptos"/>
              </a:rPr>
              <a:t>los</a:t>
            </a:r>
            <a:r>
              <a:rPr sz="1380" b="0" dirty="0">
                <a:solidFill>
                  <a:srgbClr val="25313C"/>
                </a:solidFill>
                <a:latin typeface="Aptos"/>
              </a:rPr>
              <a:t> </a:t>
            </a:r>
            <a:r>
              <a:rPr sz="1380" b="0" dirty="0" err="1">
                <a:solidFill>
                  <a:srgbClr val="25313C"/>
                </a:solidFill>
                <a:latin typeface="Aptos"/>
              </a:rPr>
              <a:t>ejercicios</a:t>
            </a:r>
            <a:r>
              <a:rPr sz="1380" b="0" dirty="0">
                <a:solidFill>
                  <a:srgbClr val="25313C"/>
                </a:solidFill>
                <a:latin typeface="Aptos"/>
              </a:rPr>
              <a:t> se </a:t>
            </a:r>
            <a:r>
              <a:rPr sz="1380" b="0" dirty="0" err="1">
                <a:solidFill>
                  <a:srgbClr val="25313C"/>
                </a:solidFill>
                <a:latin typeface="Aptos"/>
              </a:rPr>
              <a:t>trabajó</a:t>
            </a:r>
            <a:r>
              <a:rPr sz="1380" b="0" dirty="0">
                <a:solidFill>
                  <a:srgbClr val="25313C"/>
                </a:solidFill>
                <a:latin typeface="Aptos"/>
              </a:rPr>
              <a:t> con </a:t>
            </a:r>
            <a:r>
              <a:rPr sz="1380" b="0" dirty="0" err="1">
                <a:solidFill>
                  <a:srgbClr val="25313C"/>
                </a:solidFill>
                <a:latin typeface="Aptos"/>
              </a:rPr>
              <a:t>identificación</a:t>
            </a:r>
            <a:r>
              <a:rPr sz="1380" b="0" dirty="0">
                <a:solidFill>
                  <a:srgbClr val="25313C"/>
                </a:solidFill>
                <a:latin typeface="Aptos"/>
              </a:rPr>
              <a:t>, </a:t>
            </a:r>
            <a:r>
              <a:rPr sz="1380" b="0" dirty="0" err="1">
                <a:solidFill>
                  <a:srgbClr val="25313C"/>
                </a:solidFill>
                <a:latin typeface="Aptos"/>
              </a:rPr>
              <a:t>matriz</a:t>
            </a:r>
            <a:r>
              <a:rPr sz="1380" b="0" dirty="0">
                <a:solidFill>
                  <a:srgbClr val="25313C"/>
                </a:solidFill>
                <a:latin typeface="Aptos"/>
              </a:rPr>
              <a:t>, VME, </a:t>
            </a:r>
            <a:r>
              <a:rPr sz="1380" b="0" dirty="0" err="1">
                <a:solidFill>
                  <a:srgbClr val="25313C"/>
                </a:solidFill>
                <a:latin typeface="Aptos"/>
              </a:rPr>
              <a:t>priorización</a:t>
            </a:r>
            <a:r>
              <a:rPr sz="1380" b="0" dirty="0">
                <a:solidFill>
                  <a:srgbClr val="25313C"/>
                </a:solidFill>
                <a:latin typeface="Aptos"/>
              </a:rPr>
              <a:t> y </a:t>
            </a:r>
            <a:r>
              <a:rPr sz="1380" b="0" dirty="0" err="1">
                <a:solidFill>
                  <a:srgbClr val="25313C"/>
                </a:solidFill>
                <a:latin typeface="Aptos"/>
              </a:rPr>
              <a:t>riesgo</a:t>
            </a:r>
            <a:r>
              <a:rPr sz="1380" b="0" dirty="0">
                <a:solidFill>
                  <a:srgbClr val="25313C"/>
                </a:solidFill>
                <a:latin typeface="Aptos"/>
              </a:rPr>
              <a:t> residual. Al </a:t>
            </a:r>
            <a:r>
              <a:rPr sz="1380" b="0" dirty="0" err="1">
                <a:solidFill>
                  <a:srgbClr val="25313C"/>
                </a:solidFill>
                <a:latin typeface="Aptos"/>
              </a:rPr>
              <a:t>aplicarlo</a:t>
            </a:r>
            <a:r>
              <a:rPr sz="1380" b="0" dirty="0">
                <a:solidFill>
                  <a:srgbClr val="25313C"/>
                </a:solidFill>
                <a:latin typeface="Aptos"/>
              </a:rPr>
              <a:t> a </a:t>
            </a:r>
            <a:r>
              <a:rPr sz="1380" b="0" dirty="0" err="1">
                <a:solidFill>
                  <a:srgbClr val="25313C"/>
                </a:solidFill>
                <a:latin typeface="Aptos"/>
              </a:rPr>
              <a:t>los</a:t>
            </a:r>
            <a:r>
              <a:rPr sz="1380" b="0" dirty="0">
                <a:solidFill>
                  <a:srgbClr val="25313C"/>
                </a:solidFill>
                <a:latin typeface="Aptos"/>
              </a:rPr>
              <a:t> </a:t>
            </a:r>
            <a:r>
              <a:rPr sz="1380" b="0" dirty="0" err="1">
                <a:solidFill>
                  <a:srgbClr val="25313C"/>
                </a:solidFill>
                <a:latin typeface="Aptos"/>
              </a:rPr>
              <a:t>proyectos</a:t>
            </a:r>
            <a:r>
              <a:rPr sz="1380" b="0" dirty="0">
                <a:solidFill>
                  <a:srgbClr val="25313C"/>
                </a:solidFill>
                <a:latin typeface="Aptos"/>
              </a:rPr>
              <a:t> </a:t>
            </a:r>
            <a:r>
              <a:rPr sz="1380" b="0" dirty="0" err="1">
                <a:solidFill>
                  <a:srgbClr val="25313C"/>
                </a:solidFill>
                <a:latin typeface="Aptos"/>
              </a:rPr>
              <a:t>reales</a:t>
            </a:r>
            <a:r>
              <a:rPr sz="1380" b="0" dirty="0">
                <a:solidFill>
                  <a:srgbClr val="25313C"/>
                </a:solidFill>
                <a:latin typeface="Aptos"/>
              </a:rPr>
              <a:t>, se </a:t>
            </a:r>
            <a:r>
              <a:rPr sz="1380" b="0" dirty="0" err="1">
                <a:solidFill>
                  <a:srgbClr val="25313C"/>
                </a:solidFill>
                <a:latin typeface="Aptos"/>
              </a:rPr>
              <a:t>observa</a:t>
            </a:r>
            <a:r>
              <a:rPr sz="1380" b="0" dirty="0">
                <a:solidFill>
                  <a:srgbClr val="25313C"/>
                </a:solidFill>
                <a:latin typeface="Aptos"/>
              </a:rPr>
              <a:t> que </a:t>
            </a:r>
            <a:r>
              <a:rPr sz="1380" b="0" dirty="0" err="1">
                <a:solidFill>
                  <a:srgbClr val="25313C"/>
                </a:solidFill>
                <a:latin typeface="Aptos"/>
              </a:rPr>
              <a:t>el</a:t>
            </a:r>
            <a:r>
              <a:rPr sz="1380" b="0" dirty="0">
                <a:solidFill>
                  <a:srgbClr val="25313C"/>
                </a:solidFill>
                <a:latin typeface="Aptos"/>
              </a:rPr>
              <a:t> Project Manager no solo </a:t>
            </a:r>
            <a:r>
              <a:rPr sz="1380" b="0" dirty="0" err="1">
                <a:solidFill>
                  <a:srgbClr val="25313C"/>
                </a:solidFill>
                <a:latin typeface="Aptos"/>
              </a:rPr>
              <a:t>registra</a:t>
            </a:r>
            <a:r>
              <a:rPr sz="1380" b="0" dirty="0">
                <a:solidFill>
                  <a:srgbClr val="25313C"/>
                </a:solidFill>
                <a:latin typeface="Aptos"/>
              </a:rPr>
              <a:t> </a:t>
            </a:r>
            <a:r>
              <a:rPr sz="1380" b="0" dirty="0" err="1">
                <a:solidFill>
                  <a:srgbClr val="25313C"/>
                </a:solidFill>
                <a:latin typeface="Aptos"/>
              </a:rPr>
              <a:t>fallas</a:t>
            </a:r>
            <a:r>
              <a:rPr sz="1380" b="0" dirty="0">
                <a:solidFill>
                  <a:srgbClr val="25313C"/>
                </a:solidFill>
                <a:latin typeface="Aptos"/>
              </a:rPr>
              <a:t>: </a:t>
            </a:r>
            <a:r>
              <a:rPr sz="1380" b="0" dirty="0" err="1">
                <a:solidFill>
                  <a:srgbClr val="25313C"/>
                </a:solidFill>
                <a:latin typeface="Aptos"/>
              </a:rPr>
              <a:t>también</a:t>
            </a:r>
            <a:r>
              <a:rPr sz="1380" b="0" dirty="0">
                <a:solidFill>
                  <a:srgbClr val="25313C"/>
                </a:solidFill>
                <a:latin typeface="Aptos"/>
              </a:rPr>
              <a:t> decide </a:t>
            </a:r>
            <a:r>
              <a:rPr sz="1380" b="0" dirty="0" err="1">
                <a:solidFill>
                  <a:srgbClr val="25313C"/>
                </a:solidFill>
                <a:latin typeface="Aptos"/>
              </a:rPr>
              <a:t>qué</a:t>
            </a:r>
            <a:r>
              <a:rPr sz="1380" b="0" dirty="0">
                <a:solidFill>
                  <a:srgbClr val="25313C"/>
                </a:solidFill>
                <a:latin typeface="Aptos"/>
              </a:rPr>
              <a:t> </a:t>
            </a:r>
            <a:r>
              <a:rPr sz="1380" b="0" dirty="0" err="1">
                <a:solidFill>
                  <a:srgbClr val="25313C"/>
                </a:solidFill>
                <a:latin typeface="Aptos"/>
              </a:rPr>
              <a:t>revisar</a:t>
            </a:r>
            <a:r>
              <a:rPr sz="1380" b="0" dirty="0">
                <a:solidFill>
                  <a:srgbClr val="25313C"/>
                </a:solidFill>
                <a:latin typeface="Aptos"/>
              </a:rPr>
              <a:t>, </a:t>
            </a:r>
            <a:r>
              <a:rPr sz="1380" b="0" dirty="0" err="1">
                <a:solidFill>
                  <a:srgbClr val="25313C"/>
                </a:solidFill>
                <a:latin typeface="Aptos"/>
              </a:rPr>
              <a:t>qué</a:t>
            </a:r>
            <a:r>
              <a:rPr sz="1380" b="0" dirty="0">
                <a:solidFill>
                  <a:srgbClr val="25313C"/>
                </a:solidFill>
                <a:latin typeface="Aptos"/>
              </a:rPr>
              <a:t> </a:t>
            </a:r>
            <a:r>
              <a:rPr sz="1380" b="0" dirty="0" err="1">
                <a:solidFill>
                  <a:srgbClr val="25313C"/>
                </a:solidFill>
                <a:latin typeface="Aptos"/>
              </a:rPr>
              <a:t>corregir</a:t>
            </a:r>
            <a:r>
              <a:rPr sz="1380" b="0" dirty="0">
                <a:solidFill>
                  <a:srgbClr val="25313C"/>
                </a:solidFill>
                <a:latin typeface="Aptos"/>
              </a:rPr>
              <a:t>, </a:t>
            </a:r>
            <a:r>
              <a:rPr sz="1380" b="0" dirty="0" err="1">
                <a:solidFill>
                  <a:srgbClr val="25313C"/>
                </a:solidFill>
                <a:latin typeface="Aptos"/>
              </a:rPr>
              <a:t>qué</a:t>
            </a:r>
            <a:r>
              <a:rPr sz="1380" b="0" dirty="0">
                <a:solidFill>
                  <a:srgbClr val="25313C"/>
                </a:solidFill>
                <a:latin typeface="Aptos"/>
              </a:rPr>
              <a:t> </a:t>
            </a:r>
            <a:r>
              <a:rPr sz="1380" b="0" dirty="0" err="1">
                <a:solidFill>
                  <a:srgbClr val="25313C"/>
                </a:solidFill>
                <a:latin typeface="Aptos"/>
              </a:rPr>
              <a:t>mantener</a:t>
            </a:r>
            <a:r>
              <a:rPr sz="1380" b="0" dirty="0">
                <a:solidFill>
                  <a:srgbClr val="25313C"/>
                </a:solidFill>
                <a:latin typeface="Aptos"/>
              </a:rPr>
              <a:t> </a:t>
            </a:r>
            <a:r>
              <a:rPr sz="1380" b="0" dirty="0" err="1">
                <a:solidFill>
                  <a:srgbClr val="25313C"/>
                </a:solidFill>
                <a:latin typeface="Aptos"/>
              </a:rPr>
              <a:t>pendiente</a:t>
            </a:r>
            <a:r>
              <a:rPr sz="1380" b="0" dirty="0">
                <a:solidFill>
                  <a:srgbClr val="25313C"/>
                </a:solidFill>
                <a:latin typeface="Aptos"/>
              </a:rPr>
              <a:t> y </a:t>
            </a:r>
            <a:r>
              <a:rPr sz="1380" b="0" dirty="0" err="1">
                <a:solidFill>
                  <a:srgbClr val="25313C"/>
                </a:solidFill>
                <a:latin typeface="Aptos"/>
              </a:rPr>
              <a:t>cuándo</a:t>
            </a:r>
            <a:r>
              <a:rPr sz="1380" b="0" dirty="0">
                <a:solidFill>
                  <a:srgbClr val="25313C"/>
                </a:solidFill>
                <a:latin typeface="Aptos"/>
              </a:rPr>
              <a:t> </a:t>
            </a:r>
            <a:r>
              <a:rPr sz="1380" b="0" dirty="0" err="1">
                <a:solidFill>
                  <a:srgbClr val="25313C"/>
                </a:solidFill>
                <a:latin typeface="Aptos"/>
              </a:rPr>
              <a:t>validar</a:t>
            </a:r>
            <a:r>
              <a:rPr sz="1380" b="0" dirty="0">
                <a:solidFill>
                  <a:srgbClr val="25313C"/>
                </a:solidFill>
                <a:latin typeface="Aptos"/>
              </a:rPr>
              <a:t> </a:t>
            </a:r>
            <a:r>
              <a:rPr sz="1380" b="0" dirty="0" err="1">
                <a:solidFill>
                  <a:srgbClr val="25313C"/>
                </a:solidFill>
                <a:latin typeface="Aptos"/>
              </a:rPr>
              <a:t>una</a:t>
            </a:r>
            <a:r>
              <a:rPr sz="1380" b="0" dirty="0">
                <a:solidFill>
                  <a:srgbClr val="25313C"/>
                </a:solidFill>
                <a:latin typeface="Aptos"/>
              </a:rPr>
              <a:t> </a:t>
            </a:r>
            <a:r>
              <a:rPr sz="1380" b="0" dirty="0" err="1">
                <a:solidFill>
                  <a:srgbClr val="25313C"/>
                </a:solidFill>
                <a:latin typeface="Aptos"/>
              </a:rPr>
              <a:t>entrega</a:t>
            </a:r>
            <a:r>
              <a:rPr sz="1380" b="0" dirty="0">
                <a:solidFill>
                  <a:srgbClr val="25313C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343400"/>
            <a:ext cx="4663440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l"/>
            <a:r>
              <a:rPr sz="1360" b="1">
                <a:solidFill>
                  <a:srgbClr val="183153"/>
                </a:solidFill>
                <a:latin typeface="Aptos"/>
              </a:rPr>
              <a:t>El cálculo de VME ayudó a convertir una preocupación en una medida comparable. Por eso, los riesgos con mayor exposición recibieron prioridad y seguimiento.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325880"/>
            <a:ext cx="4983480" cy="43434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48272" y="1627632"/>
            <a:ext cx="32004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fontScale="85000" lnSpcReduction="20000"/>
          </a:bodyPr>
          <a:lstStyle/>
          <a:p>
            <a:pPr algn="l"/>
            <a:r>
              <a:rPr sz="1800" b="1">
                <a:solidFill>
                  <a:srgbClr val="183153"/>
                </a:solidFill>
                <a:latin typeface="Aptos"/>
              </a:rPr>
              <a:t>Fuentes en formato APA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8272" y="2121408"/>
            <a:ext cx="4389120" cy="26974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930">
                <a:solidFill>
                  <a:srgbClr val="25313C"/>
                </a:solidFill>
                <a:latin typeface="Aptos"/>
              </a:defRPr>
            </a:pPr>
            <a:r>
              <a:rPr dirty="0"/>
              <a:t>International Organization for Standardization. (2018). ISO 31000:2018 Risk management — Guidelines. </a:t>
            </a:r>
            <a:r>
              <a:rPr dirty="0">
                <a:hlinkClick r:id="rId2"/>
              </a:rPr>
              <a:t>https://www.iso.org/standard/65694.html</a:t>
            </a:r>
            <a:endParaRPr lang="es-MX" dirty="0"/>
          </a:p>
          <a:p>
            <a:pPr>
              <a:lnSpc>
                <a:spcPct val="108000"/>
              </a:lnSpc>
              <a:spcAft>
                <a:spcPts val="400"/>
              </a:spcAft>
              <a:defRPr sz="930">
                <a:solidFill>
                  <a:srgbClr val="25313C"/>
                </a:solidFill>
                <a:latin typeface="Aptos"/>
              </a:defRPr>
            </a:pPr>
            <a:endParaRPr dirty="0"/>
          </a:p>
          <a:p>
            <a:pPr>
              <a:lnSpc>
                <a:spcPct val="108000"/>
              </a:lnSpc>
              <a:spcAft>
                <a:spcPts val="400"/>
              </a:spcAft>
              <a:defRPr sz="930">
                <a:solidFill>
                  <a:srgbClr val="25313C"/>
                </a:solidFill>
                <a:latin typeface="Aptos"/>
              </a:defRPr>
            </a:pPr>
            <a:r>
              <a:rPr dirty="0"/>
              <a:t>National Institute of Standards and Technology. (2012). Guide for conducting risk assessments (SP 800-30 Rev. </a:t>
            </a:r>
            <a:endParaRPr lang="es-MX" dirty="0"/>
          </a:p>
          <a:p>
            <a:pPr>
              <a:lnSpc>
                <a:spcPct val="108000"/>
              </a:lnSpc>
              <a:spcAft>
                <a:spcPts val="400"/>
              </a:spcAft>
              <a:defRPr sz="930">
                <a:solidFill>
                  <a:srgbClr val="25313C"/>
                </a:solidFill>
                <a:latin typeface="Aptos"/>
              </a:defRPr>
            </a:pPr>
            <a:endParaRPr lang="es-MX" dirty="0"/>
          </a:p>
          <a:p>
            <a:pPr>
              <a:lnSpc>
                <a:spcPct val="108000"/>
              </a:lnSpc>
              <a:spcAft>
                <a:spcPts val="400"/>
              </a:spcAft>
              <a:defRPr sz="930">
                <a:solidFill>
                  <a:srgbClr val="25313C"/>
                </a:solidFill>
                <a:latin typeface="Aptos"/>
              </a:defRPr>
            </a:pPr>
            <a:r>
              <a:rPr dirty="0"/>
              <a:t>Project Management Institute. (2021). A guide to the project management body of knowledge (PMBOK Guide) (7th ed.)</a:t>
            </a:r>
            <a:endParaRPr lang="es-MX" dirty="0"/>
          </a:p>
          <a:p>
            <a:pPr>
              <a:lnSpc>
                <a:spcPct val="108000"/>
              </a:lnSpc>
              <a:spcAft>
                <a:spcPts val="400"/>
              </a:spcAft>
              <a:defRPr sz="930">
                <a:solidFill>
                  <a:srgbClr val="25313C"/>
                </a:solidFill>
                <a:latin typeface="Aptos"/>
              </a:defRPr>
            </a:pPr>
            <a:endParaRPr lang="es-MX" dirty="0"/>
          </a:p>
          <a:p>
            <a:pPr>
              <a:lnSpc>
                <a:spcPct val="108000"/>
              </a:lnSpc>
              <a:spcAft>
                <a:spcPts val="400"/>
              </a:spcAft>
              <a:defRPr sz="930">
                <a:solidFill>
                  <a:srgbClr val="25313C"/>
                </a:solidFill>
                <a:latin typeface="Aptos"/>
              </a:defRPr>
            </a:pPr>
            <a:r>
              <a:rPr dirty="0" err="1"/>
              <a:t>Expedientes</a:t>
            </a:r>
            <a:r>
              <a:rPr dirty="0"/>
              <a:t>: RISK-002, VME-002, INC-002-01, RISK-003, VME-003, INC-003-01, CC-002-01, CC-003 y PLAN-001.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 lnSpcReduction="10000"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1887</Words>
  <Application>Microsoft Office PowerPoint</Application>
  <PresentationFormat>Panorámica</PresentationFormat>
  <Paragraphs>323</Paragraphs>
  <Slides>17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-apple-system</vt:lpstr>
      <vt:lpstr>Aptos</vt:lpstr>
      <vt:lpstr>Aptos Display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AMAURY JAHAZIEL GORDILLO HERNANDEZ</cp:lastModifiedBy>
  <cp:revision>5</cp:revision>
  <dcterms:created xsi:type="dcterms:W3CDTF">2013-01-27T09:14:16Z</dcterms:created>
  <dcterms:modified xsi:type="dcterms:W3CDTF">2026-09-22T07:12:23Z</dcterms:modified>
  <cp:category/>
</cp:coreProperties>
</file>